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2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1745498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2297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259187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91894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3357364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399484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329506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613903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3745138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321161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227496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169D88-7870-48F3-85C8-316476C0F972}" type="datetimeFigureOut">
              <a:rPr lang="zh-CN" altLang="en-US" smtClean="0"/>
              <a:t>2024/6/4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345D38-C25E-4F20-956A-5A5EEA5D79C7}" type="slidenum">
              <a:rPr lang="zh-CN" altLang="en-US" smtClean="0"/>
              <a:t>‹#›</a:t>
            </a:fld>
            <a:endParaRPr lang="zh-CN" altLang="en-US"/>
          </a:p>
        </p:txBody>
      </p:sp>
    </p:spTree>
    <p:extLst>
      <p:ext uri="{BB962C8B-B14F-4D97-AF65-F5344CB8AC3E}">
        <p14:creationId xmlns:p14="http://schemas.microsoft.com/office/powerpoint/2010/main" val="2963579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2985433"/>
          </a:xfrm>
          <a:prstGeom prst="rect">
            <a:avLst/>
          </a:prstGeom>
        </p:spPr>
        <p:txBody>
          <a:bodyPr wrap="square">
            <a:spAutoFit/>
          </a:bodyPr>
          <a:lstStyle/>
          <a:p>
            <a:r>
              <a:rPr lang="en-US" altLang="zh-CN" sz="2000" dirty="0" smtClean="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、阅读下列说明，回答问题</a:t>
            </a:r>
            <a:r>
              <a:rPr lang="en-US" altLang="zh-CN" sz="2000" dirty="0" smtClean="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至问题</a:t>
            </a:r>
            <a:r>
              <a:rPr lang="en-US" altLang="zh-CN" sz="2000" dirty="0" smtClean="0">
                <a:solidFill>
                  <a:srgbClr val="000000"/>
                </a:solidFill>
                <a:latin typeface="宋体" panose="02010600030101010101" pitchFamily="2" charset="-122"/>
                <a:ea typeface="宋体" panose="02010600030101010101" pitchFamily="2" charset="-122"/>
              </a:rPr>
              <a:t>3</a:t>
            </a:r>
            <a:r>
              <a:rPr lang="zh-CN" altLang="en-US" dirty="0" smtClean="0">
                <a:solidFill>
                  <a:srgbClr val="000000"/>
                </a:solidFill>
                <a:latin typeface="宋体" panose="02010600030101010101" pitchFamily="2" charset="-122"/>
                <a:ea typeface="宋体" panose="02010600030101010101" pitchFamily="2" charset="-122"/>
              </a:rPr>
              <a:t> 。</a:t>
            </a:r>
            <a:endParaRPr lang="en-US" altLang="zh-CN" dirty="0" smtClean="0">
              <a:solidFill>
                <a:srgbClr val="000000"/>
              </a:solidFill>
              <a:latin typeface="宋体" panose="02010600030101010101" pitchFamily="2" charset="-122"/>
              <a:ea typeface="宋体" panose="02010600030101010101" pitchFamily="2" charset="-122"/>
            </a:endParaRPr>
          </a:p>
          <a:p>
            <a:endParaRPr lang="zh-CN" altLang="en-US" dirty="0">
              <a:solidFill>
                <a:srgbClr val="000000"/>
              </a:solidFill>
              <a:latin typeface="宋体" panose="02010600030101010101" pitchFamily="2" charset="-122"/>
              <a:ea typeface="宋体" panose="02010600030101010101" pitchFamily="2" charset="-122"/>
            </a:endParaRPr>
          </a:p>
          <a:p>
            <a:r>
              <a:rPr lang="en-US" altLang="zh-CN" sz="2000" dirty="0" smtClean="0">
                <a:solidFill>
                  <a:srgbClr val="000000"/>
                </a:solidFill>
                <a:latin typeface="宋体" panose="02010600030101010101" pitchFamily="2" charset="-122"/>
                <a:ea typeface="宋体" panose="02010600030101010101" pitchFamily="2" charset="-122"/>
              </a:rPr>
              <a:t>   A </a:t>
            </a:r>
            <a:r>
              <a:rPr lang="zh-CN" altLang="en-US" dirty="0">
                <a:solidFill>
                  <a:srgbClr val="000000"/>
                </a:solidFill>
                <a:latin typeface="宋体" panose="02010600030101010101" pitchFamily="2" charset="-122"/>
                <a:ea typeface="宋体" panose="02010600030101010101" pitchFamily="2" charset="-122"/>
              </a:rPr>
              <a:t>公司是一家专门从事系统集成和应用软件开发的公司，目前有员工</a:t>
            </a:r>
            <a:r>
              <a:rPr lang="en-US" altLang="zh-CN" sz="2000" dirty="0" smtClean="0">
                <a:solidFill>
                  <a:srgbClr val="000000"/>
                </a:solidFill>
                <a:latin typeface="宋体" panose="02010600030101010101" pitchFamily="2" charset="-122"/>
                <a:ea typeface="宋体" panose="02010600030101010101" pitchFamily="2" charset="-122"/>
              </a:rPr>
              <a:t>100</a:t>
            </a:r>
            <a:r>
              <a:rPr lang="zh-CN" altLang="en-US" dirty="0">
                <a:solidFill>
                  <a:srgbClr val="000000"/>
                </a:solidFill>
                <a:latin typeface="宋体" panose="02010600030101010101" pitchFamily="2" charset="-122"/>
                <a:ea typeface="宋体" panose="02010600030101010101" pitchFamily="2" charset="-122"/>
              </a:rPr>
              <a:t>多人，分属销售部</a:t>
            </a:r>
            <a:r>
              <a:rPr lang="zh-CN" altLang="en-US" dirty="0" smtClean="0">
                <a:solidFill>
                  <a:srgbClr val="000000"/>
                </a:solidFill>
                <a:latin typeface="宋体" panose="02010600030101010101" pitchFamily="2" charset="-122"/>
                <a:ea typeface="宋体" panose="02010600030101010101" pitchFamily="2" charset="-122"/>
              </a:rPr>
              <a:t>、软件开发</a:t>
            </a:r>
            <a:r>
              <a:rPr lang="zh-CN" altLang="en-US" dirty="0">
                <a:solidFill>
                  <a:srgbClr val="000000"/>
                </a:solidFill>
                <a:latin typeface="宋体" panose="02010600030101010101" pitchFamily="2" charset="-122"/>
                <a:ea typeface="宋体" panose="02010600030101010101" pitchFamily="2" charset="-122"/>
              </a:rPr>
              <a:t>部、系统网络部等业务部门。公司销售部主要负责服务和产品的销售工作，将公司</a:t>
            </a:r>
            <a:r>
              <a:rPr lang="zh-CN" altLang="en-US" dirty="0" smtClean="0">
                <a:solidFill>
                  <a:srgbClr val="000000"/>
                </a:solidFill>
                <a:latin typeface="宋体" panose="02010600030101010101" pitchFamily="2" charset="-122"/>
                <a:ea typeface="宋体" panose="02010600030101010101" pitchFamily="2" charset="-122"/>
              </a:rPr>
              <a:t>现有</a:t>
            </a:r>
            <a:r>
              <a:rPr lang="zh-CN" altLang="en-US" dirty="0">
                <a:solidFill>
                  <a:srgbClr val="000000"/>
                </a:solidFill>
                <a:latin typeface="宋体" panose="02010600030101010101" pitchFamily="2" charset="-122"/>
                <a:ea typeface="宋体" panose="02010600030101010101" pitchFamily="2" charset="-122"/>
              </a:rPr>
              <a:t>的产品推销给客户，同时也会根据客户的具体需要，承接信息系统集成项目，并将其中</a:t>
            </a:r>
            <a:r>
              <a:rPr lang="zh-CN" altLang="en-US" dirty="0" smtClean="0">
                <a:solidFill>
                  <a:srgbClr val="000000"/>
                </a:solidFill>
                <a:latin typeface="宋体" panose="02010600030101010101" pitchFamily="2" charset="-122"/>
                <a:ea typeface="宋体" panose="02010600030101010101" pitchFamily="2" charset="-122"/>
              </a:rPr>
              <a:t>应用软件</a:t>
            </a:r>
            <a:r>
              <a:rPr lang="zh-CN" altLang="en-US" dirty="0">
                <a:solidFill>
                  <a:srgbClr val="000000"/>
                </a:solidFill>
                <a:latin typeface="宋体" panose="02010600030101010101" pitchFamily="2" charset="-122"/>
                <a:ea typeface="宋体" panose="02010600030101010101" pitchFamily="2" charset="-122"/>
              </a:rPr>
              <a:t>的研发任务交给软件开发部实施。</a:t>
            </a:r>
          </a:p>
          <a:p>
            <a:r>
              <a:rPr lang="zh-CN" altLang="en-US" dirty="0" smtClean="0">
                <a:solidFill>
                  <a:srgbClr val="000000"/>
                </a:solidFill>
                <a:latin typeface="宋体" panose="02010600030101010101" pitchFamily="2" charset="-122"/>
                <a:ea typeface="宋体" panose="02010600030101010101" pitchFamily="2" charset="-122"/>
              </a:rPr>
              <a:t>    经</a:t>
            </a:r>
            <a:r>
              <a:rPr lang="zh-CN" altLang="en-US" dirty="0">
                <a:solidFill>
                  <a:srgbClr val="000000"/>
                </a:solidFill>
                <a:latin typeface="宋体" panose="02010600030101010101" pitchFamily="2" charset="-122"/>
                <a:ea typeface="宋体" panose="02010600030101010101" pitchFamily="2" charset="-122"/>
              </a:rPr>
              <a:t>过招投标，</a:t>
            </a:r>
            <a:r>
              <a:rPr lang="en-US" altLang="zh-CN" sz="2000" dirty="0" smtClean="0">
                <a:solidFill>
                  <a:srgbClr val="000000"/>
                </a:solidFill>
                <a:latin typeface="宋体" panose="02010600030101010101" pitchFamily="2" charset="-122"/>
                <a:ea typeface="宋体" panose="02010600030101010101" pitchFamily="2" charset="-122"/>
              </a:rPr>
              <a:t>A </a:t>
            </a:r>
            <a:r>
              <a:rPr lang="zh-CN" altLang="en-US" dirty="0">
                <a:solidFill>
                  <a:srgbClr val="000000"/>
                </a:solidFill>
                <a:latin typeface="宋体" panose="02010600030101010101" pitchFamily="2" charset="-122"/>
                <a:ea typeface="宋体" panose="02010600030101010101" pitchFamily="2" charset="-122"/>
              </a:rPr>
              <a:t>公司承担了某银行的系统集成项目，合同规定，</a:t>
            </a:r>
            <a:r>
              <a:rPr lang="en-US" altLang="zh-CN" sz="2000" dirty="0" smtClean="0">
                <a:solidFill>
                  <a:srgbClr val="000000"/>
                </a:solidFill>
                <a:latin typeface="宋体" panose="02010600030101010101" pitchFamily="2" charset="-122"/>
                <a:ea typeface="宋体" panose="02010600030101010101" pitchFamily="2" charset="-122"/>
              </a:rPr>
              <a:t>5 </a:t>
            </a:r>
            <a:r>
              <a:rPr lang="zh-CN" altLang="en-US" dirty="0">
                <a:solidFill>
                  <a:srgbClr val="000000"/>
                </a:solidFill>
                <a:latin typeface="宋体" panose="02010600030101010101" pitchFamily="2" charset="-122"/>
                <a:ea typeface="宋体" panose="02010600030101010101" pitchFamily="2" charset="-122"/>
              </a:rPr>
              <a:t>月 </a:t>
            </a:r>
            <a:r>
              <a:rPr lang="en-US" altLang="zh-CN" sz="2000" dirty="0" smtClean="0">
                <a:solidFill>
                  <a:srgbClr val="000000"/>
                </a:solidFill>
                <a:latin typeface="宋体" panose="02010600030101010101" pitchFamily="2" charset="-122"/>
                <a:ea typeface="宋体" panose="02010600030101010101" pitchFamily="2" charset="-122"/>
              </a:rPr>
              <a:t>1 </a:t>
            </a:r>
            <a:r>
              <a:rPr lang="zh-CN" altLang="en-US" dirty="0">
                <a:solidFill>
                  <a:srgbClr val="000000"/>
                </a:solidFill>
                <a:latin typeface="宋体" panose="02010600030101010101" pitchFamily="2" charset="-122"/>
                <a:ea typeface="宋体" panose="02010600030101010101" pitchFamily="2" charset="-122"/>
              </a:rPr>
              <a:t>日之前系统必须完成，</a:t>
            </a:r>
            <a:r>
              <a:rPr lang="zh-CN" altLang="en-US" dirty="0" smtClean="0">
                <a:solidFill>
                  <a:srgbClr val="000000"/>
                </a:solidFill>
                <a:latin typeface="宋体" panose="02010600030101010101" pitchFamily="2" charset="-122"/>
                <a:ea typeface="宋体" panose="02010600030101010101" pitchFamily="2" charset="-122"/>
              </a:rPr>
              <a:t>并且</a:t>
            </a:r>
            <a:r>
              <a:rPr lang="zh-CN" altLang="en-US" dirty="0">
                <a:solidFill>
                  <a:srgbClr val="000000"/>
                </a:solidFill>
                <a:latin typeface="宋体" panose="02010600030101010101" pitchFamily="2" charset="-122"/>
                <a:ea typeface="宋体" panose="02010600030101010101" pitchFamily="2" charset="-122"/>
              </a:rPr>
              <a:t>进行试运行。合同签定后，项目的软件开发任务由软件开发部负责，硬件与网络由系统</a:t>
            </a:r>
            <a:r>
              <a:rPr lang="zh-CN" altLang="en-US" dirty="0" smtClean="0">
                <a:solidFill>
                  <a:srgbClr val="000000"/>
                </a:solidFill>
                <a:latin typeface="宋体" panose="02010600030101010101" pitchFamily="2" charset="-122"/>
                <a:ea typeface="宋体" panose="02010600030101010101" pitchFamily="2" charset="-122"/>
              </a:rPr>
              <a:t>网络部</a:t>
            </a:r>
            <a:r>
              <a:rPr lang="zh-CN" altLang="en-US" dirty="0">
                <a:solidFill>
                  <a:srgbClr val="000000"/>
                </a:solidFill>
                <a:latin typeface="宋体" panose="02010600030101010101" pitchFamily="2" charset="-122"/>
                <a:ea typeface="宋体" panose="02010600030101010101" pitchFamily="2" charset="-122"/>
              </a:rPr>
              <a:t>负责设计与实施。王工担任这个项目的项目经理。王工根据项目需求，组建了项目团队，</a:t>
            </a:r>
            <a:r>
              <a:rPr lang="zh-CN" altLang="en-US" dirty="0" smtClean="0">
                <a:solidFill>
                  <a:srgbClr val="000000"/>
                </a:solidFill>
                <a:latin typeface="宋体" panose="02010600030101010101" pitchFamily="2" charset="-122"/>
                <a:ea typeface="宋体" panose="02010600030101010101" pitchFamily="2" charset="-122"/>
              </a:rPr>
              <a:t>团队</a:t>
            </a:r>
            <a:r>
              <a:rPr lang="zh-CN" altLang="en-US" dirty="0">
                <a:solidFill>
                  <a:srgbClr val="000000"/>
                </a:solidFill>
                <a:latin typeface="宋体" panose="02010600030101010101" pitchFamily="2" charset="-122"/>
                <a:ea typeface="宋体" panose="02010600030101010101" pitchFamily="2" charset="-122"/>
              </a:rPr>
              <a:t>分成软件开发小组和网络集成小组，其中软件开发小组组长是赵工，网络集成小组组长是</a:t>
            </a:r>
            <a:r>
              <a:rPr lang="zh-CN" altLang="en-US" dirty="0" smtClean="0">
                <a:solidFill>
                  <a:srgbClr val="000000"/>
                </a:solidFill>
                <a:latin typeface="宋体" panose="02010600030101010101" pitchFamily="2" charset="-122"/>
                <a:ea typeface="宋体" panose="02010600030101010101" pitchFamily="2" charset="-122"/>
              </a:rPr>
              <a:t>刘工</a:t>
            </a:r>
            <a:r>
              <a:rPr lang="zh-CN" altLang="en-US" dirty="0">
                <a:solidFill>
                  <a:srgbClr val="000000"/>
                </a:solidFill>
                <a:latin typeface="宋体" panose="02010600030101010101" pitchFamily="2" charset="-122"/>
                <a:ea typeface="宋体" panose="02010600030101010101" pitchFamily="2" charset="-122"/>
              </a:rPr>
              <a:t>。王工制定了项目进度计划，图 </a:t>
            </a:r>
            <a:r>
              <a:rPr lang="en-US" altLang="zh-CN" sz="2000" dirty="0" smtClean="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该项目的进度网络图</a:t>
            </a:r>
            <a:r>
              <a:rPr lang="zh-CN" altLang="en-US" dirty="0" smtClean="0">
                <a:solidFill>
                  <a:srgbClr val="000000"/>
                </a:solidFill>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图 </a:t>
            </a:r>
            <a:r>
              <a:rPr lang="en-US" altLang="zh-CN" dirty="0">
                <a:latin typeface="宋体" panose="02010600030101010101" pitchFamily="2" charset="-122"/>
                <a:ea typeface="宋体" panose="02010600030101010101" pitchFamily="2" charset="-122"/>
              </a:rPr>
              <a:t>1 </a:t>
            </a:r>
            <a:r>
              <a:rPr lang="zh-CN" altLang="en-US" dirty="0">
                <a:latin typeface="宋体" panose="02010600030101010101" pitchFamily="2" charset="-122"/>
                <a:ea typeface="宋体" panose="02010600030101010101" pitchFamily="2" charset="-122"/>
              </a:rPr>
              <a:t>中各个活动的总工期在表</a:t>
            </a:r>
            <a:r>
              <a:rPr lang="en-US" altLang="zh-CN" dirty="0">
                <a:latin typeface="宋体" panose="02010600030101010101" pitchFamily="2" charset="-122"/>
                <a:ea typeface="宋体" panose="02010600030101010101" pitchFamily="2" charset="-122"/>
              </a:rPr>
              <a:t>1 </a:t>
            </a:r>
            <a:r>
              <a:rPr lang="zh-CN" altLang="en-US" dirty="0">
                <a:latin typeface="宋体" panose="02010600030101010101" pitchFamily="2" charset="-122"/>
                <a:ea typeface="宋体" panose="02010600030101010101" pitchFamily="2" charset="-122"/>
              </a:rPr>
              <a:t>中</a:t>
            </a:r>
            <a:r>
              <a:rPr lang="zh-CN" altLang="en-US" dirty="0" smtClean="0">
                <a:latin typeface="宋体" panose="02010600030101010101" pitchFamily="2" charset="-122"/>
                <a:ea typeface="宋体" panose="02010600030101010101" pitchFamily="2" charset="-122"/>
              </a:rPr>
              <a:t>列出：</a:t>
            </a:r>
            <a:endParaRPr lang="zh-CN" altLang="en-US"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245021" y="3044598"/>
            <a:ext cx="7092126" cy="3582654"/>
          </a:xfrm>
          <a:prstGeom prst="rect">
            <a:avLst/>
          </a:prstGeom>
        </p:spPr>
      </p:pic>
      <p:pic>
        <p:nvPicPr>
          <p:cNvPr id="6" name="图片 5"/>
          <p:cNvPicPr>
            <a:picLocks noChangeAspect="1"/>
          </p:cNvPicPr>
          <p:nvPr/>
        </p:nvPicPr>
        <p:blipFill>
          <a:blip r:embed="rId3"/>
          <a:stretch>
            <a:fillRect/>
          </a:stretch>
        </p:blipFill>
        <p:spPr>
          <a:xfrm>
            <a:off x="7337147" y="2789034"/>
            <a:ext cx="3743325" cy="3971925"/>
          </a:xfrm>
          <a:prstGeom prst="rect">
            <a:avLst/>
          </a:prstGeom>
        </p:spPr>
      </p:pic>
    </p:spTree>
    <p:extLst>
      <p:ext uri="{BB962C8B-B14F-4D97-AF65-F5344CB8AC3E}">
        <p14:creationId xmlns:p14="http://schemas.microsoft.com/office/powerpoint/2010/main" val="2688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1938992"/>
          </a:xfrm>
          <a:prstGeom prst="rect">
            <a:avLst/>
          </a:prstGeom>
        </p:spPr>
        <p:txBody>
          <a:bodyPr wrap="square">
            <a:spAutoFit/>
          </a:bodyPr>
          <a:lstStyle/>
          <a:p>
            <a:r>
              <a:rPr lang="zh-CN" altLang="en-US" sz="2000" dirty="0" smtClean="0">
                <a:solidFill>
                  <a:srgbClr val="000000"/>
                </a:solidFill>
                <a:latin typeface="宋体" panose="02010600030101010101" pitchFamily="2" charset="-122"/>
                <a:ea typeface="宋体" panose="02010600030101010101" pitchFamily="2" charset="-122"/>
              </a:rPr>
              <a:t>    软件开发中，发现有两个需求定义得不够明确，因此增加了一些功能，导致</a:t>
            </a:r>
            <a:r>
              <a:rPr lang="zh-CN" altLang="en-US" sz="2000" b="1" dirty="0" smtClean="0">
                <a:solidFill>
                  <a:srgbClr val="FF0000"/>
                </a:solidFill>
                <a:latin typeface="宋体" panose="02010600030101010101" pitchFamily="2" charset="-122"/>
                <a:ea typeface="宋体" panose="02010600030101010101" pitchFamily="2" charset="-122"/>
              </a:rPr>
              <a:t>功能模块设计延长了五天</a:t>
            </a:r>
            <a:r>
              <a:rPr lang="zh-CN" altLang="en-US" sz="2000" dirty="0" smtClean="0">
                <a:solidFill>
                  <a:srgbClr val="000000"/>
                </a:solidFill>
                <a:latin typeface="宋体" panose="02010600030101010101" pitchFamily="2" charset="-122"/>
                <a:ea typeface="宋体" panose="02010600030101010101" pitchFamily="2" charset="-122"/>
              </a:rPr>
              <a:t>。网络集成过程中，由于涉及到物联网等新技术，</a:t>
            </a:r>
            <a:r>
              <a:rPr lang="zh-CN" altLang="en-US" sz="2000" b="1" dirty="0">
                <a:solidFill>
                  <a:srgbClr val="FF0000"/>
                </a:solidFill>
                <a:latin typeface="宋体" panose="02010600030101010101" pitchFamily="2" charset="-122"/>
                <a:ea typeface="宋体" panose="02010600030101010101" pitchFamily="2" charset="-122"/>
              </a:rPr>
              <a:t>综合布线延迟了五天</a:t>
            </a:r>
            <a:r>
              <a:rPr lang="zh-CN" altLang="en-US" sz="2000" dirty="0" smtClean="0">
                <a:solidFill>
                  <a:srgbClr val="000000"/>
                </a:solidFill>
                <a:latin typeface="宋体" panose="02010600030101010101" pitchFamily="2" charset="-122"/>
                <a:ea typeface="宋体" panose="02010600030101010101" pitchFamily="2" charset="-122"/>
              </a:rPr>
              <a:t>，接着采购的一 个新设备没有按时到货，到货之后在调试过程中遇到了以前没有遇到的问题，使网络</a:t>
            </a:r>
            <a:r>
              <a:rPr lang="zh-CN" altLang="en-US" sz="2000" b="1" dirty="0">
                <a:solidFill>
                  <a:srgbClr val="FF0000"/>
                </a:solidFill>
                <a:latin typeface="宋体" panose="02010600030101010101" pitchFamily="2" charset="-122"/>
                <a:ea typeface="宋体" panose="02010600030101010101" pitchFamily="2" charset="-122"/>
              </a:rPr>
              <a:t>设备安装调试延迟了</a:t>
            </a:r>
            <a:r>
              <a:rPr lang="en-US" altLang="zh-CN" sz="2000" b="1" dirty="0">
                <a:solidFill>
                  <a:srgbClr val="FF0000"/>
                </a:solidFill>
                <a:latin typeface="宋体" panose="02010600030101010101" pitchFamily="2" charset="-122"/>
                <a:ea typeface="宋体" panose="02010600030101010101" pitchFamily="2" charset="-122"/>
              </a:rPr>
              <a:t>7 </a:t>
            </a:r>
            <a:r>
              <a:rPr lang="zh-CN" altLang="en-US" sz="2000" b="1" dirty="0">
                <a:solidFill>
                  <a:srgbClr val="FF0000"/>
                </a:solidFill>
                <a:latin typeface="宋体" panose="02010600030101010101" pitchFamily="2" charset="-122"/>
                <a:ea typeface="宋体" panose="02010600030101010101" pitchFamily="2" charset="-122"/>
              </a:rPr>
              <a:t>天</a:t>
            </a:r>
            <a:r>
              <a:rPr lang="zh-CN" altLang="en-US" sz="2000" dirty="0" smtClean="0">
                <a:solidFill>
                  <a:srgbClr val="000000"/>
                </a:solidFill>
                <a:latin typeface="宋体" panose="02010600030101010101" pitchFamily="2" charset="-122"/>
                <a:ea typeface="宋体" panose="02010600030101010101" pitchFamily="2" charset="-122"/>
              </a:rPr>
              <a:t>。两个小组分别通过电话向各自部门通报项目进展，而网络集成工作是在用户 现场进行的，因此网络集成的进度状况在公司总部进行开发工作的软件开发小组并不了解。上 述问题导致了项目整体进度的拖延，绩效状况不佳。</a:t>
            </a:r>
            <a:endParaRPr lang="zh-CN" altLang="en-US" dirty="0">
              <a:latin typeface="宋体" panose="02010600030101010101" pitchFamily="2" charset="-122"/>
              <a:ea typeface="宋体" panose="02010600030101010101" pitchFamily="2" charset="-122"/>
            </a:endParaRPr>
          </a:p>
        </p:txBody>
      </p:sp>
      <p:sp>
        <p:nvSpPr>
          <p:cNvPr id="2" name="矩形 1"/>
          <p:cNvSpPr/>
          <p:nvPr/>
        </p:nvSpPr>
        <p:spPr>
          <a:xfrm>
            <a:off x="231647" y="2258251"/>
            <a:ext cx="11560455" cy="2862322"/>
          </a:xfrm>
          <a:prstGeom prst="rect">
            <a:avLst/>
          </a:prstGeom>
        </p:spPr>
        <p:txBody>
          <a:bodyPr wrap="square">
            <a:spAutoFit/>
          </a:bodyPr>
          <a:lstStyle/>
          <a:p>
            <a:r>
              <a:rPr lang="zh-CN" altLang="en-US" dirty="0"/>
              <a:t>问题内容：</a:t>
            </a:r>
          </a:p>
          <a:p>
            <a:r>
              <a:rPr lang="en-US" altLang="zh-CN" dirty="0"/>
              <a:t>[</a:t>
            </a:r>
            <a:r>
              <a:rPr lang="zh-CN" altLang="en-US" dirty="0"/>
              <a:t>问题</a:t>
            </a:r>
            <a:r>
              <a:rPr lang="en-US" altLang="zh-CN" dirty="0"/>
              <a:t>1] </a:t>
            </a:r>
            <a:endParaRPr lang="zh-CN" altLang="en-US" dirty="0"/>
          </a:p>
          <a:p>
            <a:r>
              <a:rPr lang="zh-CN" altLang="en-US" dirty="0"/>
              <a:t>项目原计划的工期</a:t>
            </a:r>
            <a:r>
              <a:rPr lang="zh-CN" altLang="en-US" dirty="0" smtClean="0"/>
              <a:t>是</a:t>
            </a:r>
            <a:r>
              <a:rPr lang="en-US" altLang="zh-CN" dirty="0" smtClean="0"/>
              <a:t>___</a:t>
            </a:r>
            <a:r>
              <a:rPr lang="zh-CN" altLang="en-US" dirty="0" smtClean="0"/>
              <a:t>天</a:t>
            </a:r>
            <a:r>
              <a:rPr lang="zh-CN" altLang="en-US" dirty="0"/>
              <a:t>，如不采取措施，项目最后完工的工期</a:t>
            </a:r>
            <a:r>
              <a:rPr lang="zh-CN" altLang="en-US" dirty="0" smtClean="0"/>
              <a:t>是</a:t>
            </a:r>
            <a:r>
              <a:rPr lang="en-US" altLang="zh-CN" dirty="0" smtClean="0"/>
              <a:t>_____</a:t>
            </a:r>
            <a:r>
              <a:rPr lang="zh-CN" altLang="en-US" dirty="0" smtClean="0"/>
              <a:t>天</a:t>
            </a:r>
            <a:r>
              <a:rPr lang="zh-CN" altLang="en-US" dirty="0"/>
              <a:t>，这是</a:t>
            </a:r>
            <a:r>
              <a:rPr lang="zh-CN" altLang="en-US" dirty="0" smtClean="0"/>
              <a:t>因为</a:t>
            </a:r>
            <a:r>
              <a:rPr lang="en-US" altLang="zh-CN" dirty="0" smtClean="0"/>
              <a:t>______</a:t>
            </a:r>
            <a:r>
              <a:rPr lang="zh-CN" altLang="en-US" dirty="0" smtClean="0"/>
              <a:t>、</a:t>
            </a:r>
            <a:r>
              <a:rPr lang="en-US" altLang="zh-CN" dirty="0" smtClean="0"/>
              <a:t>____</a:t>
            </a:r>
            <a:r>
              <a:rPr lang="zh-CN" altLang="en-US" dirty="0" smtClean="0"/>
              <a:t>等</a:t>
            </a:r>
            <a:r>
              <a:rPr lang="zh-CN" altLang="en-US" dirty="0"/>
              <a:t>活动的工期变化，导致了关键路径的变化，如果想尽量按照原来的预期完成工作，而使</a:t>
            </a:r>
            <a:r>
              <a:rPr lang="zh-CN" altLang="en-US" dirty="0" smtClean="0"/>
              <a:t>增加成本</a:t>
            </a:r>
            <a:r>
              <a:rPr lang="zh-CN" altLang="en-US" dirty="0"/>
              <a:t>最少，最常采用的措施应</a:t>
            </a:r>
            <a:r>
              <a:rPr lang="zh-CN" altLang="en-US" dirty="0" smtClean="0"/>
              <a:t>是</a:t>
            </a:r>
            <a:r>
              <a:rPr lang="en-US" altLang="zh-CN" dirty="0" smtClean="0"/>
              <a:t>______</a:t>
            </a:r>
            <a:r>
              <a:rPr lang="zh-CN" altLang="en-US" dirty="0" smtClean="0"/>
              <a:t>。</a:t>
            </a:r>
            <a:r>
              <a:rPr lang="en-US" altLang="zh-CN" dirty="0" smtClean="0"/>
              <a:t>(</a:t>
            </a:r>
            <a:r>
              <a:rPr lang="zh-CN" altLang="en-US" dirty="0" smtClean="0"/>
              <a:t>请画出项目前导图，并找出原计划和实际计划的关键路径</a:t>
            </a:r>
            <a:r>
              <a:rPr lang="en-US" altLang="zh-CN" dirty="0" smtClean="0"/>
              <a:t>)</a:t>
            </a:r>
          </a:p>
          <a:p>
            <a:r>
              <a:rPr lang="en-US" altLang="zh-CN" dirty="0"/>
              <a:t>[</a:t>
            </a:r>
            <a:r>
              <a:rPr lang="zh-CN" altLang="en-US" dirty="0"/>
              <a:t>问题</a:t>
            </a:r>
            <a:r>
              <a:rPr lang="en-US" altLang="zh-CN" dirty="0"/>
              <a:t>2</a:t>
            </a:r>
            <a:r>
              <a:rPr lang="en-US" altLang="zh-CN" dirty="0" smtClean="0"/>
              <a:t>]</a:t>
            </a:r>
            <a:endParaRPr lang="zh-CN" altLang="en-US" dirty="0"/>
          </a:p>
          <a:p>
            <a:r>
              <a:rPr lang="zh-CN" altLang="en-US" dirty="0"/>
              <a:t>分析案例中发生问题的可能原因。</a:t>
            </a:r>
          </a:p>
          <a:p>
            <a:r>
              <a:rPr lang="en-US" altLang="zh-CN" dirty="0"/>
              <a:t>[</a:t>
            </a:r>
            <a:r>
              <a:rPr lang="zh-CN" altLang="en-US" dirty="0"/>
              <a:t>问题</a:t>
            </a:r>
            <a:r>
              <a:rPr lang="en-US" altLang="zh-CN" dirty="0"/>
              <a:t>3</a:t>
            </a:r>
            <a:r>
              <a:rPr lang="en-US" altLang="zh-CN" dirty="0" smtClean="0"/>
              <a:t>]</a:t>
            </a:r>
            <a:endParaRPr lang="zh-CN" altLang="en-US" dirty="0"/>
          </a:p>
          <a:p>
            <a:r>
              <a:rPr lang="zh-CN" altLang="en-US" dirty="0"/>
              <a:t>结合案例，说明王工应如何实施进度控制？采用的工具与技术有哪些？</a:t>
            </a:r>
          </a:p>
          <a:p>
            <a:endParaRPr lang="zh-CN" altLang="en-US" dirty="0"/>
          </a:p>
        </p:txBody>
      </p:sp>
    </p:spTree>
    <p:extLst>
      <p:ext uri="{BB962C8B-B14F-4D97-AF65-F5344CB8AC3E}">
        <p14:creationId xmlns:p14="http://schemas.microsoft.com/office/powerpoint/2010/main" val="413440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4798" y="4073857"/>
            <a:ext cx="11560455" cy="2585323"/>
          </a:xfrm>
          <a:prstGeom prst="rect">
            <a:avLst/>
          </a:prstGeom>
        </p:spPr>
        <p:txBody>
          <a:bodyPr wrap="square">
            <a:spAutoFit/>
          </a:bodyPr>
          <a:lstStyle/>
          <a:p>
            <a:r>
              <a:rPr lang="en-US" altLang="zh-CN" dirty="0" smtClean="0"/>
              <a:t>[</a:t>
            </a:r>
            <a:r>
              <a:rPr lang="zh-CN" altLang="en-US" dirty="0"/>
              <a:t>问题</a:t>
            </a:r>
            <a:r>
              <a:rPr lang="en-US" altLang="zh-CN" dirty="0"/>
              <a:t>3</a:t>
            </a:r>
            <a:r>
              <a:rPr lang="en-US" altLang="zh-CN" dirty="0" smtClean="0"/>
              <a:t>]</a:t>
            </a:r>
            <a:endParaRPr lang="zh-CN" altLang="en-US" dirty="0"/>
          </a:p>
          <a:p>
            <a:r>
              <a:rPr lang="zh-CN" altLang="en-US" dirty="0"/>
              <a:t>结合案例，说明王工应如何实施进度控制？采用的工具与技术有哪些</a:t>
            </a:r>
            <a:r>
              <a:rPr lang="zh-CN" altLang="en-US" dirty="0" smtClean="0"/>
              <a:t>？</a:t>
            </a:r>
            <a:r>
              <a:rPr lang="en-US" altLang="zh-CN" dirty="0" smtClean="0"/>
              <a:t/>
            </a:r>
            <a:br>
              <a:rPr lang="en-US" altLang="zh-CN" dirty="0" smtClean="0"/>
            </a:br>
            <a:r>
              <a:rPr lang="zh-CN" altLang="en-US" dirty="0"/>
              <a:t>实施进度控制</a:t>
            </a:r>
            <a:r>
              <a:rPr lang="zh-CN" altLang="en-US" dirty="0" smtClean="0"/>
              <a:t>：采取</a:t>
            </a:r>
            <a:r>
              <a:rPr lang="zh-CN" altLang="en-US" dirty="0"/>
              <a:t>赶工、快速跟进等措施。</a:t>
            </a:r>
          </a:p>
          <a:p>
            <a:r>
              <a:rPr lang="zh-CN" altLang="en-US" dirty="0"/>
              <a:t>进度控制过程的工具与技术：</a:t>
            </a:r>
          </a:p>
          <a:p>
            <a:r>
              <a:rPr lang="en-US" altLang="zh-CN" dirty="0"/>
              <a:t>1</a:t>
            </a:r>
            <a:r>
              <a:rPr lang="zh-CN" altLang="en-US" dirty="0"/>
              <a:t>、 进展报告</a:t>
            </a:r>
          </a:p>
          <a:p>
            <a:r>
              <a:rPr lang="en-US" altLang="zh-CN" dirty="0" smtClean="0"/>
              <a:t>2</a:t>
            </a:r>
            <a:r>
              <a:rPr lang="zh-CN" altLang="en-US" dirty="0" smtClean="0"/>
              <a:t>、 </a:t>
            </a:r>
            <a:r>
              <a:rPr lang="zh-CN" altLang="en-US" dirty="0"/>
              <a:t>项目管理软件</a:t>
            </a:r>
          </a:p>
          <a:p>
            <a:r>
              <a:rPr lang="en-US" altLang="zh-CN" dirty="0" smtClean="0"/>
              <a:t>3</a:t>
            </a:r>
            <a:r>
              <a:rPr lang="zh-CN" altLang="en-US" dirty="0" smtClean="0"/>
              <a:t>、 </a:t>
            </a:r>
            <a:r>
              <a:rPr lang="zh-CN" altLang="en-US" dirty="0"/>
              <a:t>偏差分析</a:t>
            </a:r>
          </a:p>
          <a:p>
            <a:endParaRPr lang="zh-CN" altLang="en-US" dirty="0"/>
          </a:p>
          <a:p>
            <a:endParaRPr lang="zh-CN" altLang="en-US" dirty="0"/>
          </a:p>
        </p:txBody>
      </p:sp>
      <p:pic>
        <p:nvPicPr>
          <p:cNvPr id="3" name="图片 2"/>
          <p:cNvPicPr>
            <a:picLocks noChangeAspect="1"/>
          </p:cNvPicPr>
          <p:nvPr/>
        </p:nvPicPr>
        <p:blipFill>
          <a:blip r:embed="rId2"/>
          <a:stretch>
            <a:fillRect/>
          </a:stretch>
        </p:blipFill>
        <p:spPr>
          <a:xfrm>
            <a:off x="5041621" y="0"/>
            <a:ext cx="6750482" cy="4073857"/>
          </a:xfrm>
          <a:prstGeom prst="rect">
            <a:avLst/>
          </a:prstGeom>
        </p:spPr>
      </p:pic>
      <p:sp>
        <p:nvSpPr>
          <p:cNvPr id="5" name="矩形 4"/>
          <p:cNvSpPr/>
          <p:nvPr/>
        </p:nvSpPr>
        <p:spPr>
          <a:xfrm>
            <a:off x="219416" y="619864"/>
            <a:ext cx="4206281" cy="3416320"/>
          </a:xfrm>
          <a:prstGeom prst="rect">
            <a:avLst/>
          </a:prstGeom>
        </p:spPr>
        <p:txBody>
          <a:bodyPr wrap="square">
            <a:spAutoFit/>
          </a:bodyPr>
          <a:lstStyle/>
          <a:p>
            <a:r>
              <a:rPr lang="en-US" altLang="zh-CN" dirty="0" smtClean="0"/>
              <a:t>[</a:t>
            </a:r>
            <a:r>
              <a:rPr lang="zh-CN" altLang="en-US" dirty="0"/>
              <a:t>问题</a:t>
            </a:r>
            <a:r>
              <a:rPr lang="en-US" altLang="zh-CN" dirty="0"/>
              <a:t>1] </a:t>
            </a:r>
            <a:endParaRPr lang="zh-CN" altLang="en-US" dirty="0"/>
          </a:p>
          <a:p>
            <a:r>
              <a:rPr lang="zh-CN" altLang="en-US" dirty="0"/>
              <a:t>通过顺推与逆推，从图中可以得出</a:t>
            </a:r>
            <a:r>
              <a:rPr lang="en-US" altLang="zh-CN" dirty="0"/>
              <a:t>:</a:t>
            </a:r>
            <a:endParaRPr lang="zh-CN" altLang="en-US" dirty="0"/>
          </a:p>
          <a:p>
            <a:r>
              <a:rPr lang="zh-CN" altLang="en-US" dirty="0"/>
              <a:t>⑴ </a:t>
            </a:r>
            <a:r>
              <a:rPr lang="en-US" altLang="zh-CN" dirty="0"/>
              <a:t>167 </a:t>
            </a:r>
            <a:r>
              <a:rPr lang="zh-CN" altLang="en-US" dirty="0" smtClean="0"/>
              <a:t>（</a:t>
            </a:r>
            <a:r>
              <a:rPr lang="en-US" altLang="zh-CN" dirty="0"/>
              <a:t>2</a:t>
            </a:r>
            <a:r>
              <a:rPr lang="zh-CN" altLang="en-US" dirty="0"/>
              <a:t>） </a:t>
            </a:r>
            <a:r>
              <a:rPr lang="en-US" altLang="zh-CN" dirty="0"/>
              <a:t>174 </a:t>
            </a:r>
            <a:r>
              <a:rPr lang="en-US" altLang="zh-CN" dirty="0" smtClean="0"/>
              <a:t>  </a:t>
            </a:r>
            <a:r>
              <a:rPr lang="zh-CN" altLang="en-US" dirty="0"/>
              <a:t>（</a:t>
            </a:r>
            <a:r>
              <a:rPr lang="en-US" altLang="zh-CN" dirty="0"/>
              <a:t>3</a:t>
            </a:r>
            <a:r>
              <a:rPr lang="zh-CN" altLang="en-US" dirty="0"/>
              <a:t>） 综合</a:t>
            </a:r>
            <a:r>
              <a:rPr lang="zh-CN" altLang="en-US" dirty="0" smtClean="0"/>
              <a:t>布线（</a:t>
            </a:r>
            <a:r>
              <a:rPr lang="en-US" altLang="zh-CN" dirty="0" smtClean="0"/>
              <a:t>4</a:t>
            </a:r>
            <a:r>
              <a:rPr lang="zh-CN" altLang="en-US" dirty="0"/>
              <a:t>） 设备</a:t>
            </a:r>
            <a:r>
              <a:rPr lang="zh-CN" altLang="en-US" dirty="0" smtClean="0"/>
              <a:t>安装</a:t>
            </a:r>
            <a:r>
              <a:rPr lang="zh-CN" altLang="en-US" dirty="0"/>
              <a:t> （</a:t>
            </a:r>
            <a:r>
              <a:rPr lang="en-US" altLang="zh-CN" dirty="0"/>
              <a:t>5</a:t>
            </a:r>
            <a:r>
              <a:rPr lang="zh-CN" altLang="en-US" dirty="0"/>
              <a:t>） 快速</a:t>
            </a:r>
            <a:r>
              <a:rPr lang="zh-CN" altLang="en-US" dirty="0" smtClean="0"/>
              <a:t>跟进</a:t>
            </a:r>
            <a:r>
              <a:rPr lang="en-US" altLang="zh-CN" dirty="0" smtClean="0"/>
              <a:t/>
            </a:r>
            <a:br>
              <a:rPr lang="en-US" altLang="zh-CN" dirty="0" smtClean="0"/>
            </a:br>
            <a:r>
              <a:rPr lang="en-US" altLang="zh-CN" dirty="0" smtClean="0"/>
              <a:t>[</a:t>
            </a:r>
            <a:r>
              <a:rPr lang="zh-CN" altLang="en-US" dirty="0" smtClean="0"/>
              <a:t>问题</a:t>
            </a:r>
            <a:r>
              <a:rPr lang="en-US" altLang="zh-CN" dirty="0" smtClean="0"/>
              <a:t>2]</a:t>
            </a:r>
            <a:endParaRPr lang="zh-CN" altLang="en-US" dirty="0" smtClean="0"/>
          </a:p>
          <a:p>
            <a:r>
              <a:rPr lang="zh-CN" altLang="en-US" dirty="0" smtClean="0"/>
              <a:t>分析案例中发生问题的可能原因。</a:t>
            </a:r>
            <a:endParaRPr lang="en-US" altLang="zh-CN" dirty="0" smtClean="0"/>
          </a:p>
          <a:p>
            <a:r>
              <a:rPr lang="en-US" altLang="zh-CN" dirty="0" smtClean="0"/>
              <a:t>1</a:t>
            </a:r>
            <a:r>
              <a:rPr lang="zh-CN" altLang="en-US" dirty="0" smtClean="0"/>
              <a:t>、 缺乏绩效报告系统，没有统一的绩效报告。</a:t>
            </a:r>
          </a:p>
          <a:p>
            <a:r>
              <a:rPr lang="en-US" altLang="zh-CN" dirty="0" smtClean="0"/>
              <a:t>2</a:t>
            </a:r>
            <a:r>
              <a:rPr lang="zh-CN" altLang="en-US" dirty="0" smtClean="0"/>
              <a:t>、 缺乏变更控制系统。</a:t>
            </a:r>
          </a:p>
          <a:p>
            <a:r>
              <a:rPr lang="en-US" altLang="zh-CN" dirty="0" smtClean="0"/>
              <a:t>3</a:t>
            </a:r>
            <a:r>
              <a:rPr lang="zh-CN" altLang="en-US" dirty="0" smtClean="0"/>
              <a:t>、 缺乏进度控制。</a:t>
            </a:r>
          </a:p>
          <a:p>
            <a:endParaRPr lang="zh-CN" altLang="en-US" dirty="0"/>
          </a:p>
          <a:p>
            <a:endParaRPr lang="zh-CN" altLang="en-US" dirty="0"/>
          </a:p>
        </p:txBody>
      </p:sp>
    </p:spTree>
    <p:extLst>
      <p:ext uri="{BB962C8B-B14F-4D97-AF65-F5344CB8AC3E}">
        <p14:creationId xmlns:p14="http://schemas.microsoft.com/office/powerpoint/2010/main" val="3325523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2031325"/>
          </a:xfrm>
          <a:prstGeom prst="rect">
            <a:avLst/>
          </a:prstGeom>
        </p:spPr>
        <p:txBody>
          <a:bodyPr wrap="square">
            <a:spAutoFit/>
          </a:bodyPr>
          <a:lstStyle/>
          <a:p>
            <a:r>
              <a:rPr lang="en-US" altLang="zh-CN" dirty="0"/>
              <a:t>2</a:t>
            </a:r>
            <a:r>
              <a:rPr lang="zh-CN" altLang="en-US" dirty="0"/>
              <a:t>、阅读下述说明，回答问题</a:t>
            </a:r>
            <a:r>
              <a:rPr lang="en-US" altLang="zh-CN" dirty="0"/>
              <a:t>1</a:t>
            </a:r>
            <a:r>
              <a:rPr lang="zh-CN" altLang="en-US" dirty="0"/>
              <a:t>至问题</a:t>
            </a:r>
            <a:r>
              <a:rPr lang="en-US" altLang="zh-CN" dirty="0"/>
              <a:t>4,</a:t>
            </a:r>
            <a:r>
              <a:rPr lang="zh-CN" altLang="en-US" dirty="0"/>
              <a:t>将解答填入答题纸的对应栏内。</a:t>
            </a:r>
          </a:p>
          <a:p>
            <a:r>
              <a:rPr lang="zh-CN" altLang="en-US" dirty="0" smtClean="0"/>
              <a:t>某</a:t>
            </a:r>
            <a:r>
              <a:rPr lang="zh-CN" altLang="en-US" dirty="0"/>
              <a:t>项目进入详细设计阶段后，项目经理为后续活动制定了如图</a:t>
            </a:r>
            <a:r>
              <a:rPr lang="en-US" altLang="zh-CN" dirty="0"/>
              <a:t>2</a:t>
            </a:r>
            <a:r>
              <a:rPr lang="zh-CN" altLang="en-US" dirty="0"/>
              <a:t>所示的网络计划图，图中</a:t>
            </a:r>
            <a:r>
              <a:rPr lang="zh-CN" altLang="en-US" dirty="0" smtClean="0"/>
              <a:t>的“三角”</a:t>
            </a:r>
            <a:endParaRPr lang="zh-CN" altLang="en-US" dirty="0"/>
          </a:p>
          <a:p>
            <a:r>
              <a:rPr lang="zh-CN" altLang="en-US" dirty="0"/>
              <a:t>标志代表开发过程的一个里程碑，此处需进行阶段评审，模块</a:t>
            </a:r>
            <a:r>
              <a:rPr lang="en-US" altLang="zh-CN" dirty="0"/>
              <a:t>1</a:t>
            </a:r>
            <a:r>
              <a:rPr lang="zh-CN" altLang="en-US" dirty="0"/>
              <a:t>和模块</a:t>
            </a:r>
            <a:r>
              <a:rPr lang="en-US" altLang="zh-CN" dirty="0"/>
              <a:t>2</a:t>
            </a:r>
            <a:r>
              <a:rPr lang="zh-CN" altLang="en-US" dirty="0"/>
              <a:t>都要通过评审 后才能开始修复</a:t>
            </a:r>
            <a:r>
              <a:rPr lang="zh-CN" altLang="en-US" dirty="0" smtClean="0"/>
              <a:t>。</a:t>
            </a:r>
            <a:r>
              <a:rPr lang="en-US" altLang="zh-CN" dirty="0" smtClean="0"/>
              <a:t/>
            </a:r>
            <a:br>
              <a:rPr lang="en-US" altLang="zh-CN" dirty="0" smtClean="0"/>
            </a:br>
            <a:r>
              <a:rPr lang="en-US" altLang="zh-CN" dirty="0" smtClean="0"/>
              <a:t>     </a:t>
            </a:r>
            <a:r>
              <a:rPr lang="zh-CN" altLang="en-US" dirty="0" smtClean="0"/>
              <a:t>项目</a:t>
            </a:r>
            <a:r>
              <a:rPr lang="zh-CN" altLang="en-US" dirty="0"/>
              <a:t>经理对网络图中的各活动进行了成本估算，估计每人每天耗费的成本为</a:t>
            </a:r>
            <a:r>
              <a:rPr lang="en-US" altLang="zh-CN" dirty="0"/>
              <a:t>1000</a:t>
            </a:r>
            <a:r>
              <a:rPr lang="zh-CN" altLang="en-US" dirty="0"/>
              <a:t>元，安排了各 活动的人员数量并统计了模块</a:t>
            </a:r>
            <a:r>
              <a:rPr lang="en-US" altLang="zh-CN" dirty="0"/>
              <a:t>1</a:t>
            </a:r>
            <a:r>
              <a:rPr lang="zh-CN" altLang="en-US" dirty="0"/>
              <a:t>、模块</a:t>
            </a:r>
            <a:r>
              <a:rPr lang="en-US" altLang="zh-CN" dirty="0"/>
              <a:t>2 </a:t>
            </a:r>
            <a:r>
              <a:rPr lang="zh-CN" altLang="en-US" dirty="0"/>
              <a:t>的开发和测试活动的工作量（如表</a:t>
            </a:r>
            <a:r>
              <a:rPr lang="en-US" altLang="zh-CN" dirty="0"/>
              <a:t>2</a:t>
            </a:r>
            <a:r>
              <a:rPr lang="zh-CN" altLang="en-US" dirty="0"/>
              <a:t>所示），其中阶 段评审活动不计入项目组的时间和人力成本预算，如表</a:t>
            </a:r>
            <a:r>
              <a:rPr lang="en-US" altLang="zh-CN" dirty="0"/>
              <a:t>2</a:t>
            </a:r>
            <a:r>
              <a:rPr lang="zh-CN" altLang="en-US" dirty="0"/>
              <a:t>所示。</a:t>
            </a:r>
          </a:p>
          <a:p>
            <a:endParaRPr lang="zh-CN" altLang="en-US" dirty="0"/>
          </a:p>
        </p:txBody>
      </p:sp>
      <p:pic>
        <p:nvPicPr>
          <p:cNvPr id="2" name="图片 1"/>
          <p:cNvPicPr>
            <a:picLocks noChangeAspect="1"/>
          </p:cNvPicPr>
          <p:nvPr/>
        </p:nvPicPr>
        <p:blipFill>
          <a:blip r:embed="rId2"/>
          <a:stretch>
            <a:fillRect/>
          </a:stretch>
        </p:blipFill>
        <p:spPr>
          <a:xfrm>
            <a:off x="51206" y="1973160"/>
            <a:ext cx="7324725" cy="2428875"/>
          </a:xfrm>
          <a:prstGeom prst="rect">
            <a:avLst/>
          </a:prstGeom>
        </p:spPr>
      </p:pic>
      <p:pic>
        <p:nvPicPr>
          <p:cNvPr id="3" name="图片 2"/>
          <p:cNvPicPr>
            <a:picLocks noChangeAspect="1"/>
          </p:cNvPicPr>
          <p:nvPr/>
        </p:nvPicPr>
        <p:blipFill>
          <a:blip r:embed="rId3"/>
          <a:stretch>
            <a:fillRect/>
          </a:stretch>
        </p:blipFill>
        <p:spPr>
          <a:xfrm>
            <a:off x="4263085" y="3776814"/>
            <a:ext cx="7753350" cy="2771775"/>
          </a:xfrm>
          <a:prstGeom prst="rect">
            <a:avLst/>
          </a:prstGeom>
        </p:spPr>
      </p:pic>
    </p:spTree>
    <p:extLst>
      <p:ext uri="{BB962C8B-B14F-4D97-AF65-F5344CB8AC3E}">
        <p14:creationId xmlns:p14="http://schemas.microsoft.com/office/powerpoint/2010/main" val="34203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974" y="561125"/>
            <a:ext cx="11560455" cy="4247317"/>
          </a:xfrm>
          <a:prstGeom prst="rect">
            <a:avLst/>
          </a:prstGeom>
        </p:spPr>
        <p:txBody>
          <a:bodyPr wrap="square">
            <a:spAutoFit/>
          </a:bodyPr>
          <a:lstStyle/>
          <a:p>
            <a:r>
              <a:rPr lang="en-US" altLang="zh-CN" dirty="0"/>
              <a:t>[</a:t>
            </a:r>
            <a:r>
              <a:rPr lang="zh-CN" altLang="en-US" dirty="0"/>
              <a:t>问题</a:t>
            </a:r>
            <a:r>
              <a:rPr lang="en-US" altLang="zh-CN" dirty="0"/>
              <a:t>1] </a:t>
            </a:r>
            <a:r>
              <a:rPr lang="zh-CN" altLang="en-US" dirty="0"/>
              <a:t>（</a:t>
            </a:r>
            <a:r>
              <a:rPr lang="en-US" altLang="zh-CN" dirty="0"/>
              <a:t>3 </a:t>
            </a:r>
            <a:r>
              <a:rPr lang="zh-CN" altLang="en-US" dirty="0"/>
              <a:t>分）</a:t>
            </a:r>
          </a:p>
          <a:p>
            <a:r>
              <a:rPr lang="zh-CN" altLang="en-US" dirty="0"/>
              <a:t>请计算该项目自模块开发起至模块测试全部结束的</a:t>
            </a:r>
            <a:r>
              <a:rPr lang="zh-CN" altLang="en-US" dirty="0">
                <a:solidFill>
                  <a:srgbClr val="FF0000"/>
                </a:solidFill>
              </a:rPr>
              <a:t>计划工期</a:t>
            </a:r>
            <a:r>
              <a:rPr lang="zh-CN" altLang="en-US" dirty="0"/>
              <a:t>。</a:t>
            </a:r>
          </a:p>
          <a:p>
            <a:r>
              <a:rPr lang="en-US" altLang="zh-CN" dirty="0"/>
              <a:t>[</a:t>
            </a:r>
            <a:r>
              <a:rPr lang="zh-CN" altLang="en-US" dirty="0"/>
              <a:t>问题</a:t>
            </a:r>
            <a:r>
              <a:rPr lang="en-US" altLang="zh-CN" dirty="0"/>
              <a:t>2] </a:t>
            </a:r>
            <a:r>
              <a:rPr lang="zh-CN" altLang="en-US" dirty="0"/>
              <a:t>（</a:t>
            </a:r>
            <a:r>
              <a:rPr lang="en-US" altLang="zh-CN" dirty="0"/>
              <a:t>10</a:t>
            </a:r>
            <a:r>
              <a:rPr lang="zh-CN" altLang="en-US" dirty="0"/>
              <a:t>分）</a:t>
            </a:r>
          </a:p>
          <a:p>
            <a:r>
              <a:rPr lang="zh-CN" altLang="en-US" dirty="0"/>
              <a:t>详细设计完成后</a:t>
            </a:r>
            <a:r>
              <a:rPr lang="zh-CN" altLang="en-US" dirty="0" smtClean="0"/>
              <a:t>，</a:t>
            </a:r>
            <a:r>
              <a:rPr lang="zh-CN" altLang="en-US" dirty="0" smtClean="0">
                <a:solidFill>
                  <a:srgbClr val="FF0000"/>
                </a:solidFill>
              </a:rPr>
              <a:t>模块</a:t>
            </a:r>
            <a:r>
              <a:rPr lang="en-US" altLang="zh-CN" dirty="0" smtClean="0">
                <a:solidFill>
                  <a:srgbClr val="FF0000"/>
                </a:solidFill>
              </a:rPr>
              <a:t>1</a:t>
            </a:r>
            <a:r>
              <a:rPr lang="zh-CN" altLang="en-US" dirty="0" smtClean="0"/>
              <a:t>项目</a:t>
            </a:r>
            <a:r>
              <a:rPr lang="zh-CN" altLang="en-US" dirty="0"/>
              <a:t>组</a:t>
            </a:r>
            <a:r>
              <a:rPr lang="zh-CN" altLang="en-US" dirty="0">
                <a:solidFill>
                  <a:srgbClr val="FF0000"/>
                </a:solidFill>
              </a:rPr>
              <a:t>用了 </a:t>
            </a:r>
            <a:r>
              <a:rPr lang="en-US" altLang="zh-CN" dirty="0">
                <a:solidFill>
                  <a:srgbClr val="FF0000"/>
                </a:solidFill>
              </a:rPr>
              <a:t>11</a:t>
            </a:r>
            <a:r>
              <a:rPr lang="zh-CN" altLang="en-US" dirty="0">
                <a:solidFill>
                  <a:srgbClr val="FF0000"/>
                </a:solidFill>
              </a:rPr>
              <a:t>天才</a:t>
            </a:r>
            <a:r>
              <a:rPr lang="zh-CN" altLang="en-US" dirty="0"/>
              <a:t>进入阶段评审。</a:t>
            </a:r>
            <a:r>
              <a:rPr lang="zh-CN" altLang="en-US" dirty="0">
                <a:solidFill>
                  <a:srgbClr val="FF0000"/>
                </a:solidFill>
              </a:rPr>
              <a:t>在阶段评审中发现：模块</a:t>
            </a:r>
            <a:r>
              <a:rPr lang="en-US" altLang="zh-CN" dirty="0">
                <a:solidFill>
                  <a:srgbClr val="FF0000"/>
                </a:solidFill>
              </a:rPr>
              <a:t>1</a:t>
            </a:r>
            <a:r>
              <a:rPr lang="zh-CN" altLang="en-US" dirty="0">
                <a:solidFill>
                  <a:srgbClr val="FF0000"/>
                </a:solidFill>
              </a:rPr>
              <a:t>开发已完成， 测试尚未开始；模块</a:t>
            </a:r>
            <a:r>
              <a:rPr lang="en-US" altLang="zh-CN" dirty="0">
                <a:solidFill>
                  <a:srgbClr val="FF0000"/>
                </a:solidFill>
              </a:rPr>
              <a:t>2 </a:t>
            </a:r>
            <a:r>
              <a:rPr lang="zh-CN" altLang="en-US" dirty="0">
                <a:solidFill>
                  <a:srgbClr val="FF0000"/>
                </a:solidFill>
              </a:rPr>
              <a:t>的开发和测试均已完成，修复工作尚未开始，模块</a:t>
            </a:r>
            <a:r>
              <a:rPr lang="en-US" altLang="zh-CN" dirty="0">
                <a:solidFill>
                  <a:srgbClr val="FF0000"/>
                </a:solidFill>
              </a:rPr>
              <a:t>2 </a:t>
            </a:r>
            <a:r>
              <a:rPr lang="zh-CN" altLang="en-US" dirty="0">
                <a:solidFill>
                  <a:srgbClr val="FF0000"/>
                </a:solidFill>
              </a:rPr>
              <a:t>的实际工作量比计 划多用了 </a:t>
            </a:r>
            <a:r>
              <a:rPr lang="en-US" altLang="zh-CN" dirty="0">
                <a:solidFill>
                  <a:srgbClr val="FF0000"/>
                </a:solidFill>
              </a:rPr>
              <a:t>3 </a:t>
            </a:r>
            <a:r>
              <a:rPr lang="zh-CN" altLang="en-US" dirty="0">
                <a:solidFill>
                  <a:srgbClr val="FF0000"/>
                </a:solidFill>
              </a:rPr>
              <a:t>人天</a:t>
            </a:r>
            <a:r>
              <a:rPr lang="zh-CN" altLang="en-US" dirty="0"/>
              <a:t>。</a:t>
            </a:r>
          </a:p>
          <a:p>
            <a:r>
              <a:rPr lang="zh-CN" altLang="en-US" dirty="0"/>
              <a:t>（</a:t>
            </a:r>
            <a:r>
              <a:rPr lang="en-US" altLang="zh-CN" dirty="0"/>
              <a:t>1</a:t>
            </a:r>
            <a:r>
              <a:rPr lang="zh-CN" altLang="en-US" dirty="0"/>
              <a:t>） 请计算自详细设计完成至阶段评审期间模块</a:t>
            </a:r>
            <a:r>
              <a:rPr lang="en-US" altLang="zh-CN" dirty="0"/>
              <a:t>1 </a:t>
            </a:r>
            <a:r>
              <a:rPr lang="zh-CN" altLang="en-US" dirty="0"/>
              <a:t>的</a:t>
            </a:r>
            <a:r>
              <a:rPr lang="en-US" altLang="zh-CN" dirty="0"/>
              <a:t>PV</a:t>
            </a:r>
            <a:r>
              <a:rPr lang="zh-CN" altLang="en-US" dirty="0"/>
              <a:t>、</a:t>
            </a:r>
            <a:r>
              <a:rPr lang="en-US" altLang="zh-CN" dirty="0"/>
              <a:t>EV</a:t>
            </a:r>
            <a:r>
              <a:rPr lang="zh-CN" altLang="en-US" dirty="0"/>
              <a:t>、</a:t>
            </a:r>
            <a:r>
              <a:rPr lang="en-US" altLang="zh-CN" dirty="0"/>
              <a:t>AC,</a:t>
            </a:r>
            <a:r>
              <a:rPr lang="zh-CN" altLang="en-US" dirty="0"/>
              <a:t>并评价其进度和成本绩效。</a:t>
            </a:r>
          </a:p>
          <a:p>
            <a:r>
              <a:rPr lang="zh-CN" altLang="en-US" dirty="0"/>
              <a:t>（</a:t>
            </a:r>
            <a:r>
              <a:rPr lang="en-US" altLang="zh-CN" dirty="0"/>
              <a:t>2</a:t>
            </a:r>
            <a:r>
              <a:rPr lang="zh-CN" altLang="en-US" dirty="0"/>
              <a:t>） 请计算自详细设计完成至阶段评审期间模块</a:t>
            </a:r>
            <a:r>
              <a:rPr lang="en-US" altLang="zh-CN" dirty="0"/>
              <a:t>2 </a:t>
            </a:r>
            <a:r>
              <a:rPr lang="zh-CN" altLang="en-US" dirty="0"/>
              <a:t>的</a:t>
            </a:r>
            <a:r>
              <a:rPr lang="en-US" altLang="zh-CN" dirty="0"/>
              <a:t>PV</a:t>
            </a:r>
            <a:r>
              <a:rPr lang="zh-CN" altLang="en-US" dirty="0"/>
              <a:t>、</a:t>
            </a:r>
            <a:r>
              <a:rPr lang="en-US" altLang="zh-CN" dirty="0"/>
              <a:t>EV</a:t>
            </a:r>
            <a:r>
              <a:rPr lang="zh-CN" altLang="en-US" dirty="0"/>
              <a:t>、</a:t>
            </a:r>
            <a:r>
              <a:rPr lang="en-US" altLang="zh-CN" dirty="0"/>
              <a:t>AC,</a:t>
            </a:r>
            <a:r>
              <a:rPr lang="zh-CN" altLang="en-US" dirty="0"/>
              <a:t>并评价其进度和成本绩效。</a:t>
            </a:r>
          </a:p>
          <a:p>
            <a:r>
              <a:rPr lang="en-US" altLang="zh-CN" dirty="0"/>
              <a:t>[</a:t>
            </a:r>
            <a:r>
              <a:rPr lang="zh-CN" altLang="en-US" dirty="0"/>
              <a:t>问题</a:t>
            </a:r>
            <a:r>
              <a:rPr lang="en-US" altLang="zh-CN" dirty="0"/>
              <a:t>3] </a:t>
            </a:r>
            <a:r>
              <a:rPr lang="zh-CN" altLang="en-US" dirty="0"/>
              <a:t>（</a:t>
            </a:r>
            <a:r>
              <a:rPr lang="en-US" altLang="zh-CN" dirty="0"/>
              <a:t>8 </a:t>
            </a:r>
            <a:r>
              <a:rPr lang="zh-CN" altLang="en-US" dirty="0"/>
              <a:t>分）</a:t>
            </a:r>
          </a:p>
          <a:p>
            <a:r>
              <a:rPr lang="zh-CN" altLang="en-US" dirty="0"/>
              <a:t>（</a:t>
            </a:r>
            <a:r>
              <a:rPr lang="en-US" altLang="zh-CN" dirty="0"/>
              <a:t>1</a:t>
            </a:r>
            <a:r>
              <a:rPr lang="zh-CN" altLang="en-US" dirty="0"/>
              <a:t>） 如果阶段评审未作出任何调整措施，项目仍按当前状况进展，请预测从阶段评审结束到软件 集成开始这一期间模块</a:t>
            </a:r>
            <a:r>
              <a:rPr lang="en-US" altLang="zh-CN" dirty="0"/>
              <a:t>1</a:t>
            </a:r>
            <a:r>
              <a:rPr lang="zh-CN" altLang="en-US" dirty="0"/>
              <a:t>、模块</a:t>
            </a:r>
            <a:r>
              <a:rPr lang="en-US" altLang="zh-CN" dirty="0"/>
              <a:t>2 </a:t>
            </a:r>
            <a:r>
              <a:rPr lang="zh-CN" altLang="en-US" dirty="0"/>
              <a:t>的</a:t>
            </a:r>
            <a:r>
              <a:rPr lang="en-US" altLang="zh-CN" dirty="0"/>
              <a:t>ETC </a:t>
            </a:r>
            <a:r>
              <a:rPr lang="zh-CN" altLang="en-US" dirty="0"/>
              <a:t>（完工尚需成本） （给出公式并计算结果）。</a:t>
            </a:r>
          </a:p>
          <a:p>
            <a:r>
              <a:rPr lang="zh-CN" altLang="en-US" dirty="0"/>
              <a:t>（</a:t>
            </a:r>
            <a:r>
              <a:rPr lang="en-US" altLang="zh-CN" dirty="0"/>
              <a:t>2</a:t>
            </a:r>
            <a:r>
              <a:rPr lang="zh-CN" altLang="en-US" dirty="0"/>
              <a:t>） 如果阶段评审后采取了有效的措施，项目仍按计划进展，请预测从阶段评审结束到软件集成 开始这一期间模块</a:t>
            </a:r>
            <a:r>
              <a:rPr lang="en-US" altLang="zh-CN" dirty="0"/>
              <a:t>1</a:t>
            </a:r>
            <a:r>
              <a:rPr lang="zh-CN" altLang="en-US" dirty="0"/>
              <a:t>、模块</a:t>
            </a:r>
            <a:r>
              <a:rPr lang="en-US" altLang="zh-CN" dirty="0"/>
              <a:t>2 </a:t>
            </a:r>
            <a:r>
              <a:rPr lang="zh-CN" altLang="en-US" dirty="0"/>
              <a:t>的</a:t>
            </a:r>
            <a:r>
              <a:rPr lang="en-US" altLang="zh-CN" dirty="0"/>
              <a:t>ETC </a:t>
            </a:r>
            <a:r>
              <a:rPr lang="zh-CN" altLang="en-US" dirty="0"/>
              <a:t>（完工尚需成本） （给出公式并计算结果）。</a:t>
            </a:r>
          </a:p>
          <a:p>
            <a:r>
              <a:rPr lang="en-US" altLang="zh-CN" dirty="0"/>
              <a:t>[</a:t>
            </a:r>
            <a:r>
              <a:rPr lang="zh-CN" altLang="en-US" dirty="0"/>
              <a:t>问题</a:t>
            </a:r>
            <a:r>
              <a:rPr lang="en-US" altLang="zh-CN" dirty="0"/>
              <a:t>4] </a:t>
            </a:r>
            <a:r>
              <a:rPr lang="zh-CN" altLang="en-US" dirty="0"/>
              <a:t>（</a:t>
            </a:r>
            <a:r>
              <a:rPr lang="en-US" altLang="zh-CN" dirty="0"/>
              <a:t>4 </a:t>
            </a:r>
            <a:r>
              <a:rPr lang="zh-CN" altLang="en-US" dirty="0"/>
              <a:t>分）</a:t>
            </a:r>
          </a:p>
          <a:p>
            <a:r>
              <a:rPr lang="zh-CN" altLang="en-US" dirty="0"/>
              <a:t>请结合软件开发和测试的一般过程，指出项目经理制定的网络计划和人力成本预算中存在的</a:t>
            </a:r>
            <a:r>
              <a:rPr lang="zh-CN" altLang="en-US" dirty="0" smtClean="0"/>
              <a:t>问题</a:t>
            </a:r>
            <a:r>
              <a:rPr lang="zh-CN" altLang="en-US" dirty="0"/>
              <a:t>。</a:t>
            </a:r>
          </a:p>
          <a:p>
            <a:endParaRPr lang="zh-CN" altLang="en-US" dirty="0"/>
          </a:p>
        </p:txBody>
      </p:sp>
    </p:spTree>
    <p:extLst>
      <p:ext uri="{BB962C8B-B14F-4D97-AF65-F5344CB8AC3E}">
        <p14:creationId xmlns:p14="http://schemas.microsoft.com/office/powerpoint/2010/main" val="584796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974" y="561125"/>
            <a:ext cx="11560455" cy="7571303"/>
          </a:xfrm>
          <a:prstGeom prst="rect">
            <a:avLst/>
          </a:prstGeom>
        </p:spPr>
        <p:txBody>
          <a:bodyPr wrap="square">
            <a:spAutoFit/>
          </a:bodyPr>
          <a:lstStyle/>
          <a:p>
            <a:r>
              <a:rPr lang="en-US" altLang="zh-CN" dirty="0"/>
              <a:t>【</a:t>
            </a:r>
            <a:r>
              <a:rPr lang="zh-CN" altLang="en-US" dirty="0"/>
              <a:t>问题</a:t>
            </a:r>
            <a:r>
              <a:rPr lang="en-US" altLang="zh-CN" dirty="0"/>
              <a:t>1】 </a:t>
            </a:r>
            <a:r>
              <a:rPr lang="zh-CN" altLang="en-US" dirty="0"/>
              <a:t>（</a:t>
            </a:r>
            <a:r>
              <a:rPr lang="en-US" altLang="zh-CN" dirty="0"/>
              <a:t>3</a:t>
            </a:r>
            <a:r>
              <a:rPr lang="zh-CN" altLang="en-US" dirty="0"/>
              <a:t>分）</a:t>
            </a:r>
          </a:p>
          <a:p>
            <a:r>
              <a:rPr lang="zh-CN" altLang="en-US" dirty="0"/>
              <a:t>计划工期：</a:t>
            </a:r>
            <a:r>
              <a:rPr lang="en-US" altLang="zh-CN" dirty="0"/>
              <a:t>8+3+1+2=14</a:t>
            </a:r>
            <a:r>
              <a:rPr lang="zh-CN" altLang="en-US" dirty="0"/>
              <a:t>天</a:t>
            </a:r>
            <a:r>
              <a:rPr lang="zh-CN" altLang="en-US" dirty="0" smtClean="0"/>
              <a:t>。</a:t>
            </a:r>
            <a:endParaRPr lang="en-US" altLang="zh-CN" dirty="0"/>
          </a:p>
          <a:p>
            <a:r>
              <a:rPr lang="en-US" altLang="zh-CN" dirty="0"/>
              <a:t>【</a:t>
            </a:r>
            <a:r>
              <a:rPr lang="zh-CN" altLang="en-US" dirty="0"/>
              <a:t>问题</a:t>
            </a:r>
            <a:r>
              <a:rPr lang="en-US" altLang="zh-CN" dirty="0"/>
              <a:t>2】 </a:t>
            </a:r>
            <a:r>
              <a:rPr lang="zh-CN" altLang="en-US" dirty="0"/>
              <a:t>（</a:t>
            </a:r>
            <a:r>
              <a:rPr lang="en-US" altLang="zh-CN" dirty="0"/>
              <a:t>10</a:t>
            </a:r>
            <a:r>
              <a:rPr lang="zh-CN" altLang="en-US" dirty="0"/>
              <a:t>分）</a:t>
            </a:r>
          </a:p>
          <a:p>
            <a:r>
              <a:rPr lang="zh-CN" altLang="en-US" dirty="0"/>
              <a:t>（</a:t>
            </a:r>
            <a:r>
              <a:rPr lang="en-US" altLang="zh-CN" dirty="0"/>
              <a:t>1</a:t>
            </a:r>
            <a:r>
              <a:rPr lang="zh-CN" altLang="en-US" dirty="0"/>
              <a:t>） 自详细设计完成至阶段评审期间模块</a:t>
            </a:r>
            <a:r>
              <a:rPr lang="en-US" altLang="zh-CN" dirty="0"/>
              <a:t>1 </a:t>
            </a:r>
            <a:r>
              <a:rPr lang="zh-CN" altLang="en-US" dirty="0"/>
              <a:t>的 </a:t>
            </a:r>
            <a:r>
              <a:rPr lang="en-US" altLang="zh-CN" dirty="0"/>
              <a:t>PV</a:t>
            </a:r>
            <a:r>
              <a:rPr lang="zh-CN" altLang="en-US" dirty="0"/>
              <a:t>、</a:t>
            </a:r>
            <a:r>
              <a:rPr lang="en-US" altLang="zh-CN" dirty="0"/>
              <a:t>EV</a:t>
            </a:r>
            <a:r>
              <a:rPr lang="zh-CN" altLang="en-US" dirty="0"/>
              <a:t>、</a:t>
            </a:r>
            <a:r>
              <a:rPr lang="en-US" altLang="zh-CN" dirty="0"/>
              <a:t>AC,</a:t>
            </a:r>
            <a:r>
              <a:rPr lang="zh-CN" altLang="en-US" dirty="0"/>
              <a:t>并评价其进度和成本绩效。</a:t>
            </a:r>
          </a:p>
          <a:p>
            <a:r>
              <a:rPr lang="en-US" altLang="zh-CN" dirty="0"/>
              <a:t>PV=</a:t>
            </a:r>
            <a:r>
              <a:rPr lang="zh-CN" altLang="en-US" dirty="0"/>
              <a:t>（</a:t>
            </a:r>
            <a:r>
              <a:rPr lang="en-US" altLang="zh-CN" dirty="0"/>
              <a:t>48+3</a:t>
            </a:r>
            <a:r>
              <a:rPr lang="zh-CN" altLang="en-US" dirty="0"/>
              <a:t>）*</a:t>
            </a:r>
            <a:r>
              <a:rPr lang="en-US" altLang="zh-CN" dirty="0" smtClean="0"/>
              <a:t>1000= 51000 </a:t>
            </a:r>
            <a:r>
              <a:rPr lang="zh-CN" altLang="en-US" dirty="0"/>
              <a:t>元。 （</a:t>
            </a:r>
            <a:r>
              <a:rPr lang="en-US" altLang="zh-CN" dirty="0"/>
              <a:t>1 </a:t>
            </a:r>
            <a:r>
              <a:rPr lang="zh-CN" altLang="en-US" dirty="0"/>
              <a:t>分</a:t>
            </a:r>
            <a:r>
              <a:rPr lang="zh-CN" altLang="en-US" dirty="0" smtClean="0"/>
              <a:t>）  （</a:t>
            </a:r>
            <a:r>
              <a:rPr lang="zh-CN" altLang="en-US" dirty="0">
                <a:solidFill>
                  <a:srgbClr val="FF0000"/>
                </a:solidFill>
              </a:rPr>
              <a:t>计划值</a:t>
            </a:r>
            <a:r>
              <a:rPr lang="en-US" altLang="zh-CN" dirty="0">
                <a:solidFill>
                  <a:srgbClr val="FF0000"/>
                </a:solidFill>
              </a:rPr>
              <a:t>(Planned Value, PV)</a:t>
            </a:r>
            <a:r>
              <a:rPr lang="zh-CN" altLang="en-US" dirty="0">
                <a:solidFill>
                  <a:srgbClr val="FF0000"/>
                </a:solidFill>
              </a:rPr>
              <a:t>，是为计划工作分配的经批准的预算</a:t>
            </a:r>
            <a:r>
              <a:rPr lang="zh-CN" altLang="en-US" dirty="0" smtClean="0"/>
              <a:t>）</a:t>
            </a:r>
            <a:r>
              <a:rPr lang="en-US" altLang="zh-CN" dirty="0" smtClean="0"/>
              <a:t/>
            </a:r>
            <a:br>
              <a:rPr lang="en-US" altLang="zh-CN" dirty="0" smtClean="0"/>
            </a:br>
            <a:r>
              <a:rPr lang="en-US" altLang="zh-CN" dirty="0" smtClean="0"/>
              <a:t>EV=48*1000 = 48000 </a:t>
            </a:r>
            <a:r>
              <a:rPr lang="zh-CN" altLang="en-US" dirty="0"/>
              <a:t>元。 （</a:t>
            </a:r>
            <a:r>
              <a:rPr lang="en-US" altLang="zh-CN" dirty="0"/>
              <a:t>1 </a:t>
            </a:r>
            <a:r>
              <a:rPr lang="zh-CN" altLang="en-US" dirty="0"/>
              <a:t>分</a:t>
            </a:r>
            <a:r>
              <a:rPr lang="zh-CN" altLang="en-US" dirty="0" smtClean="0"/>
              <a:t>）  （</a:t>
            </a:r>
            <a:r>
              <a:rPr lang="zh-CN" altLang="en-US" dirty="0">
                <a:solidFill>
                  <a:srgbClr val="FF0000"/>
                </a:solidFill>
              </a:rPr>
              <a:t>挣值</a:t>
            </a:r>
            <a:r>
              <a:rPr lang="en-US" altLang="zh-CN" dirty="0">
                <a:solidFill>
                  <a:srgbClr val="FF0000"/>
                </a:solidFill>
              </a:rPr>
              <a:t>(Earned Value, EV)</a:t>
            </a:r>
            <a:r>
              <a:rPr lang="zh-CN" altLang="en-US" dirty="0">
                <a:solidFill>
                  <a:srgbClr val="FF0000"/>
                </a:solidFill>
              </a:rPr>
              <a:t>， 是对已完成工作的测量</a:t>
            </a:r>
            <a:r>
              <a:rPr lang="zh-CN" altLang="en-US" dirty="0" smtClean="0">
                <a:solidFill>
                  <a:srgbClr val="FF0000"/>
                </a:solidFill>
              </a:rPr>
              <a:t>值 </a:t>
            </a:r>
            <a:r>
              <a:rPr lang="zh-CN" altLang="en-US" dirty="0" smtClean="0"/>
              <a:t>）</a:t>
            </a:r>
            <a:endParaRPr lang="zh-CN" altLang="en-US" dirty="0"/>
          </a:p>
          <a:p>
            <a:r>
              <a:rPr lang="en-US" altLang="zh-CN" dirty="0" smtClean="0"/>
              <a:t>AC = 8*1000*11= 88000 </a:t>
            </a:r>
            <a:r>
              <a:rPr lang="zh-CN" altLang="en-US" dirty="0"/>
              <a:t>元。 </a:t>
            </a:r>
            <a:r>
              <a:rPr lang="zh-CN" altLang="en-US" dirty="0" smtClean="0"/>
              <a:t>（</a:t>
            </a:r>
            <a:r>
              <a:rPr lang="zh-CN" altLang="en-US" dirty="0">
                <a:solidFill>
                  <a:srgbClr val="FF0000"/>
                </a:solidFill>
              </a:rPr>
              <a:t>实际成本</a:t>
            </a:r>
            <a:r>
              <a:rPr lang="en-US" altLang="zh-CN" dirty="0">
                <a:solidFill>
                  <a:srgbClr val="FF0000"/>
                </a:solidFill>
              </a:rPr>
              <a:t>(Actual Cost, AC) </a:t>
            </a:r>
            <a:r>
              <a:rPr lang="zh-CN" altLang="en-US" dirty="0">
                <a:solidFill>
                  <a:srgbClr val="FF0000"/>
                </a:solidFill>
              </a:rPr>
              <a:t>是在给定时段内，执行某工作而实际发生的</a:t>
            </a:r>
            <a:r>
              <a:rPr lang="zh-CN" altLang="en-US" dirty="0" smtClean="0">
                <a:solidFill>
                  <a:srgbClr val="FF0000"/>
                </a:solidFill>
              </a:rPr>
              <a:t>成本 </a:t>
            </a:r>
            <a:r>
              <a:rPr lang="zh-CN" altLang="en-US" dirty="0" smtClean="0"/>
              <a:t>）</a:t>
            </a:r>
            <a:endParaRPr lang="zh-CN" altLang="en-US" dirty="0"/>
          </a:p>
          <a:p>
            <a:r>
              <a:rPr lang="en-US" altLang="zh-CN" dirty="0" smtClean="0"/>
              <a:t>CPI = EV/AC=0</a:t>
            </a:r>
            <a:r>
              <a:rPr lang="en-US" altLang="zh-CN" dirty="0"/>
              <a:t>. 55,</a:t>
            </a:r>
            <a:r>
              <a:rPr lang="zh-CN" altLang="en-US" dirty="0"/>
              <a:t>成本超支。 （</a:t>
            </a:r>
            <a:r>
              <a:rPr lang="en-US" altLang="zh-CN" dirty="0"/>
              <a:t>1 </a:t>
            </a:r>
            <a:r>
              <a:rPr lang="zh-CN" altLang="en-US" dirty="0"/>
              <a:t>分</a:t>
            </a:r>
            <a:r>
              <a:rPr lang="zh-CN" altLang="en-US" dirty="0" smtClean="0"/>
              <a:t>）（</a:t>
            </a:r>
            <a:r>
              <a:rPr lang="zh-CN" altLang="en-US" dirty="0"/>
              <a:t> </a:t>
            </a:r>
            <a:r>
              <a:rPr lang="zh-CN" altLang="en-US" dirty="0" smtClean="0">
                <a:solidFill>
                  <a:srgbClr val="FF0000"/>
                </a:solidFill>
              </a:rPr>
              <a:t>成本</a:t>
            </a:r>
            <a:r>
              <a:rPr lang="zh-CN" altLang="en-US" dirty="0">
                <a:solidFill>
                  <a:srgbClr val="FF0000"/>
                </a:solidFill>
              </a:rPr>
              <a:t>绩效指数</a:t>
            </a:r>
            <a:r>
              <a:rPr lang="en-US" altLang="zh-CN" dirty="0">
                <a:solidFill>
                  <a:srgbClr val="FF0000"/>
                </a:solidFill>
              </a:rPr>
              <a:t>(Cost Performance Index, CPI) </a:t>
            </a:r>
            <a:r>
              <a:rPr lang="en-US" altLang="zh-CN" dirty="0"/>
              <a:t> </a:t>
            </a:r>
            <a:r>
              <a:rPr lang="en-US" altLang="zh-CN" dirty="0" smtClean="0"/>
              <a:t/>
            </a:r>
            <a:br>
              <a:rPr lang="en-US" altLang="zh-CN" dirty="0" smtClean="0"/>
            </a:br>
            <a:r>
              <a:rPr lang="en-US" altLang="zh-CN" b="1" dirty="0" smtClean="0">
                <a:solidFill>
                  <a:srgbClr val="FF0000"/>
                </a:solidFill>
              </a:rPr>
              <a:t>CPI </a:t>
            </a:r>
            <a:r>
              <a:rPr lang="en-US" altLang="zh-CN" b="1" dirty="0">
                <a:solidFill>
                  <a:srgbClr val="FF0000"/>
                </a:solidFill>
              </a:rPr>
              <a:t>&gt; 1</a:t>
            </a:r>
            <a:r>
              <a:rPr lang="zh-CN" altLang="en-US" dirty="0">
                <a:solidFill>
                  <a:srgbClr val="FF0000"/>
                </a:solidFill>
              </a:rPr>
              <a:t>：表示每花费</a:t>
            </a:r>
            <a:r>
              <a:rPr lang="en-US" altLang="zh-CN" dirty="0">
                <a:solidFill>
                  <a:srgbClr val="FF0000"/>
                </a:solidFill>
              </a:rPr>
              <a:t>1</a:t>
            </a:r>
            <a:r>
              <a:rPr lang="zh-CN" altLang="en-US" dirty="0">
                <a:solidFill>
                  <a:srgbClr val="FF0000"/>
                </a:solidFill>
              </a:rPr>
              <a:t>元实际成本，赚取的价值超过</a:t>
            </a:r>
            <a:r>
              <a:rPr lang="en-US" altLang="zh-CN" dirty="0">
                <a:solidFill>
                  <a:srgbClr val="FF0000"/>
                </a:solidFill>
              </a:rPr>
              <a:t>1</a:t>
            </a:r>
            <a:r>
              <a:rPr lang="zh-CN" altLang="en-US" dirty="0">
                <a:solidFill>
                  <a:srgbClr val="FF0000"/>
                </a:solidFill>
              </a:rPr>
              <a:t>元，即项目成本低于预算，成本控制良好。</a:t>
            </a:r>
          </a:p>
          <a:p>
            <a:r>
              <a:rPr lang="en-US" altLang="zh-CN" b="1" dirty="0">
                <a:solidFill>
                  <a:srgbClr val="FF0000"/>
                </a:solidFill>
              </a:rPr>
              <a:t>CPI = 1</a:t>
            </a:r>
            <a:r>
              <a:rPr lang="zh-CN" altLang="en-US" dirty="0">
                <a:solidFill>
                  <a:srgbClr val="FF0000"/>
                </a:solidFill>
              </a:rPr>
              <a:t>：表示每花费</a:t>
            </a:r>
            <a:r>
              <a:rPr lang="en-US" altLang="zh-CN" dirty="0">
                <a:solidFill>
                  <a:srgbClr val="FF0000"/>
                </a:solidFill>
              </a:rPr>
              <a:t>1</a:t>
            </a:r>
            <a:r>
              <a:rPr lang="zh-CN" altLang="en-US" dirty="0">
                <a:solidFill>
                  <a:srgbClr val="FF0000"/>
                </a:solidFill>
              </a:rPr>
              <a:t>元实际成本，赚取的价值正好是</a:t>
            </a:r>
            <a:r>
              <a:rPr lang="en-US" altLang="zh-CN" dirty="0">
                <a:solidFill>
                  <a:srgbClr val="FF0000"/>
                </a:solidFill>
              </a:rPr>
              <a:t>1</a:t>
            </a:r>
            <a:r>
              <a:rPr lang="zh-CN" altLang="en-US" dirty="0">
                <a:solidFill>
                  <a:srgbClr val="FF0000"/>
                </a:solidFill>
              </a:rPr>
              <a:t>元，即项目成本与预算相符。</a:t>
            </a:r>
          </a:p>
          <a:p>
            <a:r>
              <a:rPr lang="en-US" altLang="zh-CN" b="1" dirty="0">
                <a:solidFill>
                  <a:srgbClr val="FF0000"/>
                </a:solidFill>
              </a:rPr>
              <a:t>CPI &lt; 1</a:t>
            </a:r>
            <a:r>
              <a:rPr lang="zh-CN" altLang="en-US" dirty="0">
                <a:solidFill>
                  <a:srgbClr val="FF0000"/>
                </a:solidFill>
              </a:rPr>
              <a:t>：表示每花费</a:t>
            </a:r>
            <a:r>
              <a:rPr lang="en-US" altLang="zh-CN" dirty="0">
                <a:solidFill>
                  <a:srgbClr val="FF0000"/>
                </a:solidFill>
              </a:rPr>
              <a:t>1</a:t>
            </a:r>
            <a:r>
              <a:rPr lang="zh-CN" altLang="en-US" dirty="0">
                <a:solidFill>
                  <a:srgbClr val="FF0000"/>
                </a:solidFill>
              </a:rPr>
              <a:t>元实际成本，赚取的价值不到</a:t>
            </a:r>
            <a:r>
              <a:rPr lang="en-US" altLang="zh-CN" dirty="0">
                <a:solidFill>
                  <a:srgbClr val="FF0000"/>
                </a:solidFill>
              </a:rPr>
              <a:t>1</a:t>
            </a:r>
            <a:r>
              <a:rPr lang="zh-CN" altLang="en-US" dirty="0">
                <a:solidFill>
                  <a:srgbClr val="FF0000"/>
                </a:solidFill>
              </a:rPr>
              <a:t>元，即项目成本超出预算，成本控制不佳。</a:t>
            </a:r>
          </a:p>
          <a:p>
            <a:r>
              <a:rPr lang="zh-CN" altLang="en-US" dirty="0" smtClean="0"/>
              <a:t>）</a:t>
            </a:r>
            <a:endParaRPr lang="zh-CN" altLang="en-US" dirty="0"/>
          </a:p>
          <a:p>
            <a:r>
              <a:rPr lang="en-US" altLang="zh-CN" dirty="0" smtClean="0"/>
              <a:t>SPI = EV/PV=0</a:t>
            </a:r>
            <a:r>
              <a:rPr lang="en-US" altLang="zh-CN" dirty="0"/>
              <a:t>. 94,</a:t>
            </a:r>
            <a:r>
              <a:rPr lang="zh-CN" altLang="en-US" dirty="0"/>
              <a:t>进度滞后。 （</a:t>
            </a:r>
            <a:r>
              <a:rPr lang="en-US" altLang="zh-CN" dirty="0"/>
              <a:t>1 </a:t>
            </a:r>
            <a:r>
              <a:rPr lang="zh-CN" altLang="en-US" dirty="0"/>
              <a:t>分</a:t>
            </a:r>
            <a:r>
              <a:rPr lang="zh-CN" altLang="en-US" dirty="0" smtClean="0"/>
              <a:t>）（</a:t>
            </a:r>
            <a:r>
              <a:rPr lang="en-US" altLang="zh-CN" dirty="0"/>
              <a:t> </a:t>
            </a:r>
            <a:r>
              <a:rPr lang="en-US" altLang="zh-CN" dirty="0">
                <a:solidFill>
                  <a:srgbClr val="FF0000"/>
                </a:solidFill>
              </a:rPr>
              <a:t>SPI</a:t>
            </a:r>
            <a:r>
              <a:rPr lang="zh-CN" altLang="en-US" dirty="0">
                <a:solidFill>
                  <a:srgbClr val="FF0000"/>
                </a:solidFill>
              </a:rPr>
              <a:t>（</a:t>
            </a:r>
            <a:r>
              <a:rPr lang="en-US" altLang="zh-CN" dirty="0">
                <a:solidFill>
                  <a:srgbClr val="FF0000"/>
                </a:solidFill>
              </a:rPr>
              <a:t>Schedule Performance Index</a:t>
            </a:r>
            <a:r>
              <a:rPr lang="zh-CN" altLang="en-US" dirty="0">
                <a:solidFill>
                  <a:srgbClr val="FF0000"/>
                </a:solidFill>
              </a:rPr>
              <a:t>），即进度绩效</a:t>
            </a:r>
            <a:r>
              <a:rPr lang="zh-CN" altLang="en-US" dirty="0" smtClean="0">
                <a:solidFill>
                  <a:srgbClr val="FF0000"/>
                </a:solidFill>
              </a:rPr>
              <a:t>指数</a:t>
            </a:r>
            <a:r>
              <a:rPr lang="en-US" altLang="zh-CN" dirty="0">
                <a:solidFill>
                  <a:srgbClr val="FF0000"/>
                </a:solidFill>
              </a:rPr>
              <a:t/>
            </a:r>
            <a:br>
              <a:rPr lang="en-US" altLang="zh-CN" dirty="0">
                <a:solidFill>
                  <a:srgbClr val="FF0000"/>
                </a:solidFill>
              </a:rPr>
            </a:br>
            <a:r>
              <a:rPr lang="en-US" altLang="zh-CN" b="1" dirty="0">
                <a:solidFill>
                  <a:srgbClr val="FF0000"/>
                </a:solidFill>
              </a:rPr>
              <a:t>SPI &gt; 1</a:t>
            </a:r>
            <a:r>
              <a:rPr lang="zh-CN" altLang="en-US" dirty="0">
                <a:solidFill>
                  <a:srgbClr val="FF0000"/>
                </a:solidFill>
              </a:rPr>
              <a:t>：表示项目进度超前，即在相同的时间内完成了超过计划的工作量。</a:t>
            </a:r>
          </a:p>
          <a:p>
            <a:r>
              <a:rPr lang="en-US" altLang="zh-CN" b="1" dirty="0">
                <a:solidFill>
                  <a:srgbClr val="FF0000"/>
                </a:solidFill>
              </a:rPr>
              <a:t>SPI = 1</a:t>
            </a:r>
            <a:r>
              <a:rPr lang="zh-CN" altLang="en-US" dirty="0">
                <a:solidFill>
                  <a:srgbClr val="FF0000"/>
                </a:solidFill>
              </a:rPr>
              <a:t>：表示项目进度符合计划，即在相同的时间内完成了计划内的工作量。</a:t>
            </a:r>
          </a:p>
          <a:p>
            <a:r>
              <a:rPr lang="en-US" altLang="zh-CN" b="1" dirty="0">
                <a:solidFill>
                  <a:srgbClr val="FF0000"/>
                </a:solidFill>
              </a:rPr>
              <a:t>SPI &lt; 1</a:t>
            </a:r>
            <a:r>
              <a:rPr lang="zh-CN" altLang="en-US" dirty="0">
                <a:solidFill>
                  <a:srgbClr val="FF0000"/>
                </a:solidFill>
              </a:rPr>
              <a:t>：表示项目进度滞后，即在相同的时间内完成的工作量少于计划。</a:t>
            </a:r>
          </a:p>
          <a:p>
            <a:r>
              <a:rPr lang="zh-CN" altLang="en-US" dirty="0" smtClean="0"/>
              <a:t>）</a:t>
            </a:r>
            <a:r>
              <a:rPr lang="en-US" altLang="zh-CN" dirty="0" smtClean="0"/>
              <a:t/>
            </a:r>
            <a:br>
              <a:rPr lang="en-US" altLang="zh-CN" dirty="0" smtClean="0"/>
            </a:br>
            <a:r>
              <a:rPr lang="zh-CN" altLang="en-US" dirty="0"/>
              <a:t>（</a:t>
            </a:r>
            <a:r>
              <a:rPr lang="en-US" altLang="zh-CN" dirty="0"/>
              <a:t>2</a:t>
            </a:r>
            <a:r>
              <a:rPr lang="zh-CN" altLang="en-US" dirty="0"/>
              <a:t>）自详细设计完成至阶段评审期间模块</a:t>
            </a:r>
            <a:r>
              <a:rPr lang="en-US" altLang="zh-CN" dirty="0"/>
              <a:t>2 </a:t>
            </a:r>
            <a:r>
              <a:rPr lang="zh-CN" altLang="en-US" dirty="0"/>
              <a:t>的</a:t>
            </a:r>
            <a:r>
              <a:rPr lang="en-US" altLang="zh-CN" dirty="0"/>
              <a:t>PV</a:t>
            </a:r>
            <a:r>
              <a:rPr lang="zh-CN" altLang="en-US" dirty="0"/>
              <a:t>、</a:t>
            </a:r>
            <a:r>
              <a:rPr lang="en-US" altLang="zh-CN" dirty="0"/>
              <a:t>EV</a:t>
            </a:r>
            <a:r>
              <a:rPr lang="zh-CN" altLang="en-US" dirty="0"/>
              <a:t>、</a:t>
            </a:r>
            <a:r>
              <a:rPr lang="en-US" altLang="zh-CN" dirty="0"/>
              <a:t>AC,</a:t>
            </a:r>
            <a:r>
              <a:rPr lang="zh-CN" altLang="en-US" dirty="0"/>
              <a:t>并评价其进度和成本绩效。</a:t>
            </a:r>
          </a:p>
          <a:p>
            <a:r>
              <a:rPr lang="en-US" altLang="zh-CN" dirty="0"/>
              <a:t>PV=</a:t>
            </a:r>
            <a:r>
              <a:rPr lang="zh-CN" altLang="en-US" dirty="0"/>
              <a:t>（</a:t>
            </a:r>
            <a:r>
              <a:rPr lang="en-US" altLang="zh-CN" dirty="0"/>
              <a:t>80+3</a:t>
            </a:r>
            <a:r>
              <a:rPr lang="zh-CN" altLang="en-US" dirty="0"/>
              <a:t>） *</a:t>
            </a:r>
            <a:r>
              <a:rPr lang="en-US" altLang="zh-CN" dirty="0" smtClean="0"/>
              <a:t>1000 = 83000 </a:t>
            </a:r>
            <a:r>
              <a:rPr lang="zh-CN" altLang="en-US" dirty="0"/>
              <a:t>元。 （</a:t>
            </a:r>
            <a:r>
              <a:rPr lang="en-US" altLang="zh-CN" dirty="0"/>
              <a:t>1 </a:t>
            </a:r>
            <a:r>
              <a:rPr lang="zh-CN" altLang="en-US" dirty="0"/>
              <a:t>分）</a:t>
            </a:r>
          </a:p>
          <a:p>
            <a:r>
              <a:rPr lang="en-US" altLang="zh-CN" dirty="0"/>
              <a:t>EV=PV=83000 </a:t>
            </a:r>
            <a:r>
              <a:rPr lang="zh-CN" altLang="en-US" dirty="0"/>
              <a:t>元。 （</a:t>
            </a:r>
            <a:r>
              <a:rPr lang="en-US" altLang="zh-CN" dirty="0"/>
              <a:t>1 </a:t>
            </a:r>
            <a:r>
              <a:rPr lang="zh-CN" altLang="en-US" dirty="0"/>
              <a:t>分）</a:t>
            </a:r>
          </a:p>
          <a:p>
            <a:r>
              <a:rPr lang="en-US" altLang="zh-CN" dirty="0" smtClean="0"/>
              <a:t>AC = 83000+3*1000 = 86000 </a:t>
            </a:r>
            <a:r>
              <a:rPr lang="zh-CN" altLang="en-US" dirty="0"/>
              <a:t>元。 （</a:t>
            </a:r>
            <a:r>
              <a:rPr lang="en-US" altLang="zh-CN" dirty="0"/>
              <a:t>1 </a:t>
            </a:r>
            <a:r>
              <a:rPr lang="zh-CN" altLang="en-US" dirty="0"/>
              <a:t>分 ）</a:t>
            </a:r>
          </a:p>
          <a:p>
            <a:r>
              <a:rPr lang="en-US" altLang="zh-CN" dirty="0" smtClean="0"/>
              <a:t>CPI = EV/AC=0</a:t>
            </a:r>
            <a:r>
              <a:rPr lang="en-US" altLang="zh-CN" dirty="0"/>
              <a:t>. 97,</a:t>
            </a:r>
            <a:r>
              <a:rPr lang="zh-CN" altLang="en-US" dirty="0"/>
              <a:t>成本略有超支。 （</a:t>
            </a:r>
            <a:r>
              <a:rPr lang="en-US" altLang="zh-CN" dirty="0"/>
              <a:t>1 </a:t>
            </a:r>
            <a:r>
              <a:rPr lang="zh-CN" altLang="en-US" dirty="0"/>
              <a:t>分）</a:t>
            </a:r>
          </a:p>
          <a:p>
            <a:r>
              <a:rPr lang="en-US" altLang="zh-CN" dirty="0" smtClean="0"/>
              <a:t>SPI = EV/PV=1 </a:t>
            </a:r>
            <a:r>
              <a:rPr lang="en-US" altLang="zh-CN" dirty="0"/>
              <a:t>, </a:t>
            </a:r>
            <a:r>
              <a:rPr lang="zh-CN" altLang="en-US" dirty="0"/>
              <a:t>进度与计划相符。 （</a:t>
            </a:r>
            <a:r>
              <a:rPr lang="en-US" altLang="zh-CN" dirty="0"/>
              <a:t>1 </a:t>
            </a:r>
            <a:r>
              <a:rPr lang="zh-CN" altLang="en-US" dirty="0"/>
              <a:t>分）</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4177936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974" y="561125"/>
            <a:ext cx="11560455" cy="6740307"/>
          </a:xfrm>
          <a:prstGeom prst="rect">
            <a:avLst/>
          </a:prstGeom>
        </p:spPr>
        <p:txBody>
          <a:bodyPr wrap="square">
            <a:spAutoFit/>
          </a:bodyPr>
          <a:lstStyle/>
          <a:p>
            <a:r>
              <a:rPr lang="en-US" altLang="zh-CN" dirty="0"/>
              <a:t>【</a:t>
            </a:r>
            <a:r>
              <a:rPr lang="zh-CN" altLang="en-US" dirty="0"/>
              <a:t>问题</a:t>
            </a:r>
            <a:r>
              <a:rPr lang="en-US" altLang="zh-CN" dirty="0"/>
              <a:t>3】 </a:t>
            </a:r>
            <a:r>
              <a:rPr lang="zh-CN" altLang="en-US" dirty="0"/>
              <a:t>（</a:t>
            </a:r>
            <a:r>
              <a:rPr lang="en-US" altLang="zh-CN" dirty="0"/>
              <a:t>8 </a:t>
            </a:r>
            <a:r>
              <a:rPr lang="zh-CN" altLang="en-US" dirty="0"/>
              <a:t>分）</a:t>
            </a:r>
          </a:p>
          <a:p>
            <a:r>
              <a:rPr lang="zh-CN" altLang="en-US" dirty="0"/>
              <a:t>（</a:t>
            </a:r>
            <a:r>
              <a:rPr lang="en-US" altLang="zh-CN" dirty="0"/>
              <a:t>1</a:t>
            </a:r>
            <a:r>
              <a:rPr lang="zh-CN" altLang="en-US" dirty="0"/>
              <a:t>） 如果阶段评审未作出任何调整措施，项目仍按当前状况进展，请预测</a:t>
            </a:r>
            <a:r>
              <a:rPr lang="zh-CN" altLang="en-US" dirty="0">
                <a:solidFill>
                  <a:srgbClr val="FF0000"/>
                </a:solidFill>
              </a:rPr>
              <a:t>从阶段评审结束到</a:t>
            </a:r>
            <a:r>
              <a:rPr lang="zh-CN" altLang="en-US" dirty="0" smtClean="0">
                <a:solidFill>
                  <a:srgbClr val="FF0000"/>
                </a:solidFill>
              </a:rPr>
              <a:t>软件集成</a:t>
            </a:r>
            <a:r>
              <a:rPr lang="zh-CN" altLang="en-US" dirty="0">
                <a:solidFill>
                  <a:srgbClr val="FF0000"/>
                </a:solidFill>
              </a:rPr>
              <a:t>开始</a:t>
            </a:r>
            <a:r>
              <a:rPr lang="zh-CN" altLang="en-US" dirty="0"/>
              <a:t>这一期间模块</a:t>
            </a:r>
            <a:r>
              <a:rPr lang="en-US" altLang="zh-CN" dirty="0"/>
              <a:t>1</a:t>
            </a:r>
            <a:r>
              <a:rPr lang="zh-CN" altLang="en-US" dirty="0"/>
              <a:t>、模块</a:t>
            </a:r>
            <a:r>
              <a:rPr lang="en-US" altLang="zh-CN" dirty="0"/>
              <a:t>2 </a:t>
            </a:r>
            <a:r>
              <a:rPr lang="zh-CN" altLang="en-US" dirty="0"/>
              <a:t>的</a:t>
            </a:r>
            <a:r>
              <a:rPr lang="en-US" altLang="zh-CN" dirty="0"/>
              <a:t>ETC </a:t>
            </a:r>
            <a:r>
              <a:rPr lang="zh-CN" altLang="en-US" dirty="0"/>
              <a:t>（完工尚需成本） （给出公式并计算结果）。</a:t>
            </a:r>
          </a:p>
          <a:p>
            <a:r>
              <a:rPr lang="en-US" altLang="zh-CN" dirty="0"/>
              <a:t>ETC1= </a:t>
            </a:r>
            <a:r>
              <a:rPr lang="zh-CN" altLang="en-US" dirty="0"/>
              <a:t>（</a:t>
            </a:r>
            <a:r>
              <a:rPr lang="en-US" altLang="zh-CN" dirty="0"/>
              <a:t>BAC-EV</a:t>
            </a:r>
            <a:r>
              <a:rPr lang="zh-CN" altLang="en-US" dirty="0"/>
              <a:t>）</a:t>
            </a:r>
            <a:r>
              <a:rPr lang="en-US" altLang="zh-CN" dirty="0"/>
              <a:t>/</a:t>
            </a:r>
            <a:r>
              <a:rPr lang="en-US" altLang="zh-CN" dirty="0" smtClean="0"/>
              <a:t>CPI = </a:t>
            </a:r>
            <a:r>
              <a:rPr lang="zh-CN" altLang="en-US" dirty="0" smtClean="0"/>
              <a:t>（</a:t>
            </a:r>
            <a:r>
              <a:rPr lang="en-US" altLang="zh-CN" dirty="0" smtClean="0"/>
              <a:t>51000+8000+2000-48000</a:t>
            </a:r>
            <a:r>
              <a:rPr lang="zh-CN" altLang="en-US" dirty="0"/>
              <a:t>）</a:t>
            </a:r>
            <a:r>
              <a:rPr lang="en-US" altLang="zh-CN" dirty="0"/>
              <a:t>/</a:t>
            </a:r>
            <a:r>
              <a:rPr lang="zh-CN" altLang="en-US" dirty="0"/>
              <a:t>（</a:t>
            </a:r>
            <a:r>
              <a:rPr lang="en-US" altLang="zh-CN" dirty="0"/>
              <a:t>48000/88000</a:t>
            </a:r>
            <a:r>
              <a:rPr lang="zh-CN" altLang="en-US" dirty="0"/>
              <a:t>） </a:t>
            </a:r>
            <a:r>
              <a:rPr lang="en-US" altLang="zh-CN" dirty="0"/>
              <a:t>=23833 </a:t>
            </a:r>
            <a:r>
              <a:rPr lang="zh-CN" altLang="en-US" dirty="0"/>
              <a:t>元。 </a:t>
            </a:r>
            <a:r>
              <a:rPr lang="zh-CN" altLang="en-US" dirty="0" smtClean="0"/>
              <a:t>（</a:t>
            </a:r>
            <a:r>
              <a:rPr lang="en-US" altLang="zh-CN" i="1" dirty="0" smtClean="0">
                <a:solidFill>
                  <a:srgbClr val="FF0000"/>
                </a:solidFill>
              </a:rPr>
              <a:t>BAC</a:t>
            </a:r>
            <a:r>
              <a:rPr lang="zh-CN" altLang="en-US" dirty="0">
                <a:solidFill>
                  <a:srgbClr val="FF0000"/>
                </a:solidFill>
              </a:rPr>
              <a:t> 是完工预算</a:t>
            </a:r>
            <a:r>
              <a:rPr lang="zh-CN" altLang="en-US" dirty="0" smtClean="0"/>
              <a:t>）</a:t>
            </a:r>
            <a:endParaRPr lang="zh-CN" altLang="en-US" dirty="0"/>
          </a:p>
          <a:p>
            <a:r>
              <a:rPr lang="en-US" altLang="zh-CN" dirty="0"/>
              <a:t>ETC2= </a:t>
            </a:r>
            <a:r>
              <a:rPr lang="zh-CN" altLang="en-US" dirty="0"/>
              <a:t>（</a:t>
            </a:r>
            <a:r>
              <a:rPr lang="en-US" altLang="zh-CN" dirty="0"/>
              <a:t>BAC-EV</a:t>
            </a:r>
            <a:r>
              <a:rPr lang="zh-CN" altLang="en-US" dirty="0"/>
              <a:t>）</a:t>
            </a:r>
            <a:r>
              <a:rPr lang="en-US" altLang="zh-CN" dirty="0"/>
              <a:t>/CPI= </a:t>
            </a:r>
            <a:r>
              <a:rPr lang="zh-CN" altLang="en-US" dirty="0"/>
              <a:t>（</a:t>
            </a:r>
            <a:r>
              <a:rPr lang="en-US" altLang="zh-CN" dirty="0"/>
              <a:t>83000+10000+2000-83000</a:t>
            </a:r>
            <a:r>
              <a:rPr lang="zh-CN" altLang="en-US" dirty="0"/>
              <a:t>）</a:t>
            </a:r>
            <a:r>
              <a:rPr lang="en-US" altLang="zh-CN" dirty="0"/>
              <a:t>/ </a:t>
            </a:r>
            <a:r>
              <a:rPr lang="zh-CN" altLang="en-US" dirty="0"/>
              <a:t>（</a:t>
            </a:r>
            <a:r>
              <a:rPr lang="en-US" altLang="zh-CN" dirty="0"/>
              <a:t>83000/86000</a:t>
            </a:r>
            <a:r>
              <a:rPr lang="zh-CN" altLang="en-US" dirty="0"/>
              <a:t>）</a:t>
            </a:r>
            <a:r>
              <a:rPr lang="en-US" altLang="zh-CN" dirty="0"/>
              <a:t>=12000/</a:t>
            </a:r>
            <a:r>
              <a:rPr lang="zh-CN" altLang="en-US" dirty="0"/>
              <a:t>（</a:t>
            </a:r>
            <a:r>
              <a:rPr lang="en-US" altLang="zh-CN" dirty="0"/>
              <a:t>83/86</a:t>
            </a:r>
            <a:r>
              <a:rPr lang="zh-CN" altLang="en-US" dirty="0"/>
              <a:t>）</a:t>
            </a:r>
            <a:r>
              <a:rPr lang="en-US" altLang="zh-CN" dirty="0"/>
              <a:t>=12434 </a:t>
            </a:r>
            <a:r>
              <a:rPr lang="zh-CN" altLang="en-US" dirty="0"/>
              <a:t>元。</a:t>
            </a:r>
          </a:p>
          <a:p>
            <a:endParaRPr lang="en-US" altLang="zh-CN" dirty="0"/>
          </a:p>
          <a:p>
            <a:r>
              <a:rPr lang="zh-CN" altLang="en-US" dirty="0" smtClean="0"/>
              <a:t>（</a:t>
            </a:r>
            <a:r>
              <a:rPr lang="en-US" altLang="zh-CN" dirty="0"/>
              <a:t>2</a:t>
            </a:r>
            <a:r>
              <a:rPr lang="zh-CN" altLang="en-US" dirty="0"/>
              <a:t>） 如果阶段评审后采取了有效的措施，项目仍按计划进展，请预测</a:t>
            </a:r>
            <a:r>
              <a:rPr lang="zh-CN" altLang="en-US" dirty="0" smtClean="0">
                <a:solidFill>
                  <a:srgbClr val="FF0000"/>
                </a:solidFill>
              </a:rPr>
              <a:t>从阶段评审结束到软件集成开始</a:t>
            </a:r>
            <a:r>
              <a:rPr lang="zh-CN" altLang="en-US" dirty="0" smtClean="0"/>
              <a:t>这一</a:t>
            </a:r>
            <a:r>
              <a:rPr lang="zh-CN" altLang="en-US" dirty="0"/>
              <a:t>期间模块</a:t>
            </a:r>
            <a:r>
              <a:rPr lang="en-US" altLang="zh-CN" dirty="0"/>
              <a:t>1</a:t>
            </a:r>
            <a:r>
              <a:rPr lang="zh-CN" altLang="en-US" dirty="0"/>
              <a:t>、模块</a:t>
            </a:r>
            <a:r>
              <a:rPr lang="en-US" altLang="zh-CN" dirty="0"/>
              <a:t>2 </a:t>
            </a:r>
            <a:r>
              <a:rPr lang="zh-CN" altLang="en-US" dirty="0"/>
              <a:t>的</a:t>
            </a:r>
            <a:r>
              <a:rPr lang="en-US" altLang="zh-CN" dirty="0"/>
              <a:t>ETC </a:t>
            </a:r>
            <a:r>
              <a:rPr lang="zh-CN" altLang="en-US" dirty="0"/>
              <a:t>（完工尚需成本） （给出公式并计算结果）</a:t>
            </a:r>
            <a:r>
              <a:rPr lang="zh-CN" altLang="en-US" dirty="0" smtClean="0"/>
              <a:t>。</a:t>
            </a:r>
            <a:endParaRPr lang="en-US" altLang="zh-CN" dirty="0" smtClean="0"/>
          </a:p>
          <a:p>
            <a:r>
              <a:rPr lang="en-US" altLang="zh-CN" dirty="0" smtClean="0"/>
              <a:t/>
            </a:r>
            <a:br>
              <a:rPr lang="en-US" altLang="zh-CN" dirty="0" smtClean="0"/>
            </a:br>
            <a:r>
              <a:rPr lang="zh-CN" altLang="en-US" dirty="0"/>
              <a:t>如果采取了有效的措施来纠正项目中的成本偏差，并且可以合理假设剩余工作的成本效率将与项目迄今为止的平均成本效率相同，那么使用公式 𝐸𝑇𝐶</a:t>
            </a:r>
            <a:r>
              <a:rPr lang="en-US" altLang="zh-CN" dirty="0"/>
              <a:t>=</a:t>
            </a:r>
            <a:r>
              <a:rPr lang="zh-CN" altLang="en-US" dirty="0"/>
              <a:t>𝐵𝐴𝐶−</a:t>
            </a:r>
            <a:r>
              <a:rPr lang="zh-CN" altLang="en-US" dirty="0" smtClean="0"/>
              <a:t>𝐸𝑉 来</a:t>
            </a:r>
            <a:r>
              <a:rPr lang="zh-CN" altLang="en-US" dirty="0"/>
              <a:t>计算完工尚需成本</a:t>
            </a:r>
          </a:p>
          <a:p>
            <a:r>
              <a:rPr lang="en-US" altLang="zh-CN" dirty="0"/>
              <a:t>ETC1= </a:t>
            </a:r>
            <a:r>
              <a:rPr lang="zh-CN" altLang="en-US" dirty="0"/>
              <a:t>（</a:t>
            </a:r>
            <a:r>
              <a:rPr lang="en-US" altLang="zh-CN" dirty="0"/>
              <a:t>BAC-EV </a:t>
            </a:r>
            <a:r>
              <a:rPr lang="zh-CN" altLang="en-US" dirty="0"/>
              <a:t>）</a:t>
            </a:r>
            <a:r>
              <a:rPr lang="en-US" altLang="zh-CN" dirty="0" smtClean="0"/>
              <a:t>= </a:t>
            </a:r>
            <a:r>
              <a:rPr lang="zh-CN" altLang="en-US" dirty="0"/>
              <a:t>（</a:t>
            </a:r>
            <a:r>
              <a:rPr lang="en-US" altLang="zh-CN" dirty="0"/>
              <a:t>51000+8000+2000-48000</a:t>
            </a:r>
            <a:r>
              <a:rPr lang="zh-CN" altLang="en-US" dirty="0"/>
              <a:t>） </a:t>
            </a:r>
            <a:r>
              <a:rPr lang="en-US" altLang="zh-CN" dirty="0"/>
              <a:t>=13000 </a:t>
            </a:r>
            <a:r>
              <a:rPr lang="zh-CN" altLang="en-US" dirty="0"/>
              <a:t>元。 （</a:t>
            </a:r>
            <a:r>
              <a:rPr lang="en-US" altLang="zh-CN" dirty="0"/>
              <a:t>2 </a:t>
            </a:r>
            <a:r>
              <a:rPr lang="zh-CN" altLang="en-US" dirty="0"/>
              <a:t>分）</a:t>
            </a:r>
          </a:p>
          <a:p>
            <a:r>
              <a:rPr lang="en-US" altLang="zh-CN" dirty="0"/>
              <a:t>ETC2= </a:t>
            </a:r>
            <a:r>
              <a:rPr lang="zh-CN" altLang="en-US" dirty="0"/>
              <a:t>（</a:t>
            </a:r>
            <a:r>
              <a:rPr lang="en-US" altLang="zh-CN" dirty="0"/>
              <a:t>BAC-EV</a:t>
            </a:r>
            <a:r>
              <a:rPr lang="zh-CN" altLang="en-US" dirty="0"/>
              <a:t>） </a:t>
            </a:r>
            <a:r>
              <a:rPr lang="en-US" altLang="zh-CN" dirty="0"/>
              <a:t>= </a:t>
            </a:r>
            <a:r>
              <a:rPr lang="zh-CN" altLang="en-US" dirty="0"/>
              <a:t>（</a:t>
            </a:r>
            <a:r>
              <a:rPr lang="en-US" altLang="zh-CN" dirty="0"/>
              <a:t>83000+10000+2000-83000</a:t>
            </a:r>
            <a:r>
              <a:rPr lang="zh-CN" altLang="en-US" dirty="0"/>
              <a:t>） </a:t>
            </a:r>
            <a:r>
              <a:rPr lang="en-US" altLang="zh-CN" dirty="0"/>
              <a:t>=12000 </a:t>
            </a:r>
            <a:r>
              <a:rPr lang="zh-CN" altLang="en-US" dirty="0"/>
              <a:t>元。 （</a:t>
            </a:r>
            <a:r>
              <a:rPr lang="en-US" altLang="zh-CN" dirty="0"/>
              <a:t>2 </a:t>
            </a:r>
            <a:r>
              <a:rPr lang="zh-CN" altLang="en-US" dirty="0"/>
              <a:t>分 </a:t>
            </a:r>
            <a:r>
              <a:rPr lang="zh-CN" altLang="en-US" dirty="0" smtClean="0"/>
              <a:t>）</a:t>
            </a:r>
            <a:endParaRPr lang="en-US" altLang="zh-CN" dirty="0" smtClean="0"/>
          </a:p>
          <a:p>
            <a:endParaRPr lang="en-US" altLang="zh-CN" dirty="0" smtClean="0"/>
          </a:p>
          <a:p>
            <a:r>
              <a:rPr lang="en-US" altLang="zh-CN" dirty="0"/>
              <a:t>【</a:t>
            </a:r>
            <a:r>
              <a:rPr lang="zh-CN" altLang="en-US" dirty="0"/>
              <a:t>问题</a:t>
            </a:r>
            <a:r>
              <a:rPr lang="en-US" altLang="zh-CN" dirty="0"/>
              <a:t>4】 </a:t>
            </a:r>
            <a:r>
              <a:rPr lang="zh-CN" altLang="en-US" dirty="0"/>
              <a:t>（每点</a:t>
            </a:r>
            <a:r>
              <a:rPr lang="en-US" altLang="zh-CN" dirty="0"/>
              <a:t>1</a:t>
            </a:r>
            <a:r>
              <a:rPr lang="zh-CN" altLang="en-US" dirty="0"/>
              <a:t>分，共 </a:t>
            </a:r>
            <a:r>
              <a:rPr lang="en-US" altLang="zh-CN" dirty="0"/>
              <a:t>4 </a:t>
            </a:r>
            <a:r>
              <a:rPr lang="zh-CN" altLang="en-US" dirty="0"/>
              <a:t>分）</a:t>
            </a:r>
          </a:p>
          <a:p>
            <a:r>
              <a:rPr lang="en-US" altLang="zh-CN" dirty="0"/>
              <a:t>1</a:t>
            </a:r>
            <a:r>
              <a:rPr lang="zh-CN" altLang="en-US" dirty="0"/>
              <a:t>、 网络计划图中缺少系统测试、试运行和验收活动。</a:t>
            </a:r>
          </a:p>
          <a:p>
            <a:r>
              <a:rPr lang="en-US" altLang="zh-CN" dirty="0"/>
              <a:t>2</a:t>
            </a:r>
            <a:r>
              <a:rPr lang="zh-CN" altLang="en-US" dirty="0"/>
              <a:t>、 集成测试应在安装调试之前进行。</a:t>
            </a:r>
          </a:p>
          <a:p>
            <a:r>
              <a:rPr lang="en-US" altLang="zh-CN" dirty="0"/>
              <a:t>3</a:t>
            </a:r>
            <a:r>
              <a:rPr lang="zh-CN" altLang="en-US" dirty="0"/>
              <a:t>、 里程碑时间点设置不合理，不应设置在单元测试阶段中间。</a:t>
            </a:r>
          </a:p>
          <a:p>
            <a:r>
              <a:rPr lang="en-US" altLang="zh-CN" dirty="0"/>
              <a:t>4</a:t>
            </a:r>
            <a:r>
              <a:rPr lang="zh-CN" altLang="en-US" dirty="0"/>
              <a:t>、 评审活动应计入项目组的时间和成本预算。</a:t>
            </a:r>
          </a:p>
          <a:p>
            <a:r>
              <a:rPr lang="en-US" altLang="zh-CN" dirty="0"/>
              <a:t>5</a:t>
            </a:r>
            <a:r>
              <a:rPr lang="zh-CN" altLang="en-US" dirty="0"/>
              <a:t>、 模块</a:t>
            </a:r>
            <a:r>
              <a:rPr lang="en-US" altLang="zh-CN" dirty="0"/>
              <a:t>2 </a:t>
            </a:r>
            <a:r>
              <a:rPr lang="zh-CN" altLang="en-US" dirty="0"/>
              <a:t>的开发工作量明显多于模块</a:t>
            </a:r>
            <a:r>
              <a:rPr lang="en-US" altLang="zh-CN" dirty="0"/>
              <a:t>1,</a:t>
            </a:r>
            <a:r>
              <a:rPr lang="zh-CN" altLang="en-US" dirty="0"/>
              <a:t>其测试工作量一般也应大于模块</a:t>
            </a:r>
            <a:r>
              <a:rPr lang="en-US" altLang="zh-CN" dirty="0"/>
              <a:t>1,</a:t>
            </a:r>
            <a:r>
              <a:rPr lang="zh-CN" altLang="en-US" dirty="0"/>
              <a:t>但本题中是</a:t>
            </a:r>
            <a:r>
              <a:rPr lang="zh-CN" altLang="en-US" dirty="0" smtClean="0"/>
              <a:t>相同的</a:t>
            </a:r>
            <a:r>
              <a:rPr lang="zh-CN" altLang="en-US" dirty="0"/>
              <a:t>。</a:t>
            </a:r>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120867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5355312"/>
          </a:xfrm>
          <a:prstGeom prst="rect">
            <a:avLst/>
          </a:prstGeom>
        </p:spPr>
        <p:txBody>
          <a:bodyPr wrap="square">
            <a:spAutoFit/>
          </a:bodyPr>
          <a:lstStyle/>
          <a:p>
            <a:r>
              <a:rPr lang="en-US" altLang="zh-CN" dirty="0" smtClean="0"/>
              <a:t>3</a:t>
            </a:r>
            <a:r>
              <a:rPr lang="zh-CN" altLang="en-US" dirty="0"/>
              <a:t>、阅读以下说明，请回答问题</a:t>
            </a:r>
            <a:r>
              <a:rPr lang="en-US" altLang="zh-CN" dirty="0"/>
              <a:t>1</a:t>
            </a:r>
            <a:r>
              <a:rPr lang="zh-CN" altLang="en-US" dirty="0"/>
              <a:t>至问题</a:t>
            </a:r>
            <a:r>
              <a:rPr lang="en-US" altLang="zh-CN" dirty="0"/>
              <a:t>3,</a:t>
            </a:r>
            <a:r>
              <a:rPr lang="zh-CN" altLang="en-US" dirty="0"/>
              <a:t>将解答填入答题纸的对应栏内。</a:t>
            </a:r>
          </a:p>
          <a:p>
            <a:r>
              <a:rPr lang="zh-CN" altLang="en-US" dirty="0" smtClean="0"/>
              <a:t>某</a:t>
            </a:r>
            <a:r>
              <a:rPr lang="zh-CN" altLang="en-US" dirty="0"/>
              <a:t>单位甲建设数据中心管理系统，</a:t>
            </a:r>
            <a:r>
              <a:rPr lang="zh-CN" altLang="en-US" dirty="0">
                <a:solidFill>
                  <a:srgbClr val="FF0000"/>
                </a:solidFill>
              </a:rPr>
              <a:t>与乙公司签定了单价建设合同，与丙公司签定了监理合同</a:t>
            </a:r>
            <a:r>
              <a:rPr lang="zh-CN" altLang="en-US" dirty="0"/>
              <a:t>。</a:t>
            </a:r>
          </a:p>
          <a:p>
            <a:r>
              <a:rPr lang="zh-CN" altLang="en-US" dirty="0" smtClean="0"/>
              <a:t>      建设</a:t>
            </a:r>
            <a:r>
              <a:rPr lang="zh-CN" altLang="en-US" dirty="0"/>
              <a:t>合同中规定：系统提供的网络带宽不低于</a:t>
            </a:r>
            <a:r>
              <a:rPr lang="en-US" altLang="zh-CN" dirty="0"/>
              <a:t>2Mbps,</a:t>
            </a:r>
            <a:r>
              <a:rPr lang="zh-CN" altLang="en-US" dirty="0"/>
              <a:t>操作响应时间不超过</a:t>
            </a:r>
            <a:r>
              <a:rPr lang="en-US" altLang="zh-CN" dirty="0"/>
              <a:t>5</a:t>
            </a:r>
            <a:r>
              <a:rPr lang="zh-CN" altLang="en-US" dirty="0"/>
              <a:t>秒，可支持的最 大并发用户数不少于</a:t>
            </a:r>
            <a:r>
              <a:rPr lang="en-US" altLang="zh-CN" dirty="0"/>
              <a:t>5000</a:t>
            </a:r>
            <a:r>
              <a:rPr lang="zh-CN" altLang="en-US" dirty="0"/>
              <a:t>个。</a:t>
            </a:r>
          </a:p>
          <a:p>
            <a:r>
              <a:rPr lang="zh-CN" altLang="en-US" dirty="0" smtClean="0"/>
              <a:t>      乙</a:t>
            </a:r>
            <a:r>
              <a:rPr lang="zh-CN" altLang="en-US" dirty="0"/>
              <a:t>公司项目经理张某根据项目要求编写了范围说明书，将 </a:t>
            </a:r>
            <a:r>
              <a:rPr lang="en-US" altLang="zh-CN" dirty="0"/>
              <a:t>WEB</a:t>
            </a:r>
            <a:r>
              <a:rPr lang="zh-CN" altLang="en-US" dirty="0"/>
              <a:t>服务器和数据库服务器部署在一 个小型机上，并编制了 </a:t>
            </a:r>
            <a:r>
              <a:rPr lang="en-US" altLang="zh-CN" dirty="0"/>
              <a:t>WBS</a:t>
            </a:r>
            <a:r>
              <a:rPr lang="zh-CN" altLang="en-US" dirty="0"/>
              <a:t>字典，其中规定服务器安装要在</a:t>
            </a:r>
            <a:r>
              <a:rPr lang="en-US" altLang="zh-CN" dirty="0"/>
              <a:t>10</a:t>
            </a:r>
            <a:r>
              <a:rPr lang="zh-CN" altLang="en-US" dirty="0"/>
              <a:t>月 </a:t>
            </a:r>
            <a:r>
              <a:rPr lang="en-US" altLang="zh-CN" dirty="0"/>
              <a:t>5 </a:t>
            </a:r>
            <a:r>
              <a:rPr lang="zh-CN" altLang="en-US" dirty="0"/>
              <a:t>日前完成，主要性能指标为 响应时间不超过</a:t>
            </a:r>
            <a:r>
              <a:rPr lang="en-US" altLang="zh-CN" dirty="0"/>
              <a:t>5</a:t>
            </a:r>
            <a:r>
              <a:rPr lang="zh-CN" altLang="en-US" dirty="0"/>
              <a:t>秒，可支持最大并发用户数不少于</a:t>
            </a:r>
            <a:r>
              <a:rPr lang="en-US" altLang="zh-CN" dirty="0"/>
              <a:t>5000</a:t>
            </a:r>
            <a:r>
              <a:rPr lang="zh-CN" altLang="en-US" dirty="0"/>
              <a:t>个。</a:t>
            </a:r>
          </a:p>
          <a:p>
            <a:r>
              <a:rPr lang="zh-CN" altLang="en-US" dirty="0" smtClean="0"/>
              <a:t>       在</a:t>
            </a:r>
            <a:r>
              <a:rPr lang="zh-CN" altLang="en-US" dirty="0"/>
              <a:t>现场设备安装调试前，</a:t>
            </a:r>
            <a:r>
              <a:rPr lang="zh-CN" altLang="en-US" dirty="0">
                <a:solidFill>
                  <a:srgbClr val="FF0000"/>
                </a:solidFill>
              </a:rPr>
              <a:t>建设方技术总监与张某沟通，要求提高系统可支持的最大并发用户</a:t>
            </a:r>
            <a:r>
              <a:rPr lang="zh-CN" altLang="en-US" dirty="0" smtClean="0">
                <a:solidFill>
                  <a:srgbClr val="FF0000"/>
                </a:solidFill>
              </a:rPr>
              <a:t>数</a:t>
            </a:r>
            <a:r>
              <a:rPr lang="zh-CN" altLang="en-US" dirty="0">
                <a:solidFill>
                  <a:srgbClr val="FF0000"/>
                </a:solidFill>
              </a:rPr>
              <a:t>至 </a:t>
            </a:r>
            <a:r>
              <a:rPr lang="en-US" altLang="zh-CN" dirty="0">
                <a:solidFill>
                  <a:srgbClr val="FF0000"/>
                </a:solidFill>
              </a:rPr>
              <a:t>10000</a:t>
            </a:r>
            <a:r>
              <a:rPr lang="zh-CN" altLang="en-US" dirty="0">
                <a:solidFill>
                  <a:srgbClr val="FF0000"/>
                </a:solidFill>
              </a:rPr>
              <a:t>个并说明了原因。</a:t>
            </a:r>
            <a:r>
              <a:rPr lang="zh-CN" altLang="en-US" dirty="0"/>
              <a:t>张某为此邀请乙公司技术总监和相关技术人员进行了商讨并制定</a:t>
            </a:r>
            <a:r>
              <a:rPr lang="zh-CN" altLang="en-US" dirty="0" smtClean="0"/>
              <a:t>了新</a:t>
            </a:r>
            <a:r>
              <a:rPr lang="zh-CN" altLang="en-US" dirty="0"/>
              <a:t>的技术方案，该方案中建议用两台小型机分别担当</a:t>
            </a:r>
            <a:r>
              <a:rPr lang="en-US" altLang="zh-CN" dirty="0"/>
              <a:t>WEB</a:t>
            </a:r>
            <a:r>
              <a:rPr lang="zh-CN" altLang="en-US" dirty="0"/>
              <a:t>服务器和数据库服务器。</a:t>
            </a:r>
          </a:p>
          <a:p>
            <a:r>
              <a:rPr lang="zh-CN" altLang="en-US" dirty="0" smtClean="0"/>
              <a:t>      </a:t>
            </a:r>
            <a:r>
              <a:rPr lang="zh-CN" altLang="en-US" dirty="0" smtClean="0">
                <a:solidFill>
                  <a:srgbClr val="FF0000"/>
                </a:solidFill>
              </a:rPr>
              <a:t>乙</a:t>
            </a:r>
            <a:r>
              <a:rPr lang="zh-CN" altLang="en-US" dirty="0">
                <a:solidFill>
                  <a:srgbClr val="FF0000"/>
                </a:solidFill>
              </a:rPr>
              <a:t>公司技术总监批准了该方案，随后报建设方领导出具意见，建设方领导也批准了新方案</a:t>
            </a:r>
            <a:r>
              <a:rPr lang="zh-CN" altLang="en-US" dirty="0"/>
              <a:t>。</a:t>
            </a:r>
            <a:r>
              <a:rPr lang="zh-CN" altLang="en-US" dirty="0" smtClean="0"/>
              <a:t>张某</a:t>
            </a:r>
            <a:r>
              <a:rPr lang="zh-CN" altLang="en-US" dirty="0"/>
              <a:t>按照批准的新方案重新采购、安装和调试了设备。项目完成后，建设方代表对系统的性能指 标满意，</a:t>
            </a:r>
            <a:r>
              <a:rPr lang="zh-CN" altLang="en-US" dirty="0">
                <a:solidFill>
                  <a:srgbClr val="FF0000"/>
                </a:solidFill>
              </a:rPr>
              <a:t>但不同意追加投资</a:t>
            </a:r>
            <a:r>
              <a:rPr lang="zh-CN" altLang="en-US" dirty="0"/>
              <a:t>。乙公司为此请丙公司出面协调，然而</a:t>
            </a:r>
            <a:r>
              <a:rPr lang="zh-CN" altLang="en-US" dirty="0">
                <a:solidFill>
                  <a:srgbClr val="FF0000"/>
                </a:solidFill>
              </a:rPr>
              <a:t>丙公司总监以对新技术方案 不了解为由拒绝在项目验收报告上签字</a:t>
            </a:r>
            <a:r>
              <a:rPr lang="zh-CN" altLang="en-US" dirty="0" smtClean="0"/>
              <a:t>。</a:t>
            </a:r>
            <a:r>
              <a:rPr lang="en-US" altLang="zh-CN" dirty="0" smtClean="0"/>
              <a:t/>
            </a:r>
            <a:br>
              <a:rPr lang="en-US" altLang="zh-CN" dirty="0" smtClean="0"/>
            </a:br>
            <a:r>
              <a:rPr lang="en-US" altLang="zh-CN" dirty="0" smtClean="0"/>
              <a:t>[</a:t>
            </a:r>
            <a:r>
              <a:rPr lang="zh-CN" altLang="en-US" dirty="0" smtClean="0"/>
              <a:t>问题</a:t>
            </a:r>
            <a:r>
              <a:rPr lang="en-US" altLang="zh-CN" dirty="0" smtClean="0"/>
              <a:t>1] </a:t>
            </a:r>
            <a:r>
              <a:rPr lang="zh-CN" altLang="en-US" dirty="0"/>
              <a:t>（</a:t>
            </a:r>
            <a:r>
              <a:rPr lang="en-US" altLang="zh-CN" dirty="0"/>
              <a:t>8 </a:t>
            </a:r>
            <a:r>
              <a:rPr lang="zh-CN" altLang="en-US" dirty="0"/>
              <a:t>分）</a:t>
            </a:r>
          </a:p>
          <a:p>
            <a:r>
              <a:rPr lang="zh-CN" altLang="en-US" dirty="0"/>
              <a:t>请指出案例中的技术方案调整可能涉及到哪些类型的项目变更。</a:t>
            </a:r>
          </a:p>
          <a:p>
            <a:r>
              <a:rPr lang="en-US" altLang="zh-CN" dirty="0"/>
              <a:t>[</a:t>
            </a:r>
            <a:r>
              <a:rPr lang="zh-CN" altLang="en-US" dirty="0" smtClean="0"/>
              <a:t>问题</a:t>
            </a:r>
            <a:r>
              <a:rPr lang="en-US" altLang="zh-CN" dirty="0" smtClean="0"/>
              <a:t>2] </a:t>
            </a:r>
            <a:r>
              <a:rPr lang="zh-CN" altLang="en-US" dirty="0"/>
              <a:t>（</a:t>
            </a:r>
            <a:r>
              <a:rPr lang="en-US" altLang="zh-CN" dirty="0"/>
              <a:t>12</a:t>
            </a:r>
            <a:r>
              <a:rPr lang="zh-CN" altLang="en-US" dirty="0"/>
              <a:t>分）</a:t>
            </a:r>
          </a:p>
          <a:p>
            <a:r>
              <a:rPr lang="zh-CN" altLang="en-US" dirty="0"/>
              <a:t>请简要分析案例中技术方案变更过程中存在的问题并提出改正建议。</a:t>
            </a:r>
          </a:p>
          <a:p>
            <a:endParaRPr lang="zh-CN" altLang="en-US" dirty="0"/>
          </a:p>
          <a:p>
            <a:endParaRPr lang="zh-CN" altLang="en-US" dirty="0"/>
          </a:p>
        </p:txBody>
      </p:sp>
    </p:spTree>
    <p:extLst>
      <p:ext uri="{BB962C8B-B14F-4D97-AF65-F5344CB8AC3E}">
        <p14:creationId xmlns:p14="http://schemas.microsoft.com/office/powerpoint/2010/main" val="196427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974" y="561125"/>
            <a:ext cx="11560455" cy="5078313"/>
          </a:xfrm>
          <a:prstGeom prst="rect">
            <a:avLst/>
          </a:prstGeom>
        </p:spPr>
        <p:txBody>
          <a:bodyPr wrap="square">
            <a:spAutoFit/>
          </a:bodyPr>
          <a:lstStyle/>
          <a:p>
            <a:r>
              <a:rPr lang="en-US" altLang="zh-CN" dirty="0" smtClean="0"/>
              <a:t>【</a:t>
            </a:r>
            <a:r>
              <a:rPr lang="zh-CN" altLang="en-US" dirty="0" smtClean="0"/>
              <a:t>问题</a:t>
            </a:r>
            <a:r>
              <a:rPr lang="en-US" altLang="zh-CN" dirty="0" smtClean="0"/>
              <a:t>1】 </a:t>
            </a:r>
            <a:r>
              <a:rPr lang="zh-CN" altLang="en-US" dirty="0"/>
              <a:t>（每项</a:t>
            </a:r>
            <a:r>
              <a:rPr lang="en-US" altLang="zh-CN" dirty="0"/>
              <a:t>1.5</a:t>
            </a:r>
            <a:r>
              <a:rPr lang="zh-CN" altLang="en-US" dirty="0"/>
              <a:t>分，最多</a:t>
            </a:r>
            <a:r>
              <a:rPr lang="en-US" altLang="zh-CN" dirty="0"/>
              <a:t>8 </a:t>
            </a:r>
            <a:r>
              <a:rPr lang="zh-CN" altLang="en-US" dirty="0"/>
              <a:t>分）</a:t>
            </a:r>
          </a:p>
          <a:p>
            <a:r>
              <a:rPr lang="zh-CN" altLang="en-US" dirty="0"/>
              <a:t>范围、时间、成本、质量、整体、合同等方面的变更。</a:t>
            </a:r>
          </a:p>
          <a:p>
            <a:r>
              <a:rPr lang="en-US" altLang="zh-CN" dirty="0"/>
              <a:t>【</a:t>
            </a:r>
            <a:r>
              <a:rPr lang="zh-CN" altLang="en-US" dirty="0" smtClean="0"/>
              <a:t>问题</a:t>
            </a:r>
            <a:r>
              <a:rPr lang="en-US" altLang="zh-CN" dirty="0" smtClean="0"/>
              <a:t>2】 </a:t>
            </a:r>
            <a:r>
              <a:rPr lang="zh-CN" altLang="en-US" dirty="0"/>
              <a:t>（</a:t>
            </a:r>
            <a:r>
              <a:rPr lang="en-US" altLang="zh-CN" dirty="0"/>
              <a:t>12</a:t>
            </a:r>
            <a:r>
              <a:rPr lang="zh-CN" altLang="en-US" dirty="0"/>
              <a:t>分）</a:t>
            </a:r>
          </a:p>
          <a:p>
            <a:r>
              <a:rPr lang="zh-CN" altLang="en-US" dirty="0"/>
              <a:t>存在的问题：</a:t>
            </a:r>
          </a:p>
          <a:p>
            <a:r>
              <a:rPr lang="en-US" altLang="zh-CN" dirty="0"/>
              <a:t>1</a:t>
            </a:r>
            <a:r>
              <a:rPr lang="zh-CN" altLang="en-US" dirty="0"/>
              <a:t>、 建设方技术总监提出的变更要求不是书面的、正式的变更请求。</a:t>
            </a:r>
          </a:p>
          <a:p>
            <a:r>
              <a:rPr lang="en-US" altLang="zh-CN" dirty="0"/>
              <a:t>2</a:t>
            </a:r>
            <a:r>
              <a:rPr lang="zh-CN" altLang="en-US" dirty="0"/>
              <a:t>、 未建立变更控制委员会和变更控制流程。</a:t>
            </a:r>
          </a:p>
          <a:p>
            <a:r>
              <a:rPr lang="en-US" altLang="zh-CN" dirty="0"/>
              <a:t>3</a:t>
            </a:r>
            <a:r>
              <a:rPr lang="zh-CN" altLang="en-US" dirty="0"/>
              <a:t>、 监理方应介入变更控制。</a:t>
            </a:r>
          </a:p>
          <a:p>
            <a:r>
              <a:rPr lang="en-US" altLang="zh-CN" dirty="0"/>
              <a:t>4</a:t>
            </a:r>
            <a:r>
              <a:rPr lang="zh-CN" altLang="en-US" dirty="0"/>
              <a:t>、 未对技术方案的变更进行变更影响评估。</a:t>
            </a:r>
          </a:p>
          <a:p>
            <a:r>
              <a:rPr lang="en-US" altLang="zh-CN" dirty="0"/>
              <a:t>5</a:t>
            </a:r>
            <a:r>
              <a:rPr lang="zh-CN" altLang="en-US" dirty="0"/>
              <a:t>、 在技术方案变更和实施之前未进行合同变更。</a:t>
            </a:r>
          </a:p>
          <a:p>
            <a:r>
              <a:rPr lang="zh-CN" altLang="en-US" dirty="0"/>
              <a:t>改正建议：</a:t>
            </a:r>
          </a:p>
          <a:p>
            <a:r>
              <a:rPr lang="en-US" altLang="zh-CN" dirty="0"/>
              <a:t>1</a:t>
            </a:r>
            <a:r>
              <a:rPr lang="zh-CN" altLang="en-US" dirty="0"/>
              <a:t>、 建设方应就技术指标的调整提出正式的书面变更申请。</a:t>
            </a:r>
          </a:p>
          <a:p>
            <a:r>
              <a:rPr lang="en-US" altLang="zh-CN" dirty="0"/>
              <a:t>2</a:t>
            </a:r>
            <a:r>
              <a:rPr lang="zh-CN" altLang="en-US" dirty="0"/>
              <a:t>、 变更控制委员会应由监理、建设方和承建方共同组成。</a:t>
            </a:r>
          </a:p>
          <a:p>
            <a:r>
              <a:rPr lang="en-US" altLang="zh-CN" dirty="0"/>
              <a:t>3</a:t>
            </a:r>
            <a:r>
              <a:rPr lang="zh-CN" altLang="en-US" dirty="0"/>
              <a:t>、 监理方首先对变更申请提出处理意见。</a:t>
            </a:r>
          </a:p>
          <a:p>
            <a:r>
              <a:rPr lang="en-US" altLang="zh-CN" dirty="0"/>
              <a:t>4</a:t>
            </a:r>
            <a:r>
              <a:rPr lang="zh-CN" altLang="en-US" dirty="0"/>
              <a:t>、 在审批新技术方案前应评估该方案对范围、进度、质量和成本的影响。</a:t>
            </a:r>
          </a:p>
          <a:p>
            <a:r>
              <a:rPr lang="en-US" altLang="zh-CN" dirty="0"/>
              <a:t>5</a:t>
            </a:r>
            <a:r>
              <a:rPr lang="zh-CN" altLang="en-US" dirty="0"/>
              <a:t>、 在实施新技术方案前应先按照变更流程对合同执行变更</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371337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8956298"/>
          </a:xfrm>
          <a:prstGeom prst="rect">
            <a:avLst/>
          </a:prstGeom>
        </p:spPr>
        <p:txBody>
          <a:bodyPr wrap="square">
            <a:spAutoFit/>
          </a:bodyPr>
          <a:lstStyle/>
          <a:p>
            <a:r>
              <a:rPr lang="en-US" altLang="zh-CN" dirty="0" smtClean="0"/>
              <a:t>4</a:t>
            </a:r>
            <a:r>
              <a:rPr lang="zh-CN" altLang="en-US" dirty="0" smtClean="0"/>
              <a:t>、</a:t>
            </a:r>
            <a:r>
              <a:rPr lang="zh-CN" altLang="en-US" dirty="0"/>
              <a:t>阅读下列说明，回答问题</a:t>
            </a:r>
            <a:r>
              <a:rPr lang="en-US" altLang="zh-CN" dirty="0"/>
              <a:t>1</a:t>
            </a:r>
            <a:r>
              <a:rPr lang="zh-CN" altLang="en-US" dirty="0"/>
              <a:t>至问题</a:t>
            </a:r>
            <a:r>
              <a:rPr lang="en-US" altLang="zh-CN" dirty="0"/>
              <a:t>3 , </a:t>
            </a:r>
            <a:r>
              <a:rPr lang="zh-CN" altLang="en-US" dirty="0"/>
              <a:t>将解答填入答题纸的对应栏内。</a:t>
            </a:r>
          </a:p>
          <a:p>
            <a:r>
              <a:rPr lang="zh-CN" altLang="en-US" dirty="0" smtClean="0"/>
              <a:t>一</a:t>
            </a:r>
            <a:r>
              <a:rPr lang="zh-CN" altLang="en-US" dirty="0"/>
              <a:t>个信息系统集成项目有</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 </a:t>
            </a:r>
            <a:r>
              <a:rPr lang="zh-CN" altLang="en-US" dirty="0"/>
              <a:t>共 </a:t>
            </a:r>
            <a:r>
              <a:rPr lang="en-US" altLang="zh-CN" dirty="0"/>
              <a:t>6 </a:t>
            </a:r>
            <a:r>
              <a:rPr lang="zh-CN" altLang="en-US" dirty="0"/>
              <a:t>个活动，</a:t>
            </a:r>
            <a:r>
              <a:rPr lang="zh-CN" altLang="en-US" b="1" dirty="0">
                <a:solidFill>
                  <a:srgbClr val="FF0000"/>
                </a:solidFill>
              </a:rPr>
              <a:t>目前是第</a:t>
            </a:r>
            <a:r>
              <a:rPr lang="en-US" altLang="zh-CN" b="1" dirty="0">
                <a:solidFill>
                  <a:srgbClr val="FF0000"/>
                </a:solidFill>
              </a:rPr>
              <a:t>12</a:t>
            </a:r>
            <a:r>
              <a:rPr lang="zh-CN" altLang="en-US" b="1" dirty="0">
                <a:solidFill>
                  <a:srgbClr val="FF0000"/>
                </a:solidFill>
              </a:rPr>
              <a:t>周末</a:t>
            </a:r>
            <a:r>
              <a:rPr lang="zh-CN" altLang="en-US" dirty="0"/>
              <a:t>，活动的信息如</a:t>
            </a:r>
          </a:p>
          <a:p>
            <a:r>
              <a:rPr lang="en-US" altLang="zh-CN" dirty="0" smtClean="0"/>
              <a:t>A</a:t>
            </a:r>
            <a:r>
              <a:rPr lang="zh-CN" altLang="en-US" dirty="0"/>
              <a:t>：持续时间</a:t>
            </a:r>
            <a:r>
              <a:rPr lang="en-US" altLang="zh-CN" dirty="0"/>
              <a:t>5 </a:t>
            </a:r>
            <a:r>
              <a:rPr lang="zh-CN" altLang="en-US" dirty="0"/>
              <a:t>周，预算</a:t>
            </a:r>
            <a:r>
              <a:rPr lang="en-US" altLang="zh-CN" dirty="0"/>
              <a:t>30</a:t>
            </a:r>
            <a:r>
              <a:rPr lang="zh-CN" altLang="en-US" dirty="0"/>
              <a:t>万，没有前置活动，实际成本</a:t>
            </a:r>
            <a:r>
              <a:rPr lang="en-US" altLang="zh-CN" dirty="0"/>
              <a:t>35. 5 </a:t>
            </a:r>
            <a:r>
              <a:rPr lang="zh-CN" altLang="en-US" dirty="0"/>
              <a:t>万元，己完成</a:t>
            </a:r>
            <a:r>
              <a:rPr lang="en-US" altLang="zh-CN" dirty="0"/>
              <a:t>100%</a:t>
            </a:r>
            <a:r>
              <a:rPr lang="zh-CN" altLang="en-US" dirty="0"/>
              <a:t>；</a:t>
            </a:r>
          </a:p>
          <a:p>
            <a:r>
              <a:rPr lang="en-US" altLang="zh-CN" dirty="0"/>
              <a:t>B</a:t>
            </a:r>
            <a:r>
              <a:rPr lang="zh-CN" altLang="en-US" dirty="0"/>
              <a:t>：持续时间</a:t>
            </a:r>
            <a:r>
              <a:rPr lang="en-US" altLang="zh-CN" dirty="0"/>
              <a:t>5 </a:t>
            </a:r>
            <a:r>
              <a:rPr lang="zh-CN" altLang="en-US" dirty="0"/>
              <a:t>周，预算</a:t>
            </a:r>
            <a:r>
              <a:rPr lang="en-US" altLang="zh-CN" dirty="0"/>
              <a:t>70</a:t>
            </a:r>
            <a:r>
              <a:rPr lang="zh-CN" altLang="en-US" dirty="0"/>
              <a:t>万元，前置活动为</a:t>
            </a:r>
            <a:r>
              <a:rPr lang="en-US" altLang="zh-CN" dirty="0"/>
              <a:t>A , </a:t>
            </a:r>
            <a:r>
              <a:rPr lang="zh-CN" altLang="en-US" dirty="0"/>
              <a:t>实际成本</a:t>
            </a:r>
            <a:r>
              <a:rPr lang="en-US" altLang="zh-CN" dirty="0"/>
              <a:t>83</a:t>
            </a:r>
            <a:r>
              <a:rPr lang="zh-CN" altLang="en-US" dirty="0"/>
              <a:t>万元，已完成</a:t>
            </a:r>
            <a:r>
              <a:rPr lang="en-US" altLang="zh-CN" dirty="0"/>
              <a:t>100%</a:t>
            </a:r>
            <a:r>
              <a:rPr lang="zh-CN" altLang="en-US" dirty="0"/>
              <a:t>；</a:t>
            </a:r>
          </a:p>
          <a:p>
            <a:r>
              <a:rPr lang="en-US" altLang="zh-CN" dirty="0"/>
              <a:t>C</a:t>
            </a:r>
            <a:r>
              <a:rPr lang="zh-CN" altLang="en-US" dirty="0"/>
              <a:t>：持续时间</a:t>
            </a:r>
            <a:r>
              <a:rPr lang="en-US" altLang="zh-CN" dirty="0"/>
              <a:t>8 </a:t>
            </a:r>
            <a:r>
              <a:rPr lang="zh-CN" altLang="en-US" dirty="0"/>
              <a:t>周，预算</a:t>
            </a:r>
            <a:r>
              <a:rPr lang="en-US" altLang="zh-CN" dirty="0"/>
              <a:t>60</a:t>
            </a:r>
            <a:r>
              <a:rPr lang="zh-CN" altLang="en-US" dirty="0"/>
              <a:t>万元，前置活动为</a:t>
            </a:r>
            <a:r>
              <a:rPr lang="en-US" altLang="zh-CN" dirty="0"/>
              <a:t>B , </a:t>
            </a:r>
            <a:r>
              <a:rPr lang="zh-CN" altLang="en-US" dirty="0"/>
              <a:t>实际成本</a:t>
            </a:r>
            <a:r>
              <a:rPr lang="en-US" altLang="zh-CN" dirty="0"/>
              <a:t>17. 5 </a:t>
            </a:r>
            <a:r>
              <a:rPr lang="zh-CN" altLang="en-US" dirty="0"/>
              <a:t>万元，已完成</a:t>
            </a:r>
            <a:r>
              <a:rPr lang="en-US" altLang="zh-CN" dirty="0"/>
              <a:t>20%</a:t>
            </a:r>
            <a:r>
              <a:rPr lang="zh-CN" altLang="en-US" dirty="0"/>
              <a:t>；</a:t>
            </a:r>
          </a:p>
          <a:p>
            <a:r>
              <a:rPr lang="en-US" altLang="zh-CN" dirty="0"/>
              <a:t>D</a:t>
            </a:r>
            <a:r>
              <a:rPr lang="zh-CN" altLang="en-US" dirty="0"/>
              <a:t>：持续时间</a:t>
            </a:r>
            <a:r>
              <a:rPr lang="en-US" altLang="zh-CN" dirty="0"/>
              <a:t>7 </a:t>
            </a:r>
            <a:r>
              <a:rPr lang="zh-CN" altLang="en-US" dirty="0"/>
              <a:t>周，预算</a:t>
            </a:r>
            <a:r>
              <a:rPr lang="en-US" altLang="zh-CN" dirty="0"/>
              <a:t>135</a:t>
            </a:r>
            <a:r>
              <a:rPr lang="zh-CN" altLang="en-US" dirty="0"/>
              <a:t>万元，前置活动为</a:t>
            </a:r>
            <a:r>
              <a:rPr lang="en-US" altLang="zh-CN" dirty="0"/>
              <a:t>A , </a:t>
            </a:r>
            <a:r>
              <a:rPr lang="zh-CN" altLang="en-US" dirty="0"/>
              <a:t>实际成本</a:t>
            </a:r>
            <a:r>
              <a:rPr lang="en-US" altLang="zh-CN" dirty="0"/>
              <a:t>159</a:t>
            </a:r>
            <a:r>
              <a:rPr lang="zh-CN" altLang="en-US" dirty="0"/>
              <a:t>万元，已完成</a:t>
            </a:r>
            <a:r>
              <a:rPr lang="en-US" altLang="zh-CN" dirty="0"/>
              <a:t>100%</a:t>
            </a:r>
            <a:r>
              <a:rPr lang="zh-CN" altLang="en-US" dirty="0"/>
              <a:t>；</a:t>
            </a:r>
          </a:p>
          <a:p>
            <a:r>
              <a:rPr lang="en-US" altLang="zh-CN" dirty="0"/>
              <a:t>E</a:t>
            </a:r>
            <a:r>
              <a:rPr lang="zh-CN" altLang="en-US" dirty="0"/>
              <a:t>：持续时间</a:t>
            </a:r>
            <a:r>
              <a:rPr lang="en-US" altLang="zh-CN" dirty="0"/>
              <a:t>3 </a:t>
            </a:r>
            <a:r>
              <a:rPr lang="zh-CN" altLang="en-US" dirty="0"/>
              <a:t>周，预算</a:t>
            </a:r>
            <a:r>
              <a:rPr lang="en-US" altLang="zh-CN" dirty="0"/>
              <a:t>30</a:t>
            </a:r>
            <a:r>
              <a:rPr lang="zh-CN" altLang="en-US" dirty="0"/>
              <a:t>万元，前置活动为</a:t>
            </a:r>
            <a:r>
              <a:rPr lang="en-US" altLang="zh-CN" dirty="0"/>
              <a:t>D , </a:t>
            </a:r>
            <a:r>
              <a:rPr lang="zh-CN" altLang="en-US" dirty="0"/>
              <a:t>实际成本</a:t>
            </a:r>
            <a:r>
              <a:rPr lang="en-US" altLang="zh-CN" dirty="0"/>
              <a:t>0 </a:t>
            </a:r>
            <a:r>
              <a:rPr lang="zh-CN" altLang="en-US" dirty="0"/>
              <a:t>万元，己完成</a:t>
            </a:r>
            <a:r>
              <a:rPr lang="en-US" altLang="zh-CN" dirty="0"/>
              <a:t>0%</a:t>
            </a:r>
            <a:r>
              <a:rPr lang="zh-CN" altLang="en-US" dirty="0"/>
              <a:t>；</a:t>
            </a:r>
          </a:p>
          <a:p>
            <a:r>
              <a:rPr lang="en-US" altLang="zh-CN" dirty="0"/>
              <a:t>F</a:t>
            </a:r>
            <a:r>
              <a:rPr lang="zh-CN" altLang="en-US" dirty="0"/>
              <a:t>：持续时间</a:t>
            </a:r>
            <a:r>
              <a:rPr lang="en-US" altLang="zh-CN" dirty="0"/>
              <a:t>7 </a:t>
            </a:r>
            <a:r>
              <a:rPr lang="zh-CN" altLang="en-US" dirty="0"/>
              <a:t>周，预算</a:t>
            </a:r>
            <a:r>
              <a:rPr lang="en-US" altLang="zh-CN" dirty="0"/>
              <a:t>70</a:t>
            </a:r>
            <a:r>
              <a:rPr lang="zh-CN" altLang="en-US" dirty="0"/>
              <a:t>万元，前置活动为</a:t>
            </a:r>
            <a:r>
              <a:rPr lang="en-US" altLang="zh-CN" dirty="0"/>
              <a:t>C </a:t>
            </a:r>
            <a:r>
              <a:rPr lang="zh-CN" altLang="en-US" dirty="0"/>
              <a:t>和 </a:t>
            </a:r>
            <a:r>
              <a:rPr lang="en-US" altLang="zh-CN" dirty="0"/>
              <a:t>E , </a:t>
            </a:r>
            <a:r>
              <a:rPr lang="zh-CN" altLang="en-US" dirty="0"/>
              <a:t>实际成本</a:t>
            </a:r>
            <a:r>
              <a:rPr lang="en-US" altLang="zh-CN" dirty="0"/>
              <a:t>0 </a:t>
            </a:r>
            <a:r>
              <a:rPr lang="zh-CN" altLang="en-US" dirty="0"/>
              <a:t>万元，已完成</a:t>
            </a:r>
            <a:r>
              <a:rPr lang="en-US" altLang="zh-CN" dirty="0"/>
              <a:t>0%</a:t>
            </a:r>
            <a:r>
              <a:rPr lang="zh-CN" altLang="en-US" dirty="0"/>
              <a:t>。</a:t>
            </a:r>
          </a:p>
          <a:p>
            <a:r>
              <a:rPr lang="zh-CN" altLang="en-US" dirty="0" smtClean="0">
                <a:solidFill>
                  <a:srgbClr val="FF0000"/>
                </a:solidFill>
              </a:rPr>
              <a:t>项目在开始投入资金为 </a:t>
            </a:r>
            <a:r>
              <a:rPr lang="en-US" altLang="zh-CN" dirty="0" smtClean="0">
                <a:solidFill>
                  <a:srgbClr val="FF0000"/>
                </a:solidFill>
              </a:rPr>
              <a:t>220</a:t>
            </a:r>
            <a:r>
              <a:rPr lang="zh-CN" altLang="en-US" dirty="0">
                <a:solidFill>
                  <a:srgbClr val="FF0000"/>
                </a:solidFill>
              </a:rPr>
              <a:t>万元，第 </a:t>
            </a:r>
            <a:r>
              <a:rPr lang="en-US" altLang="zh-CN" dirty="0">
                <a:solidFill>
                  <a:srgbClr val="FF0000"/>
                </a:solidFill>
              </a:rPr>
              <a:t>10</a:t>
            </a:r>
            <a:r>
              <a:rPr lang="zh-CN" altLang="en-US" dirty="0">
                <a:solidFill>
                  <a:srgbClr val="FF0000"/>
                </a:solidFill>
              </a:rPr>
              <a:t>周获得投入资金</a:t>
            </a:r>
            <a:r>
              <a:rPr lang="en-US" altLang="zh-CN" dirty="0">
                <a:solidFill>
                  <a:srgbClr val="FF0000"/>
                </a:solidFill>
              </a:rPr>
              <a:t>75</a:t>
            </a:r>
            <a:r>
              <a:rPr lang="zh-CN" altLang="en-US" dirty="0">
                <a:solidFill>
                  <a:srgbClr val="FF0000"/>
                </a:solidFill>
              </a:rPr>
              <a:t>万元，第 </a:t>
            </a:r>
            <a:r>
              <a:rPr lang="en-US" altLang="zh-CN" dirty="0">
                <a:solidFill>
                  <a:srgbClr val="FF0000"/>
                </a:solidFill>
              </a:rPr>
              <a:t>15</a:t>
            </a:r>
            <a:r>
              <a:rPr lang="zh-CN" altLang="en-US" dirty="0">
                <a:solidFill>
                  <a:srgbClr val="FF0000"/>
                </a:solidFill>
              </a:rPr>
              <a:t>周获得投入资金</a:t>
            </a:r>
            <a:r>
              <a:rPr lang="en-US" altLang="zh-CN" dirty="0">
                <a:solidFill>
                  <a:srgbClr val="FF0000"/>
                </a:solidFill>
              </a:rPr>
              <a:t>105</a:t>
            </a:r>
            <a:r>
              <a:rPr lang="zh-CN" altLang="en-US" dirty="0" smtClean="0">
                <a:solidFill>
                  <a:srgbClr val="FF0000"/>
                </a:solidFill>
              </a:rPr>
              <a:t>万元</a:t>
            </a:r>
            <a:r>
              <a:rPr lang="zh-CN" altLang="en-US" dirty="0">
                <a:solidFill>
                  <a:srgbClr val="FF0000"/>
                </a:solidFill>
              </a:rPr>
              <a:t>，第 </a:t>
            </a:r>
            <a:r>
              <a:rPr lang="en-US" altLang="zh-CN" dirty="0">
                <a:solidFill>
                  <a:srgbClr val="FF0000"/>
                </a:solidFill>
              </a:rPr>
              <a:t>20</a:t>
            </a:r>
            <a:r>
              <a:rPr lang="zh-CN" altLang="en-US" dirty="0">
                <a:solidFill>
                  <a:srgbClr val="FF0000"/>
                </a:solidFill>
              </a:rPr>
              <a:t>周获得投入资金</a:t>
            </a:r>
            <a:r>
              <a:rPr lang="en-US" altLang="zh-CN" dirty="0">
                <a:solidFill>
                  <a:srgbClr val="FF0000"/>
                </a:solidFill>
              </a:rPr>
              <a:t>35</a:t>
            </a:r>
            <a:r>
              <a:rPr lang="zh-CN" altLang="en-US" dirty="0">
                <a:solidFill>
                  <a:srgbClr val="FF0000"/>
                </a:solidFill>
              </a:rPr>
              <a:t>万元</a:t>
            </a:r>
            <a:r>
              <a:rPr lang="zh-CN" altLang="en-US" dirty="0" smtClean="0">
                <a:solidFill>
                  <a:srgbClr val="FF0000"/>
                </a:solidFill>
              </a:rPr>
              <a:t>。</a:t>
            </a:r>
            <a:endParaRPr lang="en-US" altLang="zh-CN" dirty="0" smtClean="0">
              <a:solidFill>
                <a:srgbClr val="FF0000"/>
              </a:solidFill>
            </a:endParaRPr>
          </a:p>
          <a:p>
            <a:endParaRPr lang="en-US" altLang="zh-CN" dirty="0">
              <a:solidFill>
                <a:srgbClr val="FF0000"/>
              </a:solidFill>
            </a:endParaRPr>
          </a:p>
          <a:p>
            <a:r>
              <a:rPr lang="en-US" altLang="zh-CN" dirty="0"/>
              <a:t>【</a:t>
            </a:r>
            <a:r>
              <a:rPr lang="zh-CN" altLang="en-US" dirty="0"/>
              <a:t>问题</a:t>
            </a:r>
            <a:r>
              <a:rPr lang="en-US" altLang="zh-CN" dirty="0"/>
              <a:t>1】 </a:t>
            </a:r>
            <a:r>
              <a:rPr lang="zh-CN" altLang="en-US" dirty="0"/>
              <a:t>（</a:t>
            </a:r>
            <a:r>
              <a:rPr lang="en-US" altLang="zh-CN" dirty="0"/>
              <a:t>12</a:t>
            </a:r>
            <a:r>
              <a:rPr lang="zh-CN" altLang="en-US" dirty="0"/>
              <a:t>分）</a:t>
            </a:r>
          </a:p>
          <a:p>
            <a:r>
              <a:rPr lang="zh-CN" altLang="en-US" dirty="0"/>
              <a:t>请计算当前的成本偏差（</a:t>
            </a:r>
            <a:r>
              <a:rPr lang="en-US" altLang="zh-CN" dirty="0"/>
              <a:t>CV</a:t>
            </a:r>
            <a:r>
              <a:rPr lang="zh-CN" altLang="en-US" dirty="0"/>
              <a:t>）和进度偏差（</a:t>
            </a:r>
            <a:r>
              <a:rPr lang="en-US" altLang="zh-CN" dirty="0"/>
              <a:t>SV</a:t>
            </a:r>
            <a:r>
              <a:rPr lang="zh-CN" altLang="en-US" dirty="0"/>
              <a:t>）</a:t>
            </a:r>
            <a:r>
              <a:rPr lang="en-US" altLang="zh-CN" dirty="0"/>
              <a:t>, </a:t>
            </a:r>
            <a:r>
              <a:rPr lang="zh-CN" altLang="en-US" dirty="0"/>
              <a:t>以及进度绩效指数（</a:t>
            </a:r>
            <a:r>
              <a:rPr lang="en-US" altLang="zh-CN" dirty="0"/>
              <a:t>SPI</a:t>
            </a:r>
            <a:r>
              <a:rPr lang="zh-CN" altLang="en-US" dirty="0"/>
              <a:t>）和成本绩效指数</a:t>
            </a:r>
          </a:p>
          <a:p>
            <a:r>
              <a:rPr lang="zh-CN" altLang="en-US" dirty="0"/>
              <a:t>（</a:t>
            </a:r>
            <a:r>
              <a:rPr lang="en-US" altLang="zh-CN" dirty="0"/>
              <a:t>CPI</a:t>
            </a:r>
            <a:r>
              <a:rPr lang="zh-CN" altLang="en-US" dirty="0"/>
              <a:t>）</a:t>
            </a:r>
            <a:r>
              <a:rPr lang="en-US" altLang="zh-CN" dirty="0"/>
              <a:t>, </a:t>
            </a:r>
            <a:r>
              <a:rPr lang="zh-CN" altLang="en-US" dirty="0"/>
              <a:t>并分析项目的进展情况。</a:t>
            </a:r>
          </a:p>
          <a:p>
            <a:r>
              <a:rPr lang="en-US" altLang="zh-CN" dirty="0"/>
              <a:t>【</a:t>
            </a:r>
            <a:r>
              <a:rPr lang="zh-CN" altLang="en-US" dirty="0"/>
              <a:t>问题</a:t>
            </a:r>
            <a:r>
              <a:rPr lang="en-US" altLang="zh-CN" dirty="0"/>
              <a:t>2】 </a:t>
            </a:r>
            <a:r>
              <a:rPr lang="zh-CN" altLang="en-US" dirty="0"/>
              <a:t>（</a:t>
            </a:r>
            <a:r>
              <a:rPr lang="en-US" altLang="zh-CN" dirty="0"/>
              <a:t>10</a:t>
            </a:r>
            <a:r>
              <a:rPr lang="zh-CN" altLang="en-US" dirty="0"/>
              <a:t>分）</a:t>
            </a:r>
          </a:p>
          <a:p>
            <a:r>
              <a:rPr lang="zh-CN" altLang="en-US" dirty="0"/>
              <a:t>分别按照非典型偏差和典型偏差的计算方式，计算项目在第</a:t>
            </a:r>
            <a:r>
              <a:rPr lang="en-US" altLang="zh-CN" dirty="0"/>
              <a:t>13</a:t>
            </a:r>
            <a:r>
              <a:rPr lang="zh-CN" altLang="en-US" dirty="0"/>
              <a:t>周末的完工尚需成本（</a:t>
            </a:r>
            <a:r>
              <a:rPr lang="en-US" altLang="zh-CN" dirty="0"/>
              <a:t>ETC</a:t>
            </a:r>
            <a:r>
              <a:rPr lang="zh-CN" altLang="en-US" dirty="0"/>
              <a:t>）和</a:t>
            </a:r>
          </a:p>
          <a:p>
            <a:r>
              <a:rPr lang="zh-CN" altLang="en-US" dirty="0"/>
              <a:t>完工估算成本（</a:t>
            </a:r>
            <a:r>
              <a:rPr lang="en-US" altLang="zh-CN" dirty="0"/>
              <a:t>EAC</a:t>
            </a:r>
            <a:r>
              <a:rPr lang="zh-CN" altLang="en-US" dirty="0"/>
              <a:t>） </a:t>
            </a:r>
            <a:endParaRPr lang="en-US" altLang="zh-CN" dirty="0" smtClean="0"/>
          </a:p>
          <a:p>
            <a:r>
              <a:rPr lang="en-US" altLang="zh-CN" dirty="0" smtClean="0"/>
              <a:t>【</a:t>
            </a:r>
            <a:r>
              <a:rPr lang="zh-CN" altLang="en-US" dirty="0"/>
              <a:t>问题</a:t>
            </a:r>
            <a:r>
              <a:rPr lang="en-US" altLang="zh-CN" dirty="0"/>
              <a:t>3】 </a:t>
            </a:r>
            <a:r>
              <a:rPr lang="zh-CN" altLang="en-US" dirty="0"/>
              <a:t>（</a:t>
            </a:r>
            <a:r>
              <a:rPr lang="en-US" altLang="zh-CN" dirty="0"/>
              <a:t>3 </a:t>
            </a:r>
            <a:r>
              <a:rPr lang="zh-CN" altLang="en-US" dirty="0"/>
              <a:t>分）</a:t>
            </a:r>
          </a:p>
          <a:p>
            <a:r>
              <a:rPr lang="zh-CN" altLang="en-US" dirty="0"/>
              <a:t>在不影响项目完工时间的前提下，同时考虑资金平衡的要求，在第</a:t>
            </a:r>
            <a:r>
              <a:rPr lang="en-US" altLang="zh-CN" dirty="0"/>
              <a:t>13</a:t>
            </a:r>
            <a:r>
              <a:rPr lang="zh-CN" altLang="en-US" dirty="0"/>
              <a:t>周开始应该如何调整项目</a:t>
            </a:r>
          </a:p>
          <a:p>
            <a:r>
              <a:rPr lang="zh-CN" altLang="en-US" dirty="0"/>
              <a:t>进度计划？</a:t>
            </a: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zh-CN" altLang="en-US" dirty="0">
              <a:solidFill>
                <a:srgbClr val="FF0000"/>
              </a:solidFill>
            </a:endParaRPr>
          </a:p>
          <a:p>
            <a:endParaRPr lang="zh-CN" altLang="en-US" dirty="0"/>
          </a:p>
        </p:txBody>
      </p:sp>
    </p:spTree>
    <p:extLst>
      <p:ext uri="{BB962C8B-B14F-4D97-AF65-F5344CB8AC3E}">
        <p14:creationId xmlns:p14="http://schemas.microsoft.com/office/powerpoint/2010/main" val="143869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6955" y="561125"/>
            <a:ext cx="11560455" cy="8679299"/>
          </a:xfrm>
          <a:prstGeom prst="rect">
            <a:avLst/>
          </a:prstGeom>
        </p:spPr>
        <p:txBody>
          <a:bodyPr wrap="square">
            <a:spAutoFit/>
          </a:bodyPr>
          <a:lstStyle/>
          <a:p>
            <a:r>
              <a:rPr lang="en-US" altLang="zh-CN" dirty="0"/>
              <a:t>【</a:t>
            </a:r>
            <a:r>
              <a:rPr lang="zh-CN" altLang="en-US" dirty="0"/>
              <a:t>问题</a:t>
            </a:r>
            <a:r>
              <a:rPr lang="en-US" altLang="zh-CN" dirty="0"/>
              <a:t>1】 </a:t>
            </a:r>
            <a:r>
              <a:rPr lang="zh-CN" altLang="en-US" dirty="0"/>
              <a:t>（</a:t>
            </a:r>
            <a:r>
              <a:rPr lang="en-US" altLang="zh-CN" dirty="0"/>
              <a:t>12</a:t>
            </a:r>
            <a:r>
              <a:rPr lang="zh-CN" altLang="en-US" dirty="0"/>
              <a:t>分）</a:t>
            </a:r>
          </a:p>
          <a:p>
            <a:r>
              <a:rPr lang="zh-CN" altLang="en-US" dirty="0"/>
              <a:t>依题意可画出该项目</a:t>
            </a:r>
            <a:r>
              <a:rPr lang="zh-CN" altLang="en-US" dirty="0" smtClean="0"/>
              <a:t>的前导图</a:t>
            </a:r>
            <a:r>
              <a:rPr lang="zh-CN" altLang="en-US" dirty="0"/>
              <a:t>： </a:t>
            </a:r>
          </a:p>
          <a:p>
            <a:r>
              <a:rPr lang="zh-CN" altLang="en-US" dirty="0"/>
              <a:t>根据已知条件可以推算出在第十二周末：</a:t>
            </a:r>
          </a:p>
          <a:p>
            <a:r>
              <a:rPr lang="en-US" altLang="zh-CN" dirty="0"/>
              <a:t>PV=30*100%+70*100%+135*100%+60*25%=250 </a:t>
            </a:r>
            <a:r>
              <a:rPr lang="zh-CN" altLang="en-US" dirty="0"/>
              <a:t>万元。</a:t>
            </a:r>
          </a:p>
          <a:p>
            <a:r>
              <a:rPr lang="en-US" altLang="zh-CN" dirty="0"/>
              <a:t>EV=30*l00%+70*100%+135*100%+60*20%=247 </a:t>
            </a:r>
            <a:r>
              <a:rPr lang="zh-CN" altLang="en-US" dirty="0"/>
              <a:t>万元</a:t>
            </a:r>
            <a:r>
              <a:rPr lang="zh-CN" altLang="en-US" dirty="0" smtClean="0"/>
              <a:t>。</a:t>
            </a:r>
            <a:r>
              <a:rPr lang="en-US" altLang="zh-CN" dirty="0" smtClean="0"/>
              <a:t/>
            </a:r>
            <a:br>
              <a:rPr lang="en-US" altLang="zh-CN" dirty="0" smtClean="0"/>
            </a:br>
            <a:r>
              <a:rPr lang="zh-CN" altLang="en-US" dirty="0" smtClean="0"/>
              <a:t> </a:t>
            </a:r>
            <a:r>
              <a:rPr lang="en-US" altLang="zh-CN" dirty="0"/>
              <a:t>AC=35. 5+83+17. 5+159=295 </a:t>
            </a:r>
            <a:r>
              <a:rPr lang="zh-CN" altLang="en-US" dirty="0"/>
              <a:t>万元。</a:t>
            </a:r>
          </a:p>
          <a:p>
            <a:r>
              <a:rPr lang="en-US" altLang="zh-CN" b="1" dirty="0" smtClean="0"/>
              <a:t>S</a:t>
            </a:r>
            <a:r>
              <a:rPr lang="en-US" altLang="zh-CN" dirty="0" smtClean="0"/>
              <a:t>V=EV-PV=247-250=</a:t>
            </a:r>
            <a:r>
              <a:rPr lang="zh-CN" altLang="en-US" dirty="0" smtClean="0"/>
              <a:t> </a:t>
            </a:r>
            <a:r>
              <a:rPr lang="en-US" altLang="zh-CN" dirty="0"/>
              <a:t>-3 </a:t>
            </a:r>
            <a:r>
              <a:rPr lang="zh-CN" altLang="en-US" dirty="0"/>
              <a:t>万元</a:t>
            </a:r>
            <a:r>
              <a:rPr lang="zh-CN" altLang="en-US" dirty="0" smtClean="0"/>
              <a:t>。  （</a:t>
            </a:r>
            <a:r>
              <a:rPr lang="zh-CN" altLang="en-US" b="1" dirty="0"/>
              <a:t>进度</a:t>
            </a:r>
            <a:r>
              <a:rPr lang="zh-CN" altLang="en-US" b="1" dirty="0" smtClean="0"/>
              <a:t>偏差（</a:t>
            </a:r>
            <a:r>
              <a:rPr lang="en-US" altLang="zh-CN" b="1" dirty="0" smtClean="0"/>
              <a:t>SV</a:t>
            </a:r>
            <a:r>
              <a:rPr lang="zh-CN" altLang="en-US" b="1" dirty="0" smtClean="0"/>
              <a:t>）</a:t>
            </a:r>
            <a:r>
              <a:rPr lang="zh-CN" altLang="en-US" dirty="0" smtClean="0"/>
              <a:t>）</a:t>
            </a:r>
            <a:endParaRPr lang="en-US" altLang="zh-CN" dirty="0" smtClean="0"/>
          </a:p>
          <a:p>
            <a:r>
              <a:rPr lang="en-US" altLang="zh-CN" dirty="0" smtClean="0"/>
              <a:t>CV=EV-AC=247-295 = -48 </a:t>
            </a:r>
            <a:r>
              <a:rPr lang="zh-CN" altLang="en-US" dirty="0" smtClean="0"/>
              <a:t>万元。（</a:t>
            </a:r>
            <a:r>
              <a:rPr lang="zh-CN" altLang="en-US" b="1" dirty="0" smtClean="0"/>
              <a:t>总成本偏差（</a:t>
            </a:r>
            <a:r>
              <a:rPr lang="en-US" altLang="zh-CN" b="1" dirty="0" smtClean="0"/>
              <a:t>CV</a:t>
            </a:r>
            <a:r>
              <a:rPr lang="zh-CN" altLang="en-US" b="1" dirty="0" smtClean="0"/>
              <a:t>）</a:t>
            </a:r>
            <a:r>
              <a:rPr lang="zh-CN" altLang="en-US" dirty="0" smtClean="0"/>
              <a:t>）</a:t>
            </a:r>
            <a:r>
              <a:rPr lang="en-US" altLang="zh-CN" dirty="0" smtClean="0"/>
              <a:t/>
            </a:r>
            <a:br>
              <a:rPr lang="en-US" altLang="zh-CN" dirty="0" smtClean="0"/>
            </a:br>
            <a:r>
              <a:rPr lang="en-US" altLang="zh-CN" dirty="0" smtClean="0"/>
              <a:t>SPI= EV/PV=247/250=0.988</a:t>
            </a:r>
            <a:r>
              <a:rPr lang="en-US" altLang="zh-CN" dirty="0"/>
              <a:t>,</a:t>
            </a:r>
            <a:r>
              <a:rPr lang="zh-CN" altLang="en-US" dirty="0"/>
              <a:t>进度落后。</a:t>
            </a:r>
          </a:p>
          <a:p>
            <a:r>
              <a:rPr lang="en-US" altLang="zh-CN" dirty="0" smtClean="0"/>
              <a:t>CPI= EV/AC=247/295=0.837</a:t>
            </a:r>
            <a:r>
              <a:rPr lang="en-US" altLang="zh-CN" dirty="0"/>
              <a:t>,</a:t>
            </a:r>
            <a:r>
              <a:rPr lang="zh-CN" altLang="en-US" dirty="0"/>
              <a:t>成本超支</a:t>
            </a:r>
            <a:r>
              <a:rPr lang="zh-CN" altLang="en-US" dirty="0" smtClean="0"/>
              <a:t>。</a:t>
            </a:r>
            <a:r>
              <a:rPr lang="en-US" altLang="zh-CN" dirty="0" smtClean="0"/>
              <a:t/>
            </a:r>
            <a:br>
              <a:rPr lang="en-US" altLang="zh-CN" dirty="0" smtClean="0"/>
            </a:br>
            <a:r>
              <a:rPr lang="en-US" altLang="zh-CN" dirty="0"/>
              <a:t>【</a:t>
            </a:r>
            <a:r>
              <a:rPr lang="zh-CN" altLang="en-US" dirty="0"/>
              <a:t>问题</a:t>
            </a:r>
            <a:r>
              <a:rPr lang="en-US" altLang="zh-CN" dirty="0"/>
              <a:t>2】 </a:t>
            </a:r>
            <a:r>
              <a:rPr lang="zh-CN" altLang="en-US" dirty="0"/>
              <a:t>（</a:t>
            </a:r>
            <a:r>
              <a:rPr lang="en-US" altLang="zh-CN" dirty="0"/>
              <a:t>10</a:t>
            </a:r>
            <a:r>
              <a:rPr lang="zh-CN" altLang="en-US" dirty="0"/>
              <a:t>分）</a:t>
            </a:r>
          </a:p>
          <a:p>
            <a:r>
              <a:rPr lang="zh-CN" altLang="en-US" dirty="0"/>
              <a:t>分别按照非典型偏差和典型偏差的计算方式，计算项目在第</a:t>
            </a:r>
            <a:r>
              <a:rPr lang="en-US" altLang="zh-CN" dirty="0"/>
              <a:t>13</a:t>
            </a:r>
            <a:r>
              <a:rPr lang="zh-CN" altLang="en-US" dirty="0"/>
              <a:t>周末的完工尚需成本（</a:t>
            </a:r>
            <a:r>
              <a:rPr lang="en-US" altLang="zh-CN" dirty="0"/>
              <a:t>ETC</a:t>
            </a:r>
            <a:r>
              <a:rPr lang="zh-CN" altLang="en-US" dirty="0"/>
              <a:t>）和</a:t>
            </a:r>
          </a:p>
          <a:p>
            <a:r>
              <a:rPr lang="zh-CN" altLang="en-US" dirty="0"/>
              <a:t>完工估算成本（</a:t>
            </a:r>
            <a:r>
              <a:rPr lang="en-US" altLang="zh-CN" dirty="0"/>
              <a:t>EAC</a:t>
            </a:r>
            <a:r>
              <a:rPr lang="zh-CN" altLang="en-US" dirty="0" smtClean="0"/>
              <a:t>）</a:t>
            </a:r>
            <a:endParaRPr lang="en-US" altLang="zh-CN" dirty="0" smtClean="0"/>
          </a:p>
          <a:p>
            <a:r>
              <a:rPr lang="zh-CN" altLang="en-US" dirty="0" smtClean="0"/>
              <a:t>第 </a:t>
            </a:r>
            <a:r>
              <a:rPr lang="en-US" altLang="zh-CN" dirty="0"/>
              <a:t>13 </a:t>
            </a:r>
            <a:r>
              <a:rPr lang="zh-CN" altLang="en-US" dirty="0"/>
              <a:t>周 </a:t>
            </a:r>
            <a:r>
              <a:rPr lang="en-US" altLang="zh-CN" dirty="0"/>
              <a:t>, BAC</a:t>
            </a:r>
            <a:r>
              <a:rPr lang="zh-CN" altLang="en-US" dirty="0"/>
              <a:t>： </a:t>
            </a:r>
            <a:r>
              <a:rPr lang="en-US" altLang="zh-CN" dirty="0"/>
              <a:t>30+70+135+60* </a:t>
            </a:r>
            <a:r>
              <a:rPr lang="zh-CN" altLang="en-US" dirty="0"/>
              <a:t>（</a:t>
            </a:r>
            <a:r>
              <a:rPr lang="en-US" altLang="zh-CN" dirty="0"/>
              <a:t>13-10</a:t>
            </a:r>
            <a:r>
              <a:rPr lang="zh-CN" altLang="en-US" dirty="0"/>
              <a:t>） </a:t>
            </a:r>
            <a:r>
              <a:rPr lang="en-US" altLang="zh-CN" dirty="0"/>
              <a:t>/8+30* </a:t>
            </a:r>
            <a:r>
              <a:rPr lang="zh-CN" altLang="en-US" dirty="0"/>
              <a:t>（</a:t>
            </a:r>
            <a:r>
              <a:rPr lang="en-US" altLang="zh-CN" dirty="0"/>
              <a:t>13-12</a:t>
            </a:r>
            <a:r>
              <a:rPr lang="zh-CN" altLang="en-US" dirty="0"/>
              <a:t>） </a:t>
            </a:r>
            <a:r>
              <a:rPr lang="en-US" altLang="zh-CN" dirty="0"/>
              <a:t>/</a:t>
            </a:r>
            <a:r>
              <a:rPr lang="en-US" altLang="zh-CN" dirty="0" smtClean="0"/>
              <a:t>3=267</a:t>
            </a:r>
            <a:r>
              <a:rPr lang="en-US" altLang="zh-CN" dirty="0"/>
              <a:t>. 5 </a:t>
            </a:r>
            <a:r>
              <a:rPr lang="zh-CN" altLang="en-US" dirty="0"/>
              <a:t>万元</a:t>
            </a:r>
            <a:r>
              <a:rPr lang="zh-CN" altLang="en-US" dirty="0" smtClean="0"/>
              <a:t>。 （</a:t>
            </a:r>
            <a:r>
              <a:rPr lang="en-US" altLang="zh-CN" i="1" dirty="0" smtClean="0">
                <a:solidFill>
                  <a:srgbClr val="FF0000"/>
                </a:solidFill>
              </a:rPr>
              <a:t>BAC</a:t>
            </a:r>
            <a:r>
              <a:rPr lang="zh-CN" altLang="en-US" dirty="0" smtClean="0">
                <a:solidFill>
                  <a:srgbClr val="FF0000"/>
                </a:solidFill>
              </a:rPr>
              <a:t> 是完工预算）</a:t>
            </a:r>
            <a:endParaRPr lang="zh-CN" altLang="en-US" dirty="0"/>
          </a:p>
          <a:p>
            <a:r>
              <a:rPr lang="zh-CN" altLang="en-US" dirty="0"/>
              <a:t>非典型偏差：</a:t>
            </a:r>
          </a:p>
          <a:p>
            <a:r>
              <a:rPr lang="en-US" altLang="zh-CN" dirty="0" smtClean="0"/>
              <a:t>ETC = BAC-EV=267</a:t>
            </a:r>
            <a:r>
              <a:rPr lang="en-US" altLang="zh-CN" dirty="0"/>
              <a:t>. </a:t>
            </a:r>
            <a:r>
              <a:rPr lang="en-US" altLang="zh-CN" dirty="0" smtClean="0"/>
              <a:t>5-247 = 20</a:t>
            </a:r>
            <a:r>
              <a:rPr lang="en-US" altLang="zh-CN" dirty="0"/>
              <a:t>. 5 </a:t>
            </a:r>
            <a:r>
              <a:rPr lang="zh-CN" altLang="en-US" dirty="0"/>
              <a:t>万元</a:t>
            </a:r>
            <a:r>
              <a:rPr lang="zh-CN" altLang="en-US" dirty="0" smtClean="0"/>
              <a:t>。              </a:t>
            </a:r>
            <a:r>
              <a:rPr lang="en-US" altLang="zh-CN" dirty="0" smtClean="0"/>
              <a:t>EAC = AC</a:t>
            </a:r>
            <a:r>
              <a:rPr lang="en-US" altLang="zh-CN" dirty="0"/>
              <a:t>+ BAC-EV </a:t>
            </a:r>
            <a:r>
              <a:rPr lang="en-US" altLang="zh-CN" dirty="0" smtClean="0"/>
              <a:t>= 315</a:t>
            </a:r>
            <a:r>
              <a:rPr lang="en-US" altLang="zh-CN" dirty="0"/>
              <a:t>. 5 </a:t>
            </a:r>
            <a:r>
              <a:rPr lang="zh-CN" altLang="en-US" dirty="0"/>
              <a:t>万元。</a:t>
            </a:r>
          </a:p>
          <a:p>
            <a:r>
              <a:rPr lang="zh-CN" altLang="en-US" dirty="0"/>
              <a:t>典型偏差的情况下：</a:t>
            </a:r>
          </a:p>
          <a:p>
            <a:r>
              <a:rPr lang="en-US" altLang="zh-CN" dirty="0"/>
              <a:t>ETC= </a:t>
            </a:r>
            <a:r>
              <a:rPr lang="zh-CN" altLang="en-US" dirty="0"/>
              <a:t>（</a:t>
            </a:r>
            <a:r>
              <a:rPr lang="en-US" altLang="zh-CN" dirty="0"/>
              <a:t>BAC-EV</a:t>
            </a:r>
            <a:r>
              <a:rPr lang="zh-CN" altLang="en-US" dirty="0"/>
              <a:t>） </a:t>
            </a:r>
            <a:r>
              <a:rPr lang="en-US" altLang="zh-CN" dirty="0"/>
              <a:t>/CPI=24. 5 </a:t>
            </a:r>
            <a:r>
              <a:rPr lang="zh-CN" altLang="en-US" dirty="0"/>
              <a:t>万元</a:t>
            </a:r>
            <a:r>
              <a:rPr lang="zh-CN" altLang="en-US" dirty="0" smtClean="0"/>
              <a:t>。          </a:t>
            </a:r>
            <a:r>
              <a:rPr lang="en-US" altLang="zh-CN" dirty="0" smtClean="0"/>
              <a:t>EAC = AC</a:t>
            </a:r>
            <a:r>
              <a:rPr lang="en-US" altLang="zh-CN" dirty="0"/>
              <a:t>+ </a:t>
            </a:r>
            <a:r>
              <a:rPr lang="zh-CN" altLang="en-US" dirty="0"/>
              <a:t>（</a:t>
            </a:r>
            <a:r>
              <a:rPr lang="en-US" altLang="zh-CN" dirty="0"/>
              <a:t>BAC-EV</a:t>
            </a:r>
            <a:r>
              <a:rPr lang="zh-CN" altLang="en-US" dirty="0"/>
              <a:t>） </a:t>
            </a:r>
            <a:r>
              <a:rPr lang="en-US" altLang="zh-CN" dirty="0"/>
              <a:t>/CPI =319. 5 </a:t>
            </a:r>
            <a:r>
              <a:rPr lang="zh-CN" altLang="en-US" dirty="0"/>
              <a:t>万元</a:t>
            </a:r>
            <a:r>
              <a:rPr lang="zh-CN" altLang="en-US" dirty="0" smtClean="0"/>
              <a:t>。</a:t>
            </a:r>
            <a:endParaRPr lang="en-US" altLang="zh-CN" dirty="0" smtClean="0"/>
          </a:p>
          <a:p>
            <a:r>
              <a:rPr lang="en-US" altLang="zh-CN" dirty="0"/>
              <a:t>【</a:t>
            </a:r>
            <a:r>
              <a:rPr lang="zh-CN" altLang="en-US" dirty="0"/>
              <a:t>问题</a:t>
            </a:r>
            <a:r>
              <a:rPr lang="en-US" altLang="zh-CN" dirty="0"/>
              <a:t>3</a:t>
            </a:r>
            <a:r>
              <a:rPr lang="en-US" altLang="zh-CN" dirty="0" smtClean="0"/>
              <a:t>】</a:t>
            </a:r>
            <a:r>
              <a:rPr lang="zh-CN" altLang="en-US" dirty="0" smtClean="0"/>
              <a:t>在不影响项目完工时间的前提下，同时考虑资金平衡的要求，在第</a:t>
            </a:r>
            <a:r>
              <a:rPr lang="en-US" altLang="zh-CN" dirty="0" smtClean="0"/>
              <a:t>13</a:t>
            </a:r>
            <a:r>
              <a:rPr lang="zh-CN" altLang="en-US" dirty="0" smtClean="0"/>
              <a:t>周开始应该如何调整项目</a:t>
            </a:r>
          </a:p>
          <a:p>
            <a:r>
              <a:rPr lang="zh-CN" altLang="en-US" dirty="0" smtClean="0"/>
              <a:t>进度计划？（</a:t>
            </a:r>
            <a:r>
              <a:rPr lang="en-US" altLang="zh-CN" dirty="0"/>
              <a:t>3 </a:t>
            </a:r>
            <a:r>
              <a:rPr lang="zh-CN" altLang="en-US" dirty="0"/>
              <a:t>分）</a:t>
            </a:r>
          </a:p>
          <a:p>
            <a:r>
              <a:rPr lang="zh-CN" altLang="en-US" dirty="0"/>
              <a:t>如果考虑资金限制平衡的要求，在第</a:t>
            </a:r>
            <a:r>
              <a:rPr lang="en-US" altLang="zh-CN" dirty="0"/>
              <a:t>13</a:t>
            </a:r>
            <a:r>
              <a:rPr lang="zh-CN" altLang="en-US" dirty="0"/>
              <a:t>周开始应该将活动</a:t>
            </a:r>
            <a:r>
              <a:rPr lang="en-US" altLang="zh-CN" dirty="0"/>
              <a:t>E</a:t>
            </a:r>
            <a:r>
              <a:rPr lang="zh-CN" altLang="en-US" dirty="0"/>
              <a:t>推后</a:t>
            </a:r>
            <a:r>
              <a:rPr lang="en-US" altLang="zh-CN" dirty="0"/>
              <a:t>3</a:t>
            </a:r>
            <a:r>
              <a:rPr lang="zh-CN" altLang="en-US" dirty="0"/>
              <a:t>周进行（由第</a:t>
            </a:r>
            <a:r>
              <a:rPr lang="en-US" altLang="zh-CN" dirty="0"/>
              <a:t>13</a:t>
            </a:r>
            <a:r>
              <a:rPr lang="zh-CN" altLang="en-US" dirty="0"/>
              <a:t>周开始推</a:t>
            </a:r>
          </a:p>
          <a:p>
            <a:r>
              <a:rPr lang="zh-CN" altLang="en-US" dirty="0"/>
              <a:t>迟到第</a:t>
            </a:r>
            <a:r>
              <a:rPr lang="en-US" altLang="zh-CN" dirty="0"/>
              <a:t>16</a:t>
            </a:r>
            <a:r>
              <a:rPr lang="zh-CN" altLang="en-US" dirty="0"/>
              <a:t>周开始），以符合资金限制需求。</a:t>
            </a:r>
          </a:p>
          <a:p>
            <a:endParaRPr lang="zh-CN" altLang="en-US" dirty="0"/>
          </a:p>
          <a:p>
            <a:endParaRPr lang="zh-CN" altLang="en-US" dirty="0"/>
          </a:p>
          <a:p>
            <a:endParaRPr lang="en-US" altLang="zh-CN" dirty="0" smtClean="0"/>
          </a:p>
          <a:p>
            <a:endParaRPr lang="zh-CN" altLang="en-US" dirty="0" smtClean="0"/>
          </a:p>
          <a:p>
            <a:endParaRPr lang="zh-CN" altLang="en-US" dirty="0"/>
          </a:p>
          <a:p>
            <a:endParaRPr lang="zh-CN" altLang="en-US" dirty="0"/>
          </a:p>
          <a:p>
            <a:endParaRPr lang="zh-CN" altLang="en-US" dirty="0"/>
          </a:p>
          <a:p>
            <a:endParaRPr lang="zh-CN" altLang="en-US" dirty="0"/>
          </a:p>
          <a:p>
            <a:endParaRPr lang="zh-CN" altLang="en-US" dirty="0"/>
          </a:p>
        </p:txBody>
      </p:sp>
      <p:pic>
        <p:nvPicPr>
          <p:cNvPr id="3" name="图片 2"/>
          <p:cNvPicPr>
            <a:picLocks noChangeAspect="1"/>
          </p:cNvPicPr>
          <p:nvPr/>
        </p:nvPicPr>
        <p:blipFill>
          <a:blip r:embed="rId2"/>
          <a:stretch>
            <a:fillRect/>
          </a:stretch>
        </p:blipFill>
        <p:spPr>
          <a:xfrm>
            <a:off x="5650459" y="483145"/>
            <a:ext cx="3714750" cy="1400175"/>
          </a:xfrm>
          <a:prstGeom prst="rect">
            <a:avLst/>
          </a:prstGeom>
        </p:spPr>
      </p:pic>
    </p:spTree>
    <p:extLst>
      <p:ext uri="{BB962C8B-B14F-4D97-AF65-F5344CB8AC3E}">
        <p14:creationId xmlns:p14="http://schemas.microsoft.com/office/powerpoint/2010/main" val="392474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4056" y="3506620"/>
            <a:ext cx="11861637" cy="3416320"/>
          </a:xfrm>
          <a:prstGeom prst="rect">
            <a:avLst/>
          </a:prstGeom>
        </p:spPr>
        <p:txBody>
          <a:bodyPr wrap="square">
            <a:spAutoFit/>
          </a:bodyPr>
          <a:lstStyle/>
          <a:p>
            <a:r>
              <a:rPr lang="en-US" altLang="zh-CN" dirty="0"/>
              <a:t>【</a:t>
            </a:r>
            <a:r>
              <a:rPr lang="zh-CN" altLang="en-US" dirty="0"/>
              <a:t>问 题 </a:t>
            </a:r>
            <a:r>
              <a:rPr lang="en-US" altLang="zh-CN" dirty="0"/>
              <a:t>1】 </a:t>
            </a:r>
            <a:r>
              <a:rPr lang="zh-CN" altLang="en-US" dirty="0"/>
              <a:t>（</a:t>
            </a:r>
            <a:r>
              <a:rPr lang="en-US" altLang="zh-CN" dirty="0"/>
              <a:t>3 </a:t>
            </a:r>
            <a:r>
              <a:rPr lang="zh-CN" altLang="en-US" dirty="0"/>
              <a:t>分 ）</a:t>
            </a:r>
          </a:p>
          <a:p>
            <a:r>
              <a:rPr lang="zh-CN" altLang="en-US" dirty="0"/>
              <a:t>如果小张采取自下而上的估算方法。请计算</a:t>
            </a:r>
            <a:r>
              <a:rPr lang="en-US" altLang="zh-CN" dirty="0"/>
              <a:t>Al</a:t>
            </a:r>
            <a:r>
              <a:rPr lang="zh-CN" altLang="en-US" dirty="0"/>
              <a:t>、</a:t>
            </a:r>
            <a:r>
              <a:rPr lang="en-US" altLang="zh-CN" dirty="0"/>
              <a:t>A2</a:t>
            </a:r>
            <a:r>
              <a:rPr lang="zh-CN" altLang="en-US" dirty="0"/>
              <a:t>、</a:t>
            </a:r>
            <a:r>
              <a:rPr lang="en-US" altLang="zh-CN" dirty="0"/>
              <a:t>A </a:t>
            </a:r>
            <a:r>
              <a:rPr lang="zh-CN" altLang="en-US" dirty="0"/>
              <a:t>的估算值分别是多少？ </a:t>
            </a:r>
            <a:endParaRPr lang="en-US" altLang="zh-CN" dirty="0" smtClean="0"/>
          </a:p>
          <a:p>
            <a:r>
              <a:rPr lang="en-US" altLang="zh-CN" dirty="0" smtClean="0"/>
              <a:t>【</a:t>
            </a:r>
            <a:r>
              <a:rPr lang="zh-CN" altLang="en-US" dirty="0"/>
              <a:t>问 题 </a:t>
            </a:r>
            <a:r>
              <a:rPr lang="en-US" altLang="zh-CN" dirty="0"/>
              <a:t>2】 </a:t>
            </a:r>
            <a:r>
              <a:rPr lang="zh-CN" altLang="en-US" dirty="0"/>
              <a:t>（</a:t>
            </a:r>
            <a:r>
              <a:rPr lang="en-US" altLang="zh-CN" dirty="0"/>
              <a:t>10</a:t>
            </a:r>
            <a:r>
              <a:rPr lang="zh-CN" altLang="en-US" dirty="0"/>
              <a:t>分 ）</a:t>
            </a:r>
          </a:p>
          <a:p>
            <a:r>
              <a:rPr lang="zh-CN" altLang="en-US" dirty="0"/>
              <a:t>在进行项目预算审批时，财务总监指出在</a:t>
            </a:r>
            <a:r>
              <a:rPr lang="en-US" altLang="zh-CN" dirty="0"/>
              <a:t>2012</a:t>
            </a:r>
            <a:r>
              <a:rPr lang="zh-CN" altLang="en-US" dirty="0"/>
              <a:t>年初公司实施过一个类似项目，当时的决算金额</a:t>
            </a:r>
          </a:p>
          <a:p>
            <a:r>
              <a:rPr lang="zh-CN" altLang="en-US" dirty="0"/>
              <a:t>是 </a:t>
            </a:r>
            <a:r>
              <a:rPr lang="en-US" altLang="zh-CN" dirty="0"/>
              <a:t>50</a:t>
            </a:r>
            <a:r>
              <a:rPr lang="zh-CN" altLang="en-US" dirty="0"/>
              <a:t>万元，考虑到物价因素增加</a:t>
            </a:r>
            <a:r>
              <a:rPr lang="en-US" altLang="zh-CN" dirty="0"/>
              <a:t>10%</a:t>
            </a:r>
            <a:r>
              <a:rPr lang="zh-CN" altLang="en-US" dirty="0"/>
              <a:t>也是可接受的，财务总监要求据此更改预算，请根据财务</a:t>
            </a:r>
          </a:p>
          <a:p>
            <a:r>
              <a:rPr lang="zh-CN" altLang="en-US" dirty="0"/>
              <a:t>总监的建议列出</a:t>
            </a:r>
            <a:r>
              <a:rPr lang="en-US" altLang="zh-CN" dirty="0"/>
              <a:t>Al</a:t>
            </a:r>
            <a:r>
              <a:rPr lang="zh-CN" altLang="en-US" dirty="0"/>
              <a:t>、</a:t>
            </a:r>
            <a:r>
              <a:rPr lang="en-US" altLang="zh-CN" dirty="0"/>
              <a:t>A2</a:t>
            </a:r>
            <a:r>
              <a:rPr lang="zh-CN" altLang="en-US" dirty="0"/>
              <a:t>、</a:t>
            </a:r>
            <a:r>
              <a:rPr lang="en-US" altLang="zh-CN" dirty="0" err="1"/>
              <a:t>Al.l</a:t>
            </a:r>
            <a:r>
              <a:rPr lang="zh-CN" altLang="en-US" dirty="0"/>
              <a:t>、</a:t>
            </a:r>
            <a:r>
              <a:rPr lang="en-US" altLang="zh-CN" dirty="0"/>
              <a:t>A2. 1 </a:t>
            </a:r>
            <a:r>
              <a:rPr lang="zh-CN" altLang="en-US" dirty="0"/>
              <a:t>的估算值以及项目的总预算。 </a:t>
            </a:r>
            <a:endParaRPr lang="en-US" altLang="zh-CN" dirty="0" smtClean="0"/>
          </a:p>
          <a:p>
            <a:r>
              <a:rPr lang="en-US" altLang="zh-CN" dirty="0" smtClean="0"/>
              <a:t>【</a:t>
            </a:r>
            <a:r>
              <a:rPr lang="zh-CN" altLang="en-US" dirty="0"/>
              <a:t>问 题 </a:t>
            </a:r>
            <a:r>
              <a:rPr lang="en-US" altLang="zh-CN" dirty="0"/>
              <a:t>3】 </a:t>
            </a:r>
            <a:r>
              <a:rPr lang="zh-CN" altLang="en-US" dirty="0"/>
              <a:t>（</a:t>
            </a:r>
            <a:r>
              <a:rPr lang="en-US" altLang="zh-CN" dirty="0"/>
              <a:t>3 </a:t>
            </a:r>
            <a:r>
              <a:rPr lang="zh-CN" altLang="en-US" dirty="0"/>
              <a:t>分 ）</a:t>
            </a:r>
          </a:p>
          <a:p>
            <a:r>
              <a:rPr lang="zh-CN" altLang="en-US" dirty="0"/>
              <a:t>项目经理认为该项目与公司</a:t>
            </a:r>
            <a:r>
              <a:rPr lang="en-US" altLang="zh-CN" dirty="0"/>
              <a:t>2012</a:t>
            </a:r>
            <a:r>
              <a:rPr lang="zh-CN" altLang="en-US" dirty="0"/>
              <a:t>年初实施的一个类似项目还是有一定区别的，为稳妥起见，就</a:t>
            </a:r>
          </a:p>
          <a:p>
            <a:r>
              <a:rPr lang="zh-CN" altLang="en-US" dirty="0"/>
              <a:t>项目预算事宜，项目经理可以向公司财务总监提出何种建议。</a:t>
            </a:r>
          </a:p>
          <a:p>
            <a:r>
              <a:rPr lang="en-US" altLang="zh-CN" dirty="0"/>
              <a:t>【</a:t>
            </a:r>
            <a:r>
              <a:rPr lang="zh-CN" altLang="en-US" dirty="0"/>
              <a:t>问题</a:t>
            </a:r>
            <a:r>
              <a:rPr lang="en-US" altLang="zh-CN" dirty="0"/>
              <a:t>4】 </a:t>
            </a:r>
            <a:r>
              <a:rPr lang="zh-CN" altLang="en-US" dirty="0"/>
              <a:t>（</a:t>
            </a:r>
            <a:r>
              <a:rPr lang="en-US" altLang="zh-CN" dirty="0"/>
              <a:t>9 </a:t>
            </a:r>
            <a:r>
              <a:rPr lang="zh-CN" altLang="en-US" dirty="0"/>
              <a:t>分 ）</a:t>
            </a:r>
          </a:p>
          <a:p>
            <a:r>
              <a:rPr lang="zh-CN" altLang="en-US" dirty="0"/>
              <a:t>除了自下而上的估算方法，本案例还应用了哪些成本估算方法？成本估算的工具和技术还有那</a:t>
            </a:r>
          </a:p>
          <a:p>
            <a:r>
              <a:rPr lang="zh-CN" altLang="en-US" dirty="0"/>
              <a:t>些？</a:t>
            </a:r>
          </a:p>
        </p:txBody>
      </p:sp>
      <p:pic>
        <p:nvPicPr>
          <p:cNvPr id="5" name="图片 4"/>
          <p:cNvPicPr>
            <a:picLocks noChangeAspect="1"/>
          </p:cNvPicPr>
          <p:nvPr/>
        </p:nvPicPr>
        <p:blipFill>
          <a:blip r:embed="rId2"/>
          <a:stretch>
            <a:fillRect/>
          </a:stretch>
        </p:blipFill>
        <p:spPr>
          <a:xfrm>
            <a:off x="0" y="1019479"/>
            <a:ext cx="5855062" cy="2272361"/>
          </a:xfrm>
          <a:prstGeom prst="rect">
            <a:avLst/>
          </a:prstGeom>
        </p:spPr>
      </p:pic>
      <p:pic>
        <p:nvPicPr>
          <p:cNvPr id="7" name="图片 6"/>
          <p:cNvPicPr>
            <a:picLocks noChangeAspect="1"/>
          </p:cNvPicPr>
          <p:nvPr/>
        </p:nvPicPr>
        <p:blipFill>
          <a:blip r:embed="rId3"/>
          <a:stretch>
            <a:fillRect/>
          </a:stretch>
        </p:blipFill>
        <p:spPr>
          <a:xfrm>
            <a:off x="5589458" y="795046"/>
            <a:ext cx="6581775" cy="2295525"/>
          </a:xfrm>
          <a:prstGeom prst="rect">
            <a:avLst/>
          </a:prstGeom>
        </p:spPr>
      </p:pic>
      <p:sp>
        <p:nvSpPr>
          <p:cNvPr id="9" name="矩形 8"/>
          <p:cNvSpPr/>
          <p:nvPr/>
        </p:nvSpPr>
        <p:spPr>
          <a:xfrm>
            <a:off x="184057" y="238215"/>
            <a:ext cx="11861637" cy="923330"/>
          </a:xfrm>
          <a:prstGeom prst="rect">
            <a:avLst/>
          </a:prstGeom>
        </p:spPr>
        <p:txBody>
          <a:bodyPr wrap="square">
            <a:spAutoFit/>
          </a:bodyPr>
          <a:lstStyle/>
          <a:p>
            <a:r>
              <a:rPr lang="en-US" altLang="zh-CN" dirty="0" smtClean="0"/>
              <a:t>5</a:t>
            </a:r>
            <a:r>
              <a:rPr lang="zh-CN" altLang="en-US" dirty="0" smtClean="0"/>
              <a:t>、</a:t>
            </a:r>
            <a:r>
              <a:rPr lang="zh-CN" altLang="en-US" dirty="0"/>
              <a:t>阅读下列说明，回答问题</a:t>
            </a:r>
            <a:r>
              <a:rPr lang="en-US" altLang="zh-CN" dirty="0"/>
              <a:t>1</a:t>
            </a:r>
            <a:r>
              <a:rPr lang="zh-CN" altLang="en-US" dirty="0"/>
              <a:t>至问题</a:t>
            </a:r>
            <a:r>
              <a:rPr lang="en-US" altLang="zh-CN" dirty="0"/>
              <a:t>4,</a:t>
            </a:r>
            <a:r>
              <a:rPr lang="zh-CN" altLang="en-US" dirty="0"/>
              <a:t>将解答填入答题纸的对应栏内。</a:t>
            </a:r>
          </a:p>
          <a:p>
            <a:r>
              <a:rPr lang="zh-CN" altLang="en-US" dirty="0" smtClean="0"/>
              <a:t>项目</a:t>
            </a:r>
            <a:r>
              <a:rPr lang="zh-CN" altLang="en-US" dirty="0"/>
              <a:t>组成员小张根据项目经理的要求绘制了项目</a:t>
            </a:r>
            <a:r>
              <a:rPr lang="en-US" altLang="zh-CN" dirty="0"/>
              <a:t>A </a:t>
            </a:r>
            <a:r>
              <a:rPr lang="zh-CN" altLang="en-US" dirty="0"/>
              <a:t>的</a:t>
            </a:r>
            <a:r>
              <a:rPr lang="en-US" altLang="zh-CN" dirty="0"/>
              <a:t>WBS</a:t>
            </a:r>
            <a:r>
              <a:rPr lang="zh-CN" altLang="en-US" dirty="0"/>
              <a:t>图 （图 </a:t>
            </a:r>
            <a:r>
              <a:rPr lang="en-US" altLang="zh-CN" dirty="0"/>
              <a:t>1</a:t>
            </a:r>
            <a:r>
              <a:rPr lang="zh-CN" altLang="en-US" dirty="0"/>
              <a:t>）</a:t>
            </a:r>
            <a:r>
              <a:rPr lang="en-US" altLang="zh-CN" dirty="0" smtClean="0"/>
              <a:t>,</a:t>
            </a:r>
            <a:r>
              <a:rPr lang="zh-CN" altLang="en-US" dirty="0"/>
              <a:t>并根据工作量对项目的成本进行了分配，见表</a:t>
            </a:r>
            <a:r>
              <a:rPr lang="en-US" altLang="zh-CN" dirty="0"/>
              <a:t>1</a:t>
            </a:r>
            <a:r>
              <a:rPr lang="zh-CN" altLang="en-US" dirty="0" smtClean="0"/>
              <a:t>。</a:t>
            </a:r>
            <a:endParaRPr lang="zh-CN" altLang="en-US" dirty="0"/>
          </a:p>
          <a:p>
            <a:endParaRPr lang="zh-CN" altLang="en-US" dirty="0"/>
          </a:p>
        </p:txBody>
      </p:sp>
    </p:spTree>
    <p:extLst>
      <p:ext uri="{BB962C8B-B14F-4D97-AF65-F5344CB8AC3E}">
        <p14:creationId xmlns:p14="http://schemas.microsoft.com/office/powerpoint/2010/main" val="1918038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7017306"/>
          </a:xfrm>
          <a:prstGeom prst="rect">
            <a:avLst/>
          </a:prstGeom>
        </p:spPr>
        <p:txBody>
          <a:bodyPr wrap="square">
            <a:spAutoFit/>
          </a:bodyPr>
          <a:lstStyle/>
          <a:p>
            <a:r>
              <a:rPr lang="en-US" altLang="zh-CN" dirty="0"/>
              <a:t>【</a:t>
            </a:r>
            <a:r>
              <a:rPr lang="zh-CN" altLang="en-US" dirty="0"/>
              <a:t>问 题 </a:t>
            </a:r>
            <a:r>
              <a:rPr lang="en-US" altLang="zh-CN" dirty="0"/>
              <a:t>1】 </a:t>
            </a:r>
            <a:r>
              <a:rPr lang="zh-CN" altLang="en-US" dirty="0"/>
              <a:t>（</a:t>
            </a:r>
            <a:r>
              <a:rPr lang="en-US" altLang="zh-CN" dirty="0"/>
              <a:t>3 </a:t>
            </a:r>
            <a:r>
              <a:rPr lang="zh-CN" altLang="en-US" dirty="0"/>
              <a:t>分 ）</a:t>
            </a:r>
          </a:p>
          <a:p>
            <a:r>
              <a:rPr lang="en-US" altLang="zh-CN" dirty="0"/>
              <a:t>A1 </a:t>
            </a:r>
            <a:r>
              <a:rPr lang="en-US" altLang="zh-CN"/>
              <a:t>= </a:t>
            </a:r>
            <a:r>
              <a:rPr lang="en-US" altLang="zh-CN" smtClean="0"/>
              <a:t>12+14=26 </a:t>
            </a:r>
            <a:r>
              <a:rPr lang="zh-CN" altLang="en-US" dirty="0"/>
              <a:t>万 元 。</a:t>
            </a:r>
          </a:p>
          <a:p>
            <a:r>
              <a:rPr lang="en-US" altLang="zh-CN" dirty="0"/>
              <a:t>A2=18+16=34 </a:t>
            </a:r>
            <a:r>
              <a:rPr lang="zh-CN" altLang="en-US" dirty="0"/>
              <a:t>万 元 。</a:t>
            </a:r>
          </a:p>
          <a:p>
            <a:r>
              <a:rPr lang="en-US" altLang="zh-CN" dirty="0"/>
              <a:t>A=26+34=60 </a:t>
            </a:r>
            <a:r>
              <a:rPr lang="zh-CN" altLang="en-US" dirty="0"/>
              <a:t>万 元 。</a:t>
            </a:r>
          </a:p>
          <a:p>
            <a:r>
              <a:rPr lang="en-US" altLang="zh-CN" dirty="0"/>
              <a:t>【</a:t>
            </a:r>
            <a:r>
              <a:rPr lang="zh-CN" altLang="en-US" dirty="0"/>
              <a:t>问 题 </a:t>
            </a:r>
            <a:r>
              <a:rPr lang="en-US" altLang="zh-CN" dirty="0"/>
              <a:t>2】 </a:t>
            </a:r>
            <a:r>
              <a:rPr lang="zh-CN" altLang="en-US" dirty="0"/>
              <a:t>（</a:t>
            </a:r>
            <a:r>
              <a:rPr lang="en-US" altLang="zh-CN" dirty="0"/>
              <a:t>10</a:t>
            </a:r>
            <a:r>
              <a:rPr lang="zh-CN" altLang="en-US" dirty="0"/>
              <a:t>分 ）</a:t>
            </a:r>
          </a:p>
          <a:p>
            <a:r>
              <a:rPr lang="zh-CN" altLang="en-US" dirty="0"/>
              <a:t>根据题干中的“当时的决算金额是</a:t>
            </a:r>
            <a:r>
              <a:rPr lang="en-US" altLang="zh-CN" dirty="0"/>
              <a:t>50</a:t>
            </a:r>
            <a:r>
              <a:rPr lang="zh-CN" altLang="en-US" dirty="0"/>
              <a:t>万元，考虑到物价因素增加</a:t>
            </a:r>
            <a:r>
              <a:rPr lang="en-US" altLang="zh-CN" dirty="0"/>
              <a:t>10%</a:t>
            </a:r>
            <a:r>
              <a:rPr lang="zh-CN" altLang="en-US" dirty="0"/>
              <a:t>也是可接受的”可知，项</a:t>
            </a:r>
          </a:p>
          <a:p>
            <a:r>
              <a:rPr lang="zh-CN" altLang="en-US" dirty="0"/>
              <a:t>目的总预算最高值应为</a:t>
            </a:r>
            <a:r>
              <a:rPr lang="en-US" altLang="zh-CN" dirty="0"/>
              <a:t>50* </a:t>
            </a:r>
            <a:r>
              <a:rPr lang="zh-CN" altLang="en-US" dirty="0"/>
              <a:t>（</a:t>
            </a:r>
            <a:r>
              <a:rPr lang="en-US" altLang="zh-CN" dirty="0"/>
              <a:t>1+10%</a:t>
            </a:r>
            <a:r>
              <a:rPr lang="zh-CN" altLang="en-US" dirty="0"/>
              <a:t>）</a:t>
            </a:r>
            <a:r>
              <a:rPr lang="en-US" altLang="zh-CN" dirty="0"/>
              <a:t>=55</a:t>
            </a:r>
            <a:r>
              <a:rPr lang="zh-CN" altLang="en-US" dirty="0"/>
              <a:t>万元。</a:t>
            </a:r>
          </a:p>
          <a:p>
            <a:r>
              <a:rPr lang="zh-CN" altLang="en-US" dirty="0"/>
              <a:t>还按照原来估算的比例分配：</a:t>
            </a:r>
          </a:p>
          <a:p>
            <a:r>
              <a:rPr lang="en-US" altLang="zh-CN" dirty="0"/>
              <a:t>A1 </a:t>
            </a:r>
            <a:r>
              <a:rPr lang="en-US" altLang="zh-CN" dirty="0" smtClean="0"/>
              <a:t>=55</a:t>
            </a:r>
            <a:r>
              <a:rPr lang="en-US" altLang="zh-CN" dirty="0"/>
              <a:t>* </a:t>
            </a:r>
            <a:r>
              <a:rPr lang="zh-CN" altLang="en-US" dirty="0"/>
              <a:t>（</a:t>
            </a:r>
            <a:r>
              <a:rPr lang="en-US" altLang="zh-CN" dirty="0"/>
              <a:t>26/60</a:t>
            </a:r>
            <a:r>
              <a:rPr lang="zh-CN" altLang="en-US" dirty="0"/>
              <a:t>） </a:t>
            </a:r>
            <a:r>
              <a:rPr lang="en-US" altLang="zh-CN" dirty="0" smtClean="0"/>
              <a:t>=23.8 </a:t>
            </a:r>
            <a:r>
              <a:rPr lang="zh-CN" altLang="en-US" dirty="0"/>
              <a:t>万 元 。</a:t>
            </a:r>
          </a:p>
          <a:p>
            <a:r>
              <a:rPr lang="en-US" altLang="zh-CN" dirty="0" smtClean="0"/>
              <a:t>A2 =</a:t>
            </a:r>
            <a:r>
              <a:rPr lang="en-US" altLang="zh-CN" dirty="0"/>
              <a:t>55* </a:t>
            </a:r>
            <a:r>
              <a:rPr lang="zh-CN" altLang="en-US" dirty="0"/>
              <a:t>（</a:t>
            </a:r>
            <a:r>
              <a:rPr lang="en-US" altLang="zh-CN" dirty="0" smtClean="0"/>
              <a:t>34/60</a:t>
            </a:r>
            <a:r>
              <a:rPr lang="zh-CN" altLang="en-US" dirty="0" smtClean="0"/>
              <a:t>）</a:t>
            </a:r>
            <a:r>
              <a:rPr lang="en-US" altLang="zh-CN" dirty="0" smtClean="0"/>
              <a:t>   =31. </a:t>
            </a:r>
            <a:r>
              <a:rPr lang="en-US" altLang="zh-CN" dirty="0"/>
              <a:t>2 </a:t>
            </a:r>
            <a:r>
              <a:rPr lang="zh-CN" altLang="en-US" dirty="0"/>
              <a:t>万 元 。 </a:t>
            </a:r>
            <a:r>
              <a:rPr lang="en-US" altLang="zh-CN" dirty="0"/>
              <a:t>Al. 1</a:t>
            </a:r>
            <a:r>
              <a:rPr lang="en-US" altLang="zh-CN" dirty="0" smtClean="0"/>
              <a:t>= 23.8 * </a:t>
            </a:r>
            <a:r>
              <a:rPr lang="zh-CN" altLang="en-US" dirty="0"/>
              <a:t>（</a:t>
            </a:r>
            <a:r>
              <a:rPr lang="en-US" altLang="zh-CN" dirty="0"/>
              <a:t>12/26</a:t>
            </a:r>
            <a:r>
              <a:rPr lang="zh-CN" altLang="en-US" dirty="0"/>
              <a:t>） </a:t>
            </a:r>
            <a:r>
              <a:rPr lang="en-US" altLang="zh-CN" dirty="0" smtClean="0"/>
              <a:t>= </a:t>
            </a:r>
            <a:r>
              <a:rPr lang="en-US" altLang="zh-CN" dirty="0"/>
              <a:t>11 </a:t>
            </a:r>
            <a:r>
              <a:rPr lang="zh-CN" altLang="en-US" dirty="0"/>
              <a:t>万 元 。 </a:t>
            </a:r>
            <a:r>
              <a:rPr lang="en-US" altLang="zh-CN" dirty="0"/>
              <a:t>A2. 1</a:t>
            </a:r>
            <a:r>
              <a:rPr lang="en-US" altLang="zh-CN" dirty="0" smtClean="0"/>
              <a:t>= 31. 2 * </a:t>
            </a:r>
            <a:r>
              <a:rPr lang="zh-CN" altLang="en-US" dirty="0"/>
              <a:t>（</a:t>
            </a:r>
            <a:r>
              <a:rPr lang="en-US" altLang="zh-CN" dirty="0"/>
              <a:t>18/34</a:t>
            </a:r>
            <a:r>
              <a:rPr lang="zh-CN" altLang="en-US" dirty="0"/>
              <a:t>） </a:t>
            </a:r>
            <a:r>
              <a:rPr lang="en-US" altLang="zh-CN" dirty="0" smtClean="0"/>
              <a:t>=16.4 </a:t>
            </a:r>
            <a:r>
              <a:rPr lang="zh-CN" altLang="en-US" dirty="0"/>
              <a:t>万 元 。</a:t>
            </a:r>
          </a:p>
          <a:p>
            <a:r>
              <a:rPr lang="en-US" altLang="zh-CN" dirty="0"/>
              <a:t>【</a:t>
            </a:r>
            <a:r>
              <a:rPr lang="zh-CN" altLang="en-US" dirty="0"/>
              <a:t>问 题 </a:t>
            </a:r>
            <a:r>
              <a:rPr lang="en-US" altLang="zh-CN" dirty="0"/>
              <a:t>3】 </a:t>
            </a:r>
            <a:r>
              <a:rPr lang="zh-CN" altLang="en-US" dirty="0"/>
              <a:t>（</a:t>
            </a:r>
            <a:r>
              <a:rPr lang="en-US" altLang="zh-CN" dirty="0"/>
              <a:t>3 </a:t>
            </a:r>
            <a:r>
              <a:rPr lang="zh-CN" altLang="en-US" dirty="0"/>
              <a:t>分 ）</a:t>
            </a:r>
          </a:p>
          <a:p>
            <a:r>
              <a:rPr lang="zh-CN" altLang="en-US" dirty="0"/>
              <a:t>建议</a:t>
            </a:r>
            <a:r>
              <a:rPr lang="zh-CN" altLang="en-US" dirty="0" smtClean="0"/>
              <a:t>增加</a:t>
            </a:r>
            <a:r>
              <a:rPr lang="en-US" altLang="zh-CN" dirty="0"/>
              <a:t> </a:t>
            </a:r>
            <a:r>
              <a:rPr lang="en-US" altLang="zh-CN" dirty="0" smtClean="0"/>
              <a:t>10%</a:t>
            </a:r>
            <a:r>
              <a:rPr lang="zh-CN" altLang="en-US" dirty="0" smtClean="0"/>
              <a:t>比例的备用金，即</a:t>
            </a:r>
            <a:r>
              <a:rPr lang="en-US" altLang="zh-CN" dirty="0" smtClean="0"/>
              <a:t>5 </a:t>
            </a:r>
            <a:r>
              <a:rPr lang="zh-CN" altLang="en-US" dirty="0"/>
              <a:t>万元的管理储备金。</a:t>
            </a:r>
          </a:p>
          <a:p>
            <a:r>
              <a:rPr lang="en-US" altLang="zh-CN" dirty="0"/>
              <a:t>【</a:t>
            </a:r>
            <a:r>
              <a:rPr lang="zh-CN" altLang="en-US" dirty="0"/>
              <a:t>问题</a:t>
            </a:r>
            <a:r>
              <a:rPr lang="en-US" altLang="zh-CN" dirty="0"/>
              <a:t>4】 </a:t>
            </a:r>
            <a:r>
              <a:rPr lang="zh-CN" altLang="en-US" dirty="0"/>
              <a:t>（</a:t>
            </a:r>
            <a:r>
              <a:rPr lang="en-US" altLang="zh-CN" dirty="0"/>
              <a:t>9 </a:t>
            </a:r>
            <a:r>
              <a:rPr lang="zh-CN" altLang="en-US" dirty="0"/>
              <a:t>分 ）</a:t>
            </a:r>
          </a:p>
          <a:p>
            <a:r>
              <a:rPr lang="zh-CN" altLang="en-US" dirty="0"/>
              <a:t>案例中应用了类比估算或自上而下估算、参数估算。</a:t>
            </a:r>
          </a:p>
          <a:p>
            <a:r>
              <a:rPr lang="zh-CN" altLang="en-US" dirty="0"/>
              <a:t>其他成本估算的工具和技术：</a:t>
            </a:r>
          </a:p>
          <a:p>
            <a:r>
              <a:rPr lang="zh-CN" altLang="en-US" dirty="0"/>
              <a:t>（</a:t>
            </a:r>
            <a:r>
              <a:rPr lang="en-US" altLang="zh-CN" dirty="0"/>
              <a:t>1</a:t>
            </a:r>
            <a:r>
              <a:rPr lang="zh-CN" altLang="en-US" dirty="0"/>
              <a:t>） 确认资源费率</a:t>
            </a:r>
            <a:r>
              <a:rPr lang="zh-CN" altLang="en-US" dirty="0" smtClean="0"/>
              <a:t>。</a:t>
            </a:r>
            <a:r>
              <a:rPr lang="zh-CN" altLang="en-US" dirty="0"/>
              <a:t>确认资源费率涉及确定项目中所需资源的成本，包括人力、材料、设备等的费率。这通常需要市场调研和合同协商来确保费率的准确性</a:t>
            </a:r>
          </a:p>
          <a:p>
            <a:r>
              <a:rPr lang="zh-CN" altLang="en-US" dirty="0"/>
              <a:t>（</a:t>
            </a:r>
            <a:r>
              <a:rPr lang="en-US" altLang="zh-CN" dirty="0"/>
              <a:t>2</a:t>
            </a:r>
            <a:r>
              <a:rPr lang="zh-CN" altLang="en-US" dirty="0"/>
              <a:t>） 项目管理</a:t>
            </a:r>
            <a:r>
              <a:rPr lang="zh-CN" altLang="en-US" dirty="0" smtClean="0"/>
              <a:t>软件</a:t>
            </a:r>
            <a:r>
              <a:rPr lang="en-US" altLang="zh-CN" dirty="0" smtClean="0"/>
              <a:t>project</a:t>
            </a:r>
            <a:r>
              <a:rPr lang="zh-CN" altLang="en-US" dirty="0" smtClean="0"/>
              <a:t>。</a:t>
            </a:r>
            <a:endParaRPr lang="zh-CN" altLang="en-US" dirty="0"/>
          </a:p>
          <a:p>
            <a:r>
              <a:rPr lang="zh-CN" altLang="en-US" dirty="0"/>
              <a:t>（</a:t>
            </a:r>
            <a:r>
              <a:rPr lang="en-US" altLang="zh-CN" dirty="0"/>
              <a:t>3</a:t>
            </a:r>
            <a:r>
              <a:rPr lang="zh-CN" altLang="en-US" dirty="0"/>
              <a:t>） 供贷商投标分析</a:t>
            </a:r>
            <a:r>
              <a:rPr lang="zh-CN" altLang="en-US" dirty="0" smtClean="0"/>
              <a:t>。</a:t>
            </a:r>
            <a:r>
              <a:rPr lang="zh-CN" altLang="en-US" dirty="0"/>
              <a:t>通过分析不同供应商的投标，项目团队可以比较不同来源的成本报价。这有助于识别最具成本效益的供应商，并可能揭示成本节约的机会</a:t>
            </a:r>
            <a:r>
              <a:rPr lang="zh-CN" altLang="en-US" dirty="0" smtClean="0"/>
              <a:t>。</a:t>
            </a:r>
            <a:endParaRPr lang="zh-CN" altLang="en-US" dirty="0"/>
          </a:p>
          <a:p>
            <a:r>
              <a:rPr lang="zh-CN" altLang="en-US" dirty="0" smtClean="0"/>
              <a:t>（</a:t>
            </a:r>
            <a:r>
              <a:rPr lang="en-US" altLang="zh-CN" dirty="0" smtClean="0"/>
              <a:t>4</a:t>
            </a:r>
            <a:r>
              <a:rPr lang="zh-CN" altLang="en-US" dirty="0" smtClean="0"/>
              <a:t>） </a:t>
            </a:r>
            <a:r>
              <a:rPr lang="zh-CN" altLang="en-US" dirty="0"/>
              <a:t>质量成本</a:t>
            </a:r>
            <a:r>
              <a:rPr lang="zh-CN" altLang="en-US" dirty="0" smtClean="0"/>
              <a:t>。</a:t>
            </a:r>
            <a:r>
              <a:rPr lang="zh-CN" altLang="en-US" dirty="0"/>
              <a:t>质量成本是指为确保项目成果达到预定质量标准而产生的成本。这包括预防成本、评估成本、内建质量成本以及失败成本（如返工、缺陷等）</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279422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6463308"/>
          </a:xfrm>
          <a:prstGeom prst="rect">
            <a:avLst/>
          </a:prstGeom>
        </p:spPr>
        <p:txBody>
          <a:bodyPr wrap="square">
            <a:spAutoFit/>
          </a:bodyPr>
          <a:lstStyle/>
          <a:p>
            <a:r>
              <a:rPr lang="en-US" altLang="zh-CN" dirty="0" smtClean="0"/>
              <a:t>6</a:t>
            </a:r>
            <a:r>
              <a:rPr lang="zh-CN" altLang="en-US" dirty="0" smtClean="0"/>
              <a:t>、阅读下列说明，回答问题</a:t>
            </a:r>
            <a:r>
              <a:rPr lang="en-US" altLang="zh-CN" dirty="0" smtClean="0"/>
              <a:t>1</a:t>
            </a:r>
            <a:r>
              <a:rPr lang="zh-CN" altLang="en-US" dirty="0" smtClean="0"/>
              <a:t>至问题</a:t>
            </a:r>
            <a:r>
              <a:rPr lang="en-US" altLang="zh-CN" dirty="0" smtClean="0"/>
              <a:t>3</a:t>
            </a:r>
            <a:r>
              <a:rPr lang="zh-CN" altLang="en-US" dirty="0" smtClean="0"/>
              <a:t> 。</a:t>
            </a:r>
          </a:p>
          <a:p>
            <a:r>
              <a:rPr lang="zh-CN" altLang="en-US" dirty="0" smtClean="0"/>
              <a:t>     某市信息资源管理中心经过公开招标，将该市的政务信息资源整合系统项目委托某公司开发，并准备将该系统推广应用到全市二十个委办局。由于每个委办局框架构成、业务功能、界面要求、资源类别等均有所不同，</a:t>
            </a:r>
            <a:r>
              <a:rPr lang="zh-CN" altLang="en-US" dirty="0" smtClean="0">
                <a:solidFill>
                  <a:srgbClr val="FF0000"/>
                </a:solidFill>
              </a:rPr>
              <a:t>该软件公司经过讨论，决定对一家信息资源建设比较完备的委办局的需求进行开发和试用，然后再在些基础上进行修改，为其他委办局定制系统</a:t>
            </a:r>
            <a:r>
              <a:rPr lang="zh-CN" altLang="en-US" dirty="0" smtClean="0"/>
              <a:t>。</a:t>
            </a:r>
          </a:p>
          <a:p>
            <a:r>
              <a:rPr lang="zh-CN" altLang="en-US" dirty="0" smtClean="0"/>
              <a:t>    该项目的负责人是软件公司的刘经理，项目采用瀑布模型开发，项目组成员按分析、设计、编码、测试进行分工，历经三个月，进入试运行阶段。</a:t>
            </a:r>
            <a:r>
              <a:rPr lang="zh-CN" altLang="en-US" dirty="0" smtClean="0">
                <a:solidFill>
                  <a:srgbClr val="FF0000"/>
                </a:solidFill>
              </a:rPr>
              <a:t>为了赶工期，刘经理就对项目开发人员再分工，将试运行的系统版本作为原始版本，在此基础上修改</a:t>
            </a:r>
            <a:r>
              <a:rPr lang="zh-CN" altLang="en-US" dirty="0" smtClean="0"/>
              <a:t>，开始并行为其他委办局定制开发各自的政务信息资源整合系统。</a:t>
            </a:r>
          </a:p>
          <a:p>
            <a:r>
              <a:rPr lang="zh-CN" altLang="en-US" dirty="0" smtClean="0"/>
              <a:t>     试</a:t>
            </a:r>
            <a:r>
              <a:rPr lang="zh-CN" altLang="en-US" dirty="0" smtClean="0">
                <a:solidFill>
                  <a:srgbClr val="FF0000"/>
                </a:solidFill>
              </a:rPr>
              <a:t>运行的版本在运行中根据用户的要求，产生了一些功能的变动，开发人员直接改动代码</a:t>
            </a:r>
            <a:r>
              <a:rPr lang="zh-CN" altLang="en-US" dirty="0" smtClean="0"/>
              <a:t>，这些改动后的代码有的适合其他委办局，有的不适合；</a:t>
            </a:r>
            <a:r>
              <a:rPr lang="zh-CN" altLang="en-US" dirty="0" smtClean="0">
                <a:solidFill>
                  <a:srgbClr val="FF0000"/>
                </a:solidFill>
              </a:rPr>
              <a:t>而在为其他委办局的系统定制开发中，也在根据用户的要求进行各自代码的修改</a:t>
            </a:r>
            <a:r>
              <a:rPr lang="zh-CN" altLang="en-US" dirty="0" smtClean="0"/>
              <a:t>。项目进展得很快，可就在这期间，</a:t>
            </a:r>
            <a:r>
              <a:rPr lang="zh-CN" altLang="en-US" dirty="0" smtClean="0">
                <a:solidFill>
                  <a:srgbClr val="FF0000"/>
                </a:solidFill>
              </a:rPr>
              <a:t>主要开发人员小王和小李因故提出辞职</a:t>
            </a:r>
            <a:r>
              <a:rPr lang="zh-CN" altLang="en-US" dirty="0" smtClean="0"/>
              <a:t>，刘经理向公司申请补充了两名新的开发人员接替小王和小李的工作，</a:t>
            </a:r>
            <a:r>
              <a:rPr lang="zh-CN" altLang="en-US" dirty="0" smtClean="0">
                <a:solidFill>
                  <a:srgbClr val="FF0000"/>
                </a:solidFill>
              </a:rPr>
              <a:t>然而由于之前的变更没有相关文档的记录</a:t>
            </a:r>
            <a:r>
              <a:rPr lang="zh-CN" altLang="en-US" dirty="0" smtClean="0"/>
              <a:t>，开发版本与设计和需求的版本对应不上，两个新的开发人员用了很长的时间才编码，结果导致工期的延误，而且在交付时出现文档与代码对应不上的情况，客户意见很大。</a:t>
            </a:r>
            <a:endParaRPr lang="en-US" altLang="zh-CN" dirty="0" smtClean="0"/>
          </a:p>
          <a:p>
            <a:r>
              <a:rPr lang="zh-CN" altLang="en-US" dirty="0"/>
              <a:t>问题内容：</a:t>
            </a:r>
          </a:p>
          <a:p>
            <a:r>
              <a:rPr lang="en-US" altLang="zh-CN" dirty="0"/>
              <a:t>【</a:t>
            </a:r>
            <a:r>
              <a:rPr lang="zh-CN" altLang="en-US" dirty="0"/>
              <a:t>问题</a:t>
            </a:r>
            <a:r>
              <a:rPr lang="en-US" altLang="zh-CN" dirty="0"/>
              <a:t>1】 </a:t>
            </a:r>
            <a:r>
              <a:rPr lang="zh-CN" altLang="en-US" dirty="0"/>
              <a:t>（</a:t>
            </a:r>
            <a:r>
              <a:rPr lang="en-US" altLang="zh-CN" dirty="0"/>
              <a:t>8 </a:t>
            </a:r>
            <a:r>
              <a:rPr lang="zh-CN" altLang="en-US" dirty="0"/>
              <a:t>分）</a:t>
            </a:r>
          </a:p>
          <a:p>
            <a:r>
              <a:rPr lang="zh-CN" altLang="en-US" dirty="0"/>
              <a:t>请指出在该项目的开发过程中，配置管理方面存在的主要问题。</a:t>
            </a:r>
          </a:p>
          <a:p>
            <a:r>
              <a:rPr lang="en-US" altLang="zh-CN" dirty="0"/>
              <a:t>【</a:t>
            </a:r>
            <a:r>
              <a:rPr lang="zh-CN" altLang="en-US" dirty="0"/>
              <a:t>问题</a:t>
            </a:r>
            <a:r>
              <a:rPr lang="en-US" altLang="zh-CN" dirty="0"/>
              <a:t>2】 </a:t>
            </a:r>
            <a:r>
              <a:rPr lang="zh-CN" altLang="en-US" dirty="0"/>
              <a:t>（</a:t>
            </a:r>
            <a:r>
              <a:rPr lang="en-US" altLang="zh-CN" dirty="0"/>
              <a:t>8 </a:t>
            </a:r>
            <a:r>
              <a:rPr lang="zh-CN" altLang="en-US" dirty="0"/>
              <a:t>分）</a:t>
            </a:r>
          </a:p>
          <a:p>
            <a:r>
              <a:rPr lang="zh-CN" altLang="en-US" dirty="0"/>
              <a:t>结合本案例，请列举配置项的内容。</a:t>
            </a:r>
          </a:p>
          <a:p>
            <a:r>
              <a:rPr lang="en-US" altLang="zh-CN" dirty="0"/>
              <a:t>【</a:t>
            </a:r>
            <a:r>
              <a:rPr lang="zh-CN" altLang="en-US" dirty="0"/>
              <a:t>问题</a:t>
            </a:r>
            <a:r>
              <a:rPr lang="en-US" altLang="zh-CN" dirty="0"/>
              <a:t>3】 </a:t>
            </a:r>
            <a:r>
              <a:rPr lang="zh-CN" altLang="en-US" dirty="0"/>
              <a:t>（</a:t>
            </a:r>
            <a:r>
              <a:rPr lang="en-US" altLang="zh-CN" dirty="0"/>
              <a:t>4 </a:t>
            </a:r>
            <a:r>
              <a:rPr lang="zh-CN" altLang="en-US" dirty="0"/>
              <a:t>分）</a:t>
            </a:r>
          </a:p>
          <a:p>
            <a:r>
              <a:rPr lang="zh-CN" altLang="en-US" dirty="0"/>
              <a:t>经与客户协商，为确保系统推广应用顺利，刘经理决定加强项目的配置管理，请简要回答刘经</a:t>
            </a:r>
          </a:p>
          <a:p>
            <a:r>
              <a:rPr lang="zh-CN" altLang="en-US" dirty="0"/>
              <a:t>理在配置管理方面的主要活动应有哪些。</a:t>
            </a:r>
          </a:p>
          <a:p>
            <a:endParaRPr lang="zh-CN" altLang="en-US" dirty="0"/>
          </a:p>
        </p:txBody>
      </p:sp>
    </p:spTree>
    <p:extLst>
      <p:ext uri="{BB962C8B-B14F-4D97-AF65-F5344CB8AC3E}">
        <p14:creationId xmlns:p14="http://schemas.microsoft.com/office/powerpoint/2010/main" val="152592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6463308"/>
          </a:xfrm>
          <a:prstGeom prst="rect">
            <a:avLst/>
          </a:prstGeom>
        </p:spPr>
        <p:txBody>
          <a:bodyPr wrap="square">
            <a:spAutoFit/>
          </a:bodyPr>
          <a:lstStyle/>
          <a:p>
            <a:r>
              <a:rPr lang="en-US" altLang="zh-CN" dirty="0"/>
              <a:t>【</a:t>
            </a:r>
            <a:r>
              <a:rPr lang="zh-CN" altLang="en-US" dirty="0"/>
              <a:t>问题</a:t>
            </a:r>
            <a:r>
              <a:rPr lang="en-US" altLang="zh-CN" dirty="0"/>
              <a:t>1</a:t>
            </a:r>
            <a:r>
              <a:rPr lang="en-US" altLang="zh-CN" dirty="0" smtClean="0"/>
              <a:t>】</a:t>
            </a:r>
            <a:r>
              <a:rPr lang="zh-CN" altLang="en-US" dirty="0"/>
              <a:t>请指出在该项目的开发过程中，配置管理方面存在的主要问题</a:t>
            </a:r>
            <a:r>
              <a:rPr lang="zh-CN" altLang="en-US" dirty="0" smtClean="0"/>
              <a:t>。（</a:t>
            </a:r>
            <a:r>
              <a:rPr lang="en-US" altLang="zh-CN" dirty="0"/>
              <a:t>8 </a:t>
            </a:r>
            <a:r>
              <a:rPr lang="zh-CN" altLang="en-US" dirty="0"/>
              <a:t>分）</a:t>
            </a:r>
          </a:p>
          <a:p>
            <a:r>
              <a:rPr lang="en-US" altLang="zh-CN" dirty="0" smtClean="0"/>
              <a:t>(1)</a:t>
            </a:r>
            <a:r>
              <a:rPr lang="zh-CN" altLang="en-US" dirty="0" smtClean="0"/>
              <a:t>没有</a:t>
            </a:r>
            <a:r>
              <a:rPr lang="zh-CN" altLang="en-US" dirty="0"/>
              <a:t>制定完整的配置管理计划，明确相关的规程、标准</a:t>
            </a:r>
            <a:r>
              <a:rPr lang="zh-CN" altLang="en-US" dirty="0" smtClean="0"/>
              <a:t>。</a:t>
            </a:r>
          </a:p>
          <a:p>
            <a:r>
              <a:rPr lang="en-US" altLang="zh-CN" dirty="0" smtClean="0"/>
              <a:t>(2)</a:t>
            </a:r>
            <a:r>
              <a:rPr lang="zh-CN" altLang="en-US" dirty="0" smtClean="0"/>
              <a:t>没有制定专人负责项目的配置管理。 </a:t>
            </a:r>
            <a:r>
              <a:rPr lang="en-US" altLang="zh-CN" dirty="0" smtClean="0"/>
              <a:t/>
            </a:r>
            <a:br>
              <a:rPr lang="en-US" altLang="zh-CN" dirty="0" smtClean="0"/>
            </a:br>
            <a:r>
              <a:rPr lang="en-US" altLang="zh-CN" dirty="0" smtClean="0"/>
              <a:t>(3) </a:t>
            </a:r>
            <a:r>
              <a:rPr lang="zh-CN" altLang="en-US" dirty="0" smtClean="0"/>
              <a:t>没有统一的变更流程。</a:t>
            </a:r>
          </a:p>
          <a:p>
            <a:r>
              <a:rPr lang="en-US" altLang="zh-CN" dirty="0" smtClean="0"/>
              <a:t>(</a:t>
            </a:r>
            <a:r>
              <a:rPr lang="en-US" altLang="zh-CN" dirty="0"/>
              <a:t>4) </a:t>
            </a:r>
            <a:r>
              <a:rPr lang="zh-CN" altLang="en-US" dirty="0"/>
              <a:t>需求变更后没能保证相关文档的一致性。</a:t>
            </a:r>
          </a:p>
          <a:p>
            <a:r>
              <a:rPr lang="en-US" altLang="zh-CN" dirty="0"/>
              <a:t>(5) </a:t>
            </a:r>
            <a:r>
              <a:rPr lang="zh-CN" altLang="en-US" dirty="0"/>
              <a:t>没有按照配置管理的要求建立开发库、受控库和产品库。</a:t>
            </a:r>
          </a:p>
          <a:p>
            <a:r>
              <a:rPr lang="en-US" altLang="zh-CN" dirty="0"/>
              <a:t>(6) </a:t>
            </a:r>
            <a:r>
              <a:rPr lang="zh-CN" altLang="en-US" dirty="0"/>
              <a:t>没能标识基线产品和管理基线产品。</a:t>
            </a:r>
          </a:p>
          <a:p>
            <a:r>
              <a:rPr lang="en-US" altLang="zh-CN" dirty="0"/>
              <a:t>(7) </a:t>
            </a:r>
            <a:r>
              <a:rPr lang="zh-CN" altLang="en-US" dirty="0"/>
              <a:t>版本管理混乱。</a:t>
            </a:r>
          </a:p>
          <a:p>
            <a:r>
              <a:rPr lang="en-US" altLang="zh-CN" dirty="0"/>
              <a:t>【</a:t>
            </a:r>
            <a:r>
              <a:rPr lang="zh-CN" altLang="en-US" dirty="0"/>
              <a:t>问题</a:t>
            </a:r>
            <a:r>
              <a:rPr lang="en-US" altLang="zh-CN" dirty="0"/>
              <a:t>2</a:t>
            </a:r>
            <a:r>
              <a:rPr lang="en-US" altLang="zh-CN" dirty="0" smtClean="0"/>
              <a:t>】</a:t>
            </a:r>
            <a:r>
              <a:rPr lang="zh-CN" altLang="en-US" dirty="0"/>
              <a:t>结合本案例，请列举配置项的内容</a:t>
            </a:r>
            <a:r>
              <a:rPr lang="zh-CN" altLang="en-US" dirty="0" smtClean="0"/>
              <a:t>。</a:t>
            </a:r>
            <a:r>
              <a:rPr lang="en-US" altLang="zh-CN" dirty="0" smtClean="0"/>
              <a:t> </a:t>
            </a:r>
            <a:r>
              <a:rPr lang="en-US" altLang="zh-CN" dirty="0"/>
              <a:t>(8</a:t>
            </a:r>
            <a:r>
              <a:rPr lang="zh-CN" altLang="en-US" dirty="0"/>
              <a:t>分</a:t>
            </a:r>
            <a:r>
              <a:rPr lang="en-US" altLang="zh-CN" dirty="0"/>
              <a:t>)</a:t>
            </a:r>
            <a:endParaRPr lang="zh-CN" altLang="en-US" dirty="0"/>
          </a:p>
          <a:p>
            <a:r>
              <a:rPr lang="en-US" altLang="zh-CN" dirty="0"/>
              <a:t>(1) </a:t>
            </a:r>
            <a:r>
              <a:rPr lang="zh-CN" altLang="en-US" dirty="0"/>
              <a:t>外部交付的软件产品和数据。</a:t>
            </a:r>
          </a:p>
          <a:p>
            <a:r>
              <a:rPr lang="en-US" altLang="zh-CN" dirty="0"/>
              <a:t>(2) </a:t>
            </a:r>
            <a:r>
              <a:rPr lang="zh-CN" altLang="en-US" dirty="0"/>
              <a:t>内部软件工作产品和数据。</a:t>
            </a:r>
          </a:p>
          <a:p>
            <a:r>
              <a:rPr lang="en-US" altLang="zh-CN" dirty="0"/>
              <a:t>(3) </a:t>
            </a:r>
            <a:r>
              <a:rPr lang="zh-CN" altLang="en-US" dirty="0"/>
              <a:t>各种文档</a:t>
            </a:r>
            <a:r>
              <a:rPr lang="en-US" altLang="zh-CN" dirty="0"/>
              <a:t>(</a:t>
            </a:r>
            <a:r>
              <a:rPr lang="zh-CN" altLang="en-US" dirty="0"/>
              <a:t>需求文档、设计文档、源代码等</a:t>
            </a:r>
            <a:r>
              <a:rPr lang="en-US" altLang="zh-CN" dirty="0"/>
              <a:t>)</a:t>
            </a:r>
            <a:r>
              <a:rPr lang="zh-CN" altLang="en-US" dirty="0"/>
              <a:t>。</a:t>
            </a:r>
          </a:p>
          <a:p>
            <a:r>
              <a:rPr lang="en-US" altLang="zh-CN" dirty="0"/>
              <a:t>(4) </a:t>
            </a:r>
            <a:r>
              <a:rPr lang="zh-CN" altLang="en-US" dirty="0"/>
              <a:t>可执行代码。</a:t>
            </a:r>
          </a:p>
          <a:p>
            <a:r>
              <a:rPr lang="en-US" altLang="zh-CN" dirty="0"/>
              <a:t>【</a:t>
            </a:r>
            <a:r>
              <a:rPr lang="zh-CN" altLang="en-US" dirty="0"/>
              <a:t>问题</a:t>
            </a:r>
            <a:r>
              <a:rPr lang="en-US" altLang="zh-CN" dirty="0"/>
              <a:t>3</a:t>
            </a:r>
            <a:r>
              <a:rPr lang="en-US" altLang="zh-CN" dirty="0" smtClean="0"/>
              <a:t>】</a:t>
            </a:r>
            <a:r>
              <a:rPr lang="zh-CN" altLang="en-US" dirty="0"/>
              <a:t>经与客户协商，为确保系统推广应用顺利，刘经理决定加强项目的配置管理，请简要回答刘经</a:t>
            </a:r>
          </a:p>
          <a:p>
            <a:r>
              <a:rPr lang="zh-CN" altLang="en-US" dirty="0"/>
              <a:t>理在配置管理方面的主要活动应有哪些</a:t>
            </a:r>
            <a:r>
              <a:rPr lang="zh-CN" altLang="en-US" dirty="0" smtClean="0"/>
              <a:t>。</a:t>
            </a:r>
            <a:r>
              <a:rPr lang="en-US" altLang="zh-CN" dirty="0" smtClean="0"/>
              <a:t>(</a:t>
            </a:r>
            <a:r>
              <a:rPr lang="en-US" altLang="zh-CN" dirty="0"/>
              <a:t>4</a:t>
            </a:r>
            <a:r>
              <a:rPr lang="zh-CN" altLang="en-US" dirty="0"/>
              <a:t>分</a:t>
            </a:r>
            <a:r>
              <a:rPr lang="en-US" altLang="zh-CN" dirty="0"/>
              <a:t>)</a:t>
            </a:r>
            <a:endParaRPr lang="zh-CN" altLang="en-US" dirty="0"/>
          </a:p>
          <a:p>
            <a:r>
              <a:rPr lang="en-US" altLang="zh-CN" dirty="0"/>
              <a:t>(1) </a:t>
            </a:r>
            <a:r>
              <a:rPr lang="zh-CN" altLang="en-US" dirty="0"/>
              <a:t>制定配置管理计划。</a:t>
            </a:r>
          </a:p>
          <a:p>
            <a:r>
              <a:rPr lang="en-US" altLang="zh-CN" dirty="0"/>
              <a:t>(2) </a:t>
            </a:r>
            <a:r>
              <a:rPr lang="zh-CN" altLang="en-US" dirty="0"/>
              <a:t>配置识别与建立基线。</a:t>
            </a:r>
          </a:p>
          <a:p>
            <a:r>
              <a:rPr lang="en-US" altLang="zh-CN" dirty="0"/>
              <a:t>(3) </a:t>
            </a:r>
            <a:r>
              <a:rPr lang="zh-CN" altLang="en-US" dirty="0"/>
              <a:t>建立配置管理系统。</a:t>
            </a:r>
          </a:p>
          <a:p>
            <a:r>
              <a:rPr lang="en-US" altLang="zh-CN" dirty="0"/>
              <a:t>(4) </a:t>
            </a:r>
            <a:r>
              <a:rPr lang="zh-CN" altLang="en-US" dirty="0"/>
              <a:t>版本管理。</a:t>
            </a:r>
          </a:p>
          <a:p>
            <a:r>
              <a:rPr lang="en-US" altLang="zh-CN" dirty="0"/>
              <a:t>(5) </a:t>
            </a:r>
            <a:r>
              <a:rPr lang="zh-CN" altLang="en-US" dirty="0"/>
              <a:t>配置状态报告。</a:t>
            </a:r>
          </a:p>
          <a:p>
            <a:r>
              <a:rPr lang="en-US" altLang="zh-CN" dirty="0"/>
              <a:t>(6) </a:t>
            </a:r>
            <a:r>
              <a:rPr lang="zh-CN" altLang="en-US" dirty="0"/>
              <a:t>配置审计。</a:t>
            </a:r>
          </a:p>
          <a:p>
            <a:endParaRPr lang="zh-CN" altLang="en-US" dirty="0"/>
          </a:p>
          <a:p>
            <a:endParaRPr lang="zh-CN" altLang="en-US" dirty="0"/>
          </a:p>
        </p:txBody>
      </p:sp>
    </p:spTree>
    <p:extLst>
      <p:ext uri="{BB962C8B-B14F-4D97-AF65-F5344CB8AC3E}">
        <p14:creationId xmlns:p14="http://schemas.microsoft.com/office/powerpoint/2010/main" val="3693163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6186309"/>
          </a:xfrm>
          <a:prstGeom prst="rect">
            <a:avLst/>
          </a:prstGeom>
        </p:spPr>
        <p:txBody>
          <a:bodyPr wrap="square">
            <a:spAutoFit/>
          </a:bodyPr>
          <a:lstStyle/>
          <a:p>
            <a:r>
              <a:rPr lang="en-US" altLang="zh-CN" dirty="0" smtClean="0"/>
              <a:t>7</a:t>
            </a:r>
            <a:r>
              <a:rPr lang="zh-CN" altLang="en-US" dirty="0"/>
              <a:t>、某项目由</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a:t>
            </a:r>
            <a:r>
              <a:rPr lang="en-US" altLang="zh-CN" dirty="0"/>
              <a:t>G</a:t>
            </a:r>
            <a:r>
              <a:rPr lang="zh-CN" altLang="en-US" dirty="0"/>
              <a:t>、</a:t>
            </a:r>
            <a:r>
              <a:rPr lang="en-US" altLang="zh-CN" dirty="0"/>
              <a:t>H</a:t>
            </a:r>
            <a:r>
              <a:rPr lang="zh-CN" altLang="en-US" dirty="0"/>
              <a:t>、</a:t>
            </a:r>
            <a:r>
              <a:rPr lang="en-US" altLang="zh-CN" dirty="0"/>
              <a:t>I </a:t>
            </a:r>
            <a:r>
              <a:rPr lang="zh-CN" altLang="en-US" dirty="0"/>
              <a:t>、</a:t>
            </a:r>
            <a:r>
              <a:rPr lang="en-US" altLang="zh-CN" dirty="0"/>
              <a:t>J </a:t>
            </a:r>
            <a:r>
              <a:rPr lang="zh-CN" altLang="en-US" dirty="0"/>
              <a:t>共 </a:t>
            </a:r>
            <a:r>
              <a:rPr lang="en-US" altLang="zh-CN" dirty="0"/>
              <a:t>10</a:t>
            </a:r>
            <a:r>
              <a:rPr lang="zh-CN" altLang="en-US" dirty="0"/>
              <a:t>个工作包组成，项目计划执行时间为</a:t>
            </a:r>
            <a:r>
              <a:rPr lang="en-US" altLang="zh-CN" dirty="0"/>
              <a:t>5 </a:t>
            </a:r>
            <a:r>
              <a:rPr lang="zh-CN" altLang="en-US" dirty="0"/>
              <a:t>个月</a:t>
            </a:r>
            <a:r>
              <a:rPr lang="zh-CN" altLang="en-US" dirty="0" smtClean="0"/>
              <a:t>，在</a:t>
            </a:r>
            <a:r>
              <a:rPr lang="zh-CN" altLang="en-US" dirty="0"/>
              <a:t>项目执行到第</a:t>
            </a:r>
            <a:r>
              <a:rPr lang="en-US" altLang="zh-CN" dirty="0"/>
              <a:t>3 </a:t>
            </a:r>
            <a:r>
              <a:rPr lang="zh-CN" altLang="en-US" dirty="0"/>
              <a:t>个月末的时候，公司对项目进行了检查，检查结果如下表所示（假设项目</a:t>
            </a:r>
            <a:r>
              <a:rPr lang="zh-CN" altLang="en-US" dirty="0" smtClean="0"/>
              <a:t>工作量</a:t>
            </a:r>
            <a:r>
              <a:rPr lang="zh-CN" altLang="en-US" dirty="0"/>
              <a:t>在计划期内均匀分布）。 </a:t>
            </a:r>
            <a:endParaRPr lang="en-US" altLang="zh-CN" dirty="0" smtClean="0"/>
          </a:p>
          <a:p>
            <a:endParaRPr lang="en-US" altLang="zh-CN" dirty="0"/>
          </a:p>
          <a:p>
            <a:r>
              <a:rPr lang="zh-CN" altLang="en-US" dirty="0" smtClean="0"/>
              <a:t>   </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a:t>
            </a:r>
            <a:r>
              <a:rPr lang="zh-CN" altLang="en-US" dirty="0"/>
              <a:t>问题</a:t>
            </a:r>
            <a:r>
              <a:rPr lang="en-US" altLang="zh-CN" dirty="0"/>
              <a:t>1】 </a:t>
            </a:r>
            <a:r>
              <a:rPr lang="zh-CN" altLang="en-US" dirty="0"/>
              <a:t>（</a:t>
            </a:r>
            <a:r>
              <a:rPr lang="en-US" altLang="zh-CN" dirty="0"/>
              <a:t>4 </a:t>
            </a:r>
            <a:r>
              <a:rPr lang="zh-CN" altLang="en-US" dirty="0"/>
              <a:t>分）</a:t>
            </a:r>
          </a:p>
          <a:p>
            <a:r>
              <a:rPr lang="zh-CN" altLang="en-US" dirty="0"/>
              <a:t>计算到目前为止，项目的</a:t>
            </a:r>
            <a:r>
              <a:rPr lang="en-US" altLang="zh-CN" dirty="0"/>
              <a:t>PV</a:t>
            </a:r>
            <a:r>
              <a:rPr lang="zh-CN" altLang="en-US" dirty="0"/>
              <a:t>、</a:t>
            </a:r>
            <a:r>
              <a:rPr lang="en-US" altLang="zh-CN" dirty="0"/>
              <a:t>EV</a:t>
            </a:r>
            <a:r>
              <a:rPr lang="zh-CN" altLang="en-US" dirty="0"/>
              <a:t>分别为多少？</a:t>
            </a:r>
          </a:p>
          <a:p>
            <a:r>
              <a:rPr lang="en-US" altLang="zh-CN" dirty="0"/>
              <a:t>【</a:t>
            </a:r>
            <a:r>
              <a:rPr lang="zh-CN" altLang="en-US" dirty="0"/>
              <a:t>问题</a:t>
            </a:r>
            <a:r>
              <a:rPr lang="en-US" altLang="zh-CN" dirty="0"/>
              <a:t>2】</a:t>
            </a:r>
            <a:r>
              <a:rPr lang="zh-CN" altLang="en-US" dirty="0"/>
              <a:t>（</a:t>
            </a:r>
            <a:r>
              <a:rPr lang="en-US" altLang="zh-CN" dirty="0"/>
              <a:t>11</a:t>
            </a:r>
            <a:r>
              <a:rPr lang="zh-CN" altLang="en-US" dirty="0"/>
              <a:t>分）</a:t>
            </a:r>
          </a:p>
          <a:p>
            <a:r>
              <a:rPr lang="zh-CN" altLang="en-US" dirty="0"/>
              <a:t>假设该项目到目前为止已支付</a:t>
            </a:r>
            <a:r>
              <a:rPr lang="en-US" altLang="zh-CN" dirty="0"/>
              <a:t>80</a:t>
            </a:r>
            <a:r>
              <a:rPr lang="zh-CN" altLang="en-US" dirty="0"/>
              <a:t>万元，请计算项目的</a:t>
            </a:r>
            <a:r>
              <a:rPr lang="en-US" altLang="zh-CN" dirty="0"/>
              <a:t>CPI</a:t>
            </a:r>
            <a:r>
              <a:rPr lang="zh-CN" altLang="en-US" dirty="0"/>
              <a:t>和 </a:t>
            </a:r>
            <a:r>
              <a:rPr lang="en-US" altLang="zh-CN" dirty="0"/>
              <a:t>S P I,</a:t>
            </a:r>
            <a:r>
              <a:rPr lang="zh-CN" altLang="en-US" dirty="0"/>
              <a:t>并指出项目整体的成本和进</a:t>
            </a:r>
          </a:p>
          <a:p>
            <a:r>
              <a:rPr lang="zh-CN" altLang="en-US" dirty="0"/>
              <a:t>度执行情况以及项目中哪些工作包落后于计划进度，哪些工作包超前于计划进度。</a:t>
            </a:r>
          </a:p>
          <a:p>
            <a:r>
              <a:rPr lang="en-US" altLang="zh-CN" dirty="0"/>
              <a:t>【</a:t>
            </a:r>
            <a:r>
              <a:rPr lang="zh-CN" altLang="en-US" dirty="0"/>
              <a:t>问题</a:t>
            </a:r>
            <a:r>
              <a:rPr lang="en-US" altLang="zh-CN" dirty="0"/>
              <a:t>3】 </a:t>
            </a:r>
            <a:r>
              <a:rPr lang="zh-CN" altLang="en-US" dirty="0"/>
              <a:t>（</a:t>
            </a:r>
            <a:r>
              <a:rPr lang="en-US" altLang="zh-CN" dirty="0"/>
              <a:t>10</a:t>
            </a:r>
            <a:r>
              <a:rPr lang="zh-CN" altLang="en-US" dirty="0"/>
              <a:t>分）</a:t>
            </a:r>
          </a:p>
          <a:p>
            <a:r>
              <a:rPr lang="zh-CN" altLang="en-US" dirty="0"/>
              <a:t>如果项目的当前状态代表了项目未来的执行情况，预测项目未来的结束时间和总成本。并针对</a:t>
            </a:r>
          </a:p>
          <a:p>
            <a:r>
              <a:rPr lang="zh-CN" altLang="en-US" dirty="0"/>
              <a:t>项目目前的状况，提出相应的应对措施。</a:t>
            </a:r>
          </a:p>
          <a:p>
            <a:r>
              <a:rPr lang="zh-CN" altLang="en-US" dirty="0" smtClean="0"/>
              <a:t> </a:t>
            </a:r>
            <a:endParaRPr lang="zh-CN" altLang="en-US" dirty="0"/>
          </a:p>
        </p:txBody>
      </p:sp>
      <p:pic>
        <p:nvPicPr>
          <p:cNvPr id="2" name="图片 1"/>
          <p:cNvPicPr>
            <a:picLocks noChangeAspect="1"/>
          </p:cNvPicPr>
          <p:nvPr/>
        </p:nvPicPr>
        <p:blipFill>
          <a:blip r:embed="rId2"/>
          <a:stretch>
            <a:fillRect/>
          </a:stretch>
        </p:blipFill>
        <p:spPr>
          <a:xfrm>
            <a:off x="4754081" y="811622"/>
            <a:ext cx="7143750" cy="3228975"/>
          </a:xfrm>
          <a:prstGeom prst="rect">
            <a:avLst/>
          </a:prstGeom>
        </p:spPr>
      </p:pic>
    </p:spTree>
    <p:extLst>
      <p:ext uri="{BB962C8B-B14F-4D97-AF65-F5344CB8AC3E}">
        <p14:creationId xmlns:p14="http://schemas.microsoft.com/office/powerpoint/2010/main" val="2770888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7571303"/>
          </a:xfrm>
          <a:prstGeom prst="rect">
            <a:avLst/>
          </a:prstGeom>
        </p:spPr>
        <p:txBody>
          <a:bodyPr wrap="square">
            <a:spAutoFit/>
          </a:bodyPr>
          <a:lstStyle/>
          <a:p>
            <a:r>
              <a:rPr lang="en-US" altLang="zh-CN" dirty="0" smtClean="0"/>
              <a:t>7</a:t>
            </a:r>
            <a:r>
              <a:rPr lang="zh-CN" altLang="en-US" dirty="0" smtClean="0"/>
              <a:t>、</a:t>
            </a:r>
            <a:r>
              <a:rPr lang="en-US" altLang="zh-CN" dirty="0"/>
              <a:t> </a:t>
            </a:r>
            <a:r>
              <a:rPr lang="en-US" altLang="zh-CN" dirty="0">
                <a:solidFill>
                  <a:srgbClr val="FF0000"/>
                </a:solidFill>
              </a:rPr>
              <a:t>【</a:t>
            </a:r>
            <a:r>
              <a:rPr lang="zh-CN" altLang="en-US" dirty="0">
                <a:solidFill>
                  <a:srgbClr val="FF0000"/>
                </a:solidFill>
              </a:rPr>
              <a:t>问题</a:t>
            </a:r>
            <a:r>
              <a:rPr lang="en-US" altLang="zh-CN" dirty="0">
                <a:solidFill>
                  <a:srgbClr val="FF0000"/>
                </a:solidFill>
              </a:rPr>
              <a:t>1】 </a:t>
            </a:r>
            <a:r>
              <a:rPr lang="zh-CN" altLang="en-US" dirty="0" smtClean="0"/>
              <a:t>：</a:t>
            </a:r>
            <a:endParaRPr lang="en-US" altLang="zh-CN" dirty="0" smtClean="0"/>
          </a:p>
          <a:p>
            <a:r>
              <a:rPr lang="en-US" altLang="zh-CN" dirty="0" smtClean="0"/>
              <a:t>PV = 12+8+16+6+3+20=65</a:t>
            </a:r>
          </a:p>
          <a:p>
            <a:r>
              <a:rPr lang="en-US" altLang="zh-CN" dirty="0" smtClean="0"/>
              <a:t>EV = 12+8+20+10*0.75+3*0.75+40*0.5+3*0.5+3*0.5+2*0.25+4*0.25=74.25</a:t>
            </a:r>
            <a:br>
              <a:rPr lang="en-US" altLang="zh-CN" dirty="0" smtClean="0"/>
            </a:br>
            <a:r>
              <a:rPr lang="en-US" altLang="zh-CN" dirty="0">
                <a:solidFill>
                  <a:srgbClr val="FF0000"/>
                </a:solidFill>
              </a:rPr>
              <a:t>【</a:t>
            </a:r>
            <a:r>
              <a:rPr lang="zh-CN" altLang="en-US" dirty="0">
                <a:solidFill>
                  <a:srgbClr val="FF0000"/>
                </a:solidFill>
              </a:rPr>
              <a:t>问题</a:t>
            </a:r>
            <a:r>
              <a:rPr lang="en-US" altLang="zh-CN" dirty="0">
                <a:solidFill>
                  <a:srgbClr val="FF0000"/>
                </a:solidFill>
              </a:rPr>
              <a:t>2】</a:t>
            </a:r>
            <a:r>
              <a:rPr lang="zh-CN" altLang="en-US" dirty="0"/>
              <a:t>假设该项目到目前为止已支付</a:t>
            </a:r>
            <a:r>
              <a:rPr lang="en-US" altLang="zh-CN" dirty="0"/>
              <a:t>80</a:t>
            </a:r>
            <a:r>
              <a:rPr lang="zh-CN" altLang="en-US" dirty="0"/>
              <a:t>万元，请计算项目的</a:t>
            </a:r>
            <a:r>
              <a:rPr lang="en-US" altLang="zh-CN" dirty="0"/>
              <a:t>CPI</a:t>
            </a:r>
            <a:r>
              <a:rPr lang="zh-CN" altLang="en-US" dirty="0"/>
              <a:t>和 </a:t>
            </a:r>
            <a:r>
              <a:rPr lang="en-US" altLang="zh-CN" dirty="0"/>
              <a:t>S P I,</a:t>
            </a:r>
            <a:r>
              <a:rPr lang="zh-CN" altLang="en-US" dirty="0"/>
              <a:t>并指出项目整体的成本和进</a:t>
            </a:r>
          </a:p>
          <a:p>
            <a:r>
              <a:rPr lang="zh-CN" altLang="en-US" dirty="0"/>
              <a:t>度执行情况以及项目中哪些工作包落后于计划进度，哪些工作包超前于计划</a:t>
            </a:r>
            <a:r>
              <a:rPr lang="zh-CN" altLang="en-US" dirty="0" smtClean="0"/>
              <a:t>进度</a:t>
            </a:r>
            <a:endParaRPr lang="en-US" altLang="zh-CN" dirty="0"/>
          </a:p>
          <a:p>
            <a:r>
              <a:rPr lang="en-US" altLang="zh-CN" dirty="0" smtClean="0"/>
              <a:t> CPI=EV/AC=74.2/80=0.93</a:t>
            </a:r>
          </a:p>
          <a:p>
            <a:r>
              <a:rPr lang="en-US" altLang="zh-CN" dirty="0" smtClean="0"/>
              <a:t> SPI=EV/PV=74.2/65 = 1</a:t>
            </a:r>
            <a:r>
              <a:rPr lang="en-US" altLang="zh-CN" dirty="0"/>
              <a:t>. </a:t>
            </a:r>
            <a:r>
              <a:rPr lang="en-US" altLang="zh-CN" dirty="0" smtClean="0"/>
              <a:t>14</a:t>
            </a:r>
            <a:endParaRPr lang="zh-CN" altLang="en-US" dirty="0"/>
          </a:p>
          <a:p>
            <a:r>
              <a:rPr lang="zh-CN" altLang="en-US" dirty="0" smtClean="0"/>
              <a:t> 说明：项目</a:t>
            </a:r>
            <a:r>
              <a:rPr lang="zh-CN" altLang="en-US" dirty="0"/>
              <a:t>成本超支，进度提前计划。</a:t>
            </a:r>
          </a:p>
          <a:p>
            <a:r>
              <a:rPr lang="zh-CN" altLang="en-US" dirty="0"/>
              <a:t>工作包</a:t>
            </a:r>
            <a:r>
              <a:rPr lang="en-US" altLang="zh-CN" dirty="0"/>
              <a:t>E</a:t>
            </a:r>
            <a:r>
              <a:rPr lang="zh-CN" altLang="en-US" dirty="0"/>
              <a:t>落后于进度。</a:t>
            </a:r>
          </a:p>
          <a:p>
            <a:r>
              <a:rPr lang="zh-CN" altLang="en-US" dirty="0"/>
              <a:t>工作包</a:t>
            </a:r>
            <a:r>
              <a:rPr lang="en-US" altLang="zh-CN" dirty="0"/>
              <a:t>C</a:t>
            </a:r>
            <a:r>
              <a:rPr lang="zh-CN" altLang="en-US" dirty="0"/>
              <a:t>、</a:t>
            </a:r>
            <a:r>
              <a:rPr lang="en-US" altLang="zh-CN" dirty="0"/>
              <a:t>D</a:t>
            </a:r>
            <a:r>
              <a:rPr lang="zh-CN" altLang="en-US" dirty="0"/>
              <a:t>、</a:t>
            </a:r>
            <a:r>
              <a:rPr lang="en-US" altLang="zh-CN" dirty="0"/>
              <a:t>G</a:t>
            </a:r>
            <a:r>
              <a:rPr lang="zh-CN" altLang="en-US" dirty="0"/>
              <a:t>、</a:t>
            </a:r>
            <a:r>
              <a:rPr lang="en-US" altLang="zh-CN" dirty="0"/>
              <a:t>H</a:t>
            </a:r>
            <a:r>
              <a:rPr lang="zh-CN" altLang="en-US" dirty="0"/>
              <a:t>、</a:t>
            </a:r>
            <a:r>
              <a:rPr lang="en-US" altLang="zh-CN" dirty="0"/>
              <a:t>I </a:t>
            </a:r>
            <a:r>
              <a:rPr lang="zh-CN" altLang="en-US" dirty="0"/>
              <a:t>、</a:t>
            </a:r>
            <a:r>
              <a:rPr lang="en-US" altLang="zh-CN" dirty="0"/>
              <a:t>J </a:t>
            </a:r>
            <a:r>
              <a:rPr lang="zh-CN" altLang="en-US" dirty="0"/>
              <a:t>提前于原计划。</a:t>
            </a:r>
          </a:p>
          <a:p>
            <a:r>
              <a:rPr lang="en-US" altLang="zh-CN" dirty="0" smtClean="0">
                <a:solidFill>
                  <a:srgbClr val="FF0000"/>
                </a:solidFill>
              </a:rPr>
              <a:t>【</a:t>
            </a:r>
            <a:r>
              <a:rPr lang="zh-CN" altLang="en-US" dirty="0">
                <a:solidFill>
                  <a:srgbClr val="FF0000"/>
                </a:solidFill>
              </a:rPr>
              <a:t>问题</a:t>
            </a:r>
            <a:r>
              <a:rPr lang="en-US" altLang="zh-CN" dirty="0">
                <a:solidFill>
                  <a:srgbClr val="FF0000"/>
                </a:solidFill>
              </a:rPr>
              <a:t>3】 </a:t>
            </a:r>
            <a:r>
              <a:rPr lang="zh-CN" altLang="en-US" dirty="0" smtClean="0"/>
              <a:t>如果</a:t>
            </a:r>
            <a:r>
              <a:rPr lang="zh-CN" altLang="en-US" dirty="0"/>
              <a:t>项目的当前状态代表了项目未来的执行情况</a:t>
            </a:r>
            <a:r>
              <a:rPr lang="zh-CN" altLang="en-US" dirty="0" smtClean="0"/>
              <a:t>，</a:t>
            </a:r>
            <a:endParaRPr lang="en-US" altLang="zh-CN" dirty="0" smtClean="0"/>
          </a:p>
          <a:p>
            <a:r>
              <a:rPr lang="zh-CN" altLang="en-US" dirty="0" smtClean="0"/>
              <a:t>预测</a:t>
            </a:r>
            <a:r>
              <a:rPr lang="zh-CN" altLang="en-US" dirty="0"/>
              <a:t>项目未来的结束时间</a:t>
            </a:r>
            <a:r>
              <a:rPr lang="zh-CN" altLang="en-US" dirty="0" smtClean="0"/>
              <a:t>和完工尚需成本</a:t>
            </a:r>
            <a:r>
              <a:rPr lang="zh-CN" altLang="en-US" dirty="0"/>
              <a:t>。并针对</a:t>
            </a:r>
          </a:p>
          <a:p>
            <a:r>
              <a:rPr lang="zh-CN" altLang="en-US" dirty="0"/>
              <a:t>项目目前的状况，提出相应的应对措施</a:t>
            </a:r>
            <a:r>
              <a:rPr lang="zh-CN" altLang="en-US" dirty="0" smtClean="0"/>
              <a:t>。</a:t>
            </a:r>
            <a:endParaRPr lang="en-US" altLang="zh-CN" dirty="0" smtClean="0"/>
          </a:p>
          <a:p>
            <a:r>
              <a:rPr lang="en-US" altLang="zh-CN" dirty="0" smtClean="0"/>
              <a:t>BAC =  12+8+20+10+3+40+3+3+2+4 =  105 </a:t>
            </a:r>
            <a:r>
              <a:rPr lang="zh-CN" altLang="en-US" dirty="0"/>
              <a:t>万</a:t>
            </a:r>
            <a:r>
              <a:rPr lang="zh-CN" altLang="en-US" dirty="0" smtClean="0"/>
              <a:t>。 </a:t>
            </a:r>
            <a:endParaRPr lang="en-US" altLang="zh-CN" dirty="0" smtClean="0"/>
          </a:p>
          <a:p>
            <a:r>
              <a:rPr lang="en-US" altLang="zh-CN" dirty="0" smtClean="0"/>
              <a:t>ETC  = </a:t>
            </a:r>
            <a:r>
              <a:rPr lang="zh-CN" altLang="en-US" dirty="0" smtClean="0"/>
              <a:t>（</a:t>
            </a:r>
            <a:r>
              <a:rPr lang="en-US" altLang="zh-CN" dirty="0" smtClean="0"/>
              <a:t>BAC-EV</a:t>
            </a:r>
            <a:r>
              <a:rPr lang="zh-CN" altLang="en-US" dirty="0"/>
              <a:t>）</a:t>
            </a:r>
            <a:r>
              <a:rPr lang="en-US" altLang="zh-CN" dirty="0"/>
              <a:t>/CPI </a:t>
            </a:r>
            <a:r>
              <a:rPr lang="en-US" altLang="zh-CN" dirty="0" smtClean="0"/>
              <a:t>= </a:t>
            </a:r>
            <a:r>
              <a:rPr lang="zh-CN" altLang="en-US" dirty="0" smtClean="0"/>
              <a:t>（</a:t>
            </a:r>
            <a:r>
              <a:rPr lang="en-US" altLang="zh-CN" dirty="0" smtClean="0"/>
              <a:t>105-74.25</a:t>
            </a:r>
            <a:r>
              <a:rPr lang="zh-CN" altLang="en-US" dirty="0" smtClean="0"/>
              <a:t>）</a:t>
            </a:r>
            <a:r>
              <a:rPr lang="en-US" altLang="zh-CN" dirty="0" smtClean="0"/>
              <a:t>/0.93 = 33.12</a:t>
            </a:r>
            <a:r>
              <a:rPr lang="zh-CN" altLang="en-US" dirty="0" smtClean="0"/>
              <a:t>。</a:t>
            </a:r>
            <a:endParaRPr lang="en-US" altLang="zh-CN" dirty="0" smtClean="0"/>
          </a:p>
          <a:p>
            <a:r>
              <a:rPr lang="zh-CN" altLang="en-US" dirty="0"/>
              <a:t>项目结束</a:t>
            </a:r>
            <a:r>
              <a:rPr lang="zh-CN" altLang="en-US" dirty="0" smtClean="0"/>
              <a:t>时间 </a:t>
            </a:r>
            <a:r>
              <a:rPr lang="en-US" altLang="zh-CN" dirty="0" smtClean="0"/>
              <a:t>= </a:t>
            </a:r>
            <a:r>
              <a:rPr lang="zh-CN" altLang="en-US" dirty="0" smtClean="0"/>
              <a:t>总预算</a:t>
            </a:r>
            <a:r>
              <a:rPr lang="zh-CN" altLang="en-US" dirty="0"/>
              <a:t>工期</a:t>
            </a:r>
            <a:r>
              <a:rPr lang="en-US" altLang="zh-CN" dirty="0"/>
              <a:t>/</a:t>
            </a:r>
            <a:r>
              <a:rPr lang="en-US" altLang="zh-CN" dirty="0" smtClean="0"/>
              <a:t>SPI=5/</a:t>
            </a:r>
            <a:r>
              <a:rPr lang="en-US" altLang="zh-CN" dirty="0"/>
              <a:t>1. </a:t>
            </a:r>
            <a:r>
              <a:rPr lang="en-US" altLang="zh-CN" dirty="0" smtClean="0"/>
              <a:t>14 = 4</a:t>
            </a:r>
            <a:r>
              <a:rPr lang="en-US" altLang="zh-CN" dirty="0"/>
              <a:t>. </a:t>
            </a:r>
            <a:r>
              <a:rPr lang="en-US" altLang="zh-CN" dirty="0" smtClean="0"/>
              <a:t>39</a:t>
            </a:r>
            <a:r>
              <a:rPr lang="zh-CN" altLang="en-US" dirty="0" smtClean="0"/>
              <a:t>月</a:t>
            </a:r>
            <a:endParaRPr lang="zh-CN" altLang="en-US" dirty="0"/>
          </a:p>
          <a:p>
            <a:r>
              <a:rPr lang="zh-CN" altLang="en-US" dirty="0"/>
              <a:t>鉴于目前项目进度超前，成本超支，所以项目组应首先采取成本节约措施，具体包括</a:t>
            </a:r>
            <a:r>
              <a:rPr lang="en-US" altLang="zh-CN" dirty="0"/>
              <a:t>:</a:t>
            </a:r>
            <a:endParaRPr lang="zh-CN" altLang="en-US" dirty="0"/>
          </a:p>
          <a:p>
            <a:r>
              <a:rPr lang="zh-CN" altLang="en-US" dirty="0"/>
              <a:t>（</a:t>
            </a:r>
            <a:r>
              <a:rPr lang="en-US" altLang="zh-CN" dirty="0"/>
              <a:t>1</a:t>
            </a:r>
            <a:r>
              <a:rPr lang="zh-CN" altLang="en-US" dirty="0"/>
              <a:t>） 关注成本超支较严重的工作。</a:t>
            </a:r>
          </a:p>
          <a:p>
            <a:r>
              <a:rPr lang="zh-CN" altLang="en-US" dirty="0"/>
              <a:t>（</a:t>
            </a:r>
            <a:r>
              <a:rPr lang="en-US" altLang="zh-CN" dirty="0"/>
              <a:t>2</a:t>
            </a:r>
            <a:r>
              <a:rPr lang="zh-CN" altLang="en-US" dirty="0"/>
              <a:t>） 对成本的支出进行细化分析，找出成本超支的原因。</a:t>
            </a:r>
          </a:p>
          <a:p>
            <a:r>
              <a:rPr lang="zh-CN" altLang="en-US" dirty="0"/>
              <a:t>（</a:t>
            </a:r>
            <a:r>
              <a:rPr lang="en-US" altLang="zh-CN" dirty="0"/>
              <a:t>3</a:t>
            </a:r>
            <a:r>
              <a:rPr lang="zh-CN" altLang="en-US" dirty="0"/>
              <a:t>） 针对不同的原因，采取对应的措施。例如：</a:t>
            </a:r>
          </a:p>
          <a:p>
            <a:r>
              <a:rPr lang="en-US" altLang="zh-CN" dirty="0"/>
              <a:t>1</a:t>
            </a:r>
            <a:r>
              <a:rPr lang="zh-CN" altLang="en-US" dirty="0"/>
              <a:t>） 减少不必要的工作。</a:t>
            </a:r>
          </a:p>
          <a:p>
            <a:r>
              <a:rPr lang="en-US" altLang="zh-CN" dirty="0"/>
              <a:t>2</a:t>
            </a:r>
            <a:r>
              <a:rPr lang="zh-CN" altLang="en-US" dirty="0"/>
              <a:t>） 优化工作流程，提高效率。</a:t>
            </a:r>
          </a:p>
          <a:p>
            <a:r>
              <a:rPr lang="en-US" altLang="zh-CN" dirty="0"/>
              <a:t>3</a:t>
            </a:r>
            <a:r>
              <a:rPr lang="zh-CN" altLang="en-US" dirty="0"/>
              <a:t>） 削减不必要的资源。</a:t>
            </a:r>
          </a:p>
          <a:p>
            <a:r>
              <a:rPr lang="en-US" altLang="zh-CN" dirty="0"/>
              <a:t>4</a:t>
            </a:r>
            <a:r>
              <a:rPr lang="zh-CN" altLang="en-US" dirty="0"/>
              <a:t>） 定期对项目的成本绩效进行评估，及时按情况进行调整。</a:t>
            </a:r>
          </a:p>
          <a:p>
            <a:endParaRPr lang="zh-CN" altLang="en-US" dirty="0"/>
          </a:p>
          <a:p>
            <a:endParaRPr lang="zh-CN" altLang="en-US" dirty="0"/>
          </a:p>
          <a:p>
            <a:r>
              <a:rPr lang="zh-CN" altLang="en-US" dirty="0" smtClean="0"/>
              <a:t> </a:t>
            </a:r>
            <a:endParaRPr lang="zh-CN" altLang="en-US" dirty="0"/>
          </a:p>
        </p:txBody>
      </p:sp>
      <p:pic>
        <p:nvPicPr>
          <p:cNvPr id="2" name="图片 1"/>
          <p:cNvPicPr>
            <a:picLocks noChangeAspect="1"/>
          </p:cNvPicPr>
          <p:nvPr/>
        </p:nvPicPr>
        <p:blipFill>
          <a:blip r:embed="rId2"/>
          <a:stretch>
            <a:fillRect/>
          </a:stretch>
        </p:blipFill>
        <p:spPr>
          <a:xfrm>
            <a:off x="6085616" y="1822901"/>
            <a:ext cx="5982150" cy="2703932"/>
          </a:xfrm>
          <a:prstGeom prst="rect">
            <a:avLst/>
          </a:prstGeom>
        </p:spPr>
      </p:pic>
    </p:spTree>
    <p:extLst>
      <p:ext uri="{BB962C8B-B14F-4D97-AF65-F5344CB8AC3E}">
        <p14:creationId xmlns:p14="http://schemas.microsoft.com/office/powerpoint/2010/main" val="826080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7848302"/>
          </a:xfrm>
          <a:prstGeom prst="rect">
            <a:avLst/>
          </a:prstGeom>
        </p:spPr>
        <p:txBody>
          <a:bodyPr wrap="square">
            <a:spAutoFit/>
          </a:bodyPr>
          <a:lstStyle/>
          <a:p>
            <a:r>
              <a:rPr lang="en-US" altLang="zh-CN" dirty="0" smtClean="0"/>
              <a:t>8</a:t>
            </a:r>
            <a:r>
              <a:rPr lang="zh-CN" altLang="en-US" dirty="0" smtClean="0"/>
              <a:t>、</a:t>
            </a:r>
            <a:r>
              <a:rPr lang="zh-CN" altLang="en-US" dirty="0"/>
              <a:t>乙公司是一家信息技术公司，主要从事信息系统集成和软件开发业务。该公司</a:t>
            </a:r>
            <a:r>
              <a:rPr lang="zh-CN" altLang="en-US" dirty="0">
                <a:solidFill>
                  <a:srgbClr val="FF0000"/>
                </a:solidFill>
              </a:rPr>
              <a:t>通过员工王工</a:t>
            </a:r>
            <a:r>
              <a:rPr lang="zh-CN" altLang="en-US" dirty="0" smtClean="0">
                <a:solidFill>
                  <a:srgbClr val="FF0000"/>
                </a:solidFill>
              </a:rPr>
              <a:t>的介绍</a:t>
            </a:r>
            <a:r>
              <a:rPr lang="zh-CN" altLang="en-US" dirty="0"/>
              <a:t>与甲公司签订了大型系统开发合同，</a:t>
            </a:r>
            <a:r>
              <a:rPr lang="zh-CN" altLang="en-US" dirty="0">
                <a:solidFill>
                  <a:srgbClr val="FF0000"/>
                </a:solidFill>
              </a:rPr>
              <a:t>合同金额</a:t>
            </a:r>
            <a:r>
              <a:rPr lang="en-US" altLang="zh-CN" dirty="0">
                <a:solidFill>
                  <a:srgbClr val="FF0000"/>
                </a:solidFill>
              </a:rPr>
              <a:t>650</a:t>
            </a:r>
            <a:r>
              <a:rPr lang="zh-CN" altLang="en-US" dirty="0">
                <a:solidFill>
                  <a:srgbClr val="FF0000"/>
                </a:solidFill>
              </a:rPr>
              <a:t>万元，工期</a:t>
            </a:r>
            <a:r>
              <a:rPr lang="en-US" altLang="zh-CN" dirty="0">
                <a:solidFill>
                  <a:srgbClr val="FF0000"/>
                </a:solidFill>
              </a:rPr>
              <a:t>11</a:t>
            </a:r>
            <a:r>
              <a:rPr lang="zh-CN" altLang="en-US" dirty="0">
                <a:solidFill>
                  <a:srgbClr val="FF0000"/>
                </a:solidFill>
              </a:rPr>
              <a:t>个月</a:t>
            </a:r>
            <a:r>
              <a:rPr lang="zh-CN" altLang="en-US" dirty="0"/>
              <a:t>。该项目主要为甲</a:t>
            </a:r>
            <a:r>
              <a:rPr lang="zh-CN" altLang="en-US" dirty="0" smtClean="0"/>
              <a:t>公司</a:t>
            </a:r>
            <a:r>
              <a:rPr lang="zh-CN" altLang="en-US" dirty="0"/>
              <a:t>开发一套综合管理系统，并要求新系统要与现有生产管理系统、财务管理系统连通，以</a:t>
            </a:r>
            <a:r>
              <a:rPr lang="zh-CN" altLang="en-US" dirty="0" smtClean="0"/>
              <a:t>帮助甲</a:t>
            </a:r>
            <a:r>
              <a:rPr lang="zh-CN" altLang="en-US" dirty="0"/>
              <a:t>公司落实两化（信息化和工业化）深度融合的战略部署，提升甲公司的核心竞争力。甲</a:t>
            </a:r>
            <a:r>
              <a:rPr lang="zh-CN" altLang="en-US" dirty="0" smtClean="0"/>
              <a:t>公司指派</a:t>
            </a:r>
            <a:r>
              <a:rPr lang="zh-CN" altLang="en-US" dirty="0"/>
              <a:t>信息技术中心的赵主任负责该项目。</a:t>
            </a:r>
          </a:p>
          <a:p>
            <a:r>
              <a:rPr lang="zh-CN" altLang="en-US" dirty="0" smtClean="0"/>
              <a:t>      项目</a:t>
            </a:r>
            <a:r>
              <a:rPr lang="zh-CN" altLang="en-US" dirty="0"/>
              <a:t>启动时，乙公司领导安排王工担任此项目的项目经理。王工自己按照公司项目章程模板</a:t>
            </a:r>
            <a:r>
              <a:rPr lang="zh-CN" altLang="en-US" dirty="0" smtClean="0"/>
              <a:t>撰</a:t>
            </a:r>
            <a:r>
              <a:rPr lang="zh-CN" altLang="en-US" dirty="0"/>
              <a:t>写项目章程，进入了下一个过程。新撰写的项目章程内容包括：质量控制人员、项目组织</a:t>
            </a:r>
            <a:r>
              <a:rPr lang="zh-CN" altLang="en-US" dirty="0" smtClean="0"/>
              <a:t>结构</a:t>
            </a:r>
            <a:r>
              <a:rPr lang="zh-CN" altLang="en-US" dirty="0"/>
              <a:t>、项目基本需求、项目完工日期。</a:t>
            </a:r>
          </a:p>
          <a:p>
            <a:r>
              <a:rPr lang="zh-CN" altLang="en-US" dirty="0" smtClean="0"/>
              <a:t>      同时</a:t>
            </a:r>
            <a:r>
              <a:rPr lang="zh-CN" altLang="en-US" dirty="0"/>
              <a:t>为了保证项目质量，王工亲自撰写了初步的项目范围说明书。王工依据以前公司的经验</a:t>
            </a:r>
            <a:r>
              <a:rPr lang="zh-CN" altLang="en-US" dirty="0" smtClean="0"/>
              <a:t>撰写</a:t>
            </a:r>
            <a:r>
              <a:rPr lang="zh-CN" altLang="en-US" dirty="0"/>
              <a:t>的初步的项目范围说明书内容包括：</a:t>
            </a:r>
            <a:r>
              <a:rPr lang="zh-CN" altLang="en-US" dirty="0">
                <a:solidFill>
                  <a:srgbClr val="FF0000"/>
                </a:solidFill>
              </a:rPr>
              <a:t>项目概述、产品需求、项目完工日期、项目约束条件</a:t>
            </a:r>
            <a:r>
              <a:rPr lang="zh-CN" altLang="en-US" dirty="0" smtClean="0">
                <a:solidFill>
                  <a:srgbClr val="FF0000"/>
                </a:solidFill>
              </a:rPr>
              <a:t>、初始</a:t>
            </a:r>
            <a:r>
              <a:rPr lang="zh-CN" altLang="en-US" dirty="0">
                <a:solidFill>
                  <a:srgbClr val="FF0000"/>
                </a:solidFill>
              </a:rPr>
              <a:t>风险</a:t>
            </a:r>
            <a:r>
              <a:rPr lang="zh-CN" altLang="en-US" dirty="0"/>
              <a:t>。初步的项目范围说明书撰写完成后，王工通知了项目组成员，按照初步的项目</a:t>
            </a:r>
            <a:r>
              <a:rPr lang="zh-CN" altLang="en-US" dirty="0" smtClean="0"/>
              <a:t>范围说明书</a:t>
            </a:r>
            <a:r>
              <a:rPr lang="zh-CN" altLang="en-US" dirty="0"/>
              <a:t>开始工作。</a:t>
            </a:r>
            <a:r>
              <a:rPr lang="zh-CN" altLang="en-US" dirty="0">
                <a:solidFill>
                  <a:srgbClr val="FF0000"/>
                </a:solidFill>
              </a:rPr>
              <a:t>项目组成员有人认为初步范围说明书内容太过简单，跟以往项目范围</a:t>
            </a:r>
            <a:r>
              <a:rPr lang="zh-CN" altLang="en-US" dirty="0" smtClean="0">
                <a:solidFill>
                  <a:srgbClr val="FF0000"/>
                </a:solidFill>
              </a:rPr>
              <a:t>说明书差别</a:t>
            </a:r>
            <a:r>
              <a:rPr lang="zh-CN" altLang="en-US" dirty="0">
                <a:solidFill>
                  <a:srgbClr val="FF0000"/>
                </a:solidFill>
              </a:rPr>
              <a:t>太大，但担心项目经理不高兴，也没有直接</a:t>
            </a:r>
            <a:r>
              <a:rPr lang="zh-CN" altLang="en-US" dirty="0" smtClean="0">
                <a:solidFill>
                  <a:srgbClr val="FF0000"/>
                </a:solidFill>
              </a:rPr>
              <a:t>说</a:t>
            </a:r>
            <a:r>
              <a:rPr lang="zh-CN" altLang="en-US" dirty="0"/>
              <a:t>。</a:t>
            </a:r>
          </a:p>
          <a:p>
            <a:r>
              <a:rPr lang="zh-CN" altLang="en-US" dirty="0"/>
              <a:t>刚进入项目规划阶段，发生的几个事件让王工觉得非常棘手：</a:t>
            </a:r>
          </a:p>
          <a:p>
            <a:r>
              <a:rPr lang="zh-CN" altLang="en-US" dirty="0"/>
              <a:t>（</a:t>
            </a:r>
            <a:r>
              <a:rPr lang="en-US" altLang="zh-CN" dirty="0"/>
              <a:t>1</a:t>
            </a:r>
            <a:r>
              <a:rPr lang="zh-CN" altLang="en-US" dirty="0"/>
              <a:t>） 项目组成员就系统是否包含数据库导出、备份功能产生了分歧，查看初步的</a:t>
            </a:r>
            <a:r>
              <a:rPr lang="zh-CN" altLang="en-US" dirty="0">
                <a:solidFill>
                  <a:srgbClr val="FF0000"/>
                </a:solidFill>
              </a:rPr>
              <a:t>项目范围</a:t>
            </a:r>
            <a:r>
              <a:rPr lang="zh-CN" altLang="en-US" dirty="0" smtClean="0">
                <a:solidFill>
                  <a:srgbClr val="FF0000"/>
                </a:solidFill>
              </a:rPr>
              <a:t>说明书</a:t>
            </a:r>
            <a:r>
              <a:rPr lang="zh-CN" altLang="en-US" dirty="0">
                <a:solidFill>
                  <a:srgbClr val="FF0000"/>
                </a:solidFill>
              </a:rPr>
              <a:t>发现也没有相应描述</a:t>
            </a:r>
            <a:r>
              <a:rPr lang="zh-CN" altLang="en-US" dirty="0"/>
              <a:t>。</a:t>
            </a:r>
          </a:p>
          <a:p>
            <a:r>
              <a:rPr lang="zh-CN" altLang="en-US" dirty="0"/>
              <a:t>（</a:t>
            </a:r>
            <a:r>
              <a:rPr lang="en-US" altLang="zh-CN" dirty="0"/>
              <a:t>2</a:t>
            </a:r>
            <a:r>
              <a:rPr lang="zh-CN" altLang="en-US" dirty="0"/>
              <a:t>） 有项目组成员认为初步的项目范围说明书中</a:t>
            </a:r>
            <a:r>
              <a:rPr lang="zh-CN" altLang="en-US" dirty="0">
                <a:solidFill>
                  <a:srgbClr val="FF0000"/>
                </a:solidFill>
              </a:rPr>
              <a:t>给出的系统安全等级过高</a:t>
            </a:r>
            <a:r>
              <a:rPr lang="zh-CN" altLang="en-US" dirty="0"/>
              <a:t>，实现难度非常大</a:t>
            </a:r>
            <a:r>
              <a:rPr lang="zh-CN" altLang="en-US" dirty="0" smtClean="0"/>
              <a:t>，还</a:t>
            </a:r>
            <a:r>
              <a:rPr lang="zh-CN" altLang="en-US" dirty="0"/>
              <a:t>可能导致项目成本大幅度增加。</a:t>
            </a:r>
          </a:p>
          <a:p>
            <a:r>
              <a:rPr lang="zh-CN" altLang="en-US" dirty="0"/>
              <a:t>（</a:t>
            </a:r>
            <a:r>
              <a:rPr lang="en-US" altLang="zh-CN" dirty="0"/>
              <a:t>3</a:t>
            </a:r>
            <a:r>
              <a:rPr lang="zh-CN" altLang="en-US" dirty="0"/>
              <a:t>） 项目组成员不确定项目验收时是否要给客户交付</a:t>
            </a:r>
            <a:r>
              <a:rPr lang="en-US" altLang="zh-CN" dirty="0"/>
              <a:t>《</a:t>
            </a:r>
            <a:r>
              <a:rPr lang="zh-CN" altLang="en-US" dirty="0"/>
              <a:t>产品使用手册</a:t>
            </a:r>
            <a:r>
              <a:rPr lang="en-US" altLang="zh-CN" dirty="0"/>
              <a:t>》</a:t>
            </a:r>
            <a:r>
              <a:rPr lang="zh-CN" altLang="en-US" dirty="0"/>
              <a:t>，</a:t>
            </a:r>
            <a:r>
              <a:rPr lang="zh-CN" altLang="en-US" dirty="0">
                <a:solidFill>
                  <a:srgbClr val="FF0000"/>
                </a:solidFill>
              </a:rPr>
              <a:t>有成员建议既然</a:t>
            </a:r>
            <a:r>
              <a:rPr lang="zh-CN" altLang="en-US" dirty="0" smtClean="0">
                <a:solidFill>
                  <a:srgbClr val="FF0000"/>
                </a:solidFill>
              </a:rPr>
              <a:t>不确定</a:t>
            </a:r>
            <a:r>
              <a:rPr lang="zh-CN" altLang="en-US" dirty="0">
                <a:solidFill>
                  <a:srgbClr val="FF0000"/>
                </a:solidFill>
              </a:rPr>
              <a:t>就不要做了</a:t>
            </a:r>
            <a:r>
              <a:rPr lang="zh-CN" altLang="en-US" dirty="0"/>
              <a:t>，这样可以节约成本。</a:t>
            </a:r>
          </a:p>
          <a:p>
            <a:r>
              <a:rPr lang="zh-CN" altLang="en-US" dirty="0"/>
              <a:t>（</a:t>
            </a:r>
            <a:r>
              <a:rPr lang="en-US" altLang="zh-CN" dirty="0"/>
              <a:t>4</a:t>
            </a:r>
            <a:r>
              <a:rPr lang="zh-CN" altLang="en-US" dirty="0"/>
              <a:t>） 在初步的项目范围说明书中没有涉及到项目的质量管理要求，乙公司内部的质量技术部</a:t>
            </a:r>
            <a:r>
              <a:rPr lang="zh-CN" altLang="en-US" dirty="0" smtClean="0"/>
              <a:t>因此</a:t>
            </a:r>
            <a:r>
              <a:rPr lang="zh-CN" altLang="en-US" dirty="0"/>
              <a:t>没有安排专门的人员配合王工工作。</a:t>
            </a:r>
          </a:p>
          <a:p>
            <a:r>
              <a:rPr lang="zh-CN" altLang="en-US" dirty="0"/>
              <a:t>（</a:t>
            </a:r>
            <a:r>
              <a:rPr lang="en-US" altLang="zh-CN" dirty="0"/>
              <a:t>5</a:t>
            </a:r>
            <a:r>
              <a:rPr lang="zh-CN" altLang="en-US" dirty="0"/>
              <a:t>） 一些项目组成员经常抱怨王工大包大揽，项目启动阶段的工作不严格遵照公司管理</a:t>
            </a:r>
            <a:r>
              <a:rPr lang="zh-CN" altLang="en-US" dirty="0" smtClean="0"/>
              <a:t>流程执行</a:t>
            </a:r>
            <a:r>
              <a:rPr lang="zh-CN" altLang="en-US" dirty="0"/>
              <a:t>，也未征求其他项目组成员的意见或建议</a:t>
            </a:r>
            <a:r>
              <a:rPr lang="zh-CN" altLang="en-US" dirty="0" smtClean="0"/>
              <a:t>。</a:t>
            </a:r>
            <a:endParaRPr lang="en-US" altLang="zh-CN" dirty="0" smtClean="0"/>
          </a:p>
          <a:p>
            <a:r>
              <a:rPr lang="en-US" altLang="zh-CN" dirty="0"/>
              <a:t>【</a:t>
            </a:r>
            <a:r>
              <a:rPr lang="zh-CN" altLang="en-US" dirty="0"/>
              <a:t>问题</a:t>
            </a:r>
            <a:r>
              <a:rPr lang="en-US" altLang="zh-CN" dirty="0"/>
              <a:t>1】</a:t>
            </a:r>
            <a:r>
              <a:rPr lang="zh-CN" altLang="en-US" dirty="0"/>
              <a:t>（</a:t>
            </a:r>
            <a:r>
              <a:rPr lang="en-US" altLang="zh-CN" dirty="0"/>
              <a:t>12</a:t>
            </a:r>
            <a:r>
              <a:rPr lang="zh-CN" altLang="en-US" dirty="0"/>
              <a:t>分</a:t>
            </a:r>
            <a:r>
              <a:rPr lang="zh-CN" altLang="en-US" dirty="0" smtClean="0"/>
              <a:t>）                                                                                 </a:t>
            </a:r>
            <a:r>
              <a:rPr lang="en-US" altLang="zh-CN" dirty="0" smtClean="0"/>
              <a:t>【 </a:t>
            </a:r>
            <a:r>
              <a:rPr lang="zh-CN" altLang="en-US" dirty="0" smtClean="0"/>
              <a:t>问题</a:t>
            </a:r>
            <a:r>
              <a:rPr lang="en-US" altLang="zh-CN" dirty="0"/>
              <a:t>2】</a:t>
            </a:r>
            <a:r>
              <a:rPr lang="zh-CN" altLang="en-US" dirty="0"/>
              <a:t>（</a:t>
            </a:r>
            <a:r>
              <a:rPr lang="en-US" altLang="zh-CN" dirty="0"/>
              <a:t>6 </a:t>
            </a:r>
            <a:r>
              <a:rPr lang="zh-CN" altLang="en-US" dirty="0"/>
              <a:t>分</a:t>
            </a:r>
            <a:r>
              <a:rPr lang="zh-CN" altLang="en-US" dirty="0" smtClean="0"/>
              <a:t>）</a:t>
            </a:r>
            <a:endParaRPr lang="zh-CN" altLang="en-US" dirty="0"/>
          </a:p>
          <a:p>
            <a:r>
              <a:rPr lang="zh-CN" altLang="en-US" dirty="0"/>
              <a:t>结合案例，请分析案例中的项目启动过程中存在哪些问题</a:t>
            </a:r>
            <a:r>
              <a:rPr lang="en-US" altLang="zh-CN" dirty="0" smtClean="0"/>
              <a:t>?</a:t>
            </a:r>
            <a:r>
              <a:rPr lang="en-US" altLang="zh-CN" dirty="0"/>
              <a:t> </a:t>
            </a:r>
            <a:r>
              <a:rPr lang="en-US" altLang="zh-CN" dirty="0" smtClean="0"/>
              <a:t>                      </a:t>
            </a:r>
            <a:r>
              <a:rPr lang="zh-CN" altLang="en-US" dirty="0" smtClean="0"/>
              <a:t>结合</a:t>
            </a:r>
            <a:r>
              <a:rPr lang="zh-CN" altLang="en-US" dirty="0"/>
              <a:t>案例，该项目的干系人应该包括哪些？</a:t>
            </a:r>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199499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5078313"/>
          </a:xfrm>
          <a:prstGeom prst="rect">
            <a:avLst/>
          </a:prstGeom>
        </p:spPr>
        <p:txBody>
          <a:bodyPr wrap="square">
            <a:spAutoFit/>
          </a:bodyPr>
          <a:lstStyle/>
          <a:p>
            <a:r>
              <a:rPr lang="en-US" altLang="zh-CN" dirty="0"/>
              <a:t>【</a:t>
            </a:r>
            <a:r>
              <a:rPr lang="zh-CN" altLang="en-US" dirty="0"/>
              <a:t>问题</a:t>
            </a:r>
            <a:r>
              <a:rPr lang="en-US" altLang="zh-CN" dirty="0"/>
              <a:t>1</a:t>
            </a:r>
            <a:r>
              <a:rPr lang="en-US" altLang="zh-CN" dirty="0" smtClean="0"/>
              <a:t>】</a:t>
            </a:r>
          </a:p>
          <a:p>
            <a:r>
              <a:rPr lang="zh-CN" altLang="en-US" dirty="0" smtClean="0"/>
              <a:t>（</a:t>
            </a:r>
            <a:r>
              <a:rPr lang="en-US" altLang="zh-CN" dirty="0"/>
              <a:t>1</a:t>
            </a:r>
            <a:r>
              <a:rPr lang="zh-CN" altLang="en-US" dirty="0"/>
              <a:t>）项目章程未经正式审批和发布。</a:t>
            </a:r>
          </a:p>
          <a:p>
            <a:r>
              <a:rPr lang="en-US" altLang="zh-CN" dirty="0" smtClean="0"/>
              <a:t>·</a:t>
            </a:r>
            <a:r>
              <a:rPr lang="en-US" altLang="zh-CN" dirty="0"/>
              <a:t>(2) </a:t>
            </a:r>
            <a:r>
              <a:rPr lang="zh-CN" altLang="en-US" dirty="0"/>
              <a:t>项目章程中对项目经理授权不明确。</a:t>
            </a:r>
          </a:p>
          <a:p>
            <a:r>
              <a:rPr lang="en-US" altLang="zh-CN" dirty="0"/>
              <a:t>(3) </a:t>
            </a:r>
            <a:r>
              <a:rPr lang="zh-CN" altLang="en-US" dirty="0"/>
              <a:t>项目章程中未考虑项目干系人的需求。</a:t>
            </a:r>
          </a:p>
          <a:p>
            <a:r>
              <a:rPr lang="en-US" altLang="zh-CN" dirty="0"/>
              <a:t>(4) </a:t>
            </a:r>
            <a:r>
              <a:rPr lang="zh-CN" altLang="en-US" dirty="0"/>
              <a:t>初步的项目范围说明书项目经理独自完成</a:t>
            </a:r>
            <a:r>
              <a:rPr lang="en-US" altLang="zh-CN" dirty="0"/>
              <a:t>(</a:t>
            </a:r>
            <a:r>
              <a:rPr lang="zh-CN" altLang="en-US" dirty="0">
                <a:solidFill>
                  <a:srgbClr val="FF0000"/>
                </a:solidFill>
              </a:rPr>
              <a:t>项目成员没有参与项目范围说明书的撰写</a:t>
            </a:r>
            <a:r>
              <a:rPr lang="en-US" altLang="zh-CN" dirty="0"/>
              <a:t>)</a:t>
            </a:r>
            <a:r>
              <a:rPr lang="zh-CN" altLang="en-US" dirty="0"/>
              <a:t>。</a:t>
            </a:r>
          </a:p>
          <a:p>
            <a:r>
              <a:rPr lang="en-US" altLang="zh-CN" dirty="0"/>
              <a:t>(5) </a:t>
            </a:r>
            <a:r>
              <a:rPr lang="zh-CN" altLang="en-US" dirty="0"/>
              <a:t>初步的项目范围说明书的边界不清。</a:t>
            </a:r>
          </a:p>
          <a:p>
            <a:r>
              <a:rPr lang="en-US" altLang="zh-CN" dirty="0"/>
              <a:t>(6) </a:t>
            </a:r>
            <a:r>
              <a:rPr lang="zh-CN" altLang="en-US" dirty="0"/>
              <a:t>初步的项目范围说明书的验收标准、性能指标不确定。</a:t>
            </a:r>
          </a:p>
          <a:p>
            <a:r>
              <a:rPr lang="en-US" altLang="zh-CN" dirty="0"/>
              <a:t>(7) </a:t>
            </a:r>
            <a:r>
              <a:rPr lang="zh-CN" altLang="en-US" dirty="0"/>
              <a:t>最初交付成果不明确。</a:t>
            </a:r>
          </a:p>
          <a:p>
            <a:r>
              <a:rPr lang="en-US" altLang="zh-CN" dirty="0"/>
              <a:t>(8) </a:t>
            </a:r>
            <a:r>
              <a:rPr lang="zh-CN" altLang="en-US" dirty="0"/>
              <a:t>与项目干系人之间的沟通可能存在不足，各方理解不一致。</a:t>
            </a:r>
          </a:p>
          <a:p>
            <a:r>
              <a:rPr lang="en-US" altLang="zh-CN" dirty="0"/>
              <a:t>【</a:t>
            </a:r>
            <a:r>
              <a:rPr lang="zh-CN" altLang="en-US" dirty="0"/>
              <a:t>问题</a:t>
            </a:r>
            <a:r>
              <a:rPr lang="en-US" altLang="zh-CN" dirty="0"/>
              <a:t>2</a:t>
            </a:r>
            <a:r>
              <a:rPr lang="en-US" altLang="zh-CN" dirty="0" smtClean="0"/>
              <a:t>】</a:t>
            </a:r>
            <a:endParaRPr lang="zh-CN" altLang="en-US" dirty="0"/>
          </a:p>
          <a:p>
            <a:r>
              <a:rPr lang="en-US" altLang="zh-CN" dirty="0"/>
              <a:t>(1) </a:t>
            </a:r>
            <a:r>
              <a:rPr lang="zh-CN" altLang="en-US" dirty="0"/>
              <a:t>项目经理王工。</a:t>
            </a:r>
          </a:p>
          <a:p>
            <a:r>
              <a:rPr lang="en-US" altLang="zh-CN" dirty="0"/>
              <a:t>(2) </a:t>
            </a:r>
            <a:r>
              <a:rPr lang="zh-CN" altLang="en-US" dirty="0"/>
              <a:t>项目组其他成员。</a:t>
            </a:r>
          </a:p>
          <a:p>
            <a:r>
              <a:rPr lang="en-US" altLang="zh-CN" dirty="0"/>
              <a:t>(3) </a:t>
            </a:r>
            <a:r>
              <a:rPr lang="zh-CN" altLang="en-US" dirty="0"/>
              <a:t>质量技术部。</a:t>
            </a:r>
          </a:p>
          <a:p>
            <a:r>
              <a:rPr lang="en-US" altLang="zh-CN" dirty="0"/>
              <a:t>(4) </a:t>
            </a:r>
            <a:r>
              <a:rPr lang="zh-CN" altLang="en-US" dirty="0"/>
              <a:t>乙公司项目主管领导。</a:t>
            </a:r>
          </a:p>
          <a:p>
            <a:r>
              <a:rPr lang="en-US" altLang="zh-CN" dirty="0"/>
              <a:t>(5) </a:t>
            </a:r>
            <a:r>
              <a:rPr lang="zh-CN" altLang="en-US" dirty="0"/>
              <a:t>甲公司信息中心赵主任。</a:t>
            </a:r>
          </a:p>
          <a:p>
            <a:r>
              <a:rPr lang="en-US" altLang="zh-CN" dirty="0"/>
              <a:t>(6) </a:t>
            </a:r>
            <a:r>
              <a:rPr lang="zh-CN" altLang="en-US" dirty="0"/>
              <a:t>甲公司其他人员</a:t>
            </a:r>
            <a:r>
              <a:rPr lang="en-US" altLang="zh-CN" dirty="0"/>
              <a:t>(</a:t>
            </a:r>
            <a:r>
              <a:rPr lang="zh-CN" altLang="en-US" dirty="0"/>
              <a:t>甲公司生产管理人员、财务管理人员</a:t>
            </a:r>
            <a:r>
              <a:rPr lang="en-US" altLang="zh-CN" dirty="0"/>
              <a:t>)</a:t>
            </a:r>
            <a:r>
              <a:rPr lang="zh-CN" altLang="en-US" dirty="0"/>
              <a:t>。</a:t>
            </a:r>
          </a:p>
          <a:p>
            <a:endParaRPr lang="zh-CN" altLang="en-US" dirty="0"/>
          </a:p>
          <a:p>
            <a:endParaRPr lang="zh-CN" altLang="en-US" dirty="0"/>
          </a:p>
        </p:txBody>
      </p:sp>
    </p:spTree>
    <p:extLst>
      <p:ext uri="{BB962C8B-B14F-4D97-AF65-F5344CB8AC3E}">
        <p14:creationId xmlns:p14="http://schemas.microsoft.com/office/powerpoint/2010/main" val="1266814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6186309"/>
          </a:xfrm>
          <a:prstGeom prst="rect">
            <a:avLst/>
          </a:prstGeom>
        </p:spPr>
        <p:txBody>
          <a:bodyPr wrap="square">
            <a:spAutoFit/>
          </a:bodyPr>
          <a:lstStyle/>
          <a:p>
            <a:r>
              <a:rPr lang="en-US" altLang="zh-CN" dirty="0"/>
              <a:t>【</a:t>
            </a:r>
            <a:r>
              <a:rPr lang="zh-CN" altLang="en-US" dirty="0"/>
              <a:t>问题</a:t>
            </a:r>
            <a:r>
              <a:rPr lang="en-US" altLang="zh-CN" dirty="0"/>
              <a:t>3】</a:t>
            </a:r>
            <a:r>
              <a:rPr lang="zh-CN" altLang="en-US" dirty="0"/>
              <a:t>（</a:t>
            </a:r>
            <a:r>
              <a:rPr lang="en-US" altLang="zh-CN" dirty="0"/>
              <a:t>7</a:t>
            </a:r>
            <a:r>
              <a:rPr lang="zh-CN" altLang="en-US" dirty="0"/>
              <a:t>分）</a:t>
            </a:r>
          </a:p>
          <a:p>
            <a:r>
              <a:rPr lang="zh-CN" altLang="en-US" dirty="0"/>
              <a:t>（</a:t>
            </a:r>
            <a:r>
              <a:rPr lang="en-US" altLang="zh-CN" dirty="0"/>
              <a:t>1</a:t>
            </a:r>
            <a:r>
              <a:rPr lang="zh-CN" altLang="en-US" dirty="0"/>
              <a:t>） 结合案例，从候选答案中选择</a:t>
            </a:r>
            <a:r>
              <a:rPr lang="en-US" altLang="zh-CN" dirty="0"/>
              <a:t>5</a:t>
            </a:r>
            <a:r>
              <a:rPr lang="zh-CN" altLang="en-US" dirty="0"/>
              <a:t>个正确</a:t>
            </a:r>
            <a:r>
              <a:rPr lang="zh-CN" altLang="en-US" dirty="0" smtClean="0"/>
              <a:t>选项，</a:t>
            </a:r>
            <a:r>
              <a:rPr lang="zh-CN" altLang="en-US" dirty="0"/>
              <a:t>将选项编号填入答题纸对应栏</a:t>
            </a:r>
            <a:r>
              <a:rPr lang="zh-CN" altLang="en-US" dirty="0" smtClean="0"/>
              <a:t>内</a:t>
            </a:r>
            <a:r>
              <a:rPr lang="en-US" altLang="zh-CN" dirty="0" smtClean="0"/>
              <a:t>(</a:t>
            </a:r>
            <a:r>
              <a:rPr lang="zh-CN" altLang="en-US" dirty="0" smtClean="0">
                <a:solidFill>
                  <a:srgbClr val="FF0000"/>
                </a:solidFill>
              </a:rPr>
              <a:t>多选</a:t>
            </a:r>
            <a:r>
              <a:rPr lang="en-US" altLang="zh-CN" dirty="0" smtClean="0"/>
              <a:t>)</a:t>
            </a:r>
            <a:r>
              <a:rPr lang="zh-CN" altLang="en-US" dirty="0" smtClean="0"/>
              <a:t>。</a:t>
            </a:r>
            <a:endParaRPr lang="zh-CN" altLang="en-US" dirty="0"/>
          </a:p>
          <a:p>
            <a:r>
              <a:rPr lang="zh-CN" altLang="en-US" dirty="0"/>
              <a:t>以 下 </a:t>
            </a:r>
            <a:r>
              <a:rPr lang="zh-CN" altLang="en-US" dirty="0" smtClean="0"/>
              <a:t>（    ） </a:t>
            </a:r>
            <a:r>
              <a:rPr lang="zh-CN" altLang="en-US" dirty="0"/>
              <a:t>内容应放入组织过程资产库。</a:t>
            </a:r>
          </a:p>
          <a:p>
            <a:r>
              <a:rPr lang="en-US" altLang="zh-CN" dirty="0" smtClean="0"/>
              <a:t>A</a:t>
            </a:r>
            <a:r>
              <a:rPr lang="en-US" altLang="zh-CN" dirty="0"/>
              <a:t>.</a:t>
            </a:r>
            <a:r>
              <a:rPr lang="zh-CN" altLang="en-US" dirty="0"/>
              <a:t>问题和缺陷管理库 </a:t>
            </a:r>
            <a:r>
              <a:rPr lang="zh-CN" altLang="en-US" dirty="0" smtClean="0"/>
              <a:t>  </a:t>
            </a:r>
            <a:r>
              <a:rPr lang="en-US" altLang="zh-CN" dirty="0" smtClean="0"/>
              <a:t>B</a:t>
            </a:r>
            <a:r>
              <a:rPr lang="en-US" altLang="zh-CN" dirty="0"/>
              <a:t>.</a:t>
            </a:r>
            <a:r>
              <a:rPr lang="zh-CN" altLang="en-US" dirty="0"/>
              <a:t>经验</a:t>
            </a:r>
            <a:r>
              <a:rPr lang="zh-CN" altLang="en-US" dirty="0" smtClean="0"/>
              <a:t>教训   </a:t>
            </a:r>
            <a:r>
              <a:rPr lang="en-US" altLang="zh-CN" dirty="0" smtClean="0"/>
              <a:t>C.</a:t>
            </a:r>
            <a:r>
              <a:rPr lang="zh-CN" altLang="en-US" dirty="0" smtClean="0"/>
              <a:t>个人</a:t>
            </a:r>
            <a:r>
              <a:rPr lang="zh-CN" altLang="en-US" dirty="0"/>
              <a:t>周报 </a:t>
            </a:r>
            <a:r>
              <a:rPr lang="zh-CN" altLang="en-US" dirty="0" smtClean="0"/>
              <a:t>    </a:t>
            </a:r>
            <a:r>
              <a:rPr lang="en-US" altLang="zh-CN" dirty="0" smtClean="0"/>
              <a:t>D.</a:t>
            </a:r>
            <a:r>
              <a:rPr lang="zh-CN" altLang="en-US" dirty="0" smtClean="0"/>
              <a:t>项目</a:t>
            </a:r>
            <a:r>
              <a:rPr lang="zh-CN" altLang="en-US" dirty="0"/>
              <a:t>总结</a:t>
            </a:r>
          </a:p>
          <a:p>
            <a:r>
              <a:rPr lang="en-US" altLang="zh-CN" dirty="0"/>
              <a:t>E.</a:t>
            </a:r>
            <a:r>
              <a:rPr lang="zh-CN" altLang="en-US" dirty="0"/>
              <a:t>风险控制程序 </a:t>
            </a:r>
            <a:r>
              <a:rPr lang="zh-CN" altLang="en-US" dirty="0" smtClean="0"/>
              <a:t>     </a:t>
            </a:r>
            <a:r>
              <a:rPr lang="en-US" altLang="zh-CN" dirty="0" smtClean="0"/>
              <a:t>F</a:t>
            </a:r>
            <a:r>
              <a:rPr lang="en-US" altLang="zh-CN" dirty="0"/>
              <a:t>.</a:t>
            </a:r>
            <a:r>
              <a:rPr lang="zh-CN" altLang="en-US" dirty="0"/>
              <a:t>合同</a:t>
            </a:r>
            <a:r>
              <a:rPr lang="zh-CN" altLang="en-US" dirty="0" smtClean="0"/>
              <a:t>原件       </a:t>
            </a:r>
            <a:r>
              <a:rPr lang="en-US" altLang="zh-CN" dirty="0" smtClean="0"/>
              <a:t>G.</a:t>
            </a:r>
            <a:r>
              <a:rPr lang="zh-CN" altLang="en-US" dirty="0" smtClean="0"/>
              <a:t>验收</a:t>
            </a:r>
            <a:r>
              <a:rPr lang="zh-CN" altLang="en-US" dirty="0"/>
              <a:t>标准指南  </a:t>
            </a:r>
            <a:r>
              <a:rPr lang="zh-CN" altLang="en-US" dirty="0" smtClean="0"/>
              <a:t>   </a:t>
            </a:r>
            <a:r>
              <a:rPr lang="en-US" altLang="zh-CN" dirty="0" smtClean="0"/>
              <a:t>H.</a:t>
            </a:r>
            <a:r>
              <a:rPr lang="zh-CN" altLang="en-US" dirty="0" smtClean="0"/>
              <a:t>测试</a:t>
            </a:r>
            <a:r>
              <a:rPr lang="zh-CN" altLang="en-US" dirty="0"/>
              <a:t>记录</a:t>
            </a:r>
          </a:p>
          <a:p>
            <a:r>
              <a:rPr lang="zh-CN" altLang="en-US" dirty="0"/>
              <a:t>（</a:t>
            </a:r>
            <a:r>
              <a:rPr lang="en-US" altLang="zh-CN" dirty="0"/>
              <a:t>2</a:t>
            </a:r>
            <a:r>
              <a:rPr lang="zh-CN" altLang="en-US" dirty="0"/>
              <a:t>） 根据题干，从候选答案中选择</a:t>
            </a:r>
            <a:r>
              <a:rPr lang="en-US" altLang="zh-CN" dirty="0"/>
              <a:t>2</a:t>
            </a:r>
            <a:r>
              <a:rPr lang="zh-CN" altLang="en-US" dirty="0"/>
              <a:t>个</a:t>
            </a:r>
            <a:r>
              <a:rPr lang="zh-CN" altLang="en-US" dirty="0" smtClean="0"/>
              <a:t>正确选项，</a:t>
            </a:r>
            <a:r>
              <a:rPr lang="zh-CN" altLang="en-US" dirty="0"/>
              <a:t>将选项编号填入答题纸对应栏内。</a:t>
            </a:r>
          </a:p>
          <a:p>
            <a:r>
              <a:rPr lang="en-US" altLang="zh-CN" dirty="0"/>
              <a:t>SOW</a:t>
            </a:r>
            <a:r>
              <a:rPr lang="zh-CN" altLang="en-US" dirty="0"/>
              <a:t>包 括 </a:t>
            </a:r>
            <a:r>
              <a:rPr lang="zh-CN" altLang="en-US" dirty="0" smtClean="0"/>
              <a:t>（   ） </a:t>
            </a:r>
            <a:r>
              <a:rPr lang="zh-CN" altLang="en-US" dirty="0"/>
              <a:t>内容。</a:t>
            </a:r>
          </a:p>
          <a:p>
            <a:r>
              <a:rPr lang="en-US" altLang="zh-CN" dirty="0" smtClean="0"/>
              <a:t>A</a:t>
            </a:r>
            <a:r>
              <a:rPr lang="en-US" altLang="zh-CN" dirty="0"/>
              <a:t>.</a:t>
            </a:r>
            <a:r>
              <a:rPr lang="zh-CN" altLang="en-US" dirty="0"/>
              <a:t>项目</a:t>
            </a:r>
            <a:r>
              <a:rPr lang="zh-CN" altLang="en-US" dirty="0" smtClean="0"/>
              <a:t>概述       </a:t>
            </a:r>
            <a:r>
              <a:rPr lang="en-US" altLang="zh-CN" dirty="0"/>
              <a:t>B.</a:t>
            </a:r>
            <a:r>
              <a:rPr lang="zh-CN" altLang="en-US" dirty="0"/>
              <a:t>产品</a:t>
            </a:r>
            <a:r>
              <a:rPr lang="zh-CN" altLang="en-US" dirty="0" smtClean="0"/>
              <a:t>需求    </a:t>
            </a:r>
            <a:r>
              <a:rPr lang="en-US" altLang="zh-CN" dirty="0" smtClean="0"/>
              <a:t>C</a:t>
            </a:r>
            <a:r>
              <a:rPr lang="en-US" altLang="zh-CN" dirty="0"/>
              <a:t>.</a:t>
            </a:r>
            <a:r>
              <a:rPr lang="zh-CN" altLang="en-US" dirty="0"/>
              <a:t>组织结构  </a:t>
            </a:r>
            <a:r>
              <a:rPr lang="zh-CN" altLang="en-US" dirty="0" smtClean="0"/>
              <a:t>      </a:t>
            </a:r>
            <a:r>
              <a:rPr lang="en-US" altLang="zh-CN" dirty="0" smtClean="0"/>
              <a:t>D.</a:t>
            </a:r>
            <a:r>
              <a:rPr lang="zh-CN" altLang="en-US" dirty="0" smtClean="0"/>
              <a:t>质量控制人员</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smtClean="0"/>
              <a:t>答案：</a:t>
            </a:r>
            <a:r>
              <a:rPr lang="en-US" altLang="zh-CN" dirty="0"/>
              <a:t> (1) A</a:t>
            </a:r>
            <a:r>
              <a:rPr lang="zh-CN" altLang="en-US" dirty="0"/>
              <a:t>、 </a:t>
            </a:r>
            <a:r>
              <a:rPr lang="en-US" altLang="zh-CN" dirty="0"/>
              <a:t>B</a:t>
            </a:r>
            <a:r>
              <a:rPr lang="zh-CN" altLang="en-US" dirty="0"/>
              <a:t>、 </a:t>
            </a:r>
            <a:r>
              <a:rPr lang="en-US" altLang="zh-CN" dirty="0"/>
              <a:t>D</a:t>
            </a:r>
            <a:r>
              <a:rPr lang="zh-CN" altLang="en-US" dirty="0"/>
              <a:t>、 </a:t>
            </a:r>
            <a:r>
              <a:rPr lang="en-US" altLang="zh-CN" dirty="0"/>
              <a:t>E</a:t>
            </a:r>
            <a:r>
              <a:rPr lang="zh-CN" altLang="en-US" dirty="0"/>
              <a:t>、 </a:t>
            </a:r>
            <a:r>
              <a:rPr lang="en-US" altLang="zh-CN" dirty="0"/>
              <a:t>G</a:t>
            </a:r>
            <a:endParaRPr lang="zh-CN" altLang="en-US" dirty="0"/>
          </a:p>
          <a:p>
            <a:r>
              <a:rPr lang="en-US" altLang="zh-CN" dirty="0"/>
              <a:t>(2) A</a:t>
            </a:r>
            <a:r>
              <a:rPr lang="zh-CN" altLang="en-US" dirty="0"/>
              <a:t>、 </a:t>
            </a:r>
            <a:r>
              <a:rPr lang="en-US" altLang="zh-CN" dirty="0"/>
              <a:t>B</a:t>
            </a:r>
            <a:endParaRPr lang="zh-CN" altLang="en-US" dirty="0"/>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127867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5355312"/>
          </a:xfrm>
          <a:prstGeom prst="rect">
            <a:avLst/>
          </a:prstGeom>
        </p:spPr>
        <p:txBody>
          <a:bodyPr wrap="square">
            <a:spAutoFit/>
          </a:bodyPr>
          <a:lstStyle/>
          <a:p>
            <a:r>
              <a:rPr lang="en-US" altLang="zh-CN" dirty="0" smtClean="0"/>
              <a:t>9</a:t>
            </a:r>
            <a:r>
              <a:rPr lang="zh-CN" altLang="en-US" dirty="0" smtClean="0"/>
              <a:t>、</a:t>
            </a:r>
            <a:r>
              <a:rPr lang="zh-CN" altLang="en-US" dirty="0"/>
              <a:t>某公司承接了某银行的信息系统集成项目，并任命王工为项目经理，这也是王工第一次担任</a:t>
            </a:r>
            <a:r>
              <a:rPr lang="zh-CN" altLang="en-US" dirty="0" smtClean="0"/>
              <a:t>项目</a:t>
            </a:r>
            <a:r>
              <a:rPr lang="zh-CN" altLang="en-US" dirty="0"/>
              <a:t>经理。王工带领近</a:t>
            </a:r>
            <a:r>
              <a:rPr lang="en-US" altLang="zh-CN" dirty="0"/>
              <a:t>20</a:t>
            </a:r>
            <a:r>
              <a:rPr lang="zh-CN" altLang="en-US" dirty="0"/>
              <a:t>人的团队，历经近</a:t>
            </a:r>
            <a:r>
              <a:rPr lang="en-US" altLang="zh-CN" dirty="0"/>
              <a:t>11</a:t>
            </a:r>
            <a:r>
              <a:rPr lang="zh-CN" altLang="en-US" dirty="0"/>
              <a:t>个月的时间，终于完成了系统建设工作，并</a:t>
            </a:r>
            <a:r>
              <a:rPr lang="zh-CN" altLang="en-US" dirty="0" smtClean="0"/>
              <a:t>通过了</a:t>
            </a:r>
            <a:r>
              <a:rPr lang="zh-CN" altLang="en-US" dirty="0"/>
              <a:t>试运行测试。</a:t>
            </a:r>
            <a:r>
              <a:rPr lang="zh-CN" altLang="en-US" dirty="0">
                <a:solidFill>
                  <a:srgbClr val="FF0000"/>
                </a:solidFill>
              </a:rPr>
              <a:t>王工在与甲方项目负责人简单地对接了项目交付清单之后，就报告公司项目</a:t>
            </a:r>
            <a:r>
              <a:rPr lang="zh-CN" altLang="en-US" dirty="0" smtClean="0">
                <a:solidFill>
                  <a:srgbClr val="FF0000"/>
                </a:solidFill>
              </a:rPr>
              <a:t>己经</a:t>
            </a:r>
            <a:r>
              <a:rPr lang="zh-CN" altLang="en-US" dirty="0">
                <a:solidFill>
                  <a:srgbClr val="FF0000"/>
                </a:solidFill>
              </a:rPr>
              <a:t>结束，部分项目人员可以进行转移</a:t>
            </a:r>
            <a:r>
              <a:rPr lang="zh-CN" altLang="en-US" dirty="0"/>
              <a:t>。</a:t>
            </a:r>
            <a:r>
              <a:rPr lang="zh-CN" altLang="en-US" dirty="0">
                <a:solidFill>
                  <a:srgbClr val="FF0000"/>
                </a:solidFill>
              </a:rPr>
              <a:t>王工组织剩下的项目团队成员召开了项目总结会议。</a:t>
            </a:r>
            <a:r>
              <a:rPr lang="zh-CN" altLang="en-US" dirty="0" smtClean="0"/>
              <a:t>随后</a:t>
            </a:r>
            <a:r>
              <a:rPr lang="zh-CN" altLang="en-US" dirty="0"/>
              <a:t>公司的财务要求王工根据合同催甲方支付剩余</a:t>
            </a:r>
            <a:r>
              <a:rPr lang="en-US" altLang="zh-CN" dirty="0"/>
              <a:t>30%</a:t>
            </a:r>
            <a:r>
              <a:rPr lang="zh-CN" altLang="en-US" dirty="0"/>
              <a:t>的项目款。</a:t>
            </a:r>
          </a:p>
          <a:p>
            <a:r>
              <a:rPr lang="zh-CN" altLang="en-US" dirty="0"/>
              <a:t>当王工打电话催促甲方支付项目尾款时，甲方的项目经理告诉他项目还没有结束，</a:t>
            </a:r>
            <a:r>
              <a:rPr lang="zh-CN" altLang="en-US" dirty="0">
                <a:solidFill>
                  <a:srgbClr val="FF0000"/>
                </a:solidFill>
              </a:rPr>
              <a:t>甲方还</a:t>
            </a:r>
            <a:r>
              <a:rPr lang="zh-CN" altLang="en-US" dirty="0" smtClean="0">
                <a:solidFill>
                  <a:srgbClr val="FF0000"/>
                </a:solidFill>
              </a:rPr>
              <a:t>没有在</a:t>
            </a:r>
            <a:r>
              <a:rPr lang="zh-CN" altLang="en-US" dirty="0">
                <a:solidFill>
                  <a:srgbClr val="FF0000"/>
                </a:solidFill>
              </a:rPr>
              <a:t>验收报告上签字确认，项目的很多常规性文件还没有提交，而且需要在试运行的基础上，</a:t>
            </a:r>
            <a:r>
              <a:rPr lang="zh-CN" altLang="en-US" dirty="0" smtClean="0">
                <a:solidFill>
                  <a:srgbClr val="FF0000"/>
                </a:solidFill>
              </a:rPr>
              <a:t>进一步</a:t>
            </a:r>
            <a:r>
              <a:rPr lang="zh-CN" altLang="en-US" dirty="0">
                <a:solidFill>
                  <a:srgbClr val="FF0000"/>
                </a:solidFill>
              </a:rPr>
              <a:t>修改程序和功能设置，现在根本没有达到项目收尾的条件</a:t>
            </a:r>
            <a:r>
              <a:rPr lang="zh-CN" altLang="en-US" dirty="0"/>
              <a:t>。</a:t>
            </a:r>
          </a:p>
          <a:p>
            <a:r>
              <a:rPr lang="zh-CN" altLang="en-US" dirty="0"/>
              <a:t>问题内容： </a:t>
            </a:r>
            <a:r>
              <a:rPr lang="en-US" altLang="zh-CN" dirty="0"/>
              <a:t>【</a:t>
            </a:r>
            <a:r>
              <a:rPr lang="zh-CN" altLang="en-US" dirty="0"/>
              <a:t>问题</a:t>
            </a:r>
            <a:r>
              <a:rPr lang="en-US" altLang="zh-CN" dirty="0"/>
              <a:t>1】 </a:t>
            </a:r>
            <a:r>
              <a:rPr lang="zh-CN" altLang="en-US" dirty="0"/>
              <a:t>（</a:t>
            </a:r>
            <a:r>
              <a:rPr lang="en-US" altLang="zh-CN" dirty="0"/>
              <a:t>4 </a:t>
            </a:r>
            <a:r>
              <a:rPr lang="zh-CN" altLang="en-US" dirty="0"/>
              <a:t>分）</a:t>
            </a:r>
          </a:p>
          <a:p>
            <a:r>
              <a:rPr lang="zh-CN" altLang="en-US" dirty="0"/>
              <a:t>项目收尾包括哪些具体工作？</a:t>
            </a:r>
          </a:p>
          <a:p>
            <a:r>
              <a:rPr lang="en-US" altLang="zh-CN" dirty="0"/>
              <a:t>【</a:t>
            </a:r>
            <a:r>
              <a:rPr lang="zh-CN" altLang="en-US" dirty="0"/>
              <a:t>问题</a:t>
            </a:r>
            <a:r>
              <a:rPr lang="en-US" altLang="zh-CN" dirty="0"/>
              <a:t>2】 </a:t>
            </a:r>
            <a:r>
              <a:rPr lang="zh-CN" altLang="en-US" dirty="0"/>
              <a:t>（</a:t>
            </a:r>
            <a:r>
              <a:rPr lang="en-US" altLang="zh-CN" dirty="0"/>
              <a:t>8 </a:t>
            </a:r>
            <a:r>
              <a:rPr lang="zh-CN" altLang="en-US" dirty="0"/>
              <a:t>分）</a:t>
            </a:r>
          </a:p>
          <a:p>
            <a:r>
              <a:rPr lang="zh-CN" altLang="en-US" dirty="0"/>
              <a:t>项目经理王工收尾管理方面主要存在哪些问题？</a:t>
            </a:r>
          </a:p>
          <a:p>
            <a:r>
              <a:rPr lang="en-US" altLang="zh-CN" dirty="0"/>
              <a:t>【</a:t>
            </a:r>
            <a:r>
              <a:rPr lang="zh-CN" altLang="en-US" dirty="0"/>
              <a:t>问题</a:t>
            </a:r>
            <a:r>
              <a:rPr lang="en-US" altLang="zh-CN" dirty="0"/>
              <a:t>3】 </a:t>
            </a:r>
            <a:r>
              <a:rPr lang="zh-CN" altLang="en-US" dirty="0"/>
              <a:t>（</a:t>
            </a:r>
            <a:r>
              <a:rPr lang="en-US" altLang="zh-CN" dirty="0"/>
              <a:t>5</a:t>
            </a:r>
            <a:r>
              <a:rPr lang="zh-CN" altLang="en-US" dirty="0"/>
              <a:t>分）</a:t>
            </a:r>
          </a:p>
          <a:p>
            <a:r>
              <a:rPr lang="zh-CN" altLang="en-US" dirty="0"/>
              <a:t>对于软件和信息系统集成项目来说，项目收尾时一般提交的文件包括哪些类？</a:t>
            </a:r>
          </a:p>
          <a:p>
            <a:r>
              <a:rPr lang="en-US" altLang="zh-CN" dirty="0"/>
              <a:t>【</a:t>
            </a:r>
            <a:r>
              <a:rPr lang="zh-CN" altLang="en-US" dirty="0"/>
              <a:t>问题</a:t>
            </a:r>
            <a:r>
              <a:rPr lang="en-US" altLang="zh-CN" dirty="0"/>
              <a:t>4】 </a:t>
            </a:r>
            <a:r>
              <a:rPr lang="zh-CN" altLang="en-US" dirty="0"/>
              <a:t>（</a:t>
            </a:r>
            <a:r>
              <a:rPr lang="en-US" altLang="zh-CN" dirty="0"/>
              <a:t>8 </a:t>
            </a:r>
            <a:r>
              <a:rPr lang="zh-CN" altLang="en-US" dirty="0"/>
              <a:t>分）</a:t>
            </a:r>
          </a:p>
          <a:p>
            <a:r>
              <a:rPr lang="zh-CN" altLang="en-US" dirty="0"/>
              <a:t>（</a:t>
            </a:r>
            <a:r>
              <a:rPr lang="en-US" altLang="zh-CN" dirty="0"/>
              <a:t>1</a:t>
            </a:r>
            <a:r>
              <a:rPr lang="zh-CN" altLang="en-US" dirty="0"/>
              <a:t>） 王工组织的项目总结会议是否恰当？请说明理由。</a:t>
            </a:r>
          </a:p>
          <a:p>
            <a:r>
              <a:rPr lang="zh-CN" altLang="en-US" dirty="0"/>
              <a:t>（</a:t>
            </a:r>
            <a:r>
              <a:rPr lang="en-US" altLang="zh-CN" dirty="0"/>
              <a:t>2</a:t>
            </a:r>
            <a:r>
              <a:rPr lang="zh-CN" altLang="en-US" dirty="0"/>
              <a:t>） 请简要叙述项目总结会议上一般讨论的内容包括哪些</a:t>
            </a:r>
            <a:r>
              <a:rPr lang="en-US" altLang="zh-CN" dirty="0"/>
              <a:t>?</a:t>
            </a:r>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3281259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1200329"/>
          </a:xfrm>
          <a:prstGeom prst="rect">
            <a:avLst/>
          </a:prstGeom>
        </p:spPr>
        <p:txBody>
          <a:bodyPr wrap="square">
            <a:spAutoFit/>
          </a:bodyPr>
          <a:lstStyle/>
          <a:p>
            <a:endParaRPr lang="zh-CN" altLang="en-US" dirty="0"/>
          </a:p>
          <a:p>
            <a:endParaRPr lang="zh-CN" altLang="en-US" dirty="0"/>
          </a:p>
          <a:p>
            <a:endParaRPr lang="zh-CN" altLang="en-US" dirty="0"/>
          </a:p>
          <a:p>
            <a:endParaRPr lang="zh-CN" altLang="en-US" dirty="0"/>
          </a:p>
        </p:txBody>
      </p:sp>
      <p:sp>
        <p:nvSpPr>
          <p:cNvPr id="3" name="矩形 2"/>
          <p:cNvSpPr/>
          <p:nvPr/>
        </p:nvSpPr>
        <p:spPr>
          <a:xfrm>
            <a:off x="70792" y="41295"/>
            <a:ext cx="12016986" cy="7294305"/>
          </a:xfrm>
          <a:prstGeom prst="rect">
            <a:avLst/>
          </a:prstGeom>
        </p:spPr>
        <p:txBody>
          <a:bodyPr wrap="square">
            <a:spAutoFit/>
          </a:bodyPr>
          <a:lstStyle/>
          <a:p>
            <a:r>
              <a:rPr lang="en-US" altLang="zh-CN" dirty="0"/>
              <a:t>【</a:t>
            </a:r>
            <a:r>
              <a:rPr lang="zh-CN" altLang="en-US" dirty="0"/>
              <a:t>问题</a:t>
            </a:r>
            <a:r>
              <a:rPr lang="en-US" altLang="zh-CN" dirty="0"/>
              <a:t>1】 </a:t>
            </a:r>
            <a:r>
              <a:rPr lang="zh-CN" altLang="en-US" dirty="0" smtClean="0"/>
              <a:t>项目</a:t>
            </a:r>
            <a:r>
              <a:rPr lang="zh-CN" altLang="en-US" dirty="0"/>
              <a:t>收尾包括哪些具体工作</a:t>
            </a:r>
            <a:r>
              <a:rPr lang="zh-CN" altLang="en-US" dirty="0" smtClean="0"/>
              <a:t>？</a:t>
            </a:r>
            <a:endParaRPr lang="en-US" altLang="zh-CN" dirty="0" smtClean="0"/>
          </a:p>
          <a:p>
            <a:r>
              <a:rPr lang="zh-CN" altLang="en-US" dirty="0"/>
              <a:t>项目收尾包括以下各组：①项目验收；②最终产品、服务或成果移交；③合同收尾；④总结经</a:t>
            </a:r>
          </a:p>
          <a:p>
            <a:r>
              <a:rPr lang="zh-CN" altLang="en-US" dirty="0"/>
              <a:t>验教训，更新组织过程资产；⑤管理</a:t>
            </a:r>
            <a:r>
              <a:rPr lang="en-US" altLang="zh-CN" dirty="0"/>
              <a:t>/</a:t>
            </a:r>
            <a:r>
              <a:rPr lang="zh-CN" altLang="en-US" dirty="0"/>
              <a:t>行政收尾；⑥释放团队资源。</a:t>
            </a:r>
          </a:p>
          <a:p>
            <a:endParaRPr lang="zh-CN" altLang="en-US" dirty="0"/>
          </a:p>
          <a:p>
            <a:r>
              <a:rPr lang="en-US" altLang="zh-CN" dirty="0"/>
              <a:t>【</a:t>
            </a:r>
            <a:r>
              <a:rPr lang="zh-CN" altLang="en-US" dirty="0"/>
              <a:t>问题</a:t>
            </a:r>
            <a:r>
              <a:rPr lang="en-US" altLang="zh-CN" dirty="0"/>
              <a:t>2】 </a:t>
            </a:r>
            <a:r>
              <a:rPr lang="zh-CN" altLang="en-US" dirty="0" smtClean="0"/>
              <a:t>项目</a:t>
            </a:r>
            <a:r>
              <a:rPr lang="zh-CN" altLang="en-US" dirty="0"/>
              <a:t>经理王工收尾管理方面主要存在哪些问题</a:t>
            </a:r>
            <a:r>
              <a:rPr lang="zh-CN" altLang="en-US" dirty="0" smtClean="0"/>
              <a:t>？</a:t>
            </a:r>
            <a:endParaRPr lang="en-US" altLang="zh-CN" dirty="0" smtClean="0"/>
          </a:p>
          <a:p>
            <a:r>
              <a:rPr lang="en-US" altLang="zh-CN" dirty="0"/>
              <a:t>1</a:t>
            </a:r>
            <a:r>
              <a:rPr lang="zh-CN" altLang="en-US" dirty="0"/>
              <a:t>、 项目结束过程太过于简单，只是与甲方负责人简单对接项目清单，试运行甲方未签字，也没</a:t>
            </a:r>
          </a:p>
          <a:p>
            <a:r>
              <a:rPr lang="zh-CN" altLang="en-US" dirty="0"/>
              <a:t>有进行项目验收，没有形成验收报告；</a:t>
            </a:r>
          </a:p>
          <a:p>
            <a:r>
              <a:rPr lang="en-US" altLang="zh-CN" dirty="0"/>
              <a:t>2</a:t>
            </a:r>
            <a:r>
              <a:rPr lang="zh-CN" altLang="en-US" dirty="0"/>
              <a:t>、 未对项目成果进行系统测试与验收，就解散项目团队；</a:t>
            </a:r>
          </a:p>
          <a:p>
            <a:r>
              <a:rPr lang="en-US" altLang="zh-CN" dirty="0"/>
              <a:t>3</a:t>
            </a:r>
            <a:r>
              <a:rPr lang="zh-CN" altLang="en-US" dirty="0"/>
              <a:t>、 只有部分团队成员参加了项目总结会议，不是全部。并且没有形成总结性文件；</a:t>
            </a:r>
          </a:p>
          <a:p>
            <a:r>
              <a:rPr lang="en-US" altLang="zh-CN" dirty="0"/>
              <a:t>4</a:t>
            </a:r>
            <a:r>
              <a:rPr lang="zh-CN" altLang="en-US" dirty="0"/>
              <a:t>、 收尾时未让甲方在验收报告上签字确认；</a:t>
            </a:r>
          </a:p>
          <a:p>
            <a:r>
              <a:rPr lang="en-US" altLang="zh-CN" dirty="0"/>
              <a:t>5</a:t>
            </a:r>
            <a:r>
              <a:rPr lang="zh-CN" altLang="en-US" dirty="0"/>
              <a:t>、 对项目收尾没有与甲方达成共识，便擅自对公司宣布项目已收尾。</a:t>
            </a:r>
          </a:p>
          <a:p>
            <a:endParaRPr lang="zh-CN" altLang="en-US" dirty="0"/>
          </a:p>
          <a:p>
            <a:r>
              <a:rPr lang="en-US" altLang="zh-CN" dirty="0"/>
              <a:t>【</a:t>
            </a:r>
            <a:r>
              <a:rPr lang="zh-CN" altLang="en-US" dirty="0"/>
              <a:t>问题</a:t>
            </a:r>
            <a:r>
              <a:rPr lang="en-US" altLang="zh-CN" dirty="0" smtClean="0"/>
              <a:t>3】 </a:t>
            </a:r>
            <a:r>
              <a:rPr lang="zh-CN" altLang="en-US" dirty="0" smtClean="0"/>
              <a:t>对于</a:t>
            </a:r>
            <a:r>
              <a:rPr lang="zh-CN" altLang="en-US" dirty="0"/>
              <a:t>软件和信息系统集成项目来说，项目收尾时一般提交的文件包括哪些类</a:t>
            </a:r>
            <a:r>
              <a:rPr lang="zh-CN" altLang="en-US" dirty="0" smtClean="0"/>
              <a:t>？</a:t>
            </a:r>
            <a:endParaRPr lang="en-US" altLang="zh-CN" dirty="0" smtClean="0"/>
          </a:p>
          <a:p>
            <a:r>
              <a:rPr lang="zh-CN" altLang="en-US" dirty="0"/>
              <a:t>要提交的文档：需求规格说明书、系统设计说明书、测试用例、项目质量验</a:t>
            </a:r>
          </a:p>
          <a:p>
            <a:r>
              <a:rPr lang="zh-CN" altLang="en-US" dirty="0"/>
              <a:t>收报告、参考手册和用户指南、软件维护手册、软硬件产品说明书等。</a:t>
            </a:r>
          </a:p>
          <a:p>
            <a:endParaRPr lang="zh-CN" altLang="en-US" dirty="0"/>
          </a:p>
          <a:p>
            <a:r>
              <a:rPr lang="en-US" altLang="zh-CN" dirty="0"/>
              <a:t>【</a:t>
            </a:r>
            <a:r>
              <a:rPr lang="zh-CN" altLang="en-US" dirty="0"/>
              <a:t>问题</a:t>
            </a:r>
            <a:r>
              <a:rPr lang="en-US" altLang="zh-CN" dirty="0"/>
              <a:t>4】 </a:t>
            </a:r>
            <a:endParaRPr lang="en-US" altLang="zh-CN" dirty="0" smtClean="0"/>
          </a:p>
          <a:p>
            <a:r>
              <a:rPr lang="zh-CN" altLang="en-US" dirty="0" smtClean="0"/>
              <a:t>（</a:t>
            </a:r>
            <a:r>
              <a:rPr lang="en-US" altLang="zh-CN" dirty="0"/>
              <a:t>1</a:t>
            </a:r>
            <a:r>
              <a:rPr lang="zh-CN" altLang="en-US" dirty="0"/>
              <a:t>） 王工组织的项目总结会议是否恰当？请说明理由</a:t>
            </a:r>
            <a:r>
              <a:rPr lang="zh-CN" altLang="en-US" dirty="0" smtClean="0"/>
              <a:t>。</a:t>
            </a:r>
            <a:endParaRPr lang="en-US" altLang="zh-CN" dirty="0" smtClean="0"/>
          </a:p>
          <a:p>
            <a:r>
              <a:rPr lang="zh-CN" altLang="en-US" dirty="0"/>
              <a:t>不恰当。应该让项目组全部人员参加，而不是部分项目人员参加。</a:t>
            </a:r>
          </a:p>
          <a:p>
            <a:endParaRPr lang="zh-CN" altLang="en-US" dirty="0"/>
          </a:p>
          <a:p>
            <a:r>
              <a:rPr lang="zh-CN" altLang="en-US" dirty="0"/>
              <a:t>（</a:t>
            </a:r>
            <a:r>
              <a:rPr lang="en-US" altLang="zh-CN" dirty="0"/>
              <a:t>2</a:t>
            </a:r>
            <a:r>
              <a:rPr lang="zh-CN" altLang="en-US" dirty="0"/>
              <a:t>） 请简要叙述项目总结会议上一般讨论的内容包括哪些</a:t>
            </a:r>
            <a:r>
              <a:rPr lang="en-US" altLang="zh-CN" dirty="0" smtClean="0"/>
              <a:t>?</a:t>
            </a:r>
          </a:p>
          <a:p>
            <a:r>
              <a:rPr lang="zh-CN" altLang="en-US" dirty="0"/>
              <a:t>项目总结讨论的内容：①项目绩效；②技术绩效；③成本绩效；④进度计划绩效；⑤项目</a:t>
            </a:r>
          </a:p>
          <a:p>
            <a:r>
              <a:rPr lang="zh-CN" altLang="en-US" dirty="0"/>
              <a:t>的沟通；⑥识别问题和解决问题；⑦意见和建议。</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1700255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4798" y="154262"/>
            <a:ext cx="11861637" cy="7294305"/>
          </a:xfrm>
          <a:prstGeom prst="rect">
            <a:avLst/>
          </a:prstGeom>
        </p:spPr>
        <p:txBody>
          <a:bodyPr wrap="square">
            <a:spAutoFit/>
          </a:bodyPr>
          <a:lstStyle/>
          <a:p>
            <a:r>
              <a:rPr lang="en-US" altLang="zh-CN" dirty="0" smtClean="0"/>
              <a:t>10</a:t>
            </a:r>
            <a:r>
              <a:rPr lang="zh-CN" altLang="en-US" dirty="0" smtClean="0"/>
              <a:t>、</a:t>
            </a:r>
            <a:r>
              <a:rPr lang="zh-CN" altLang="en-US" dirty="0"/>
              <a:t>甲公司中标一个城市轨道交通监控系统开发项目，公司领导决定启用新的技术骨干作为项目</a:t>
            </a:r>
            <a:r>
              <a:rPr lang="zh-CN" altLang="en-US" dirty="0" smtClean="0"/>
              <a:t>经</a:t>
            </a:r>
            <a:r>
              <a:rPr lang="zh-CN" altLang="en-US" dirty="0"/>
              <a:t>理，任命研发部软件开发骨干小王为该项目的项目经理。</a:t>
            </a:r>
          </a:p>
          <a:p>
            <a:r>
              <a:rPr lang="zh-CN" altLang="en-US" dirty="0" smtClean="0"/>
              <a:t>     小王</a:t>
            </a:r>
            <a:r>
              <a:rPr lang="zh-CN" altLang="en-US" dirty="0"/>
              <a:t>技术能力强，自己承担了该项目核心模块开发任务，自从项目管理计划发布以后，一直</a:t>
            </a:r>
            <a:r>
              <a:rPr lang="zh-CN" altLang="en-US" dirty="0" smtClean="0"/>
              <a:t>投身</a:t>
            </a:r>
            <a:r>
              <a:rPr lang="zh-CN" altLang="en-US" dirty="0"/>
              <a:t>于自己的研发任务当中。除了项目阶段验收会之外，没有召开过任何项目例会，只是在</a:t>
            </a:r>
            <a:r>
              <a:rPr lang="zh-CN" altLang="en-US" dirty="0" smtClean="0"/>
              <a:t>项目出现</a:t>
            </a:r>
            <a:r>
              <a:rPr lang="zh-CN" altLang="en-US" dirty="0"/>
              <a:t>问题时才召开项目临时会议。经过项目团队共同努力，该项目进展到系统测试阶段。</a:t>
            </a:r>
          </a:p>
          <a:p>
            <a:r>
              <a:rPr lang="zh-CN" altLang="en-US" dirty="0" smtClean="0"/>
              <a:t>     在</a:t>
            </a:r>
            <a:r>
              <a:rPr lang="zh-CN" altLang="en-US" dirty="0"/>
              <a:t>系统测试前，发现该项目有一个指示灯显示模块开发进度严重滞后，小王立刻会同该模块</a:t>
            </a:r>
            <a:r>
              <a:rPr lang="zh-CN" altLang="en-US" dirty="0" smtClean="0"/>
              <a:t>负责人</a:t>
            </a:r>
            <a:r>
              <a:rPr lang="zh-CN" altLang="en-US" dirty="0"/>
              <a:t>小李一起熬夜加班赶工，完成了该模块。</a:t>
            </a:r>
          </a:p>
          <a:p>
            <a:r>
              <a:rPr lang="zh-CN" altLang="en-US" dirty="0" smtClean="0"/>
              <a:t>     小</a:t>
            </a:r>
            <a:r>
              <a:rPr lang="zh-CN" altLang="en-US" dirty="0"/>
              <a:t>王在项目绩效考核时，认为小李的工作态度不认真，给予较差评价并在项目团队内公布</a:t>
            </a:r>
            <a:r>
              <a:rPr lang="zh-CN" altLang="en-US" dirty="0" smtClean="0"/>
              <a:t>考核结果</a:t>
            </a:r>
            <a:r>
              <a:rPr lang="zh-CN" altLang="en-US" dirty="0"/>
              <a:t>。小李认为自己连续熬夜加班，任务也己完成，觉得考核结果不公平，两人就此问题</a:t>
            </a:r>
            <a:r>
              <a:rPr lang="zh-CN" altLang="en-US" dirty="0" smtClean="0"/>
              <a:t>发生了</a:t>
            </a:r>
            <a:r>
              <a:rPr lang="zh-CN" altLang="en-US" dirty="0"/>
              <a:t>严重冲突，小李因此消极怠工，甚至影响到了项目验收。</a:t>
            </a:r>
          </a:p>
          <a:p>
            <a:endParaRPr lang="en-US" altLang="zh-CN" dirty="0" smtClean="0"/>
          </a:p>
          <a:p>
            <a:r>
              <a:rPr lang="zh-CN" altLang="en-US" dirty="0"/>
              <a:t>问题内容： </a:t>
            </a:r>
            <a:r>
              <a:rPr lang="en-US" altLang="zh-CN" dirty="0"/>
              <a:t>【</a:t>
            </a:r>
            <a:r>
              <a:rPr lang="zh-CN" altLang="en-US" dirty="0"/>
              <a:t>问题</a:t>
            </a:r>
            <a:r>
              <a:rPr lang="en-US" altLang="zh-CN" dirty="0"/>
              <a:t>1】 </a:t>
            </a:r>
            <a:r>
              <a:rPr lang="zh-CN" altLang="en-US" dirty="0"/>
              <a:t>（</a:t>
            </a:r>
            <a:r>
              <a:rPr lang="en-US" altLang="zh-CN" dirty="0"/>
              <a:t>11</a:t>
            </a:r>
            <a:r>
              <a:rPr lang="zh-CN" altLang="en-US" dirty="0"/>
              <a:t>分）</a:t>
            </a:r>
          </a:p>
          <a:p>
            <a:r>
              <a:rPr lang="zh-CN" altLang="en-US" dirty="0"/>
              <a:t>（</a:t>
            </a:r>
            <a:r>
              <a:rPr lang="en-US" altLang="zh-CN" dirty="0"/>
              <a:t>1</a:t>
            </a:r>
            <a:r>
              <a:rPr lang="zh-CN" altLang="en-US" dirty="0"/>
              <a:t>） 基于以上案例，请指出小王在项目团队管理和沟通管理过程中的不恰当之处。</a:t>
            </a:r>
          </a:p>
          <a:p>
            <a:r>
              <a:rPr lang="zh-CN" altLang="en-US" dirty="0"/>
              <a:t>（</a:t>
            </a:r>
            <a:r>
              <a:rPr lang="en-US" altLang="zh-CN" dirty="0"/>
              <a:t>2</a:t>
            </a:r>
            <a:r>
              <a:rPr lang="zh-CN" altLang="en-US" dirty="0"/>
              <a:t>） 针对小李在项目中的问题，请说明小王该如何预防和改进。</a:t>
            </a:r>
          </a:p>
          <a:p>
            <a:r>
              <a:rPr lang="en-US" altLang="zh-CN" dirty="0"/>
              <a:t>【</a:t>
            </a:r>
            <a:r>
              <a:rPr lang="zh-CN" altLang="en-US" dirty="0"/>
              <a:t>问题</a:t>
            </a:r>
            <a:r>
              <a:rPr lang="en-US" altLang="zh-CN" dirty="0"/>
              <a:t>2】 </a:t>
            </a:r>
            <a:r>
              <a:rPr lang="zh-CN" altLang="en-US" dirty="0"/>
              <a:t>（</a:t>
            </a:r>
            <a:r>
              <a:rPr lang="en-US" altLang="zh-CN" dirty="0"/>
              <a:t>4 </a:t>
            </a:r>
            <a:r>
              <a:rPr lang="zh-CN" altLang="en-US" dirty="0"/>
              <a:t>分）</a:t>
            </a:r>
          </a:p>
          <a:p>
            <a:r>
              <a:rPr lang="zh-CN" altLang="en-US" dirty="0"/>
              <a:t>结合案例，说明项目经理小王应当重点学习哪些项目团队管理的方法？</a:t>
            </a:r>
          </a:p>
          <a:p>
            <a:r>
              <a:rPr lang="en-US" altLang="zh-CN" dirty="0"/>
              <a:t>【</a:t>
            </a:r>
            <a:r>
              <a:rPr lang="zh-CN" altLang="en-US" dirty="0"/>
              <a:t>问题</a:t>
            </a:r>
            <a:r>
              <a:rPr lang="en-US" altLang="zh-CN" dirty="0"/>
              <a:t>3】 </a:t>
            </a:r>
            <a:r>
              <a:rPr lang="zh-CN" altLang="en-US" dirty="0"/>
              <a:t>（</a:t>
            </a:r>
            <a:r>
              <a:rPr lang="en-US" altLang="zh-CN" dirty="0"/>
              <a:t>2</a:t>
            </a:r>
            <a:r>
              <a:rPr lang="zh-CN" altLang="en-US" dirty="0"/>
              <a:t>分）</a:t>
            </a:r>
          </a:p>
          <a:p>
            <a:r>
              <a:rPr lang="zh-CN" altLang="en-US" dirty="0"/>
              <a:t>结合案例中小王和小李的冲突，请指出他们之间的冲突属于（从候选答案中选择一个正确</a:t>
            </a:r>
          </a:p>
          <a:p>
            <a:r>
              <a:rPr lang="zh-CN" altLang="en-US" dirty="0"/>
              <a:t>选项，将该选项编号填入答题纸对应栏内）。</a:t>
            </a:r>
          </a:p>
          <a:p>
            <a:r>
              <a:rPr lang="en-US" altLang="zh-CN" dirty="0"/>
              <a:t>A.</a:t>
            </a:r>
            <a:r>
              <a:rPr lang="zh-CN" altLang="en-US" dirty="0"/>
              <a:t>项目优先级冲突 </a:t>
            </a:r>
            <a:r>
              <a:rPr lang="en-US" altLang="zh-CN" dirty="0"/>
              <a:t>B.</a:t>
            </a:r>
            <a:r>
              <a:rPr lang="zh-CN" altLang="en-US" dirty="0"/>
              <a:t>资源冲突 </a:t>
            </a:r>
            <a:r>
              <a:rPr lang="en-US" altLang="zh-CN" dirty="0"/>
              <a:t>C.</a:t>
            </a:r>
            <a:r>
              <a:rPr lang="zh-CN" altLang="en-US" dirty="0"/>
              <a:t>个人冲突 </a:t>
            </a:r>
            <a:r>
              <a:rPr lang="en-US" altLang="zh-CN" dirty="0"/>
              <a:t>D.</a:t>
            </a:r>
            <a:r>
              <a:rPr lang="zh-CN" altLang="en-US" dirty="0"/>
              <a:t>技术冲突</a:t>
            </a:r>
          </a:p>
          <a:p>
            <a:r>
              <a:rPr lang="en-US" altLang="zh-CN" dirty="0"/>
              <a:t>【</a:t>
            </a:r>
            <a:r>
              <a:rPr lang="zh-CN" altLang="en-US" dirty="0"/>
              <a:t>问题</a:t>
            </a:r>
            <a:r>
              <a:rPr lang="en-US" altLang="zh-CN" dirty="0"/>
              <a:t>4】 </a:t>
            </a:r>
            <a:r>
              <a:rPr lang="zh-CN" altLang="en-US" dirty="0"/>
              <a:t>（</a:t>
            </a:r>
            <a:r>
              <a:rPr lang="en-US" altLang="zh-CN" dirty="0"/>
              <a:t>6</a:t>
            </a:r>
            <a:r>
              <a:rPr lang="zh-CN" altLang="en-US" dirty="0"/>
              <a:t>分）</a:t>
            </a:r>
          </a:p>
          <a:p>
            <a:r>
              <a:rPr lang="zh-CN" altLang="en-US" dirty="0"/>
              <a:t>请简要描述项目冲突管理的方法。</a:t>
            </a:r>
          </a:p>
          <a:p>
            <a:endParaRPr lang="zh-CN" altLang="en-US" dirty="0"/>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1070290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1200329"/>
          </a:xfrm>
          <a:prstGeom prst="rect">
            <a:avLst/>
          </a:prstGeom>
        </p:spPr>
        <p:txBody>
          <a:bodyPr wrap="square">
            <a:spAutoFit/>
          </a:bodyPr>
          <a:lstStyle/>
          <a:p>
            <a:endParaRPr lang="zh-CN" altLang="en-US" dirty="0"/>
          </a:p>
          <a:p>
            <a:endParaRPr lang="zh-CN" altLang="en-US" dirty="0"/>
          </a:p>
          <a:p>
            <a:endParaRPr lang="zh-CN" altLang="en-US" dirty="0"/>
          </a:p>
          <a:p>
            <a:endParaRPr lang="zh-CN" altLang="en-US" dirty="0"/>
          </a:p>
        </p:txBody>
      </p:sp>
      <p:sp>
        <p:nvSpPr>
          <p:cNvPr id="3" name="矩形 2"/>
          <p:cNvSpPr/>
          <p:nvPr/>
        </p:nvSpPr>
        <p:spPr>
          <a:xfrm>
            <a:off x="70792" y="41295"/>
            <a:ext cx="12016986" cy="5909310"/>
          </a:xfrm>
          <a:prstGeom prst="rect">
            <a:avLst/>
          </a:prstGeom>
        </p:spPr>
        <p:txBody>
          <a:bodyPr wrap="square">
            <a:spAutoFit/>
          </a:bodyPr>
          <a:lstStyle/>
          <a:p>
            <a:r>
              <a:rPr lang="en-US" altLang="zh-CN" dirty="0"/>
              <a:t>【</a:t>
            </a:r>
            <a:r>
              <a:rPr lang="zh-CN" altLang="en-US" dirty="0" smtClean="0"/>
              <a:t>问题</a:t>
            </a:r>
            <a:r>
              <a:rPr lang="en-US" altLang="zh-CN" dirty="0" smtClean="0"/>
              <a:t>1】 (1</a:t>
            </a:r>
            <a:r>
              <a:rPr lang="zh-CN" altLang="en-US" dirty="0"/>
              <a:t>） 基于以上案例，请指出小王在项目团队管理和沟通管理过程中的不恰当之处</a:t>
            </a:r>
            <a:r>
              <a:rPr lang="zh-CN" altLang="en-US" dirty="0" smtClean="0"/>
              <a:t>。</a:t>
            </a:r>
            <a:endParaRPr lang="en-US" altLang="zh-CN" dirty="0" smtClean="0"/>
          </a:p>
          <a:p>
            <a:r>
              <a:rPr lang="en-US" altLang="zh-CN" dirty="0"/>
              <a:t>1</a:t>
            </a:r>
            <a:r>
              <a:rPr lang="zh-CN" altLang="en-US" dirty="0"/>
              <a:t>、 项目管理基础知识薄弱，过于注重技术，而忽视了管理的重要性。</a:t>
            </a:r>
          </a:p>
          <a:p>
            <a:r>
              <a:rPr lang="en-US" altLang="zh-CN" dirty="0"/>
              <a:t>2</a:t>
            </a:r>
            <a:r>
              <a:rPr lang="zh-CN" altLang="en-US" dirty="0"/>
              <a:t>、 沟通管理中没有建立沟通管理计划</a:t>
            </a:r>
            <a:r>
              <a:rPr lang="en-US" altLang="zh-CN" dirty="0"/>
              <a:t>/</a:t>
            </a:r>
            <a:r>
              <a:rPr lang="zh-CN" altLang="en-US" dirty="0"/>
              <a:t>机制，不能及时掌握项目状况。</a:t>
            </a:r>
          </a:p>
          <a:p>
            <a:r>
              <a:rPr lang="en-US" altLang="zh-CN" dirty="0"/>
              <a:t>3</a:t>
            </a:r>
            <a:r>
              <a:rPr lang="zh-CN" altLang="en-US" dirty="0"/>
              <a:t>、 缺乏团队领导经验，只采用了临时性沟通方法，不能有效解决项目实施过程中的问题。</a:t>
            </a:r>
          </a:p>
          <a:p>
            <a:r>
              <a:rPr lang="en-US" altLang="zh-CN" dirty="0"/>
              <a:t>4</a:t>
            </a:r>
            <a:r>
              <a:rPr lang="zh-CN" altLang="en-US" dirty="0"/>
              <a:t>、 缺乏有效的交流与沟通。</a:t>
            </a:r>
          </a:p>
          <a:p>
            <a:r>
              <a:rPr lang="en-US" altLang="zh-CN" dirty="0"/>
              <a:t>5</a:t>
            </a:r>
            <a:r>
              <a:rPr lang="zh-CN" altLang="en-US" dirty="0"/>
              <a:t>、 没有建立有效的绩效评估体系。</a:t>
            </a:r>
          </a:p>
          <a:p>
            <a:r>
              <a:rPr lang="en-US" altLang="zh-CN" dirty="0"/>
              <a:t>6</a:t>
            </a:r>
            <a:r>
              <a:rPr lang="zh-CN" altLang="en-US" dirty="0"/>
              <a:t>、 没有一定的激励与惩罚措施。</a:t>
            </a:r>
          </a:p>
          <a:p>
            <a:r>
              <a:rPr lang="en-US" altLang="zh-CN" dirty="0"/>
              <a:t>7</a:t>
            </a:r>
            <a:r>
              <a:rPr lang="zh-CN" altLang="en-US" dirty="0"/>
              <a:t>、 没有掌握相关的人际关系技能。</a:t>
            </a:r>
          </a:p>
          <a:p>
            <a:r>
              <a:rPr lang="en-US" altLang="zh-CN" dirty="0"/>
              <a:t>8</a:t>
            </a:r>
            <a:r>
              <a:rPr lang="zh-CN" altLang="en-US" dirty="0"/>
              <a:t>、 冲突管理不到位。</a:t>
            </a:r>
          </a:p>
          <a:p>
            <a:endParaRPr lang="zh-CN" altLang="en-US" dirty="0"/>
          </a:p>
          <a:p>
            <a:r>
              <a:rPr lang="zh-CN" altLang="en-US" dirty="0"/>
              <a:t>（</a:t>
            </a:r>
            <a:r>
              <a:rPr lang="en-US" altLang="zh-CN" dirty="0"/>
              <a:t>2</a:t>
            </a:r>
            <a:r>
              <a:rPr lang="zh-CN" altLang="en-US" dirty="0"/>
              <a:t>） 针对小李在项目中的问题，请说明小王该如何预防和改进</a:t>
            </a:r>
            <a:r>
              <a:rPr lang="zh-CN" altLang="en-US" dirty="0" smtClean="0"/>
              <a:t>。</a:t>
            </a:r>
            <a:endParaRPr lang="en-US" altLang="zh-CN" dirty="0" smtClean="0"/>
          </a:p>
          <a:p>
            <a:r>
              <a:rPr lang="en-US" altLang="zh-CN" dirty="0"/>
              <a:t>1</a:t>
            </a:r>
            <a:r>
              <a:rPr lang="zh-CN" altLang="en-US" dirty="0"/>
              <a:t>、 跟踪个人及团队的执行情况、提供反馈（对小李工作进度进行监控）。</a:t>
            </a:r>
          </a:p>
          <a:p>
            <a:r>
              <a:rPr lang="en-US" altLang="zh-CN" dirty="0"/>
              <a:t>2</a:t>
            </a:r>
            <a:r>
              <a:rPr lang="zh-CN" altLang="en-US" dirty="0"/>
              <a:t>、 提高项目绩效、对项目进度进行有效的监控。</a:t>
            </a:r>
          </a:p>
          <a:p>
            <a:r>
              <a:rPr lang="en-US" altLang="zh-CN" dirty="0"/>
              <a:t>3</a:t>
            </a:r>
            <a:r>
              <a:rPr lang="zh-CN" altLang="en-US" dirty="0"/>
              <a:t>、 给进度滞后的员工提供培训服务。</a:t>
            </a:r>
          </a:p>
          <a:p>
            <a:r>
              <a:rPr lang="en-US" altLang="zh-CN" dirty="0"/>
              <a:t>4</a:t>
            </a:r>
            <a:r>
              <a:rPr lang="zh-CN" altLang="en-US" dirty="0"/>
              <a:t>、 学习项目管理知识。</a:t>
            </a:r>
          </a:p>
          <a:p>
            <a:r>
              <a:rPr lang="en-US" altLang="zh-CN" dirty="0"/>
              <a:t>5</a:t>
            </a:r>
            <a:r>
              <a:rPr lang="zh-CN" altLang="en-US" dirty="0"/>
              <a:t>、 管理冲突、解决问题（与小李进行有效、当面沟通，化解矛盾）。</a:t>
            </a:r>
          </a:p>
          <a:p>
            <a:r>
              <a:rPr lang="en-US" altLang="zh-CN" dirty="0"/>
              <a:t>6</a:t>
            </a:r>
            <a:r>
              <a:rPr lang="zh-CN" altLang="en-US" dirty="0"/>
              <a:t>、 提高沟通与交流的能力。</a:t>
            </a:r>
          </a:p>
          <a:p>
            <a:r>
              <a:rPr lang="en-US" altLang="zh-CN" dirty="0"/>
              <a:t>7</a:t>
            </a:r>
            <a:r>
              <a:rPr lang="zh-CN" altLang="en-US" dirty="0"/>
              <a:t>、 掌握一些人际关系技能。</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511652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898" y="634277"/>
            <a:ext cx="11560455" cy="1200329"/>
          </a:xfrm>
          <a:prstGeom prst="rect">
            <a:avLst/>
          </a:prstGeom>
        </p:spPr>
        <p:txBody>
          <a:bodyPr wrap="square">
            <a:spAutoFit/>
          </a:bodyPr>
          <a:lstStyle/>
          <a:p>
            <a:endParaRPr lang="zh-CN" altLang="en-US" dirty="0"/>
          </a:p>
          <a:p>
            <a:endParaRPr lang="zh-CN" altLang="en-US" dirty="0"/>
          </a:p>
          <a:p>
            <a:endParaRPr lang="zh-CN" altLang="en-US" dirty="0"/>
          </a:p>
          <a:p>
            <a:endParaRPr lang="zh-CN" altLang="en-US" dirty="0"/>
          </a:p>
        </p:txBody>
      </p:sp>
      <p:sp>
        <p:nvSpPr>
          <p:cNvPr id="3" name="矩形 2"/>
          <p:cNvSpPr/>
          <p:nvPr/>
        </p:nvSpPr>
        <p:spPr>
          <a:xfrm>
            <a:off x="70792" y="41295"/>
            <a:ext cx="12016986" cy="7848302"/>
          </a:xfrm>
          <a:prstGeom prst="rect">
            <a:avLst/>
          </a:prstGeom>
        </p:spPr>
        <p:txBody>
          <a:bodyPr wrap="square">
            <a:spAutoFit/>
          </a:bodyPr>
          <a:lstStyle/>
          <a:p>
            <a:r>
              <a:rPr lang="en-US" altLang="zh-CN" dirty="0" smtClean="0"/>
              <a:t>【</a:t>
            </a:r>
            <a:r>
              <a:rPr lang="zh-CN" altLang="en-US" dirty="0"/>
              <a:t>问题</a:t>
            </a:r>
            <a:r>
              <a:rPr lang="en-US" altLang="zh-CN" dirty="0"/>
              <a:t>2】 </a:t>
            </a:r>
            <a:r>
              <a:rPr lang="zh-CN" altLang="en-US" dirty="0"/>
              <a:t>（</a:t>
            </a:r>
            <a:r>
              <a:rPr lang="en-US" altLang="zh-CN" dirty="0"/>
              <a:t>4 </a:t>
            </a:r>
            <a:r>
              <a:rPr lang="zh-CN" altLang="en-US" dirty="0"/>
              <a:t>分）</a:t>
            </a:r>
          </a:p>
          <a:p>
            <a:r>
              <a:rPr lang="zh-CN" altLang="en-US" dirty="0"/>
              <a:t>结合案例，说明项目经理小王应当重点学习哪些项目团队管理的方法</a:t>
            </a:r>
            <a:r>
              <a:rPr lang="zh-CN" altLang="en-US" dirty="0" smtClean="0"/>
              <a:t>？</a:t>
            </a:r>
            <a:endParaRPr lang="en-US" altLang="zh-CN" dirty="0" smtClean="0"/>
          </a:p>
          <a:p>
            <a:endParaRPr lang="en-US" altLang="zh-CN" dirty="0" smtClean="0"/>
          </a:p>
          <a:p>
            <a:r>
              <a:rPr lang="en-US" altLang="zh-CN" dirty="0"/>
              <a:t>1</a:t>
            </a:r>
            <a:r>
              <a:rPr lang="zh-CN" altLang="en-US" dirty="0"/>
              <a:t>、 冲突管理</a:t>
            </a:r>
          </a:p>
          <a:p>
            <a:r>
              <a:rPr lang="en-US" altLang="zh-CN" dirty="0"/>
              <a:t>2</a:t>
            </a:r>
            <a:r>
              <a:rPr lang="zh-CN" altLang="en-US" dirty="0"/>
              <a:t>、 项目绩效评估</a:t>
            </a:r>
          </a:p>
          <a:p>
            <a:r>
              <a:rPr lang="en-US" altLang="zh-CN" dirty="0"/>
              <a:t>3</a:t>
            </a:r>
            <a:r>
              <a:rPr lang="zh-CN" altLang="en-US" dirty="0"/>
              <a:t>、 沟通管理</a:t>
            </a:r>
          </a:p>
          <a:p>
            <a:r>
              <a:rPr lang="en-US" altLang="zh-CN" dirty="0"/>
              <a:t>4</a:t>
            </a:r>
            <a:r>
              <a:rPr lang="zh-CN" altLang="en-US" dirty="0"/>
              <a:t>、 会议管理</a:t>
            </a:r>
          </a:p>
          <a:p>
            <a:r>
              <a:rPr lang="en-US" altLang="zh-CN" dirty="0"/>
              <a:t>5</a:t>
            </a:r>
            <a:r>
              <a:rPr lang="zh-CN" altLang="en-US" dirty="0"/>
              <a:t>、 人际关系技能</a:t>
            </a:r>
          </a:p>
          <a:p>
            <a:r>
              <a:rPr lang="en-US" altLang="zh-CN" dirty="0"/>
              <a:t>6</a:t>
            </a:r>
            <a:r>
              <a:rPr lang="zh-CN" altLang="en-US" dirty="0"/>
              <a:t>、 观察和交谈</a:t>
            </a:r>
          </a:p>
          <a:p>
            <a:endParaRPr lang="zh-CN" altLang="en-US" dirty="0"/>
          </a:p>
          <a:p>
            <a:r>
              <a:rPr lang="en-US" altLang="zh-CN" dirty="0"/>
              <a:t>【</a:t>
            </a:r>
            <a:r>
              <a:rPr lang="zh-CN" altLang="en-US" dirty="0"/>
              <a:t>问题</a:t>
            </a:r>
            <a:r>
              <a:rPr lang="en-US" altLang="zh-CN" dirty="0"/>
              <a:t>3】 </a:t>
            </a:r>
            <a:r>
              <a:rPr lang="zh-CN" altLang="en-US" dirty="0"/>
              <a:t>（</a:t>
            </a:r>
            <a:r>
              <a:rPr lang="en-US" altLang="zh-CN" dirty="0"/>
              <a:t>2</a:t>
            </a:r>
            <a:r>
              <a:rPr lang="zh-CN" altLang="en-US" dirty="0"/>
              <a:t>分）</a:t>
            </a:r>
          </a:p>
          <a:p>
            <a:r>
              <a:rPr lang="zh-CN" altLang="en-US" dirty="0"/>
              <a:t>结合案例中小王和小李的冲突，请指出他们之间的冲突属于</a:t>
            </a:r>
            <a:r>
              <a:rPr lang="zh-CN" altLang="en-US" dirty="0" smtClean="0"/>
              <a:t>（</a:t>
            </a:r>
            <a:r>
              <a:rPr lang="en-US" altLang="zh-CN" dirty="0" smtClean="0"/>
              <a:t>C</a:t>
            </a:r>
            <a:r>
              <a:rPr lang="zh-CN" altLang="en-US" dirty="0" smtClean="0"/>
              <a:t>）</a:t>
            </a:r>
            <a:r>
              <a:rPr lang="zh-CN" altLang="en-US" dirty="0"/>
              <a:t>。</a:t>
            </a:r>
          </a:p>
          <a:p>
            <a:r>
              <a:rPr lang="en-US" altLang="zh-CN" dirty="0"/>
              <a:t>A.</a:t>
            </a:r>
            <a:r>
              <a:rPr lang="zh-CN" altLang="en-US" dirty="0"/>
              <a:t>项目优先级</a:t>
            </a:r>
            <a:r>
              <a:rPr lang="zh-CN" altLang="en-US" dirty="0" smtClean="0"/>
              <a:t>冲突    </a:t>
            </a:r>
            <a:r>
              <a:rPr lang="en-US" altLang="zh-CN" dirty="0"/>
              <a:t>B.</a:t>
            </a:r>
            <a:r>
              <a:rPr lang="zh-CN" altLang="en-US" dirty="0"/>
              <a:t>资源冲突 </a:t>
            </a:r>
            <a:r>
              <a:rPr lang="zh-CN" altLang="en-US" dirty="0" smtClean="0"/>
              <a:t>      </a:t>
            </a:r>
            <a:r>
              <a:rPr lang="en-US" altLang="zh-CN" dirty="0" smtClean="0"/>
              <a:t>C</a:t>
            </a:r>
            <a:r>
              <a:rPr lang="en-US" altLang="zh-CN" dirty="0"/>
              <a:t>.</a:t>
            </a:r>
            <a:r>
              <a:rPr lang="zh-CN" altLang="en-US" dirty="0"/>
              <a:t>个人</a:t>
            </a:r>
            <a:r>
              <a:rPr lang="zh-CN" altLang="en-US" dirty="0" smtClean="0"/>
              <a:t>冲突             </a:t>
            </a:r>
            <a:r>
              <a:rPr lang="en-US" altLang="zh-CN" dirty="0" smtClean="0"/>
              <a:t>D</a:t>
            </a:r>
            <a:r>
              <a:rPr lang="en-US" altLang="zh-CN" dirty="0"/>
              <a:t>.</a:t>
            </a:r>
            <a:r>
              <a:rPr lang="zh-CN" altLang="en-US" dirty="0"/>
              <a:t>技术</a:t>
            </a:r>
            <a:r>
              <a:rPr lang="zh-CN" altLang="en-US" dirty="0" smtClean="0"/>
              <a:t>冲突</a:t>
            </a:r>
            <a:endParaRPr lang="en-US" altLang="zh-CN" dirty="0" smtClean="0"/>
          </a:p>
          <a:p>
            <a:endParaRPr lang="zh-CN" altLang="en-US" dirty="0"/>
          </a:p>
          <a:p>
            <a:r>
              <a:rPr lang="en-US" altLang="zh-CN" dirty="0"/>
              <a:t>【</a:t>
            </a:r>
            <a:r>
              <a:rPr lang="zh-CN" altLang="en-US" dirty="0"/>
              <a:t>问题</a:t>
            </a:r>
            <a:r>
              <a:rPr lang="en-US" altLang="zh-CN" dirty="0"/>
              <a:t>4】 </a:t>
            </a:r>
            <a:r>
              <a:rPr lang="zh-CN" altLang="en-US" dirty="0"/>
              <a:t>（</a:t>
            </a:r>
            <a:r>
              <a:rPr lang="en-US" altLang="zh-CN" dirty="0"/>
              <a:t>6</a:t>
            </a:r>
            <a:r>
              <a:rPr lang="zh-CN" altLang="en-US" dirty="0"/>
              <a:t>分）</a:t>
            </a:r>
          </a:p>
          <a:p>
            <a:r>
              <a:rPr lang="zh-CN" altLang="en-US" dirty="0"/>
              <a:t>请简要描述项目冲突管理的方法。</a:t>
            </a:r>
          </a:p>
          <a:p>
            <a:r>
              <a:rPr lang="en-US" altLang="zh-CN" dirty="0"/>
              <a:t>1</a:t>
            </a:r>
            <a:r>
              <a:rPr lang="zh-CN" altLang="en-US" dirty="0"/>
              <a:t>、 撤退</a:t>
            </a:r>
            <a:r>
              <a:rPr lang="en-US" altLang="zh-CN" dirty="0"/>
              <a:t>/</a:t>
            </a:r>
            <a:r>
              <a:rPr lang="zh-CN" altLang="en-US" dirty="0"/>
              <a:t>回避：就是把眼前的或潜在的冲突搁置起来，从冲突中撤退。</a:t>
            </a:r>
          </a:p>
          <a:p>
            <a:r>
              <a:rPr lang="en-US" altLang="zh-CN" dirty="0"/>
              <a:t>2</a:t>
            </a:r>
            <a:r>
              <a:rPr lang="zh-CN" altLang="en-US" dirty="0"/>
              <a:t>、 缓和</a:t>
            </a:r>
            <a:r>
              <a:rPr lang="en-US" altLang="zh-CN" dirty="0"/>
              <a:t>/</a:t>
            </a:r>
            <a:r>
              <a:rPr lang="zh-CN" altLang="en-US" dirty="0"/>
              <a:t>包容：就是冲突各方都关注他们一致的一面，而淡化不一致的一面。</a:t>
            </a:r>
          </a:p>
          <a:p>
            <a:r>
              <a:rPr lang="en-US" altLang="zh-CN" dirty="0"/>
              <a:t>3</a:t>
            </a:r>
            <a:r>
              <a:rPr lang="zh-CN" altLang="en-US" dirty="0"/>
              <a:t>、 妥协</a:t>
            </a:r>
            <a:r>
              <a:rPr lang="en-US" altLang="zh-CN" dirty="0"/>
              <a:t>/</a:t>
            </a:r>
            <a:r>
              <a:rPr lang="zh-CN" altLang="en-US" dirty="0"/>
              <a:t>调解：就是冲突各方协商并且寻找一种能够使冲突各方都有一定程度满意、但冲突各</a:t>
            </a:r>
          </a:p>
          <a:p>
            <a:r>
              <a:rPr lang="zh-CN" altLang="en-US" dirty="0"/>
              <a:t>方没有任何一方完全满意、是一种都做一些让步的冲突解决办法。</a:t>
            </a:r>
          </a:p>
          <a:p>
            <a:r>
              <a:rPr lang="en-US" altLang="zh-CN" dirty="0"/>
              <a:t>4</a:t>
            </a:r>
            <a:r>
              <a:rPr lang="zh-CN" altLang="en-US" dirty="0"/>
              <a:t>、 强迫</a:t>
            </a:r>
            <a:r>
              <a:rPr lang="en-US" altLang="zh-CN" dirty="0"/>
              <a:t>/</a:t>
            </a:r>
            <a:r>
              <a:rPr lang="zh-CN" altLang="en-US" dirty="0"/>
              <a:t>命令：就是以牺牲其他各方的观点为代价，强制采纳一方的观点。一般只适用于赢一</a:t>
            </a:r>
          </a:p>
          <a:p>
            <a:r>
              <a:rPr lang="zh-CN" altLang="en-US" dirty="0"/>
              <a:t>输这样的零和游戏情景里。</a:t>
            </a:r>
          </a:p>
          <a:p>
            <a:r>
              <a:rPr lang="en-US" altLang="zh-CN" dirty="0"/>
              <a:t>5</a:t>
            </a:r>
            <a:r>
              <a:rPr lang="zh-CN" altLang="en-US" dirty="0"/>
              <a:t>、 合作</a:t>
            </a:r>
            <a:r>
              <a:rPr lang="en-US" altLang="zh-CN" dirty="0"/>
              <a:t>/</a:t>
            </a:r>
            <a:r>
              <a:rPr lang="zh-CN" altLang="en-US" dirty="0"/>
              <a:t>解决问题：综合考虑不同的观点和意见，采用合作的态度和开发式对话引导各方达成</a:t>
            </a:r>
          </a:p>
          <a:p>
            <a:r>
              <a:rPr lang="zh-CN" altLang="en-US" dirty="0"/>
              <a:t>共识和承诺。这是冲突双方最理想的结果，前提是双方要互相尊重、意愿合作、愿意倾听对</a:t>
            </a:r>
          </a:p>
          <a:p>
            <a:r>
              <a:rPr lang="zh-CN" altLang="en-US" dirty="0"/>
              <a:t>方。</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234409818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7269</Words>
  <Application>Microsoft Office PowerPoint</Application>
  <PresentationFormat>宽屏</PresentationFormat>
  <Paragraphs>424</Paragraphs>
  <Slides>25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等线</vt:lpstr>
      <vt:lpstr>等线 Light</vt:lpstr>
      <vt:lpstr>宋体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maok wu</dc:creator>
  <cp:lastModifiedBy>maok wu</cp:lastModifiedBy>
  <cp:revision>112</cp:revision>
  <dcterms:created xsi:type="dcterms:W3CDTF">2024-05-26T10:48:10Z</dcterms:created>
  <dcterms:modified xsi:type="dcterms:W3CDTF">2024-06-04T14:11:46Z</dcterms:modified>
</cp:coreProperties>
</file>