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0"/>
  </p:notesMasterIdLst>
  <p:sldIdLst>
    <p:sldId id="256" r:id="rId3"/>
    <p:sldId id="395" r:id="rId4"/>
    <p:sldId id="396" r:id="rId5"/>
    <p:sldId id="397" r:id="rId6"/>
    <p:sldId id="399" r:id="rId7"/>
    <p:sldId id="400" r:id="rId8"/>
    <p:sldId id="402" r:id="rId9"/>
    <p:sldId id="401" r:id="rId10"/>
    <p:sldId id="403" r:id="rId11"/>
    <p:sldId id="404" r:id="rId12"/>
    <p:sldId id="405" r:id="rId13"/>
    <p:sldId id="406" r:id="rId14"/>
    <p:sldId id="261" r:id="rId15"/>
    <p:sldId id="264" r:id="rId16"/>
    <p:sldId id="268" r:id="rId17"/>
    <p:sldId id="269" r:id="rId18"/>
    <p:sldId id="270" r:id="rId19"/>
    <p:sldId id="275" r:id="rId20"/>
    <p:sldId id="279" r:id="rId21"/>
    <p:sldId id="282" r:id="rId22"/>
    <p:sldId id="283" r:id="rId23"/>
    <p:sldId id="286" r:id="rId24"/>
    <p:sldId id="288" r:id="rId25"/>
    <p:sldId id="289" r:id="rId26"/>
    <p:sldId id="291" r:id="rId27"/>
    <p:sldId id="294" r:id="rId28"/>
    <p:sldId id="295" r:id="rId29"/>
    <p:sldId id="296" r:id="rId30"/>
    <p:sldId id="299" r:id="rId31"/>
    <p:sldId id="305" r:id="rId32"/>
    <p:sldId id="307" r:id="rId33"/>
    <p:sldId id="309" r:id="rId34"/>
    <p:sldId id="311" r:id="rId35"/>
    <p:sldId id="312" r:id="rId36"/>
    <p:sldId id="313" r:id="rId37"/>
    <p:sldId id="314" r:id="rId38"/>
    <p:sldId id="315" r:id="rId39"/>
    <p:sldId id="316" r:id="rId40"/>
    <p:sldId id="317" r:id="rId41"/>
    <p:sldId id="318" r:id="rId42"/>
    <p:sldId id="319" r:id="rId43"/>
    <p:sldId id="320" r:id="rId44"/>
    <p:sldId id="321" r:id="rId45"/>
    <p:sldId id="322" r:id="rId46"/>
    <p:sldId id="323" r:id="rId47"/>
    <p:sldId id="324" r:id="rId48"/>
    <p:sldId id="325" r:id="rId49"/>
    <p:sldId id="326" r:id="rId50"/>
    <p:sldId id="327" r:id="rId51"/>
    <p:sldId id="328" r:id="rId52"/>
    <p:sldId id="329" r:id="rId53"/>
    <p:sldId id="330" r:id="rId54"/>
    <p:sldId id="331" r:id="rId55"/>
    <p:sldId id="332" r:id="rId56"/>
    <p:sldId id="333" r:id="rId57"/>
    <p:sldId id="334" r:id="rId58"/>
    <p:sldId id="335" r:id="rId59"/>
    <p:sldId id="336" r:id="rId60"/>
    <p:sldId id="337" r:id="rId61"/>
    <p:sldId id="338" r:id="rId62"/>
    <p:sldId id="339" r:id="rId63"/>
    <p:sldId id="340" r:id="rId64"/>
    <p:sldId id="341" r:id="rId65"/>
    <p:sldId id="342" r:id="rId66"/>
    <p:sldId id="343" r:id="rId67"/>
    <p:sldId id="344" r:id="rId68"/>
    <p:sldId id="345" r:id="rId69"/>
    <p:sldId id="346" r:id="rId70"/>
    <p:sldId id="347" r:id="rId71"/>
    <p:sldId id="348" r:id="rId72"/>
    <p:sldId id="349" r:id="rId73"/>
    <p:sldId id="350" r:id="rId74"/>
    <p:sldId id="351" r:id="rId75"/>
    <p:sldId id="352" r:id="rId76"/>
    <p:sldId id="353" r:id="rId77"/>
    <p:sldId id="354" r:id="rId78"/>
    <p:sldId id="355" r:id="rId79"/>
    <p:sldId id="356" r:id="rId80"/>
    <p:sldId id="357" r:id="rId81"/>
    <p:sldId id="358" r:id="rId82"/>
    <p:sldId id="359" r:id="rId83"/>
    <p:sldId id="360" r:id="rId84"/>
    <p:sldId id="361" r:id="rId85"/>
    <p:sldId id="362" r:id="rId86"/>
    <p:sldId id="363" r:id="rId87"/>
    <p:sldId id="364" r:id="rId88"/>
    <p:sldId id="365" r:id="rId89"/>
    <p:sldId id="366" r:id="rId90"/>
    <p:sldId id="367" r:id="rId91"/>
    <p:sldId id="368" r:id="rId92"/>
    <p:sldId id="369" r:id="rId93"/>
    <p:sldId id="370" r:id="rId94"/>
    <p:sldId id="371" r:id="rId95"/>
    <p:sldId id="372" r:id="rId96"/>
    <p:sldId id="373" r:id="rId97"/>
    <p:sldId id="374" r:id="rId98"/>
    <p:sldId id="375" r:id="rId99"/>
    <p:sldId id="376" r:id="rId100"/>
    <p:sldId id="377" r:id="rId101"/>
    <p:sldId id="378" r:id="rId102"/>
    <p:sldId id="379" r:id="rId103"/>
    <p:sldId id="380" r:id="rId104"/>
    <p:sldId id="381" r:id="rId105"/>
    <p:sldId id="382" r:id="rId106"/>
    <p:sldId id="383" r:id="rId107"/>
    <p:sldId id="384" r:id="rId108"/>
    <p:sldId id="391" r:id="rId109"/>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7" userDrawn="1">
          <p15:clr>
            <a:srgbClr val="A4A3A4"/>
          </p15:clr>
        </p15:guide>
        <p15:guide id="2" pos="291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9900CC"/>
    <a:srgbClr val="FF00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104" d="100"/>
          <a:sy n="104" d="100"/>
        </p:scale>
        <p:origin x="1002" y="114"/>
      </p:cViewPr>
      <p:guideLst>
        <p:guide orient="horz" pos="2167"/>
        <p:guide pos="2915"/>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3" Type="http://schemas.openxmlformats.org/officeDocument/2006/relationships/tableStyles" Target="tableStyles.xml"/><Relationship Id="rId112" Type="http://schemas.openxmlformats.org/officeDocument/2006/relationships/viewProps" Target="viewProps.xml"/><Relationship Id="rId111" Type="http://schemas.openxmlformats.org/officeDocument/2006/relationships/presProps" Target="presProps.xml"/><Relationship Id="rId110" Type="http://schemas.openxmlformats.org/officeDocument/2006/relationships/notesMaster" Target="notesMasters/notesMaster1.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A370C-E8D8-4EED-A91B-A49CB376FCA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D7C55C-CC2F-4A86-B343-6F6ABCF5011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457200" y="1600200"/>
            <a:ext cx="8229600" cy="4525963"/>
          </a:xfrm>
        </p:spPr>
        <p:txBody>
          <a:bodyPr/>
          <a:lstStyle/>
          <a:p>
            <a:pPr lvl="0"/>
            <a:endParaRPr lang="zh-CN" altLang="en-US" noProof="0"/>
          </a:p>
        </p:txBody>
      </p:sp>
      <p:sp>
        <p:nvSpPr>
          <p:cNvPr id="4" name="Rectangle 4"/>
          <p:cNvSpPr>
            <a:spLocks noGrp="1" noChangeArrowheads="1"/>
          </p:cNvSpPr>
          <p:nvPr>
            <p:ph type="dt" sz="half" idx="10"/>
          </p:nvPr>
        </p:nvSpPr>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p:txBody>
          <a:bodyPr/>
          <a:lstStyle>
            <a:lvl1pPr>
              <a:defRPr/>
            </a:lvl1pPr>
          </a:lstStyle>
          <a:p>
            <a:fld id="{9716DFD9-0C39-46FB-A76C-EA7FF99DE46B}" type="slidenum">
              <a:rPr lang="zh-CN" altLang="zh-CN"/>
            </a:fld>
            <a:endParaRPr lang="zh-CN"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1.xml"/><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2.xml"/><Relationship Id="rId1" Type="http://schemas.openxmlformats.org/officeDocument/2006/relationships/image" Target="../media/image1.jpe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3.xml"/><Relationship Id="rId1" Type="http://schemas.openxmlformats.org/officeDocument/2006/relationships/image" Target="../media/image1.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4.xml"/><Relationship Id="rId1" Type="http://schemas.openxmlformats.org/officeDocument/2006/relationships/image" Target="../media/image1.jpe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5.xml"/><Relationship Id="rId1" Type="http://schemas.openxmlformats.org/officeDocument/2006/relationships/image" Target="../media/image1.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979613" y="2348865"/>
            <a:ext cx="5418455" cy="1445260"/>
          </a:xfrm>
          <a:prstGeom prst="rect">
            <a:avLst/>
          </a:prstGeom>
          <a:noFill/>
        </p:spPr>
        <p:txBody>
          <a:bodyPr wrap="none">
            <a:spAutoFit/>
          </a:bodyPr>
          <a:lstStyle/>
          <a:p>
            <a:pPr algn="ctr">
              <a:defRPr sz="4400" b="1"/>
            </a:pPr>
            <a:r>
              <a:t>第11章 项目成本管理</a:t>
            </a:r>
            <a:b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619672" y="188640"/>
            <a:ext cx="6624736" cy="792088"/>
          </a:xfrm>
        </p:spPr>
        <p:txBody>
          <a:bodyPr>
            <a:noAutofit/>
          </a:bodyPr>
          <a:lstStyle/>
          <a:p>
            <a:pPr algn="l" eaLnBrk="1" hangingPunct="1"/>
            <a:r>
              <a:rPr lang="zh-CN" altLang="en-US" sz="4000" b="1" dirty="0">
                <a:latin typeface="Times New Roman" panose="02020603050405020304" pitchFamily="18" charset="0"/>
                <a:ea typeface="宋体" panose="02010600030101010101" pitchFamily="2" charset="-122"/>
              </a:rPr>
              <a:t>信息系统项目的</a:t>
            </a:r>
            <a:r>
              <a:rPr lang="zh-CN" altLang="en-US" sz="4000" b="1" dirty="0">
                <a:latin typeface="Times New Roman" panose="02020603050405020304" pitchFamily="18" charset="0"/>
                <a:ea typeface="宋体" panose="02010600030101010101" pitchFamily="2" charset="-122"/>
              </a:rPr>
              <a:t>成本管理</a:t>
            </a:r>
            <a:endParaRPr lang="zh-CN" altLang="en-US" sz="4000" dirty="0">
              <a:latin typeface="Times New Roman" panose="02020603050405020304" pitchFamily="18" charset="0"/>
              <a:ea typeface="宋体" panose="02010600030101010101" pitchFamily="2" charset="-122"/>
            </a:endParaRPr>
          </a:p>
        </p:txBody>
      </p:sp>
      <p:sp>
        <p:nvSpPr>
          <p:cNvPr id="18435" name="Rectangle 3"/>
          <p:cNvSpPr>
            <a:spLocks noGrp="1" noChangeArrowheads="1"/>
          </p:cNvSpPr>
          <p:nvPr>
            <p:ph idx="1"/>
          </p:nvPr>
        </p:nvSpPr>
        <p:spPr>
          <a:xfrm>
            <a:off x="179705" y="1124585"/>
            <a:ext cx="8875395" cy="1728470"/>
          </a:xfrm>
        </p:spPr>
        <p:txBody>
          <a:bodyPr>
            <a:noAutofit/>
          </a:bodyPr>
          <a:lstStyle/>
          <a:p>
            <a:pPr marL="0" indent="0" eaLnBrk="1" hangingPunct="1">
              <a:spcBef>
                <a:spcPct val="0"/>
              </a:spcBef>
              <a:buNone/>
            </a:pPr>
            <a:r>
              <a:rPr lang="zh-CN" altLang="en-US" dirty="0">
                <a:solidFill>
                  <a:srgbClr val="FF0000"/>
                </a:solidFill>
                <a:latin typeface="Times New Roman" panose="02020603050405020304" pitchFamily="18" charset="0"/>
                <a:ea typeface="宋体" panose="02010600030101010101" pitchFamily="2" charset="-122"/>
              </a:rPr>
              <a:t>项目成本管理</a:t>
            </a:r>
            <a:r>
              <a:rPr lang="zh-CN" altLang="en-US" dirty="0">
                <a:latin typeface="Times New Roman" panose="02020603050405020304" pitchFamily="18" charset="0"/>
                <a:ea typeface="宋体" panose="02010600030101010101" pitchFamily="2" charset="-122"/>
              </a:rPr>
              <a:t>是为了项目在批准的预算内完成，</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对成本进行规划</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、估算、预算、融资、筹资、管理和控制的过程。</a:t>
            </a: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r>
              <a:rPr lang="zh-CN" altLang="en-US" dirty="0">
                <a:latin typeface="Times New Roman" panose="02020603050405020304" pitchFamily="18" charset="0"/>
                <a:ea typeface="宋体" panose="02010600030101010101" pitchFamily="2" charset="-122"/>
              </a:rPr>
              <a:t>如果项目建设的实际成本远远超出批准的投资预算，就很容易造成</a:t>
            </a:r>
            <a:r>
              <a:rPr lang="zh-CN" altLang="en-US" dirty="0">
                <a:solidFill>
                  <a:srgbClr val="FF0000"/>
                </a:solidFill>
                <a:latin typeface="Times New Roman" panose="02020603050405020304" pitchFamily="18" charset="0"/>
                <a:ea typeface="宋体" panose="02010600030101010101" pitchFamily="2" charset="-122"/>
              </a:rPr>
              <a:t>成本失控</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619672" y="188640"/>
            <a:ext cx="6624736" cy="792088"/>
          </a:xfrm>
        </p:spPr>
        <p:txBody>
          <a:bodyPr>
            <a:noAutofit/>
          </a:bodyPr>
          <a:lstStyle/>
          <a:p>
            <a:pPr algn="l" eaLnBrk="1" hangingPunct="1"/>
            <a:r>
              <a:rPr lang="zh-CN" altLang="en-US" sz="4000" b="1" dirty="0">
                <a:latin typeface="Times New Roman" panose="02020603050405020304" pitchFamily="18" charset="0"/>
                <a:ea typeface="宋体" panose="02010600030101010101" pitchFamily="2" charset="-122"/>
              </a:rPr>
              <a:t>信息系统项目的</a:t>
            </a:r>
            <a:r>
              <a:rPr lang="zh-CN" altLang="en-US" sz="4000" b="1" dirty="0">
                <a:latin typeface="Times New Roman" panose="02020603050405020304" pitchFamily="18" charset="0"/>
                <a:ea typeface="宋体" panose="02010600030101010101" pitchFamily="2" charset="-122"/>
              </a:rPr>
              <a:t>成本管理</a:t>
            </a:r>
            <a:endParaRPr lang="zh-CN" altLang="en-US" sz="4000" dirty="0">
              <a:latin typeface="Times New Roman" panose="02020603050405020304" pitchFamily="18" charset="0"/>
              <a:ea typeface="宋体" panose="02010600030101010101" pitchFamily="2" charset="-122"/>
            </a:endParaRPr>
          </a:p>
        </p:txBody>
      </p:sp>
      <p:sp>
        <p:nvSpPr>
          <p:cNvPr id="18435" name="Rectangle 3"/>
          <p:cNvSpPr>
            <a:spLocks noGrp="1" noChangeArrowheads="1"/>
          </p:cNvSpPr>
          <p:nvPr>
            <p:ph idx="1"/>
          </p:nvPr>
        </p:nvSpPr>
        <p:spPr>
          <a:xfrm>
            <a:off x="179070" y="980440"/>
            <a:ext cx="8875395" cy="1728470"/>
          </a:xfrm>
        </p:spPr>
        <p:txBody>
          <a:bodyPr>
            <a:noAutofit/>
          </a:bodyPr>
          <a:lstStyle/>
          <a:p>
            <a:pPr marL="0" indent="0" eaLnBrk="1" hangingPunct="1">
              <a:spcBef>
                <a:spcPct val="0"/>
              </a:spcBef>
              <a:buNone/>
            </a:pPr>
            <a:r>
              <a:rPr lang="zh-CN" altLang="en-US" dirty="0">
                <a:solidFill>
                  <a:srgbClr val="FF0000"/>
                </a:solidFill>
                <a:latin typeface="Times New Roman" panose="02020603050405020304" pitchFamily="18" charset="0"/>
                <a:ea typeface="宋体" panose="02010600030101010101" pitchFamily="2" charset="-122"/>
              </a:rPr>
              <a:t>一、相关术语和定义</a:t>
            </a:r>
            <a:endParaRPr lang="zh-CN" altLang="en-US" dirty="0">
              <a:solidFill>
                <a:srgbClr val="FF0000"/>
              </a:solidFill>
              <a:latin typeface="Times New Roman" panose="02020603050405020304" pitchFamily="18" charset="0"/>
              <a:ea typeface="宋体" panose="02010600030101010101" pitchFamily="2" charset="-122"/>
            </a:endParaRPr>
          </a:p>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项目成本概念及其构成</a:t>
            </a: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r>
              <a:rPr lang="zh-CN" altLang="en-US" dirty="0">
                <a:latin typeface="Times New Roman" panose="02020603050405020304" pitchFamily="18" charset="0"/>
                <a:ea typeface="宋体" panose="02010600030101010101" pitchFamily="2" charset="-122"/>
              </a:rPr>
              <a:t>在项目中，</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成本是指项目活动或其组成部分的货币价值或价格，包括为实施、完成或创造该活动或其组成部分所需资源的货币价值。具体的成本一般包括直接工时、</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其他直接费用、</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间接工时、</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其他间接费用以及采购价格。</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项目全过程所耗用的各种成本的总和为项目成本。</a:t>
            </a: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619672" y="188640"/>
            <a:ext cx="6624736" cy="792088"/>
          </a:xfrm>
        </p:spPr>
        <p:txBody>
          <a:bodyPr>
            <a:noAutofit/>
          </a:bodyPr>
          <a:lstStyle/>
          <a:p>
            <a:pPr algn="l" eaLnBrk="1" hangingPunct="1"/>
            <a:r>
              <a:rPr lang="zh-CN" altLang="en-US" sz="4000" b="1" dirty="0">
                <a:latin typeface="Times New Roman" panose="02020603050405020304" pitchFamily="18" charset="0"/>
                <a:ea typeface="宋体" panose="02010600030101010101" pitchFamily="2" charset="-122"/>
              </a:rPr>
              <a:t>信息系统项目的</a:t>
            </a:r>
            <a:r>
              <a:rPr lang="zh-CN" altLang="en-US" sz="4000" b="1" dirty="0">
                <a:latin typeface="Times New Roman" panose="02020603050405020304" pitchFamily="18" charset="0"/>
                <a:ea typeface="宋体" panose="02010600030101010101" pitchFamily="2" charset="-122"/>
              </a:rPr>
              <a:t>成本管理</a:t>
            </a:r>
            <a:endParaRPr lang="zh-CN" altLang="en-US" sz="4000" dirty="0">
              <a:latin typeface="Times New Roman" panose="02020603050405020304" pitchFamily="18" charset="0"/>
              <a:ea typeface="宋体" panose="02010600030101010101" pitchFamily="2" charset="-122"/>
            </a:endParaRPr>
          </a:p>
        </p:txBody>
      </p:sp>
      <p:sp>
        <p:nvSpPr>
          <p:cNvPr id="18435" name="Rectangle 3"/>
          <p:cNvSpPr>
            <a:spLocks noGrp="1" noChangeArrowheads="1"/>
          </p:cNvSpPr>
          <p:nvPr>
            <p:ph idx="1"/>
          </p:nvPr>
        </p:nvSpPr>
        <p:spPr>
          <a:xfrm>
            <a:off x="179070" y="980440"/>
            <a:ext cx="8875395" cy="1728470"/>
          </a:xfrm>
        </p:spPr>
        <p:txBody>
          <a:bodyPr>
            <a:noAutofit/>
          </a:bodyPr>
          <a:lstStyle/>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产品的全生命周期成本</a:t>
            </a: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r>
              <a:rPr lang="zh-CN" altLang="en-US" dirty="0">
                <a:solidFill>
                  <a:srgbClr val="FF0000"/>
                </a:solidFill>
                <a:latin typeface="Times New Roman" panose="02020603050405020304" pitchFamily="18" charset="0"/>
                <a:ea typeface="宋体" panose="02010600030101010101" pitchFamily="2" charset="-122"/>
              </a:rPr>
              <a:t>产品的全生命周期成本就是在产品或系统的整个使用生命期内，</a:t>
            </a:r>
            <a:r>
              <a:rPr lang="en-US" altLang="zh-CN" dirty="0">
                <a:solidFill>
                  <a:srgbClr val="FF0000"/>
                </a:solidFill>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在获得阶段</a:t>
            </a:r>
            <a:r>
              <a:rPr lang="en-US" altLang="zh-CN" dirty="0">
                <a:solidFill>
                  <a:srgbClr val="FF0000"/>
                </a:solidFill>
                <a:latin typeface="Times New Roman" panose="02020603050405020304" pitchFamily="18" charset="0"/>
                <a:ea typeface="宋体" panose="02010600030101010101" pitchFamily="2" charset="-122"/>
              </a:rPr>
              <a:t>(</a:t>
            </a:r>
            <a:r>
              <a:rPr lang="zh-CN" altLang="en-US" dirty="0">
                <a:solidFill>
                  <a:srgbClr val="FF0000"/>
                </a:solidFill>
                <a:latin typeface="Times New Roman" panose="02020603050405020304" pitchFamily="18" charset="0"/>
                <a:ea typeface="宋体" panose="02010600030101010101" pitchFamily="2" charset="-122"/>
              </a:rPr>
              <a:t>设计、生产、安装和测试等活动</a:t>
            </a:r>
            <a:r>
              <a:rPr lang="en-US" dirty="0">
                <a:solidFill>
                  <a:srgbClr val="FF0000"/>
                </a:solidFill>
                <a:latin typeface="Times New Roman" panose="02020603050405020304" pitchFamily="18" charset="0"/>
                <a:ea typeface="宋体" panose="02010600030101010101" pitchFamily="2" charset="-122"/>
              </a:rPr>
              <a:t>)</a:t>
            </a:r>
            <a:r>
              <a:rPr lang="zh-CN" altLang="en-US" dirty="0">
                <a:solidFill>
                  <a:srgbClr val="FF0000"/>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运营与维护及生命周期结束时对产品的处置所发生的全部成本</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对于一个项目而言，产品的全生命期成本考虑的是权益总成本，</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即开发成本加上维护成本。例如，一个组织可能在一到两年内完成一个项目，</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该项目是要建立和实现新的客户服务系统。但是新系统可以使用</a:t>
            </a:r>
            <a:r>
              <a:rPr lang="en-US" altLang="zh-CN" dirty="0">
                <a:latin typeface="Times New Roman" panose="02020603050405020304" pitchFamily="18" charset="0"/>
                <a:ea typeface="宋体" panose="02010600030101010101" pitchFamily="2" charset="-122"/>
              </a:rPr>
              <a:t> 10 </a:t>
            </a:r>
            <a:r>
              <a:rPr lang="zh-CN" altLang="en-US" dirty="0">
                <a:latin typeface="Times New Roman" panose="02020603050405020304" pitchFamily="18" charset="0"/>
                <a:ea typeface="宋体" panose="02010600030101010101" pitchFamily="2" charset="-122"/>
              </a:rPr>
              <a:t>年，</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项目经理应当估计整个生命期内</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即</a:t>
            </a:r>
            <a:r>
              <a:rPr lang="en-US" altLang="zh-CN" dirty="0">
                <a:latin typeface="Times New Roman" panose="02020603050405020304" pitchFamily="18" charset="0"/>
                <a:ea typeface="宋体" panose="02010600030101010101" pitchFamily="2" charset="-122"/>
              </a:rPr>
              <a:t> 10 </a:t>
            </a:r>
            <a:r>
              <a:rPr lang="zh-CN" altLang="en-US" dirty="0">
                <a:latin typeface="Times New Roman" panose="02020603050405020304" pitchFamily="18" charset="0"/>
                <a:ea typeface="宋体" panose="02010600030101010101" pitchFamily="2" charset="-122"/>
              </a:rPr>
              <a:t>年</a:t>
            </a:r>
            <a:r>
              <a:rPr lang="en-US" altLang="zh-CN"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的成本和收益。</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在进行项目净现值分析时要参考整个</a:t>
            </a:r>
            <a:r>
              <a:rPr lang="en-US" altLang="zh-CN" dirty="0">
                <a:latin typeface="Times New Roman" panose="02020603050405020304" pitchFamily="18" charset="0"/>
                <a:ea typeface="宋体" panose="02010600030101010101" pitchFamily="2" charset="-122"/>
              </a:rPr>
              <a:t> 10 </a:t>
            </a:r>
            <a:r>
              <a:rPr lang="zh-CN" altLang="en-US" dirty="0">
                <a:latin typeface="Times New Roman" panose="02020603050405020304" pitchFamily="18" charset="0"/>
                <a:ea typeface="宋体" panose="02010600030101010101" pitchFamily="2" charset="-122"/>
              </a:rPr>
              <a:t>年的成本和收益</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高级管理人员和项目经理在进行财务决策时，</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需要考虑产品整个生命期的成本。</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619672" y="188640"/>
            <a:ext cx="6624736" cy="792088"/>
          </a:xfrm>
        </p:spPr>
        <p:txBody>
          <a:bodyPr>
            <a:noAutofit/>
          </a:bodyPr>
          <a:lstStyle/>
          <a:p>
            <a:pPr algn="l" eaLnBrk="1" hangingPunct="1"/>
            <a:r>
              <a:rPr lang="zh-CN" altLang="en-US" sz="4000" b="1" dirty="0">
                <a:latin typeface="Times New Roman" panose="02020603050405020304" pitchFamily="18" charset="0"/>
                <a:ea typeface="宋体" panose="02010600030101010101" pitchFamily="2" charset="-122"/>
              </a:rPr>
              <a:t>信息系统项目的</a:t>
            </a:r>
            <a:r>
              <a:rPr lang="zh-CN" altLang="en-US" sz="4000" b="1" dirty="0">
                <a:latin typeface="Times New Roman" panose="02020603050405020304" pitchFamily="18" charset="0"/>
                <a:ea typeface="宋体" panose="02010600030101010101" pitchFamily="2" charset="-122"/>
              </a:rPr>
              <a:t>成本管理</a:t>
            </a:r>
            <a:endParaRPr lang="zh-CN" altLang="en-US" sz="4000" dirty="0">
              <a:latin typeface="Times New Roman" panose="02020603050405020304" pitchFamily="18" charset="0"/>
              <a:ea typeface="宋体" panose="02010600030101010101" pitchFamily="2" charset="-122"/>
            </a:endParaRPr>
          </a:p>
        </p:txBody>
      </p:sp>
      <p:sp>
        <p:nvSpPr>
          <p:cNvPr id="18435" name="Rectangle 3"/>
          <p:cNvSpPr>
            <a:spLocks noGrp="1" noChangeArrowheads="1"/>
          </p:cNvSpPr>
          <p:nvPr>
            <p:ph idx="1"/>
          </p:nvPr>
        </p:nvSpPr>
        <p:spPr>
          <a:xfrm>
            <a:off x="179070" y="980440"/>
            <a:ext cx="8875395" cy="4523740"/>
          </a:xfrm>
        </p:spPr>
        <p:txBody>
          <a:bodyPr>
            <a:noAutofit/>
          </a:bodyPr>
          <a:lstStyle/>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成本的类型</a:t>
            </a: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可变成本</a:t>
            </a:r>
            <a:r>
              <a:rPr lang="en-US" altLang="zh-CN" dirty="0">
                <a:solidFill>
                  <a:srgbClr val="FF0000"/>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随着生产量、</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工作量或时间而变的成本为可变成本。可变成本又称变动成本。</a:t>
            </a: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固定成本</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不随生产量、</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工作量或时间的变化而变化的非重复成本为固定成本。</a:t>
            </a: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直接成本</a:t>
            </a:r>
            <a:r>
              <a:rPr lang="zh-CN" altLang="en-US" dirty="0">
                <a:latin typeface="Times New Roman" panose="02020603050405020304" pitchFamily="18" charset="0"/>
                <a:ea typeface="宋体" panose="02010600030101010101" pitchFamily="2" charset="-122"/>
              </a:rPr>
              <a:t>：直接可以归属于项目工作的成本为直接成本，如项目团队差旅费、</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工资、</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项目使用的物料及设备使用费等。</a:t>
            </a: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间接成本</a:t>
            </a:r>
            <a:r>
              <a:rPr lang="zh-CN" altLang="en-US" dirty="0">
                <a:latin typeface="Times New Roman" panose="02020603050405020304" pitchFamily="18" charset="0"/>
                <a:ea typeface="宋体" panose="02010600030101010101" pitchFamily="2" charset="-122"/>
              </a:rPr>
              <a:t>：来自一般管理费用科目或几个项目共同担负的项目成本所分摊给本项目的费用，形成了项目的间接成本，</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如税金、</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额外福利和保卫费用等。</a:t>
            </a: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619672" y="188640"/>
            <a:ext cx="6624736" cy="792088"/>
          </a:xfrm>
        </p:spPr>
        <p:txBody>
          <a:bodyPr>
            <a:noAutofit/>
          </a:bodyPr>
          <a:lstStyle/>
          <a:p>
            <a:pPr algn="l" eaLnBrk="1" hangingPunct="1"/>
            <a:r>
              <a:rPr lang="zh-CN" altLang="en-US" sz="4000" b="1" dirty="0">
                <a:latin typeface="Times New Roman" panose="02020603050405020304" pitchFamily="18" charset="0"/>
                <a:ea typeface="宋体" panose="02010600030101010101" pitchFamily="2" charset="-122"/>
              </a:rPr>
              <a:t>信息系统项目的</a:t>
            </a:r>
            <a:r>
              <a:rPr lang="zh-CN" altLang="en-US" sz="4000" b="1" dirty="0">
                <a:latin typeface="Times New Roman" panose="02020603050405020304" pitchFamily="18" charset="0"/>
                <a:ea typeface="宋体" panose="02010600030101010101" pitchFamily="2" charset="-122"/>
              </a:rPr>
              <a:t>成本管理</a:t>
            </a:r>
            <a:endParaRPr lang="zh-CN" altLang="en-US" sz="4000" dirty="0">
              <a:latin typeface="Times New Roman" panose="02020603050405020304" pitchFamily="18" charset="0"/>
              <a:ea typeface="宋体" panose="02010600030101010101" pitchFamily="2" charset="-122"/>
            </a:endParaRPr>
          </a:p>
        </p:txBody>
      </p:sp>
      <p:sp>
        <p:nvSpPr>
          <p:cNvPr id="18435" name="Rectangle 3"/>
          <p:cNvSpPr>
            <a:spLocks noGrp="1" noChangeArrowheads="1"/>
          </p:cNvSpPr>
          <p:nvPr>
            <p:ph idx="1"/>
          </p:nvPr>
        </p:nvSpPr>
        <p:spPr>
          <a:xfrm>
            <a:off x="179070" y="980440"/>
            <a:ext cx="8875395" cy="3975735"/>
          </a:xfrm>
        </p:spPr>
        <p:txBody>
          <a:bodyPr>
            <a:noAutofit/>
          </a:bodyPr>
          <a:lstStyle/>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成本的类型</a:t>
            </a: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机会成本</a:t>
            </a:r>
            <a:r>
              <a:rPr lang="zh-CN" altLang="en-US" dirty="0">
                <a:latin typeface="Times New Roman" panose="02020603050405020304" pitchFamily="18" charset="0"/>
                <a:ea typeface="宋体" panose="02010600030101010101" pitchFamily="2" charset="-122"/>
              </a:rPr>
              <a:t>：利用一定的时间或资源生产或交付一种产品或服务，而失去利用这些资源生产或交付其他最佳替代品的机会就是机会成本，</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泛指一切在做出某一选择后同时失去其他选择，</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其他选择中最大的损失。</a:t>
            </a: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沉没成本</a:t>
            </a:r>
            <a:r>
              <a:rPr lang="zh-CN" altLang="en-US" dirty="0">
                <a:latin typeface="Times New Roman" panose="02020603050405020304" pitchFamily="18" charset="0"/>
                <a:ea typeface="宋体" panose="02010600030101010101" pitchFamily="2" charset="-122"/>
              </a:rPr>
              <a:t>：指由于过去的决策己经发生的，而不能由现在或将来的任何决策改变的成本。沉没成本是一种历史成本，对现有决策而言是不可控成本，会很大程度上影响人们的行为方式与决策，在投资决策时应该尽量排除沉没成本的干扰。</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619672" y="188640"/>
            <a:ext cx="6624736" cy="792088"/>
          </a:xfrm>
        </p:spPr>
        <p:txBody>
          <a:bodyPr>
            <a:noAutofit/>
          </a:bodyPr>
          <a:lstStyle/>
          <a:p>
            <a:pPr algn="l" eaLnBrk="1" hangingPunct="1"/>
            <a:r>
              <a:rPr lang="zh-CN" altLang="en-US" sz="4000" b="1" dirty="0">
                <a:latin typeface="Times New Roman" panose="02020603050405020304" pitchFamily="18" charset="0"/>
                <a:ea typeface="宋体" panose="02010600030101010101" pitchFamily="2" charset="-122"/>
              </a:rPr>
              <a:t>信息系统项目的</a:t>
            </a:r>
            <a:r>
              <a:rPr lang="zh-CN" altLang="en-US" sz="4000" b="1" dirty="0">
                <a:latin typeface="Times New Roman" panose="02020603050405020304" pitchFamily="18" charset="0"/>
                <a:ea typeface="宋体" panose="02010600030101010101" pitchFamily="2" charset="-122"/>
              </a:rPr>
              <a:t>成本管理</a:t>
            </a:r>
            <a:endParaRPr lang="zh-CN" altLang="en-US" sz="4000" dirty="0">
              <a:latin typeface="Times New Roman" panose="02020603050405020304" pitchFamily="18" charset="0"/>
              <a:ea typeface="宋体" panose="02010600030101010101" pitchFamily="2" charset="-122"/>
            </a:endParaRPr>
          </a:p>
        </p:txBody>
      </p:sp>
      <p:sp>
        <p:nvSpPr>
          <p:cNvPr id="18435" name="Rectangle 3"/>
          <p:cNvSpPr>
            <a:spLocks noGrp="1" noChangeArrowheads="1"/>
          </p:cNvSpPr>
          <p:nvPr>
            <p:ph idx="1"/>
          </p:nvPr>
        </p:nvSpPr>
        <p:spPr>
          <a:xfrm>
            <a:off x="179070" y="980440"/>
            <a:ext cx="8875395" cy="5313045"/>
          </a:xfrm>
        </p:spPr>
        <p:txBody>
          <a:bodyPr>
            <a:noAutofit/>
          </a:bodyPr>
          <a:lstStyle/>
          <a:p>
            <a:pPr marL="0" indent="0" eaLnBrk="1" hangingPunct="1">
              <a:spcBef>
                <a:spcPct val="0"/>
              </a:spcBef>
              <a:buNone/>
            </a:pPr>
            <a:r>
              <a:rPr lang="zh-CN" altLang="en-US" dirty="0">
                <a:latin typeface="Times New Roman" panose="02020603050405020304" pitchFamily="18" charset="0"/>
                <a:ea typeface="宋体" panose="02010600030101010101" pitchFamily="2" charset="-122"/>
              </a:rPr>
              <a:t>人类在心理上非常厌恶损失，所以经常会被沉没成本绑架，做出不理智的决定。</a:t>
            </a:r>
            <a:endParaRPr lang="en-US" altLang="zh-CN" dirty="0">
              <a:latin typeface="Times New Roman" panose="02020603050405020304" pitchFamily="18" charset="0"/>
              <a:ea typeface="宋体" panose="02010600030101010101" pitchFamily="2" charset="-122"/>
            </a:endParaRPr>
          </a:p>
          <a:p>
            <a:pPr marL="0" indent="0" eaLnBrk="1" hangingPunct="1">
              <a:spcBef>
                <a:spcPct val="0"/>
              </a:spcBef>
              <a:buNone/>
            </a:pPr>
            <a:r>
              <a:rPr lang="zh-CN" altLang="en-US" dirty="0">
                <a:solidFill>
                  <a:srgbClr val="FF0000"/>
                </a:solidFill>
                <a:latin typeface="Times New Roman" panose="02020603050405020304" pitchFamily="18" charset="0"/>
                <a:ea typeface="宋体" panose="02010600030101010101" pitchFamily="2" charset="-122"/>
              </a:rPr>
              <a:t>烂电影效应</a:t>
            </a:r>
            <a:r>
              <a:rPr lang="zh-CN" altLang="en-US" dirty="0">
                <a:latin typeface="Times New Roman" panose="02020603050405020304" pitchFamily="18" charset="0"/>
                <a:ea typeface="宋体" panose="02010600030101010101" pitchFamily="2" charset="-122"/>
              </a:rPr>
              <a:t>：你花</a:t>
            </a:r>
            <a:r>
              <a:rPr lang="en-US" altLang="zh-CN" dirty="0">
                <a:latin typeface="Times New Roman" panose="02020603050405020304" pitchFamily="18" charset="0"/>
                <a:ea typeface="宋体" panose="02010600030101010101" pitchFamily="2" charset="-122"/>
              </a:rPr>
              <a:t> 50 </a:t>
            </a:r>
            <a:r>
              <a:rPr lang="zh-CN" altLang="en-US" dirty="0">
                <a:latin typeface="Times New Roman" panose="02020603050405020304" pitchFamily="18" charset="0"/>
                <a:ea typeface="宋体" panose="02010600030101010101" pitchFamily="2" charset="-122"/>
              </a:rPr>
              <a:t>块钱买了一张电影票，看了</a:t>
            </a:r>
            <a:r>
              <a:rPr lang="en-US" altLang="zh-CN" dirty="0">
                <a:latin typeface="Times New Roman" panose="02020603050405020304" pitchFamily="18" charset="0"/>
                <a:ea typeface="宋体" panose="02010600030101010101" pitchFamily="2" charset="-122"/>
              </a:rPr>
              <a:t> 20 </a:t>
            </a:r>
            <a:r>
              <a:rPr lang="zh-CN" altLang="en-US" dirty="0">
                <a:latin typeface="Times New Roman" panose="02020603050405020304" pitchFamily="18" charset="0"/>
                <a:ea typeface="宋体" panose="02010600030101010101" pitchFamily="2" charset="-122"/>
              </a:rPr>
              <a:t>分钟发现这部电影极其难看。</a:t>
            </a:r>
            <a:r>
              <a:rPr lang="zh-CN" altLang="en-US" dirty="0">
                <a:latin typeface="Times New Roman" panose="02020603050405020304" pitchFamily="18" charset="0"/>
                <a:ea typeface="宋体" panose="02010600030101010101" pitchFamily="2" charset="-122"/>
              </a:rPr>
              <a:t>您会怎么做？</a:t>
            </a: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r>
              <a:rPr lang="zh-CN" altLang="en-US" dirty="0">
                <a:solidFill>
                  <a:srgbClr val="FF0000"/>
                </a:solidFill>
                <a:latin typeface="Times New Roman" panose="02020603050405020304" pitchFamily="18" charset="0"/>
                <a:ea typeface="宋体" panose="02010600030101010101" pitchFamily="2" charset="-122"/>
              </a:rPr>
              <a:t>理性的做法是立刻离开去干点别的事情</a:t>
            </a:r>
            <a:r>
              <a:rPr lang="zh-CN" altLang="en-US" dirty="0">
                <a:latin typeface="Times New Roman" panose="02020603050405020304" pitchFamily="18" charset="0"/>
                <a:ea typeface="宋体" panose="02010600030101010101" pitchFamily="2" charset="-122"/>
              </a:rPr>
              <a:t>，因为这</a:t>
            </a:r>
            <a:r>
              <a:rPr lang="en-US" altLang="zh-CN" dirty="0">
                <a:latin typeface="Times New Roman" panose="02020603050405020304" pitchFamily="18" charset="0"/>
                <a:ea typeface="宋体" panose="02010600030101010101" pitchFamily="2" charset="-122"/>
              </a:rPr>
              <a:t> 50 </a:t>
            </a:r>
            <a:r>
              <a:rPr lang="zh-CN" altLang="en-US" dirty="0">
                <a:latin typeface="Times New Roman" panose="02020603050405020304" pitchFamily="18" charset="0"/>
                <a:ea typeface="宋体" panose="02010600030101010101" pitchFamily="2" charset="-122"/>
              </a:rPr>
              <a:t>块钱已经</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沉没</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了。但大多数人的心理是：</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来都来了钱都花了，硬着头皮也要看完。</a:t>
            </a: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结果不仅损失了</a:t>
            </a:r>
            <a:r>
              <a:rPr lang="en-US" altLang="zh-CN" dirty="0">
                <a:solidFill>
                  <a:srgbClr val="FF0000"/>
                </a:solidFill>
                <a:latin typeface="Times New Roman" panose="02020603050405020304" pitchFamily="18" charset="0"/>
                <a:ea typeface="宋体" panose="02010600030101010101" pitchFamily="2" charset="-122"/>
              </a:rPr>
              <a:t> 50 </a:t>
            </a:r>
            <a:r>
              <a:rPr lang="zh-CN" altLang="en-US" dirty="0">
                <a:solidFill>
                  <a:srgbClr val="FF0000"/>
                </a:solidFill>
                <a:latin typeface="Times New Roman" panose="02020603050405020304" pitchFamily="18" charset="0"/>
                <a:ea typeface="宋体" panose="02010600030101010101" pitchFamily="2" charset="-122"/>
              </a:rPr>
              <a:t>块钱，还搭进去了原本可以用来做快乐事情的两小时。</a:t>
            </a: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endParaRPr lang="en-US" altLang="zh-CN" dirty="0">
              <a:latin typeface="Times New Roman" panose="02020603050405020304" pitchFamily="18" charset="0"/>
              <a:ea typeface="宋体" panose="02010600030101010101" pitchFamily="2" charset="-122"/>
            </a:endParaRPr>
          </a:p>
          <a:p>
            <a:pPr marL="0" indent="0" eaLnBrk="1" hangingPunct="1">
              <a:spcBef>
                <a:spcPct val="0"/>
              </a:spcBef>
              <a:buNone/>
            </a:pPr>
            <a:r>
              <a:rPr lang="zh-CN" altLang="en-US" dirty="0">
                <a:solidFill>
                  <a:srgbClr val="FF0000"/>
                </a:solidFill>
                <a:latin typeface="Times New Roman" panose="02020603050405020304" pitchFamily="18" charset="0"/>
                <a:ea typeface="宋体" panose="02010600030101010101" pitchFamily="2" charset="-122"/>
              </a:rPr>
              <a:t>等公交车</a:t>
            </a:r>
            <a:r>
              <a:rPr lang="zh-CN" altLang="en-US" dirty="0">
                <a:latin typeface="Times New Roman" panose="02020603050405020304" pitchFamily="18" charset="0"/>
                <a:ea typeface="宋体" panose="02010600030101010101" pitchFamily="2" charset="-122"/>
              </a:rPr>
              <a:t>：你已经等了</a:t>
            </a:r>
            <a:r>
              <a:rPr lang="en-US" altLang="zh-CN" dirty="0">
                <a:latin typeface="Times New Roman" panose="02020603050405020304" pitchFamily="18" charset="0"/>
                <a:ea typeface="宋体" panose="02010600030101010101" pitchFamily="2" charset="-122"/>
              </a:rPr>
              <a:t> 30 </a:t>
            </a:r>
            <a:r>
              <a:rPr lang="zh-CN" altLang="en-US" dirty="0">
                <a:latin typeface="Times New Roman" panose="02020603050405020304" pitchFamily="18" charset="0"/>
                <a:ea typeface="宋体" panose="02010600030101010101" pitchFamily="2" charset="-122"/>
              </a:rPr>
              <a:t>分钟公交车还没来。打车需要</a:t>
            </a:r>
            <a:r>
              <a:rPr lang="en-US" altLang="zh-CN" dirty="0">
                <a:latin typeface="Times New Roman" panose="02020603050405020304" pitchFamily="18" charset="0"/>
                <a:ea typeface="宋体" panose="02010600030101010101" pitchFamily="2" charset="-122"/>
              </a:rPr>
              <a:t> 20 </a:t>
            </a:r>
            <a:r>
              <a:rPr lang="zh-CN" altLang="en-US" dirty="0">
                <a:latin typeface="Times New Roman" panose="02020603050405020304" pitchFamily="18" charset="0"/>
                <a:ea typeface="宋体" panose="02010600030101010101" pitchFamily="2" charset="-122"/>
              </a:rPr>
              <a:t>块钱。</a:t>
            </a:r>
            <a:r>
              <a:rPr lang="zh-CN" altLang="en-US" dirty="0">
                <a:latin typeface="Times New Roman" panose="02020603050405020304" pitchFamily="18" charset="0"/>
                <a:ea typeface="宋体" panose="02010600030101010101" pitchFamily="2" charset="-122"/>
              </a:rPr>
              <a:t>您会怎么办？</a:t>
            </a: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r>
              <a:rPr lang="zh-CN" altLang="en-US" dirty="0">
                <a:latin typeface="Times New Roman" panose="02020603050405020304" pitchFamily="18" charset="0"/>
                <a:ea typeface="宋体" panose="02010600030101010101" pitchFamily="2" charset="-122"/>
              </a:rPr>
              <a:t>你会觉得</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我都等了半小时了，现在打车太亏了</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，于是继续等。这过去的</a:t>
            </a:r>
            <a:r>
              <a:rPr lang="en-US" altLang="zh-CN" dirty="0">
                <a:latin typeface="Times New Roman" panose="02020603050405020304" pitchFamily="18" charset="0"/>
                <a:ea typeface="宋体" panose="02010600030101010101" pitchFamily="2" charset="-122"/>
              </a:rPr>
              <a:t> 30 </a:t>
            </a:r>
            <a:r>
              <a:rPr lang="zh-CN" altLang="en-US" dirty="0">
                <a:latin typeface="Times New Roman" panose="02020603050405020304" pitchFamily="18" charset="0"/>
                <a:ea typeface="宋体" panose="02010600030101010101" pitchFamily="2" charset="-122"/>
              </a:rPr>
              <a:t>分钟就是沉没成本。</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4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619672" y="188640"/>
            <a:ext cx="6624736" cy="792088"/>
          </a:xfrm>
        </p:spPr>
        <p:txBody>
          <a:bodyPr>
            <a:noAutofit/>
          </a:bodyPr>
          <a:lstStyle/>
          <a:p>
            <a:pPr algn="l" eaLnBrk="1" hangingPunct="1"/>
            <a:r>
              <a:rPr lang="zh-CN" altLang="en-US" sz="4000" b="1" dirty="0">
                <a:latin typeface="Times New Roman" panose="02020603050405020304" pitchFamily="18" charset="0"/>
                <a:ea typeface="宋体" panose="02010600030101010101" pitchFamily="2" charset="-122"/>
              </a:rPr>
              <a:t>信息系统项目的</a:t>
            </a:r>
            <a:r>
              <a:rPr lang="zh-CN" altLang="en-US" sz="4000" b="1" dirty="0">
                <a:latin typeface="Times New Roman" panose="02020603050405020304" pitchFamily="18" charset="0"/>
                <a:ea typeface="宋体" panose="02010600030101010101" pitchFamily="2" charset="-122"/>
              </a:rPr>
              <a:t>成本管理</a:t>
            </a:r>
            <a:endParaRPr lang="zh-CN" altLang="en-US" sz="4000" dirty="0">
              <a:latin typeface="Times New Roman" panose="02020603050405020304" pitchFamily="18" charset="0"/>
              <a:ea typeface="宋体" panose="02010600030101010101" pitchFamily="2" charset="-122"/>
            </a:endParaRPr>
          </a:p>
        </p:txBody>
      </p:sp>
      <p:sp>
        <p:nvSpPr>
          <p:cNvPr id="18435" name="Rectangle 3"/>
          <p:cNvSpPr>
            <a:spLocks noGrp="1" noChangeArrowheads="1"/>
          </p:cNvSpPr>
          <p:nvPr>
            <p:ph idx="1"/>
          </p:nvPr>
        </p:nvSpPr>
        <p:spPr>
          <a:xfrm>
            <a:off x="179070" y="980440"/>
            <a:ext cx="8875395" cy="5060950"/>
          </a:xfrm>
        </p:spPr>
        <p:txBody>
          <a:bodyPr>
            <a:noAutofit/>
          </a:bodyPr>
          <a:lstStyle/>
          <a:p>
            <a:pPr marL="0" indent="0" eaLnBrk="1" hangingPunct="1">
              <a:spcBef>
                <a:spcPct val="0"/>
              </a:spcBef>
              <a:buNone/>
            </a:pPr>
            <a:r>
              <a:rPr lang="zh-CN" altLang="en-US" dirty="0">
                <a:latin typeface="Times New Roman" panose="02020603050405020304" pitchFamily="18" charset="0"/>
                <a:ea typeface="宋体" panose="02010600030101010101" pitchFamily="2" charset="-122"/>
              </a:rPr>
              <a:t>在项目管理中，项目经理和投资人最容易犯的致命错误，就是因为舍不得前期投入，而往一个注定失败的项目里继续砸钱。</a:t>
            </a:r>
            <a:endParaRPr lang="en-US" altLang="zh-CN" dirty="0">
              <a:latin typeface="Times New Roman" panose="02020603050405020304" pitchFamily="18" charset="0"/>
              <a:ea typeface="宋体" panose="02010600030101010101" pitchFamily="2" charset="-122"/>
            </a:endParaRPr>
          </a:p>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假设你负责研发一款新软件，总预算</a:t>
            </a:r>
            <a:r>
              <a:rPr lang="en-US" altLang="zh-CN" dirty="0">
                <a:latin typeface="Times New Roman" panose="02020603050405020304" pitchFamily="18" charset="0"/>
                <a:ea typeface="宋体" panose="02010600030101010101" pitchFamily="2" charset="-122"/>
              </a:rPr>
              <a:t> 200 </a:t>
            </a:r>
            <a:r>
              <a:rPr lang="zh-CN" altLang="en-US" dirty="0">
                <a:latin typeface="Times New Roman" panose="02020603050405020304" pitchFamily="18" charset="0"/>
                <a:ea typeface="宋体" panose="02010600030101010101" pitchFamily="2" charset="-122"/>
              </a:rPr>
              <a:t>万。目前已经花掉了</a:t>
            </a:r>
            <a:r>
              <a:rPr lang="en-US" altLang="zh-CN" dirty="0">
                <a:latin typeface="Times New Roman" panose="02020603050405020304" pitchFamily="18" charset="0"/>
                <a:ea typeface="宋体" panose="02010600030101010101" pitchFamily="2" charset="-122"/>
              </a:rPr>
              <a:t> 150 </a:t>
            </a:r>
            <a:r>
              <a:rPr lang="zh-CN" altLang="en-US" dirty="0">
                <a:latin typeface="Times New Roman" panose="02020603050405020304" pitchFamily="18" charset="0"/>
                <a:ea typeface="宋体" panose="02010600030101010101" pitchFamily="2" charset="-122"/>
              </a:rPr>
              <a:t>万，但此时市场上出现了一个完美的竞品，导致你们的软件即便做出来，最多也只能卖出</a:t>
            </a:r>
            <a:r>
              <a:rPr lang="en-US" altLang="zh-CN" dirty="0">
                <a:latin typeface="Times New Roman" panose="02020603050405020304" pitchFamily="18" charset="0"/>
                <a:ea typeface="宋体" panose="02010600030101010101" pitchFamily="2" charset="-122"/>
              </a:rPr>
              <a:t> 30 </a:t>
            </a:r>
            <a:r>
              <a:rPr lang="zh-CN" altLang="en-US" dirty="0">
                <a:latin typeface="Times New Roman" panose="02020603050405020304" pitchFamily="18" charset="0"/>
                <a:ea typeface="宋体" panose="02010600030101010101" pitchFamily="2" charset="-122"/>
              </a:rPr>
              <a:t>万。</a:t>
            </a: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r>
              <a:rPr lang="zh-CN" altLang="en-US" dirty="0">
                <a:latin typeface="Times New Roman" panose="02020603050405020304" pitchFamily="18" charset="0"/>
                <a:ea typeface="宋体" panose="02010600030101010101" pitchFamily="2" charset="-122"/>
              </a:rPr>
              <a:t>选择</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我们已经砸了</a:t>
            </a:r>
            <a:r>
              <a:rPr lang="en-US" altLang="zh-CN" dirty="0">
                <a:latin typeface="Times New Roman" panose="02020603050405020304" pitchFamily="18" charset="0"/>
                <a:ea typeface="宋体" panose="02010600030101010101" pitchFamily="2" charset="-122"/>
              </a:rPr>
              <a:t> 150 </a:t>
            </a:r>
            <a:r>
              <a:rPr lang="zh-CN" altLang="en-US" dirty="0">
                <a:latin typeface="Times New Roman" panose="02020603050405020304" pitchFamily="18" charset="0"/>
                <a:ea typeface="宋体" panose="02010600030101010101" pitchFamily="2" charset="-122"/>
              </a:rPr>
              <a:t>万了</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沉没成本</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，现在放弃就全打水漂了！继续花剩下的</a:t>
            </a:r>
            <a:r>
              <a:rPr lang="en-US" altLang="zh-CN" dirty="0">
                <a:latin typeface="Times New Roman" panose="02020603050405020304" pitchFamily="18" charset="0"/>
                <a:ea typeface="宋体" panose="02010600030101010101" pitchFamily="2" charset="-122"/>
              </a:rPr>
              <a:t> 50 </a:t>
            </a:r>
            <a:r>
              <a:rPr lang="zh-CN" altLang="en-US" dirty="0">
                <a:latin typeface="Times New Roman" panose="02020603050405020304" pitchFamily="18" charset="0"/>
                <a:ea typeface="宋体" panose="02010600030101010101" pitchFamily="2" charset="-122"/>
              </a:rPr>
              <a:t>万把它做完吧！</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最终结果是总共亏损</a:t>
            </a:r>
            <a:r>
              <a:rPr lang="en-US" altLang="zh-CN" dirty="0">
                <a:latin typeface="Times New Roman" panose="02020603050405020304" pitchFamily="18" charset="0"/>
                <a:ea typeface="宋体" panose="02010600030101010101" pitchFamily="2" charset="-122"/>
              </a:rPr>
              <a:t> 170 </a:t>
            </a:r>
            <a:r>
              <a:rPr lang="zh-CN" altLang="en-US" dirty="0">
                <a:latin typeface="Times New Roman" panose="02020603050405020304" pitchFamily="18" charset="0"/>
                <a:ea typeface="宋体" panose="02010600030101010101" pitchFamily="2" charset="-122"/>
              </a:rPr>
              <a:t>万</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投入</a:t>
            </a:r>
            <a:r>
              <a:rPr lang="en-US" altLang="zh-CN" dirty="0">
                <a:latin typeface="Times New Roman" panose="02020603050405020304" pitchFamily="18" charset="0"/>
                <a:ea typeface="宋体" panose="02010600030101010101" pitchFamily="2" charset="-122"/>
              </a:rPr>
              <a:t> 200 </a:t>
            </a:r>
            <a:r>
              <a:rPr lang="zh-CN" altLang="en-US" dirty="0">
                <a:latin typeface="Times New Roman" panose="02020603050405020304" pitchFamily="18" charset="0"/>
                <a:ea typeface="宋体" panose="02010600030101010101" pitchFamily="2" charset="-122"/>
              </a:rPr>
              <a:t>万，收入</a:t>
            </a:r>
            <a:r>
              <a:rPr lang="en-US" altLang="zh-CN" dirty="0">
                <a:latin typeface="Times New Roman" panose="02020603050405020304" pitchFamily="18" charset="0"/>
                <a:ea typeface="宋体" panose="02010600030101010101" pitchFamily="2" charset="-122"/>
              </a:rPr>
              <a:t> 30 </a:t>
            </a:r>
            <a:r>
              <a:rPr lang="zh-CN" altLang="en-US" dirty="0">
                <a:latin typeface="Times New Roman" panose="02020603050405020304" pitchFamily="18" charset="0"/>
                <a:ea typeface="宋体" panose="02010600030101010101" pitchFamily="2" charset="-122"/>
              </a:rPr>
              <a:t>万</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r>
              <a:rPr lang="zh-CN" altLang="en-US" dirty="0">
                <a:latin typeface="Times New Roman" panose="02020603050405020304" pitchFamily="18" charset="0"/>
                <a:ea typeface="宋体" panose="02010600030101010101" pitchFamily="2" charset="-122"/>
              </a:rPr>
              <a:t>选择</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：忽略那</a:t>
            </a:r>
            <a:r>
              <a:rPr lang="en-US" altLang="zh-CN" dirty="0">
                <a:latin typeface="Times New Roman" panose="02020603050405020304" pitchFamily="18" charset="0"/>
                <a:ea typeface="宋体" panose="02010600030101010101" pitchFamily="2" charset="-122"/>
              </a:rPr>
              <a:t> 150 </a:t>
            </a:r>
            <a:r>
              <a:rPr lang="zh-CN" altLang="en-US" dirty="0">
                <a:latin typeface="Times New Roman" panose="02020603050405020304" pitchFamily="18" charset="0"/>
                <a:ea typeface="宋体" panose="02010600030101010101" pitchFamily="2" charset="-122"/>
              </a:rPr>
              <a:t>万。只看现在：如果继续做，需要再投</a:t>
            </a:r>
            <a:r>
              <a:rPr lang="en-US" altLang="zh-CN" dirty="0">
                <a:latin typeface="Times New Roman" panose="02020603050405020304" pitchFamily="18" charset="0"/>
                <a:ea typeface="宋体" panose="02010600030101010101" pitchFamily="2" charset="-122"/>
              </a:rPr>
              <a:t> 50 </a:t>
            </a:r>
            <a:r>
              <a:rPr lang="zh-CN" altLang="en-US" dirty="0">
                <a:latin typeface="Times New Roman" panose="02020603050405020304" pitchFamily="18" charset="0"/>
                <a:ea typeface="宋体" panose="02010600030101010101" pitchFamily="2" charset="-122"/>
              </a:rPr>
              <a:t>万，只能赚回</a:t>
            </a:r>
            <a:r>
              <a:rPr lang="en-US" altLang="zh-CN" dirty="0">
                <a:latin typeface="Times New Roman" panose="02020603050405020304" pitchFamily="18" charset="0"/>
                <a:ea typeface="宋体" panose="02010600030101010101" pitchFamily="2" charset="-122"/>
              </a:rPr>
              <a:t> 30 </a:t>
            </a:r>
            <a:r>
              <a:rPr lang="zh-CN" altLang="en-US" dirty="0">
                <a:latin typeface="Times New Roman" panose="02020603050405020304" pitchFamily="18" charset="0"/>
                <a:ea typeface="宋体" panose="02010600030101010101" pitchFamily="2" charset="-122"/>
              </a:rPr>
              <a:t>万，净亏</a:t>
            </a:r>
            <a:r>
              <a:rPr lang="en-US" altLang="zh-CN" dirty="0">
                <a:latin typeface="Times New Roman" panose="02020603050405020304" pitchFamily="18" charset="0"/>
                <a:ea typeface="宋体" panose="02010600030101010101" pitchFamily="2" charset="-122"/>
              </a:rPr>
              <a:t> 20 </a:t>
            </a:r>
            <a:r>
              <a:rPr lang="zh-CN" altLang="en-US" dirty="0">
                <a:latin typeface="Times New Roman" panose="02020603050405020304" pitchFamily="18" charset="0"/>
                <a:ea typeface="宋体" panose="02010600030101010101" pitchFamily="2" charset="-122"/>
              </a:rPr>
              <a:t>万。所以正确的决定是：立刻停止项目，及时止损。</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619672" y="188640"/>
            <a:ext cx="6624736" cy="792088"/>
          </a:xfrm>
        </p:spPr>
        <p:txBody>
          <a:bodyPr>
            <a:noAutofit/>
          </a:bodyPr>
          <a:lstStyle/>
          <a:p>
            <a:pPr algn="l" eaLnBrk="1" hangingPunct="1"/>
            <a:r>
              <a:rPr lang="zh-CN" altLang="en-US" sz="4000" b="1" dirty="0">
                <a:latin typeface="Times New Roman" panose="02020603050405020304" pitchFamily="18" charset="0"/>
                <a:ea typeface="宋体" panose="02010600030101010101" pitchFamily="2" charset="-122"/>
              </a:rPr>
              <a:t>信息系统项目的</a:t>
            </a:r>
            <a:r>
              <a:rPr lang="zh-CN" altLang="en-US" sz="4000" b="1" dirty="0">
                <a:latin typeface="Times New Roman" panose="02020603050405020304" pitchFamily="18" charset="0"/>
                <a:ea typeface="宋体" panose="02010600030101010101" pitchFamily="2" charset="-122"/>
              </a:rPr>
              <a:t>成本管理</a:t>
            </a:r>
            <a:endParaRPr lang="zh-CN" altLang="en-US" sz="4000" dirty="0">
              <a:latin typeface="Times New Roman" panose="02020603050405020304" pitchFamily="18" charset="0"/>
              <a:ea typeface="宋体" panose="02010600030101010101" pitchFamily="2" charset="-122"/>
            </a:endParaRPr>
          </a:p>
        </p:txBody>
      </p:sp>
      <p:sp>
        <p:nvSpPr>
          <p:cNvPr id="18435" name="Rectangle 3"/>
          <p:cNvSpPr>
            <a:spLocks noGrp="1" noChangeArrowheads="1"/>
          </p:cNvSpPr>
          <p:nvPr>
            <p:ph idx="1"/>
          </p:nvPr>
        </p:nvSpPr>
        <p:spPr>
          <a:xfrm>
            <a:off x="179070" y="980440"/>
            <a:ext cx="8875395" cy="4325620"/>
          </a:xfrm>
        </p:spPr>
        <p:txBody>
          <a:bodyPr>
            <a:noAutofit/>
          </a:bodyPr>
          <a:lstStyle/>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应急储备和管理储备</a:t>
            </a:r>
            <a:endParaRPr lang="zh-CN" altLang="en-US" dirty="0">
              <a:latin typeface="Times New Roman" panose="02020603050405020304" pitchFamily="18" charset="0"/>
              <a:ea typeface="宋体" panose="02010600030101010101" pitchFamily="2" charset="-122"/>
            </a:endParaRPr>
          </a:p>
          <a:p>
            <a:pPr marL="0" indent="0" algn="just" eaLnBrk="1" hangingPunct="1">
              <a:spcBef>
                <a:spcPct val="0"/>
              </a:spcBef>
              <a:buNone/>
            </a:pPr>
            <a:r>
              <a:rPr lang="zh-CN" altLang="en-US" dirty="0">
                <a:solidFill>
                  <a:srgbClr val="FF0000"/>
                </a:solidFill>
                <a:latin typeface="Times New Roman" panose="02020603050405020304" pitchFamily="18" charset="0"/>
                <a:ea typeface="宋体" panose="02010600030101010101" pitchFamily="2" charset="-122"/>
              </a:rPr>
              <a:t>应急储备</a:t>
            </a:r>
            <a:r>
              <a:rPr lang="zh-CN" altLang="en-US" dirty="0">
                <a:latin typeface="Times New Roman" panose="02020603050405020304" pitchFamily="18" charset="0"/>
                <a:ea typeface="宋体" panose="02010600030101010101" pitchFamily="2" charset="-122"/>
              </a:rPr>
              <a:t>是包含在成本基准内的一部分预算，</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用来应对己经接受的己识别风险，</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以及己经制定应急或减轻措施的己识别风险。</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应急储备通常是预算的一部分，</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用来应对那些会影响项目的</a:t>
            </a: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己知</a:t>
            </a:r>
            <a:r>
              <a:rPr lang="en-US" altLang="zh-CN" dirty="0">
                <a:solidFill>
                  <a:srgbClr val="FF0000"/>
                </a:solidFill>
                <a:latin typeface="Times New Roman" panose="02020603050405020304" pitchFamily="18" charset="0"/>
                <a:ea typeface="宋体" panose="02010600030101010101" pitchFamily="2" charset="-122"/>
              </a:rPr>
              <a:t> - </a:t>
            </a:r>
            <a:r>
              <a:rPr lang="zh-CN" altLang="en-US" dirty="0">
                <a:solidFill>
                  <a:srgbClr val="FF0000"/>
                </a:solidFill>
                <a:latin typeface="Times New Roman" panose="02020603050405020304" pitchFamily="18" charset="0"/>
                <a:ea typeface="宋体" panose="02010600030101010101" pitchFamily="2" charset="-122"/>
              </a:rPr>
              <a:t>未知</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风险。</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例如，</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可以预知有些项目可交付成果需要返工，</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却不知道返工的工作量是多少，</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可以预留应急储备来应对这些未知数量的返工工作。</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可以为某个具体活动建立应急储备，</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也可以为整个项目建立应急储备，</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还可以同时建立。</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应急储备可取成本估算值的某一百分比、</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某个固定值或者通过定量分析来确定。</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619672" y="188640"/>
            <a:ext cx="6624736" cy="792088"/>
          </a:xfrm>
        </p:spPr>
        <p:txBody>
          <a:bodyPr>
            <a:noAutofit/>
          </a:bodyPr>
          <a:lstStyle/>
          <a:p>
            <a:pPr algn="l" eaLnBrk="1" hangingPunct="1"/>
            <a:r>
              <a:rPr lang="zh-CN" altLang="en-US" sz="4000" b="1" dirty="0">
                <a:latin typeface="Times New Roman" panose="02020603050405020304" pitchFamily="18" charset="0"/>
                <a:ea typeface="宋体" panose="02010600030101010101" pitchFamily="2" charset="-122"/>
              </a:rPr>
              <a:t>信息系统项目的</a:t>
            </a:r>
            <a:r>
              <a:rPr lang="zh-CN" altLang="en-US" sz="4000" b="1" dirty="0">
                <a:latin typeface="Times New Roman" panose="02020603050405020304" pitchFamily="18" charset="0"/>
                <a:ea typeface="宋体" panose="02010600030101010101" pitchFamily="2" charset="-122"/>
              </a:rPr>
              <a:t>成本管理</a:t>
            </a:r>
            <a:endParaRPr lang="zh-CN" altLang="en-US" sz="4000" dirty="0">
              <a:latin typeface="Times New Roman" panose="02020603050405020304" pitchFamily="18" charset="0"/>
              <a:ea typeface="宋体" panose="02010600030101010101" pitchFamily="2" charset="-122"/>
            </a:endParaRPr>
          </a:p>
        </p:txBody>
      </p:sp>
      <p:sp>
        <p:nvSpPr>
          <p:cNvPr id="18435" name="Rectangle 3"/>
          <p:cNvSpPr>
            <a:spLocks noGrp="1" noChangeArrowheads="1"/>
          </p:cNvSpPr>
          <p:nvPr>
            <p:ph idx="1"/>
          </p:nvPr>
        </p:nvSpPr>
        <p:spPr>
          <a:xfrm>
            <a:off x="179070" y="980440"/>
            <a:ext cx="8875395" cy="4897120"/>
          </a:xfrm>
        </p:spPr>
        <p:txBody>
          <a:bodyPr>
            <a:noAutofit/>
          </a:bodyPr>
          <a:lstStyle/>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应急储备和管理储备</a:t>
            </a:r>
            <a:endParaRPr lang="zh-CN" altLang="en-US" dirty="0">
              <a:latin typeface="Times New Roman" panose="02020603050405020304" pitchFamily="18" charset="0"/>
              <a:ea typeface="宋体" panose="02010600030101010101" pitchFamily="2" charset="-122"/>
            </a:endParaRPr>
          </a:p>
          <a:p>
            <a:pPr marL="0" indent="0" algn="just" eaLnBrk="1" hangingPunct="1">
              <a:spcBef>
                <a:spcPct val="0"/>
              </a:spcBef>
              <a:buNone/>
            </a:pPr>
            <a:r>
              <a:rPr lang="zh-CN" altLang="en-US" dirty="0">
                <a:solidFill>
                  <a:srgbClr val="FF0000"/>
                </a:solidFill>
                <a:latin typeface="Times New Roman" panose="02020603050405020304" pitchFamily="18" charset="0"/>
                <a:ea typeface="宋体" panose="02010600030101010101" pitchFamily="2" charset="-122"/>
              </a:rPr>
              <a:t>管理储备</a:t>
            </a:r>
            <a:r>
              <a:rPr lang="zh-CN" altLang="en-US" dirty="0">
                <a:latin typeface="Times New Roman" panose="02020603050405020304" pitchFamily="18" charset="0"/>
                <a:ea typeface="宋体" panose="02010600030101010101" pitchFamily="2" charset="-122"/>
              </a:rPr>
              <a:t>是为了管理控制的目的而特别留出的项目预算，</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用来应对项目范围中不可预见的工作。</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管理储备用来应对会影响项目的</a:t>
            </a: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未知</a:t>
            </a:r>
            <a:r>
              <a:rPr lang="en-US" altLang="zh-CN" dirty="0">
                <a:solidFill>
                  <a:srgbClr val="FF0000"/>
                </a:solidFill>
                <a:latin typeface="Times New Roman" panose="02020603050405020304" pitchFamily="18" charset="0"/>
                <a:ea typeface="宋体" panose="02010600030101010101" pitchFamily="2" charset="-122"/>
              </a:rPr>
              <a:t> - </a:t>
            </a:r>
            <a:r>
              <a:rPr lang="zh-CN" altLang="en-US" dirty="0">
                <a:solidFill>
                  <a:srgbClr val="FF0000"/>
                </a:solidFill>
                <a:latin typeface="Times New Roman" panose="02020603050405020304" pitchFamily="18" charset="0"/>
                <a:ea typeface="宋体" panose="02010600030101010101" pitchFamily="2" charset="-122"/>
              </a:rPr>
              <a:t>未知</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风险。</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管理储备不包括在成本基准中，但属于项目总预算和资金需求的一部分，</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使用前需要得到高层管理者审批。</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当动用管理储备资助不可预见的工作时，</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就要把动用的管理储备增加到成本基准中，</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此时会导致成本基准的变更。</a:t>
            </a:r>
            <a:endParaRPr lang="zh-CN" altLang="en-US" dirty="0">
              <a:latin typeface="Times New Roman" panose="02020603050405020304" pitchFamily="18" charset="0"/>
              <a:ea typeface="宋体" panose="02010600030101010101" pitchFamily="2" charset="-122"/>
            </a:endParaRPr>
          </a:p>
          <a:p>
            <a:pPr marL="0" indent="0" algn="just" eaLnBrk="1" hangingPunct="1">
              <a:spcBef>
                <a:spcPct val="0"/>
              </a:spcBef>
              <a:buNone/>
            </a:pPr>
            <a:r>
              <a:rPr lang="en-US" altLang="zh-CN" dirty="0">
                <a:solidFill>
                  <a:srgbClr val="FF0000"/>
                </a:solidFill>
                <a:latin typeface="Times New Roman" panose="02020603050405020304" pitchFamily="18" charset="0"/>
                <a:ea typeface="宋体" panose="02010600030101010101" pitchFamily="2" charset="-122"/>
              </a:rPr>
              <a:t>5.</a:t>
            </a:r>
            <a:r>
              <a:rPr lang="zh-CN" altLang="en-US" dirty="0">
                <a:solidFill>
                  <a:srgbClr val="FF0000"/>
                </a:solidFill>
                <a:latin typeface="Times New Roman" panose="02020603050405020304" pitchFamily="18" charset="0"/>
                <a:ea typeface="宋体" panose="02010600030101010101" pitchFamily="2" charset="-122"/>
              </a:rPr>
              <a:t>成本基准</a:t>
            </a:r>
            <a:endParaRPr lang="zh-CN" altLang="en-US" dirty="0">
              <a:solidFill>
                <a:srgbClr val="FF0000"/>
              </a:solidFill>
              <a:latin typeface="Times New Roman" panose="02020603050405020304" pitchFamily="18" charset="0"/>
              <a:ea typeface="宋体" panose="02010600030101010101" pitchFamily="2" charset="-122"/>
            </a:endParaRPr>
          </a:p>
          <a:p>
            <a:pPr marL="0" indent="0" algn="just" eaLnBrk="1" hangingPunct="1">
              <a:spcBef>
                <a:spcPct val="0"/>
              </a:spcBef>
              <a:buNone/>
            </a:pPr>
            <a:r>
              <a:rPr lang="zh-CN" altLang="en-US" dirty="0">
                <a:latin typeface="Times New Roman" panose="02020603050405020304" pitchFamily="18" charset="0"/>
                <a:ea typeface="宋体" panose="02010600030101010101" pitchFamily="2" charset="-122"/>
              </a:rPr>
              <a:t>成本基准是经批准的按时间安排的成本支出计划，</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并随时反映了经批准的项目成本的变更</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所增加或减少的资金数目</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，被用于度量和监督项目的实际执行成本。</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619672" y="188640"/>
            <a:ext cx="6624736" cy="792088"/>
          </a:xfrm>
        </p:spPr>
        <p:txBody>
          <a:bodyPr>
            <a:noAutofit/>
          </a:bodyPr>
          <a:lstStyle/>
          <a:p>
            <a:pPr algn="l" eaLnBrk="1" hangingPunct="1"/>
            <a:r>
              <a:rPr lang="zh-CN" altLang="en-US" sz="4000" b="1" dirty="0">
                <a:latin typeface="Times New Roman" panose="02020603050405020304" pitchFamily="18" charset="0"/>
                <a:ea typeface="宋体" panose="02010600030101010101" pitchFamily="2" charset="-122"/>
              </a:rPr>
              <a:t>信息系统项目的</a:t>
            </a:r>
            <a:r>
              <a:rPr lang="zh-CN" altLang="en-US" sz="4000" b="1" dirty="0">
                <a:latin typeface="Times New Roman" panose="02020603050405020304" pitchFamily="18" charset="0"/>
                <a:ea typeface="宋体" panose="02010600030101010101" pitchFamily="2" charset="-122"/>
              </a:rPr>
              <a:t>成本管理</a:t>
            </a:r>
            <a:endParaRPr lang="zh-CN" altLang="en-US" sz="4000" dirty="0">
              <a:latin typeface="Times New Roman" panose="02020603050405020304" pitchFamily="18" charset="0"/>
              <a:ea typeface="宋体" panose="02010600030101010101" pitchFamily="2" charset="-122"/>
            </a:endParaRPr>
          </a:p>
        </p:txBody>
      </p:sp>
      <p:sp>
        <p:nvSpPr>
          <p:cNvPr id="18435" name="Rectangle 3"/>
          <p:cNvSpPr>
            <a:spLocks noGrp="1" noChangeArrowheads="1"/>
          </p:cNvSpPr>
          <p:nvPr>
            <p:ph idx="1"/>
          </p:nvPr>
        </p:nvSpPr>
        <p:spPr>
          <a:xfrm>
            <a:off x="179070" y="980440"/>
            <a:ext cx="8875395" cy="4897120"/>
          </a:xfrm>
        </p:spPr>
        <p:txBody>
          <a:bodyPr>
            <a:noAutofit/>
          </a:bodyPr>
          <a:lstStyle/>
          <a:p>
            <a:pPr marL="0" indent="0" eaLnBrk="1" hangingPunct="1">
              <a:spcBef>
                <a:spcPct val="0"/>
              </a:spcBef>
              <a:buNone/>
            </a:pPr>
            <a:r>
              <a:rPr lang="zh-CN" altLang="en-US" dirty="0">
                <a:latin typeface="Times New Roman" panose="02020603050405020304" pitchFamily="18" charset="0"/>
                <a:ea typeface="宋体" panose="02010600030101010101" pitchFamily="2" charset="-122"/>
              </a:rPr>
              <a:t>二</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项目成本管理过程</a:t>
            </a: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2.1 </a:t>
            </a:r>
            <a:r>
              <a:rPr lang="zh-CN" altLang="en-US" dirty="0">
                <a:latin typeface="Times New Roman" panose="02020603050405020304" pitchFamily="18" charset="0"/>
                <a:ea typeface="宋体" panose="02010600030101010101" pitchFamily="2" charset="-122"/>
              </a:rPr>
              <a:t>过程概述</a:t>
            </a: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r>
              <a:rPr lang="zh-CN" altLang="en-US" dirty="0">
                <a:latin typeface="Times New Roman" panose="02020603050405020304" pitchFamily="18" charset="0"/>
                <a:ea typeface="宋体" panose="02010600030101010101" pitchFamily="2" charset="-122"/>
              </a:rPr>
              <a:t>项目成本管理过程包括：</a:t>
            </a: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规划成本管理</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确定如何估算、</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预算、</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管理、</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监督和控制项目成本。</a:t>
            </a: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估算成本</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对完成项目活动所需货币资源进行近似估算。</a:t>
            </a: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制定预算</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汇总所有单个活动或工作包的估算成本，</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建立一个经批准的成本基准。</a:t>
            </a: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r>
              <a:rPr lang="en-US" altLang="zh-CN"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控制成本</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监督项目状态，</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以更新项目成本和管理成本基准的变更。</a:t>
            </a:r>
            <a:endParaRPr lang="zh-CN" altLang="en-US" dirty="0">
              <a:latin typeface="Times New Roman" panose="02020603050405020304" pitchFamily="18" charset="0"/>
              <a:ea typeface="宋体" panose="02010600030101010101" pitchFamily="2" charset="-122"/>
            </a:endParaRPr>
          </a:p>
          <a:p>
            <a:pPr marL="0" indent="0" eaLnBrk="1" hangingPunct="1">
              <a:spcBef>
                <a:spcPct val="0"/>
              </a:spcBef>
              <a:buNone/>
            </a:pPr>
            <a:r>
              <a:rPr lang="zh-CN" altLang="en-US" dirty="0">
                <a:latin typeface="Times New Roman" panose="02020603050405020304" pitchFamily="18" charset="0"/>
                <a:ea typeface="宋体" panose="02010600030101010101" pitchFamily="2" charset="-122"/>
              </a:rPr>
              <a:t>在项目实际进展中，</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以上各过程会相互交叠和相互作用。</a:t>
            </a:r>
            <a:r>
              <a:rPr lang="en-US" altLang="zh-CN"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619672" y="188640"/>
            <a:ext cx="6624736" cy="792088"/>
          </a:xfrm>
        </p:spPr>
        <p:txBody>
          <a:bodyPr>
            <a:noAutofit/>
          </a:bodyPr>
          <a:lstStyle/>
          <a:p>
            <a:pPr algn="l" eaLnBrk="1" hangingPunct="1"/>
            <a:r>
              <a:rPr lang="zh-CN" altLang="en-US" sz="4000" b="1" dirty="0">
                <a:latin typeface="Times New Roman" panose="02020603050405020304" pitchFamily="18" charset="0"/>
                <a:ea typeface="宋体" panose="02010600030101010101" pitchFamily="2" charset="-122"/>
              </a:rPr>
              <a:t>信息系统项目的</a:t>
            </a:r>
            <a:r>
              <a:rPr lang="zh-CN" altLang="en-US" sz="4000" b="1" dirty="0">
                <a:latin typeface="Times New Roman" panose="02020603050405020304" pitchFamily="18" charset="0"/>
                <a:ea typeface="宋体" panose="02010600030101010101" pitchFamily="2" charset="-122"/>
              </a:rPr>
              <a:t>成本管理</a:t>
            </a:r>
            <a:endParaRPr lang="zh-CN" altLang="en-US" sz="4000" dirty="0">
              <a:latin typeface="Times New Roman" panose="02020603050405020304" pitchFamily="18" charset="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971550" y="908685"/>
            <a:ext cx="6877050" cy="4259580"/>
          </a:xfrm>
          <a:prstGeom prst="rect">
            <a:avLst/>
          </a:prstGeom>
        </p:spPr>
      </p:pic>
      <p:pic>
        <p:nvPicPr>
          <p:cNvPr id="4" name="图片 3"/>
          <p:cNvPicPr>
            <a:picLocks noChangeAspect="1"/>
          </p:cNvPicPr>
          <p:nvPr/>
        </p:nvPicPr>
        <p:blipFill>
          <a:blip r:embed="rId2"/>
          <a:stretch>
            <a:fillRect/>
          </a:stretch>
        </p:blipFill>
        <p:spPr>
          <a:xfrm>
            <a:off x="971550" y="5084445"/>
            <a:ext cx="6851015" cy="145161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7950" y="188595"/>
            <a:ext cx="7886700" cy="755015"/>
          </a:xfrm>
        </p:spPr>
        <p:txBody>
          <a:bodyPr/>
          <a:lstStyle/>
          <a:p>
            <a:r>
              <a:rPr lang="en-US" sz="3600">
                <a:sym typeface="+mn-ea"/>
              </a:rPr>
              <a:t>5</a:t>
            </a:r>
            <a:r>
              <a:rPr sz="3600">
                <a:sym typeface="+mn-ea"/>
              </a:rPr>
              <a:t>.3规划成本管理</a:t>
            </a:r>
            <a:endParaRPr lang="zh-CN" sz="3600">
              <a:sym typeface="+mn-ea"/>
            </a:endParaRPr>
          </a:p>
        </p:txBody>
      </p:sp>
      <p:sp>
        <p:nvSpPr>
          <p:cNvPr id="3" name="Content Placeholder 2"/>
          <p:cNvSpPr>
            <a:spLocks noGrp="1"/>
          </p:cNvSpPr>
          <p:nvPr>
            <p:ph idx="1"/>
          </p:nvPr>
        </p:nvSpPr>
        <p:spPr>
          <a:xfrm>
            <a:off x="179705" y="764540"/>
            <a:ext cx="8735695" cy="5758180"/>
          </a:xfrm>
        </p:spPr>
        <p:txBody>
          <a:bodyPr wrap="square">
            <a:noAutofit/>
          </a:bodyPr>
          <a:lstStyle/>
          <a:p>
            <a:pPr algn="just">
              <a:defRPr sz="1700"/>
            </a:pPr>
            <a:r>
              <a:rPr sz="2800">
                <a:solidFill>
                  <a:schemeClr val="tx1"/>
                </a:solidFill>
                <a:uFillTx/>
                <a:latin typeface="Times New Roman" panose="02020603050405020304" pitchFamily="18" charset="0"/>
                <a:ea typeface="宋体" panose="02010600030101010101" pitchFamily="2" charset="-122"/>
              </a:rPr>
              <a:t>规划成本管理是确定如何估算、预算、管理、监督和控制项目成本的过程，本过程的主要作用是，在整个项目期间为如何管理项目成本提供指南和方向。规划成本管理过程的数据流向如</a:t>
            </a:r>
            <a:r>
              <a:rPr lang="zh-CN" sz="2800">
                <a:solidFill>
                  <a:schemeClr val="tx1"/>
                </a:solidFill>
                <a:uFillTx/>
                <a:latin typeface="Times New Roman" panose="02020603050405020304" pitchFamily="18" charset="0"/>
                <a:ea typeface="宋体" panose="02010600030101010101" pitchFamily="2" charset="-122"/>
              </a:rPr>
              <a:t>下</a:t>
            </a:r>
            <a:r>
              <a:rPr sz="2800">
                <a:solidFill>
                  <a:schemeClr val="tx1"/>
                </a:solidFill>
                <a:uFillTx/>
                <a:latin typeface="Times New Roman" panose="02020603050405020304" pitchFamily="18" charset="0"/>
                <a:ea typeface="宋体" panose="02010600030101010101" pitchFamily="2" charset="-122"/>
              </a:rPr>
              <a:t>图所示。</a:t>
            </a:r>
            <a:endParaRPr sz="2800">
              <a:solidFill>
                <a:schemeClr val="tx1"/>
              </a:solidFill>
              <a:uFillTx/>
              <a:latin typeface="Times New Roman" panose="02020603050405020304" pitchFamily="18" charset="0"/>
              <a:ea typeface="宋体" panose="02010600030101010101" pitchFamily="2" charset="-122"/>
            </a:endParaRPr>
          </a:p>
          <a:p>
            <a:pPr algn="just">
              <a:defRPr sz="1700"/>
            </a:pPr>
            <a:endParaRPr sz="2800">
              <a:solidFill>
                <a:schemeClr val="tx1"/>
              </a:solidFill>
              <a:uFillTx/>
              <a:latin typeface="Times New Roman" panose="02020603050405020304" pitchFamily="18" charset="0"/>
              <a:ea typeface="宋体" panose="02010600030101010101" pitchFamily="2" charset="-122"/>
            </a:endParaRPr>
          </a:p>
          <a:p>
            <a:pPr algn="just">
              <a:defRPr sz="1700"/>
            </a:pPr>
            <a:endParaRPr sz="2800">
              <a:solidFill>
                <a:schemeClr val="tx1"/>
              </a:solidFill>
              <a:uFillTx/>
              <a:latin typeface="Times New Roman" panose="02020603050405020304" pitchFamily="18" charset="0"/>
              <a:ea typeface="宋体" panose="02010600030101010101" pitchFamily="2" charset="-122"/>
            </a:endParaRPr>
          </a:p>
          <a:p>
            <a:pPr algn="just">
              <a:defRPr sz="1700"/>
            </a:pPr>
            <a:endParaRPr sz="2800">
              <a:solidFill>
                <a:schemeClr val="tx1"/>
              </a:solidFill>
              <a:uFillTx/>
              <a:latin typeface="Times New Roman" panose="02020603050405020304" pitchFamily="18" charset="0"/>
              <a:ea typeface="宋体" panose="02010600030101010101" pitchFamily="2" charset="-122"/>
            </a:endParaRPr>
          </a:p>
          <a:p>
            <a:pPr algn="just">
              <a:defRPr sz="1700"/>
            </a:pPr>
            <a:endParaRPr sz="2800">
              <a:solidFill>
                <a:schemeClr val="tx1"/>
              </a:solidFill>
              <a:uFillTx/>
              <a:latin typeface="Times New Roman" panose="02020603050405020304" pitchFamily="18" charset="0"/>
              <a:ea typeface="宋体" panose="02010600030101010101" pitchFamily="2" charset="-122"/>
            </a:endParaRPr>
          </a:p>
          <a:p>
            <a:pPr algn="just">
              <a:defRPr sz="1700"/>
            </a:pPr>
            <a:endParaRPr sz="2800">
              <a:solidFill>
                <a:schemeClr val="tx1"/>
              </a:solidFill>
              <a:uFillTx/>
              <a:latin typeface="Times New Roman" panose="02020603050405020304" pitchFamily="18" charset="0"/>
              <a:ea typeface="宋体" panose="02010600030101010101" pitchFamily="2" charset="-122"/>
            </a:endParaRPr>
          </a:p>
          <a:p>
            <a:pPr algn="just">
              <a:defRPr sz="1700"/>
            </a:pPr>
            <a:r>
              <a:rPr sz="2400">
                <a:solidFill>
                  <a:schemeClr val="tx1"/>
                </a:solidFill>
                <a:uFillTx/>
                <a:latin typeface="Times New Roman" panose="02020603050405020304" pitchFamily="18" charset="0"/>
                <a:ea typeface="宋体" panose="02010600030101010101" pitchFamily="2" charset="-122"/>
              </a:rPr>
              <a:t>应该在项目规划阶段的早期就对成本管理工作进行规划，建立各成本管理过程的基本框架，以确保各过程的有效性及各过程之间的协调性。</a:t>
            </a:r>
            <a:r>
              <a:rPr sz="2400">
                <a:solidFill>
                  <a:srgbClr val="FF0000"/>
                </a:solidFill>
                <a:uFillTx/>
                <a:latin typeface="Times New Roman" panose="02020603050405020304" pitchFamily="18" charset="0"/>
                <a:ea typeface="宋体" panose="02010600030101010101" pitchFamily="2" charset="-122"/>
              </a:rPr>
              <a:t>成本管理计划是项目管理计划的组成部分</a:t>
            </a:r>
            <a:r>
              <a:rPr sz="2400">
                <a:solidFill>
                  <a:schemeClr val="tx1"/>
                </a:solidFill>
                <a:uFillTx/>
                <a:latin typeface="Times New Roman" panose="02020603050405020304" pitchFamily="18" charset="0"/>
                <a:ea typeface="宋体" panose="02010600030101010101" pitchFamily="2" charset="-122"/>
              </a:rPr>
              <a:t>，其过程及所用工具与技术应记录在成本管理计划中。</a:t>
            </a:r>
            <a:endParaRPr sz="2400">
              <a:solidFill>
                <a:schemeClr val="tx1"/>
              </a:solidFill>
              <a:uFillTx/>
              <a:latin typeface="Times New Roman" panose="02020603050405020304" pitchFamily="18" charset="0"/>
              <a:ea typeface="宋体" panose="02010600030101010101" pitchFamily="2" charset="-122"/>
            </a:endParaRPr>
          </a:p>
        </p:txBody>
      </p:sp>
      <p:pic>
        <p:nvPicPr>
          <p:cNvPr id="7" name="图片 6"/>
          <p:cNvPicPr>
            <a:picLocks noChangeAspect="1"/>
          </p:cNvPicPr>
          <p:nvPr/>
        </p:nvPicPr>
        <p:blipFill>
          <a:blip r:embed="rId1"/>
          <a:stretch>
            <a:fillRect/>
          </a:stretch>
        </p:blipFill>
        <p:spPr>
          <a:xfrm>
            <a:off x="1187450" y="2420620"/>
            <a:ext cx="6305550" cy="22383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23215" y="764540"/>
            <a:ext cx="8705850" cy="5469890"/>
          </a:xfrm>
        </p:spPr>
        <p:txBody>
          <a:bodyPr wrap="square">
            <a:noAutofit/>
          </a:bodyPr>
          <a:lstStyle/>
          <a:p>
            <a:pPr marL="0" indent="0" algn="just">
              <a:buClrTx/>
              <a:buSzTx/>
              <a:buNone/>
              <a:defRPr sz="1700"/>
            </a:pPr>
            <a:r>
              <a:rPr sz="2800">
                <a:solidFill>
                  <a:srgbClr val="FF0000"/>
                </a:solidFill>
                <a:uFillTx/>
                <a:latin typeface="Times New Roman" panose="02020603050405020304" pitchFamily="18" charset="0"/>
                <a:ea typeface="宋体" panose="02010600030101010101" pitchFamily="2" charset="-122"/>
              </a:rPr>
              <a:t>3.1输人</a:t>
            </a:r>
            <a:endParaRPr sz="2800">
              <a:solidFill>
                <a:srgbClr val="FF0000"/>
              </a:solidFill>
              <a:uFillTx/>
              <a:latin typeface="Times New Roman" panose="02020603050405020304" pitchFamily="18" charset="0"/>
              <a:ea typeface="宋体" panose="02010600030101010101" pitchFamily="2" charset="-122"/>
            </a:endParaRPr>
          </a:p>
          <a:p>
            <a:pPr algn="just">
              <a:buClrTx/>
              <a:buSzTx/>
              <a:defRPr sz="1700"/>
            </a:pPr>
            <a:r>
              <a:rPr sz="2800">
                <a:uFillTx/>
                <a:latin typeface="Times New Roman" panose="02020603050405020304" pitchFamily="18" charset="0"/>
                <a:ea typeface="宋体" panose="02010600030101010101" pitchFamily="2" charset="-122"/>
              </a:rPr>
              <a:t>1.项目章程</a:t>
            </a:r>
            <a:endParaRPr sz="2800">
              <a:uFillTx/>
              <a:latin typeface="Times New Roman" panose="02020603050405020304" pitchFamily="18" charset="0"/>
              <a:ea typeface="宋体" panose="02010600030101010101" pitchFamily="2" charset="-122"/>
            </a:endParaRPr>
          </a:p>
          <a:p>
            <a:pPr algn="just">
              <a:buClrTx/>
              <a:buSzTx/>
              <a:defRPr sz="1700"/>
            </a:pPr>
            <a:r>
              <a:rPr sz="2800">
                <a:uFillTx/>
                <a:latin typeface="Times New Roman" panose="02020603050405020304" pitchFamily="18" charset="0"/>
                <a:ea typeface="宋体" panose="02010600030101010101" pitchFamily="2" charset="-122"/>
              </a:rPr>
              <a:t>项目章程规定了预先批准的财务资源，可根据项目章程确定详细的项目成本，项目章程所规定的项目审批要求，也对项目成本管理有影响。</a:t>
            </a:r>
            <a:endParaRPr sz="2800">
              <a:uFillTx/>
              <a:latin typeface="Times New Roman" panose="02020603050405020304" pitchFamily="18" charset="0"/>
              <a:ea typeface="宋体" panose="02010600030101010101" pitchFamily="2" charset="-122"/>
            </a:endParaRPr>
          </a:p>
          <a:p>
            <a:pPr algn="just">
              <a:buClrTx/>
              <a:buSzTx/>
              <a:defRPr sz="1700"/>
            </a:pPr>
            <a:r>
              <a:rPr sz="2800">
                <a:uFillTx/>
                <a:latin typeface="Times New Roman" panose="02020603050405020304" pitchFamily="18" charset="0"/>
                <a:ea typeface="宋体" panose="02010600030101010101" pitchFamily="2" charset="-122"/>
              </a:rPr>
              <a:t>2.项目管理计划</a:t>
            </a:r>
            <a:endParaRPr sz="2800">
              <a:uFillTx/>
              <a:latin typeface="Times New Roman" panose="02020603050405020304" pitchFamily="18" charset="0"/>
              <a:ea typeface="宋体" panose="02010600030101010101" pitchFamily="2" charset="-122"/>
            </a:endParaRPr>
          </a:p>
          <a:p>
            <a:pPr algn="just">
              <a:buClrTx/>
              <a:buSzTx/>
              <a:defRPr sz="1700"/>
            </a:pPr>
            <a:r>
              <a:rPr sz="2800">
                <a:uFillTx/>
                <a:latin typeface="Times New Roman" panose="02020603050405020304" pitchFamily="18" charset="0"/>
                <a:ea typeface="宋体" panose="02010600030101010101" pitchFamily="2" charset="-122"/>
              </a:rPr>
              <a:t>用于规划成本管理的项目管理计划组件主要包括：</a:t>
            </a:r>
            <a:endParaRPr sz="2800">
              <a:uFillTx/>
              <a:latin typeface="Times New Roman" panose="02020603050405020304" pitchFamily="18" charset="0"/>
              <a:ea typeface="宋体" panose="02010600030101010101" pitchFamily="2" charset="-122"/>
            </a:endParaRPr>
          </a:p>
          <a:p>
            <a:pPr marL="0" indent="0" algn="just">
              <a:buClrTx/>
              <a:buSzTx/>
              <a:buNone/>
              <a:defRPr sz="1700"/>
            </a:pPr>
            <a:r>
              <a:rPr sz="2800">
                <a:uFillTx/>
                <a:latin typeface="Times New Roman" panose="02020603050405020304" pitchFamily="18" charset="0"/>
                <a:ea typeface="宋体" panose="02010600030101010101" pitchFamily="2" charset="-122"/>
              </a:rPr>
              <a:t>进度管理计划：确定编制、监督和控制项目进度的准则和活动，同时也提供了影响成本估算和管理的过程及控制方法。</a:t>
            </a:r>
            <a:endParaRPr sz="2800">
              <a:uFillTx/>
              <a:latin typeface="Times New Roman" panose="02020603050405020304" pitchFamily="18" charset="0"/>
              <a:ea typeface="宋体" panose="02010600030101010101" pitchFamily="2" charset="-122"/>
            </a:endParaRPr>
          </a:p>
          <a:p>
            <a:pPr marL="0" indent="0" algn="just">
              <a:buClrTx/>
              <a:buSzTx/>
              <a:buNone/>
              <a:defRPr sz="1700"/>
            </a:pPr>
            <a:r>
              <a:rPr sz="2800">
                <a:uFillTx/>
                <a:latin typeface="Times New Roman" panose="02020603050405020304" pitchFamily="18" charset="0"/>
                <a:ea typeface="宋体" panose="02010600030101010101" pitchFamily="2" charset="-122"/>
              </a:rPr>
              <a:t>风险管理计划：提供识别、分析和监督风险的方法，同时也提供了影响成本估算和管理</a:t>
            </a:r>
            <a:r>
              <a:rPr lang="zh-CN" altLang="en-US" sz="2800">
                <a:uFillTx/>
                <a:latin typeface="Times New Roman" panose="02020603050405020304" pitchFamily="18" charset="0"/>
                <a:ea typeface="宋体" panose="02010600030101010101" pitchFamily="2" charset="-122"/>
              </a:rPr>
              <a:t>的过程及控制方法</a:t>
            </a:r>
            <a:endParaRPr lang="zh-CN" altLang="en-US" sz="2800">
              <a:uFillTx/>
              <a:latin typeface="Times New Roman" panose="02020603050405020304" pitchFamily="18" charset="0"/>
              <a:ea typeface="宋体" panose="02010600030101010101" pitchFamily="2" charset="-122"/>
            </a:endParaRPr>
          </a:p>
          <a:p>
            <a:pPr algn="just">
              <a:buClrTx/>
              <a:buSzTx/>
              <a:defRPr sz="1700"/>
            </a:pPr>
            <a:endParaRPr sz="2800">
              <a:uFillTx/>
              <a:latin typeface="Times New Roman" panose="02020603050405020304" pitchFamily="18" charset="0"/>
              <a:ea typeface="宋体" panose="02010600030101010101" pitchFamily="2" charset="-122"/>
            </a:endParaRPr>
          </a:p>
        </p:txBody>
      </p:sp>
      <p:sp>
        <p:nvSpPr>
          <p:cNvPr id="4" name="TextBox 3"/>
          <p:cNvSpPr txBox="1"/>
          <p:nvPr/>
        </p:nvSpPr>
        <p:spPr>
          <a:xfrm>
            <a:off x="457200" y="182880"/>
            <a:ext cx="4822825" cy="27559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tile tx="0" ty="0" sx="100000" sy="100000" flip="none" algn="tl"/>
        </a:blipFill>
        <a:effectLst/>
      </p:bgPr>
    </p:bg>
    <p:spTree>
      <p:nvGrpSpPr>
        <p:cNvPr id="1" name=""/>
        <p:cNvGrpSpPr/>
        <p:nvPr/>
      </p:nvGrpSpPr>
      <p:grpSpPr/>
      <p:sp>
        <p:nvSpPr>
          <p:cNvPr id="3" name="Content Placeholder 2"/>
          <p:cNvSpPr>
            <a:spLocks noGrp="1"/>
          </p:cNvSpPr>
          <p:nvPr>
            <p:ph idx="1"/>
          </p:nvPr>
        </p:nvSpPr>
        <p:spPr>
          <a:xfrm>
            <a:off x="154305" y="188595"/>
            <a:ext cx="8834755" cy="5731510"/>
          </a:xfrm>
        </p:spPr>
        <p:txBody>
          <a:bodyPr wrap="square">
            <a:noAutofit/>
          </a:bodyPr>
          <a:lstStyle/>
          <a:p>
            <a:pPr marL="0" indent="0" algn="just">
              <a:buClrTx/>
              <a:buSzTx/>
              <a:buNone/>
              <a:defRPr sz="1700"/>
            </a:pPr>
            <a:r>
              <a:rPr sz="2800">
                <a:solidFill>
                  <a:srgbClr val="FF0000"/>
                </a:solidFill>
                <a:uFillTx/>
                <a:latin typeface="Times New Roman" panose="02020603050405020304" pitchFamily="18" charset="0"/>
                <a:ea typeface="宋体" panose="02010600030101010101" pitchFamily="2" charset="-122"/>
              </a:rPr>
              <a:t>工具与技术</a:t>
            </a:r>
            <a:endParaRPr sz="2800">
              <a:solidFill>
                <a:srgbClr val="FF0000"/>
              </a:solidFill>
              <a:uFillTx/>
              <a:latin typeface="Times New Roman" panose="02020603050405020304" pitchFamily="18" charset="0"/>
              <a:ea typeface="宋体" panose="02010600030101010101" pitchFamily="2" charset="-122"/>
            </a:endParaRPr>
          </a:p>
          <a:p>
            <a:pPr marL="0" indent="0" algn="just" fontAlgn="auto">
              <a:lnSpc>
                <a:spcPct val="100000"/>
              </a:lnSpc>
              <a:buClrTx/>
              <a:buSzTx/>
              <a:buNone/>
              <a:defRPr sz="1700"/>
            </a:pPr>
            <a:r>
              <a:rPr sz="2400">
                <a:uFillTx/>
                <a:latin typeface="Times New Roman" panose="02020603050405020304" pitchFamily="18" charset="0"/>
                <a:ea typeface="宋体" panose="02010600030101010101" pitchFamily="2" charset="-122"/>
              </a:rPr>
              <a:t>1.专家判断</a:t>
            </a:r>
            <a:endParaRPr sz="2400">
              <a:uFillTx/>
              <a:latin typeface="Times New Roman" panose="02020603050405020304" pitchFamily="18" charset="0"/>
              <a:ea typeface="宋体" panose="02010600030101010101" pitchFamily="2" charset="-122"/>
            </a:endParaRPr>
          </a:p>
          <a:p>
            <a:pPr marL="0" indent="0" algn="just" fontAlgn="auto">
              <a:lnSpc>
                <a:spcPct val="100000"/>
              </a:lnSpc>
              <a:buClrTx/>
              <a:buSzTx/>
              <a:buNone/>
              <a:defRPr sz="1700"/>
            </a:pPr>
            <a:r>
              <a:rPr sz="2400">
                <a:uFillTx/>
                <a:latin typeface="Times New Roman" panose="02020603050405020304" pitchFamily="18" charset="0"/>
                <a:ea typeface="宋体" panose="02010600030101010101" pitchFamily="2" charset="-122"/>
              </a:rPr>
              <a:t>在对项目成本管理进行规划过程中，应征求具备以下专业知识或接受过相关培训的个人或小组的意见：以往类似项目；来自行业、学科和应用领域的信息；成本估算和预算；挣值管理等。</a:t>
            </a:r>
            <a:endParaRPr sz="2400">
              <a:uFillTx/>
              <a:latin typeface="Times New Roman" panose="02020603050405020304" pitchFamily="18" charset="0"/>
              <a:ea typeface="宋体" panose="02010600030101010101" pitchFamily="2" charset="-122"/>
            </a:endParaRPr>
          </a:p>
          <a:p>
            <a:pPr marL="0" indent="0" algn="just" fontAlgn="auto">
              <a:lnSpc>
                <a:spcPct val="100000"/>
              </a:lnSpc>
              <a:buClrTx/>
              <a:buSzTx/>
              <a:buNone/>
              <a:defRPr sz="1700"/>
            </a:pPr>
            <a:r>
              <a:rPr sz="2400">
                <a:uFillTx/>
                <a:latin typeface="Times New Roman" panose="02020603050405020304" pitchFamily="18" charset="0"/>
                <a:ea typeface="宋体" panose="02010600030101010101" pitchFamily="2" charset="-122"/>
              </a:rPr>
              <a:t>2.数据分析</a:t>
            </a:r>
            <a:endParaRPr sz="2400">
              <a:uFillTx/>
              <a:latin typeface="Times New Roman" panose="02020603050405020304" pitchFamily="18" charset="0"/>
              <a:ea typeface="宋体" panose="02010600030101010101" pitchFamily="2" charset="-122"/>
            </a:endParaRPr>
          </a:p>
          <a:p>
            <a:pPr marL="0" indent="0" algn="just" fontAlgn="auto">
              <a:lnSpc>
                <a:spcPct val="100000"/>
              </a:lnSpc>
              <a:buClrTx/>
              <a:buSzTx/>
              <a:buNone/>
              <a:defRPr sz="1700"/>
            </a:pPr>
            <a:r>
              <a:rPr sz="2400">
                <a:uFillTx/>
                <a:latin typeface="Times New Roman" panose="02020603050405020304" pitchFamily="18" charset="0"/>
                <a:ea typeface="宋体" panose="02010600030101010101" pitchFamily="2" charset="-122"/>
              </a:rPr>
              <a:t>备选方案分析是适用于成本管理过程的数据分析技术，备选方案分析包括审查筹资的战略方法，如自筹资金、股权投资、借贷投资等，还可以包括对筹集项目资源的方法（如自制、采</a:t>
            </a:r>
            <a:r>
              <a:rPr lang="zh-CN" altLang="en-US" sz="2400">
                <a:uFillTx/>
                <a:latin typeface="Times New Roman" panose="02020603050405020304" pitchFamily="18" charset="0"/>
                <a:ea typeface="宋体" panose="02010600030101010101" pitchFamily="2" charset="-122"/>
              </a:rPr>
              <a:t>购、租用或租赁）的考量。</a:t>
            </a:r>
            <a:endParaRPr lang="zh-CN" altLang="en-US" sz="2400">
              <a:uFillTx/>
              <a:latin typeface="Times New Roman" panose="02020603050405020304" pitchFamily="18" charset="0"/>
              <a:ea typeface="宋体" panose="02010600030101010101" pitchFamily="2" charset="-122"/>
            </a:endParaRPr>
          </a:p>
          <a:p>
            <a:pPr marL="0" indent="0" algn="just" fontAlgn="auto">
              <a:lnSpc>
                <a:spcPct val="100000"/>
              </a:lnSpc>
              <a:buClrTx/>
              <a:buSzTx/>
              <a:buNone/>
              <a:defRPr sz="1700"/>
            </a:pPr>
            <a:r>
              <a:rPr lang="en-US" altLang="zh-CN" sz="2400">
                <a:uFillTx/>
                <a:latin typeface="Times New Roman" panose="02020603050405020304" pitchFamily="18" charset="0"/>
                <a:ea typeface="宋体" panose="02010600030101010101" pitchFamily="2" charset="-122"/>
              </a:rPr>
              <a:t>3.</a:t>
            </a:r>
            <a:r>
              <a:rPr lang="zh-CN" altLang="en-US" sz="2400">
                <a:uFillTx/>
                <a:latin typeface="Times New Roman" panose="02020603050405020304" pitchFamily="18" charset="0"/>
                <a:ea typeface="宋体" panose="02010600030101010101" pitchFamily="2" charset="-122"/>
              </a:rPr>
              <a:t>会议</a:t>
            </a:r>
            <a:endParaRPr lang="zh-CN" altLang="en-US" sz="2400">
              <a:uFillTx/>
              <a:latin typeface="Times New Roman" panose="02020603050405020304" pitchFamily="18" charset="0"/>
              <a:ea typeface="宋体" panose="02010600030101010101" pitchFamily="2" charset="-122"/>
            </a:endParaRPr>
          </a:p>
          <a:p>
            <a:pPr marL="0" indent="0" algn="just" fontAlgn="auto">
              <a:lnSpc>
                <a:spcPct val="100000"/>
              </a:lnSpc>
              <a:buClrTx/>
              <a:buSzTx/>
              <a:buNone/>
              <a:defRPr sz="1700"/>
            </a:pPr>
            <a:r>
              <a:rPr lang="zh-CN" altLang="en-US" sz="2400">
                <a:uFillTx/>
                <a:latin typeface="Times New Roman" panose="02020603050405020304" pitchFamily="18" charset="0"/>
                <a:ea typeface="宋体" panose="02010600030101010101" pitchFamily="2" charset="-122"/>
              </a:rPr>
              <a:t>项目团队可以举行规划会议来制订成本管理计划，参会者可以包括项目经理、项目发起人、选定的项目团队成员、选定的干系人、项目成本负责人以及其他必要人员。</a:t>
            </a:r>
            <a:endParaRPr lang="zh-CN" altLang="en-US" sz="2400">
              <a:uFillTx/>
              <a:latin typeface="Times New Roman" panose="02020603050405020304" pitchFamily="18" charset="0"/>
              <a:ea typeface="宋体" panose="02010600030101010101" pitchFamily="2" charset="-122"/>
            </a:endParaRPr>
          </a:p>
          <a:p>
            <a:pPr algn="just">
              <a:buClrTx/>
              <a:buSzTx/>
              <a:defRPr sz="1700"/>
            </a:pPr>
            <a:endParaRPr lang="zh-CN" altLang="en-US" sz="2400">
              <a:uFillTx/>
              <a:latin typeface="Times New Roman" panose="02020603050405020304" pitchFamily="18"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23850" y="116205"/>
            <a:ext cx="7886700" cy="6029960"/>
          </a:xfrm>
        </p:spPr>
        <p:txBody>
          <a:bodyPr wrap="square">
            <a:noAutofit/>
          </a:bodyPr>
          <a:lstStyle/>
          <a:p>
            <a:pPr marL="0" algn="just">
              <a:lnSpc>
                <a:spcPct val="100000"/>
              </a:lnSpc>
              <a:buClrTx/>
              <a:buSzTx/>
              <a:buNone/>
              <a:defRPr sz="1700"/>
            </a:pPr>
            <a:r>
              <a:rPr sz="2400">
                <a:solidFill>
                  <a:srgbClr val="FF0000"/>
                </a:solidFill>
                <a:uFillTx/>
                <a:latin typeface="Times New Roman" panose="02020603050405020304" pitchFamily="18" charset="0"/>
                <a:ea typeface="宋体" panose="02010600030101010101" pitchFamily="2" charset="-122"/>
              </a:rPr>
              <a:t>输出</a:t>
            </a:r>
            <a:endParaRPr sz="2400">
              <a:solidFill>
                <a:srgbClr val="FF0000"/>
              </a:solidFill>
              <a:uFillTx/>
              <a:latin typeface="Times New Roman" panose="02020603050405020304" pitchFamily="18" charset="0"/>
              <a:ea typeface="宋体" panose="02010600030101010101" pitchFamily="2" charset="-122"/>
            </a:endParaRPr>
          </a:p>
          <a:p>
            <a:pPr marL="0" algn="just">
              <a:lnSpc>
                <a:spcPct val="100000"/>
              </a:lnSpc>
              <a:buClrTx/>
              <a:buSzTx/>
              <a:defRPr sz="1700"/>
            </a:pPr>
            <a:r>
              <a:rPr sz="2400">
                <a:uFillTx/>
                <a:latin typeface="Times New Roman" panose="02020603050405020304" pitchFamily="18" charset="0"/>
                <a:ea typeface="宋体" panose="02010600030101010101" pitchFamily="2" charset="-122"/>
              </a:rPr>
              <a:t>成本管理计划</a:t>
            </a:r>
            <a:endParaRPr sz="2400">
              <a:uFillTx/>
              <a:latin typeface="Times New Roman" panose="02020603050405020304" pitchFamily="18" charset="0"/>
              <a:ea typeface="宋体" panose="02010600030101010101" pitchFamily="2" charset="-122"/>
            </a:endParaRPr>
          </a:p>
          <a:p>
            <a:pPr marL="0" indent="0" algn="just">
              <a:lnSpc>
                <a:spcPct val="100000"/>
              </a:lnSpc>
              <a:buClrTx/>
              <a:buSzTx/>
              <a:buNone/>
              <a:defRPr sz="1700"/>
            </a:pPr>
            <a:r>
              <a:rPr sz="2400">
                <a:uFillTx/>
                <a:latin typeface="Times New Roman" panose="02020603050405020304" pitchFamily="18" charset="0"/>
                <a:ea typeface="宋体" panose="02010600030101010101" pitchFamily="2" charset="-122"/>
              </a:rPr>
              <a:t>成本管理计划是项目管理计划的组成部分，描述将如何规划、安排和控制项目成本。成本</a:t>
            </a:r>
            <a:r>
              <a:rPr sz="2400">
                <a:uFillTx/>
                <a:latin typeface="Times New Roman" panose="02020603050405020304" pitchFamily="18" charset="0"/>
                <a:ea typeface="宋体" panose="02010600030101010101" pitchFamily="2" charset="-122"/>
                <a:sym typeface="+mn-ea"/>
              </a:rPr>
              <a:t>管理过程及所用工具与技术应记录在成本管理计划中。</a:t>
            </a:r>
            <a:endParaRPr sz="2400">
              <a:uFillTx/>
              <a:latin typeface="Times New Roman" panose="02020603050405020304" pitchFamily="18" charset="0"/>
              <a:ea typeface="宋体" panose="02010600030101010101" pitchFamily="2" charset="-122"/>
              <a:sym typeface="+mn-ea"/>
            </a:endParaRPr>
          </a:p>
          <a:p>
            <a:pPr marL="0" indent="0" algn="just">
              <a:lnSpc>
                <a:spcPct val="100000"/>
              </a:lnSpc>
              <a:buClrTx/>
              <a:buSzTx/>
              <a:buNone/>
              <a:defRPr sz="1700"/>
            </a:pPr>
            <a:r>
              <a:rPr sz="2400">
                <a:uFillTx/>
                <a:latin typeface="Times New Roman" panose="02020603050405020304" pitchFamily="18" charset="0"/>
                <a:ea typeface="宋体" panose="02010600030101010101" pitchFamily="2" charset="-122"/>
                <a:sym typeface="+mn-ea"/>
              </a:rPr>
              <a:t>在成本管理计划中一般需要规定：</a:t>
            </a:r>
            <a:endParaRPr sz="2400">
              <a:uFillTx/>
              <a:latin typeface="Times New Roman" panose="02020603050405020304" pitchFamily="18" charset="0"/>
              <a:ea typeface="宋体" panose="02010600030101010101" pitchFamily="2" charset="-122"/>
              <a:sym typeface="+mn-ea"/>
            </a:endParaRPr>
          </a:p>
          <a:p>
            <a:pPr marL="0" lvl="1" algn="just">
              <a:lnSpc>
                <a:spcPct val="100000"/>
              </a:lnSpc>
              <a:spcBef>
                <a:spcPts val="1000"/>
              </a:spcBef>
              <a:buClrTx/>
              <a:buSzTx/>
              <a:defRPr sz="1700"/>
            </a:pPr>
            <a:r>
              <a:rPr sz="2400">
                <a:uFillTx/>
                <a:latin typeface="Times New Roman" panose="02020603050405020304" pitchFamily="18" charset="0"/>
                <a:ea typeface="宋体" panose="02010600030101010101" pitchFamily="2" charset="-122"/>
                <a:sym typeface="+mn-ea"/>
              </a:rPr>
              <a:t>计量单位：需要规定每种资源的计量单位，例如用于测量时间的人时数、人天数或周数，用于计量数量的米、升、吨、千米、立方码，或者用货币表示的总价。</a:t>
            </a:r>
            <a:endParaRPr sz="2400">
              <a:uFillTx/>
              <a:latin typeface="Times New Roman" panose="02020603050405020304" pitchFamily="18" charset="0"/>
              <a:ea typeface="宋体" panose="02010600030101010101" pitchFamily="2" charset="-122"/>
              <a:sym typeface="+mn-ea"/>
            </a:endParaRPr>
          </a:p>
          <a:p>
            <a:pPr marL="0" lvl="1" algn="just">
              <a:lnSpc>
                <a:spcPct val="100000"/>
              </a:lnSpc>
              <a:spcBef>
                <a:spcPts val="1000"/>
              </a:spcBef>
              <a:buClrTx/>
              <a:buSzTx/>
              <a:defRPr sz="1700"/>
            </a:pPr>
            <a:r>
              <a:rPr sz="2400">
                <a:uFillTx/>
                <a:latin typeface="Times New Roman" panose="02020603050405020304" pitchFamily="18" charset="0"/>
                <a:ea typeface="宋体" panose="02010600030101010101" pitchFamily="2" charset="-122"/>
                <a:sym typeface="+mn-ea"/>
              </a:rPr>
              <a:t>精确度：根据活动范围和项目规模，设定成本估算向上或向下取整的程度（例如995.59元取整为1000元）。</a:t>
            </a:r>
            <a:endParaRPr sz="2400">
              <a:uFillTx/>
              <a:latin typeface="Times New Roman" panose="02020603050405020304" pitchFamily="18" charset="0"/>
              <a:ea typeface="宋体" panose="02010600030101010101" pitchFamily="2" charset="-122"/>
              <a:sym typeface="+mn-ea"/>
            </a:endParaRPr>
          </a:p>
          <a:p>
            <a:pPr marL="0" lvl="1" algn="just">
              <a:lnSpc>
                <a:spcPct val="100000"/>
              </a:lnSpc>
              <a:spcBef>
                <a:spcPts val="1000"/>
              </a:spcBef>
              <a:buClrTx/>
              <a:buSzTx/>
              <a:defRPr sz="1700"/>
            </a:pPr>
            <a:r>
              <a:rPr lang="zh-CN" altLang="en-US" sz="2400">
                <a:uFillTx/>
                <a:latin typeface="Times New Roman" panose="02020603050405020304" pitchFamily="18" charset="0"/>
                <a:ea typeface="宋体" panose="02010600030101010101" pitchFamily="2" charset="-122"/>
              </a:rPr>
              <a:t>准确度：</a:t>
            </a:r>
            <a:r>
              <a:rPr lang="en-US" altLang="zh-CN" sz="2400">
                <a:uFillTx/>
                <a:latin typeface="Times New Roman" panose="02020603050405020304" pitchFamily="18" charset="0"/>
                <a:ea typeface="宋体" panose="02010600030101010101" pitchFamily="2" charset="-122"/>
              </a:rPr>
              <a:t> </a:t>
            </a:r>
            <a:r>
              <a:rPr lang="zh-CN" altLang="en-US" sz="2400">
                <a:uFillTx/>
                <a:latin typeface="Times New Roman" panose="02020603050405020304" pitchFamily="18" charset="0"/>
                <a:ea typeface="宋体" panose="02010600030101010101" pitchFamily="2" charset="-122"/>
              </a:rPr>
              <a:t>为活动成本估算规定一个可接受的区间（</a:t>
            </a:r>
            <a:r>
              <a:rPr lang="en-US" altLang="zh-CN" sz="2400">
                <a:uFillTx/>
                <a:latin typeface="Times New Roman" panose="02020603050405020304" pitchFamily="18" charset="0"/>
                <a:ea typeface="宋体" panose="02010600030101010101" pitchFamily="2" charset="-122"/>
              </a:rPr>
              <a:t> </a:t>
            </a:r>
            <a:r>
              <a:rPr lang="zh-CN" altLang="en-US" sz="2400">
                <a:uFillTx/>
                <a:latin typeface="Times New Roman" panose="02020603050405020304" pitchFamily="18" charset="0"/>
                <a:ea typeface="宋体" panose="02010600030101010101" pitchFamily="2" charset="-122"/>
              </a:rPr>
              <a:t>如</a:t>
            </a:r>
            <a:r>
              <a:rPr lang="en-US" altLang="en-US" sz="2400">
                <a:uFillTx/>
                <a:latin typeface="Times New Roman" panose="02020603050405020304" pitchFamily="18" charset="0"/>
                <a:ea typeface="宋体" panose="02010600030101010101" pitchFamily="2" charset="-122"/>
              </a:rPr>
              <a:t>±</a:t>
            </a:r>
            <a:r>
              <a:rPr lang="en-US" altLang="zh-CN" sz="2400">
                <a:uFillTx/>
                <a:latin typeface="Times New Roman" panose="02020603050405020304" pitchFamily="18" charset="0"/>
                <a:ea typeface="宋体" panose="02010600030101010101" pitchFamily="2" charset="-122"/>
              </a:rPr>
              <a:t> 10% ) </a:t>
            </a:r>
            <a:r>
              <a:rPr lang="zh-CN" altLang="en-US" sz="2400">
                <a:uFillTx/>
                <a:latin typeface="Times New Roman" panose="02020603050405020304" pitchFamily="18" charset="0"/>
                <a:ea typeface="宋体" panose="02010600030101010101" pitchFamily="2" charset="-122"/>
              </a:rPr>
              <a:t>，</a:t>
            </a:r>
            <a:r>
              <a:rPr lang="en-US" altLang="zh-CN" sz="2400">
                <a:uFillTx/>
                <a:latin typeface="Times New Roman" panose="02020603050405020304" pitchFamily="18" charset="0"/>
                <a:ea typeface="宋体" panose="02010600030101010101" pitchFamily="2" charset="-122"/>
              </a:rPr>
              <a:t> </a:t>
            </a:r>
            <a:r>
              <a:rPr lang="zh-CN" altLang="en-US" sz="2400">
                <a:uFillTx/>
                <a:latin typeface="Times New Roman" panose="02020603050405020304" pitchFamily="18" charset="0"/>
                <a:ea typeface="宋体" panose="02010600030101010101" pitchFamily="2" charset="-122"/>
              </a:rPr>
              <a:t>其中可能包括一定数量的应急储备。</a:t>
            </a:r>
            <a:endParaRPr lang="zh-CN" altLang="en-US" sz="2400">
              <a:uFillTx/>
              <a:latin typeface="Times New Roman" panose="02020603050405020304" pitchFamily="18" charset="0"/>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79705" y="260350"/>
            <a:ext cx="8886825" cy="4351655"/>
          </a:xfrm>
        </p:spPr>
        <p:txBody>
          <a:bodyPr wrap="square">
            <a:noAutofit/>
          </a:bodyPr>
          <a:lstStyle/>
          <a:p>
            <a:pPr marL="114300" lvl="1" indent="-342900" algn="just">
              <a:lnSpc>
                <a:spcPct val="100000"/>
              </a:lnSpc>
              <a:spcBef>
                <a:spcPts val="1000"/>
              </a:spcBef>
              <a:buClrTx/>
              <a:buSzTx/>
              <a:buFont typeface="Wingdings" panose="05000000000000000000" charset="0"/>
              <a:buChar char="l"/>
              <a:defRPr sz="1700"/>
            </a:pPr>
            <a:r>
              <a:rPr sz="2400">
                <a:uFillTx/>
                <a:latin typeface="Times New Roman" panose="02020603050405020304" pitchFamily="18" charset="0"/>
                <a:ea typeface="宋体" panose="02010600030101010101" pitchFamily="2" charset="-122"/>
                <a:sym typeface="+mn-ea"/>
              </a:rPr>
              <a:t>组织程序链接：工作分解结构为成本管理计划提供了框架，以便据此规范地开展成本估算、预算和控制，在项目成本核算中使用的WBS组成部分，称为控制账户（CA），每个控制账户都有唯一的编码或账号，直接与组织的会计制度关联。</a:t>
            </a:r>
            <a:endParaRPr sz="2400">
              <a:uFillTx/>
              <a:latin typeface="Times New Roman" panose="02020603050405020304" pitchFamily="18" charset="0"/>
              <a:ea typeface="宋体" panose="02010600030101010101" pitchFamily="2" charset="-122"/>
              <a:sym typeface="+mn-ea"/>
            </a:endParaRPr>
          </a:p>
          <a:p>
            <a:pPr marL="114300" lvl="1" indent="-342900" algn="just">
              <a:lnSpc>
                <a:spcPct val="100000"/>
              </a:lnSpc>
              <a:spcBef>
                <a:spcPts val="1000"/>
              </a:spcBef>
              <a:buClrTx/>
              <a:buSzTx/>
              <a:buFont typeface="Wingdings" panose="05000000000000000000" charset="0"/>
              <a:buChar char="l"/>
              <a:defRPr sz="1700"/>
            </a:pPr>
            <a:r>
              <a:rPr sz="2400">
                <a:uFillTx/>
                <a:latin typeface="Times New Roman" panose="02020603050405020304" pitchFamily="18" charset="0"/>
                <a:ea typeface="宋体" panose="02010600030101010101" pitchFamily="2" charset="-122"/>
                <a:sym typeface="+mn-ea"/>
              </a:rPr>
              <a:t>控制临界值：需要规定偏差临界值，用于监督成本绩效，它是在需要采取某种措施前允许出现的最大差异，通常用偏离基准计划的百分数来表示。</a:t>
            </a:r>
            <a:endParaRPr sz="2400">
              <a:uFillTx/>
              <a:latin typeface="Times New Roman" panose="02020603050405020304" pitchFamily="18" charset="0"/>
              <a:ea typeface="宋体" panose="02010600030101010101" pitchFamily="2" charset="-122"/>
              <a:sym typeface="+mn-ea"/>
            </a:endParaRPr>
          </a:p>
          <a:p>
            <a:pPr marL="114300" lvl="1" indent="-342900" algn="just">
              <a:lnSpc>
                <a:spcPct val="100000"/>
              </a:lnSpc>
              <a:spcBef>
                <a:spcPts val="1000"/>
              </a:spcBef>
              <a:buClrTx/>
              <a:buSzTx/>
              <a:buFont typeface="Wingdings" panose="05000000000000000000" charset="0"/>
              <a:buChar char="l"/>
              <a:defRPr sz="1700"/>
            </a:pPr>
            <a:r>
              <a:rPr sz="2400">
                <a:uFillTx/>
                <a:latin typeface="Times New Roman" panose="02020603050405020304" pitchFamily="18" charset="0"/>
                <a:ea typeface="宋体" panose="02010600030101010101" pitchFamily="2" charset="-122"/>
                <a:sym typeface="+mn-ea"/>
              </a:rPr>
              <a:t>绩效测量规则：需要规定用于绩效测量的挣值管理（EVM）规则。例如，成本管理计</a:t>
            </a:r>
            <a:r>
              <a:rPr lang="zh-CN" altLang="en-US" sz="2400">
                <a:uFillTx/>
                <a:latin typeface="Times New Roman" panose="02020603050405020304" pitchFamily="18" charset="0"/>
                <a:ea typeface="宋体" panose="02010600030101010101" pitchFamily="2" charset="-122"/>
                <a:sym typeface="+mn-ea"/>
              </a:rPr>
              <a:t>绩效测量规则：需要规定用于绩效测量的挣值管理（</a:t>
            </a:r>
            <a:r>
              <a:rPr lang="en-US" altLang="zh-CN" sz="2400">
                <a:uFillTx/>
                <a:latin typeface="Times New Roman" panose="02020603050405020304" pitchFamily="18" charset="0"/>
                <a:ea typeface="宋体" panose="02010600030101010101" pitchFamily="2" charset="-122"/>
                <a:sym typeface="+mn-ea"/>
              </a:rPr>
              <a:t>EVM</a:t>
            </a:r>
            <a:r>
              <a:rPr lang="zh-CN" altLang="en-US" sz="2400">
                <a:uFillTx/>
                <a:latin typeface="Times New Roman" panose="02020603050405020304" pitchFamily="18" charset="0"/>
                <a:ea typeface="宋体" panose="02010600030101010101" pitchFamily="2" charset="-122"/>
                <a:sym typeface="+mn-ea"/>
              </a:rPr>
              <a:t>）规则。例如，成本管理计划应该：</a:t>
            </a:r>
            <a:r>
              <a:rPr lang="en-US" altLang="en-US" sz="2400">
                <a:uFillTx/>
                <a:latin typeface="Times New Roman" panose="02020603050405020304" pitchFamily="18" charset="0"/>
                <a:ea typeface="宋体" panose="02010600030101010101" pitchFamily="2" charset="-122"/>
                <a:sym typeface="+mn-ea"/>
              </a:rPr>
              <a:t>①</a:t>
            </a:r>
            <a:r>
              <a:rPr lang="zh-CN" altLang="en-US" sz="2400">
                <a:uFillTx/>
                <a:latin typeface="Times New Roman" panose="02020603050405020304" pitchFamily="18" charset="0"/>
                <a:ea typeface="宋体" panose="02010600030101010101" pitchFamily="2" charset="-122"/>
                <a:sym typeface="+mn-ea"/>
              </a:rPr>
              <a:t>定义</a:t>
            </a:r>
            <a:r>
              <a:rPr lang="en-US" altLang="zh-CN" sz="2400">
                <a:uFillTx/>
                <a:latin typeface="Times New Roman" panose="02020603050405020304" pitchFamily="18" charset="0"/>
                <a:ea typeface="宋体" panose="02010600030101010101" pitchFamily="2" charset="-122"/>
                <a:sym typeface="+mn-ea"/>
              </a:rPr>
              <a:t>WBS</a:t>
            </a:r>
            <a:r>
              <a:rPr lang="zh-CN" altLang="en-US" sz="2400">
                <a:uFillTx/>
                <a:latin typeface="Times New Roman" panose="02020603050405020304" pitchFamily="18" charset="0"/>
                <a:ea typeface="宋体" panose="02010600030101010101" pitchFamily="2" charset="-122"/>
                <a:sym typeface="+mn-ea"/>
              </a:rPr>
              <a:t>中用于绩效测量的控制账户；</a:t>
            </a:r>
            <a:r>
              <a:rPr lang="en-US" altLang="en-US" sz="2400">
                <a:uFillTx/>
                <a:latin typeface="Times New Roman" panose="02020603050405020304" pitchFamily="18" charset="0"/>
                <a:ea typeface="宋体" panose="02010600030101010101" pitchFamily="2" charset="-122"/>
                <a:sym typeface="+mn-ea"/>
              </a:rPr>
              <a:t>②</a:t>
            </a:r>
            <a:r>
              <a:rPr lang="zh-CN" altLang="en-US" sz="2400">
                <a:uFillTx/>
                <a:latin typeface="Times New Roman" panose="02020603050405020304" pitchFamily="18" charset="0"/>
                <a:ea typeface="宋体" panose="02010600030101010101" pitchFamily="2" charset="-122"/>
                <a:sym typeface="+mn-ea"/>
              </a:rPr>
              <a:t>确定拟用的</a:t>
            </a:r>
            <a:r>
              <a:rPr lang="en-US" altLang="zh-CN" sz="2400">
                <a:uFillTx/>
                <a:latin typeface="Times New Roman" panose="02020603050405020304" pitchFamily="18" charset="0"/>
                <a:ea typeface="宋体" panose="02010600030101010101" pitchFamily="2" charset="-122"/>
                <a:sym typeface="+mn-ea"/>
              </a:rPr>
              <a:t>EVM</a:t>
            </a:r>
            <a:r>
              <a:rPr lang="zh-CN" altLang="en-US" sz="2400">
                <a:uFillTx/>
                <a:latin typeface="Times New Roman" panose="02020603050405020304" pitchFamily="18" charset="0"/>
                <a:ea typeface="宋体" panose="02010600030101010101" pitchFamily="2" charset="-122"/>
                <a:sym typeface="+mn-ea"/>
              </a:rPr>
              <a:t>技术（如加权里程碑法、固定公式法、完成百分比法等）；</a:t>
            </a:r>
            <a:r>
              <a:rPr lang="en-US" altLang="en-US" sz="2400">
                <a:uFillTx/>
                <a:latin typeface="Times New Roman" panose="02020603050405020304" pitchFamily="18" charset="0"/>
                <a:ea typeface="宋体" panose="02010600030101010101" pitchFamily="2" charset="-122"/>
                <a:sym typeface="+mn-ea"/>
              </a:rPr>
              <a:t>③</a:t>
            </a:r>
            <a:r>
              <a:rPr lang="zh-CN" altLang="en-US" sz="2400">
                <a:uFillTx/>
                <a:latin typeface="Times New Roman" panose="02020603050405020304" pitchFamily="18" charset="0"/>
                <a:ea typeface="宋体" panose="02010600030101010101" pitchFamily="2" charset="-122"/>
                <a:sym typeface="+mn-ea"/>
              </a:rPr>
              <a:t>规定跟踪方法以及用于计算项目完工估算（</a:t>
            </a:r>
            <a:r>
              <a:rPr lang="en-US" altLang="zh-CN" sz="2400">
                <a:uFillTx/>
                <a:latin typeface="Times New Roman" panose="02020603050405020304" pitchFamily="18" charset="0"/>
                <a:ea typeface="宋体" panose="02010600030101010101" pitchFamily="2" charset="-122"/>
                <a:sym typeface="+mn-ea"/>
              </a:rPr>
              <a:t>EAC</a:t>
            </a:r>
            <a:r>
              <a:rPr lang="zh-CN" altLang="en-US" sz="2400">
                <a:uFillTx/>
                <a:latin typeface="Times New Roman" panose="02020603050405020304" pitchFamily="18" charset="0"/>
                <a:ea typeface="宋体" panose="02010600030101010101" pitchFamily="2" charset="-122"/>
                <a:sym typeface="+mn-ea"/>
              </a:rPr>
              <a:t>）的</a:t>
            </a:r>
            <a:r>
              <a:rPr lang="en-US" altLang="zh-CN" sz="2400">
                <a:uFillTx/>
                <a:latin typeface="Times New Roman" panose="02020603050405020304" pitchFamily="18" charset="0"/>
                <a:ea typeface="宋体" panose="02010600030101010101" pitchFamily="2" charset="-122"/>
                <a:sym typeface="+mn-ea"/>
              </a:rPr>
              <a:t>EVM</a:t>
            </a:r>
            <a:r>
              <a:rPr lang="zh-CN" altLang="en-US" sz="2400">
                <a:uFillTx/>
                <a:latin typeface="Times New Roman" panose="02020603050405020304" pitchFamily="18" charset="0"/>
                <a:ea typeface="宋体" panose="02010600030101010101" pitchFamily="2" charset="-122"/>
                <a:sym typeface="+mn-ea"/>
              </a:rPr>
              <a:t>公式，该公式计算出的结果可用于验证通过自下而上方法得出的完工估算。</a:t>
            </a:r>
            <a:endParaRPr lang="zh-CN" altLang="en-US" sz="2400">
              <a:uFillTx/>
              <a:latin typeface="Times New Roman" panose="02020603050405020304" pitchFamily="18" charset="0"/>
              <a:ea typeface="宋体" panose="02010600030101010101" pitchFamily="2" charset="-122"/>
              <a:sym typeface="+mn-ea"/>
            </a:endParaRPr>
          </a:p>
          <a:p>
            <a:pPr marL="114300" lvl="1" indent="-342900" algn="just">
              <a:lnSpc>
                <a:spcPct val="100000"/>
              </a:lnSpc>
              <a:spcBef>
                <a:spcPts val="1000"/>
              </a:spcBef>
              <a:buClrTx/>
              <a:buSzTx/>
              <a:buFont typeface="Wingdings" panose="05000000000000000000" charset="0"/>
              <a:buChar char="l"/>
              <a:defRPr sz="1700"/>
            </a:pPr>
            <a:r>
              <a:rPr lang="zh-CN" altLang="en-US" sz="2400">
                <a:uFillTx/>
                <a:latin typeface="Times New Roman" panose="02020603050405020304" pitchFamily="18" charset="0"/>
                <a:ea typeface="宋体" panose="02010600030101010101" pitchFamily="2" charset="-122"/>
                <a:sym typeface="+mn-ea"/>
              </a:rPr>
              <a:t>报告格式：需要规定各种成本报告的格式和编制频率。</a:t>
            </a:r>
            <a:endParaRPr lang="zh-CN" altLang="en-US" sz="2400">
              <a:uFillTx/>
              <a:latin typeface="Times New Roman" panose="02020603050405020304" pitchFamily="18" charset="0"/>
              <a:ea typeface="宋体" panose="02010600030101010101" pitchFamily="2" charset="-122"/>
              <a:sym typeface="+mn-ea"/>
            </a:endParaRPr>
          </a:p>
          <a:p>
            <a:pPr marL="0" lvl="1" algn="just">
              <a:lnSpc>
                <a:spcPct val="100000"/>
              </a:lnSpc>
              <a:spcBef>
                <a:spcPts val="1000"/>
              </a:spcBef>
              <a:buClrTx/>
              <a:buSzTx/>
              <a:buNone/>
              <a:defRPr sz="1700"/>
            </a:pPr>
            <a:endParaRPr sz="2400">
              <a:uFillTx/>
              <a:latin typeface="Times New Roman" panose="02020603050405020304" pitchFamily="18" charset="0"/>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23850" y="332740"/>
            <a:ext cx="8373110" cy="2004060"/>
          </a:xfrm>
        </p:spPr>
        <p:txBody>
          <a:bodyPr wrap="square">
            <a:noAutofit/>
          </a:bodyPr>
          <a:lstStyle/>
          <a:p>
            <a:pPr marL="0" lvl="1" indent="0" algn="just">
              <a:lnSpc>
                <a:spcPct val="100000"/>
              </a:lnSpc>
              <a:spcBef>
                <a:spcPts val="1000"/>
              </a:spcBef>
              <a:buClrTx/>
              <a:buSzTx/>
              <a:buFont typeface="Wingdings" panose="05000000000000000000" charset="0"/>
              <a:buNone/>
              <a:defRPr sz="1700"/>
            </a:pPr>
            <a:r>
              <a:rPr sz="2400">
                <a:uFillTx/>
                <a:latin typeface="Times New Roman" panose="02020603050405020304" pitchFamily="18" charset="0"/>
                <a:ea typeface="宋体" panose="02010600030101010101" pitchFamily="2" charset="-122"/>
              </a:rPr>
              <a:t>11.4估算成本</a:t>
            </a:r>
            <a:endParaRPr sz="2400">
              <a:uFillTx/>
              <a:latin typeface="Times New Roman" panose="02020603050405020304" pitchFamily="18" charset="0"/>
              <a:ea typeface="宋体" panose="02010600030101010101" pitchFamily="2" charset="-122"/>
            </a:endParaRPr>
          </a:p>
          <a:p>
            <a:pPr marL="0" lvl="1" indent="0" algn="just">
              <a:lnSpc>
                <a:spcPct val="100000"/>
              </a:lnSpc>
              <a:spcBef>
                <a:spcPts val="1000"/>
              </a:spcBef>
              <a:buClrTx/>
              <a:buSzTx/>
              <a:buFont typeface="Wingdings" panose="05000000000000000000" charset="0"/>
              <a:buNone/>
              <a:defRPr sz="1700"/>
            </a:pPr>
            <a:r>
              <a:rPr sz="2400">
                <a:uFillTx/>
                <a:latin typeface="Times New Roman" panose="02020603050405020304" pitchFamily="18" charset="0"/>
                <a:ea typeface="宋体" panose="02010600030101010101" pitchFamily="2" charset="-122"/>
              </a:rPr>
              <a:t>估算成本是对完成项目工作所需资源成本进行近似估算的过程。本过程的主要作用是确定项目所需的资金。本过程应根据需要在整个项目期间定期开展。估算成本过程的数据流向如</a:t>
            </a:r>
            <a:r>
              <a:rPr lang="zh-CN" sz="2400">
                <a:uFillTx/>
                <a:latin typeface="Times New Roman" panose="02020603050405020304" pitchFamily="18" charset="0"/>
                <a:ea typeface="宋体" panose="02010600030101010101" pitchFamily="2" charset="-122"/>
              </a:rPr>
              <a:t>下</a:t>
            </a:r>
            <a:r>
              <a:rPr sz="2400">
                <a:uFillTx/>
                <a:latin typeface="Times New Roman" panose="02020603050405020304" pitchFamily="18" charset="0"/>
                <a:ea typeface="宋体" panose="02010600030101010101" pitchFamily="2" charset="-122"/>
              </a:rPr>
              <a:t>图所示。</a:t>
            </a:r>
            <a:endParaRPr sz="2400">
              <a:uFillTx/>
              <a:latin typeface="Times New Roman" panose="02020603050405020304" pitchFamily="18" charset="0"/>
              <a:ea typeface="宋体" panose="02010600030101010101" pitchFamily="2" charset="-122"/>
            </a:endParaRPr>
          </a:p>
        </p:txBody>
      </p:sp>
      <p:pic>
        <p:nvPicPr>
          <p:cNvPr id="8" name="图片 7"/>
          <p:cNvPicPr>
            <a:picLocks noChangeAspect="1"/>
          </p:cNvPicPr>
          <p:nvPr/>
        </p:nvPicPr>
        <p:blipFill>
          <a:blip r:embed="rId1"/>
          <a:stretch>
            <a:fillRect/>
          </a:stretch>
        </p:blipFill>
        <p:spPr>
          <a:xfrm>
            <a:off x="611505" y="2420620"/>
            <a:ext cx="7760970" cy="380555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51460" y="476250"/>
            <a:ext cx="8451850" cy="3229610"/>
          </a:xfrm>
        </p:spPr>
        <p:txBody>
          <a:bodyPr wrap="square">
            <a:noAutofit/>
          </a:bodyPr>
          <a:lstStyle/>
          <a:p>
            <a:pPr marL="0" indent="0" algn="just">
              <a:buNone/>
              <a:defRPr sz="1700"/>
            </a:pPr>
            <a:r>
              <a:rPr lang="zh-CN" altLang="en-US" sz="2400">
                <a:uFillTx/>
                <a:latin typeface="Times New Roman" panose="02020603050405020304" pitchFamily="18" charset="0"/>
                <a:ea typeface="宋体" panose="02010600030101010101" pitchFamily="2" charset="-122"/>
              </a:rPr>
              <a:t>在项目生命周期中，项目估算的准确性亦将随着项目的进展而逐步提高。例如，在启动阶段可得出项目的粗略量级估算，其区间为</a:t>
            </a:r>
            <a:r>
              <a:rPr lang="en-US" altLang="zh-CN" sz="2400">
                <a:uFillTx/>
                <a:latin typeface="Times New Roman" panose="02020603050405020304" pitchFamily="18" charset="0"/>
                <a:ea typeface="宋体" panose="02010600030101010101" pitchFamily="2" charset="-122"/>
              </a:rPr>
              <a:t>-25%</a:t>
            </a:r>
            <a:r>
              <a:rPr lang="zh-CN" altLang="en-US" sz="2400">
                <a:uFillTx/>
                <a:latin typeface="Times New Roman" panose="02020603050405020304" pitchFamily="18" charset="0"/>
                <a:ea typeface="宋体" panose="02010600030101010101" pitchFamily="2" charset="-122"/>
              </a:rPr>
              <a:t>～</a:t>
            </a:r>
            <a:r>
              <a:rPr lang="en-US" altLang="zh-CN" sz="2400">
                <a:uFillTx/>
                <a:latin typeface="Times New Roman" panose="02020603050405020304" pitchFamily="18" charset="0"/>
                <a:ea typeface="宋体" panose="02010600030101010101" pitchFamily="2" charset="-122"/>
              </a:rPr>
              <a:t>+75%</a:t>
            </a:r>
            <a:r>
              <a:rPr lang="zh-CN" altLang="en-US" sz="2400">
                <a:uFillTx/>
                <a:latin typeface="Times New Roman" panose="02020603050405020304" pitchFamily="18" charset="0"/>
                <a:ea typeface="宋体" panose="02010600030101010101" pitchFamily="2" charset="-122"/>
              </a:rPr>
              <a:t>；之后，随着信息越来越详细，确定性估算的区间可缩小至</a:t>
            </a:r>
            <a:r>
              <a:rPr lang="en-US" altLang="zh-CN" sz="2400">
                <a:uFillTx/>
                <a:latin typeface="Times New Roman" panose="02020603050405020304" pitchFamily="18" charset="0"/>
                <a:ea typeface="宋体" panose="02010600030101010101" pitchFamily="2" charset="-122"/>
              </a:rPr>
              <a:t>-5%</a:t>
            </a:r>
            <a:r>
              <a:rPr lang="zh-CN" altLang="en-US" sz="2400">
                <a:uFillTx/>
                <a:latin typeface="Times New Roman" panose="02020603050405020304" pitchFamily="18" charset="0"/>
                <a:ea typeface="宋体" panose="02010600030101010101" pitchFamily="2" charset="-122"/>
              </a:rPr>
              <a:t>～</a:t>
            </a:r>
            <a:r>
              <a:rPr lang="en-US" altLang="zh-CN" sz="2400">
                <a:uFillTx/>
                <a:latin typeface="Times New Roman" panose="02020603050405020304" pitchFamily="18" charset="0"/>
                <a:ea typeface="宋体" panose="02010600030101010101" pitchFamily="2" charset="-122"/>
              </a:rPr>
              <a:t>+10%</a:t>
            </a:r>
            <a:r>
              <a:rPr lang="zh-CN" altLang="en-US" sz="2400">
                <a:uFillTx/>
                <a:latin typeface="Times New Roman" panose="02020603050405020304" pitchFamily="18" charset="0"/>
                <a:ea typeface="宋体" panose="02010600030101010101" pitchFamily="2" charset="-122"/>
              </a:rPr>
              <a:t>。某些组织已经制定出相应的指南，规定何时进行优化，以及每次优化所要达到的置信度或准确度。进行成本估算，应该考虑针对项目收费的全部资源，一般包括人工、材料、设备、服务、设施，以及一些特殊的成本种类，如通货膨胀补贴、融资成本或应急成本。成本估算可在活动层级呈现，也可以通过汇总形式呈现。</a:t>
            </a:r>
            <a:endParaRPr lang="zh-CN" altLang="en-US" sz="2400">
              <a:uFillTx/>
              <a:latin typeface="Times New Roman" panose="02020603050405020304" pitchFamily="18" charset="0"/>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23215" y="404495"/>
            <a:ext cx="8538210" cy="4988560"/>
          </a:xfrm>
        </p:spPr>
        <p:txBody>
          <a:bodyPr wrap="square">
            <a:noAutofit/>
          </a:bodyPr>
          <a:lstStyle/>
          <a:p>
            <a:pPr marL="0" algn="just">
              <a:buClrTx/>
              <a:buSzTx/>
              <a:buNone/>
              <a:defRPr sz="1700"/>
            </a:pPr>
            <a:r>
              <a:rPr lang="zh-CN" altLang="en-US" sz="2400">
                <a:solidFill>
                  <a:srgbClr val="FF0000"/>
                </a:solidFill>
                <a:uFillTx/>
                <a:latin typeface="Times New Roman" panose="02020603050405020304" pitchFamily="18" charset="0"/>
                <a:ea typeface="宋体" panose="02010600030101010101" pitchFamily="2" charset="-122"/>
              </a:rPr>
              <a:t>输入</a:t>
            </a:r>
            <a:endParaRPr lang="zh-CN" altLang="en-US" sz="2400">
              <a:solidFill>
                <a:srgbClr val="FF0000"/>
              </a:solidFill>
              <a:uFillTx/>
              <a:latin typeface="Times New Roman" panose="02020603050405020304" pitchFamily="18" charset="0"/>
              <a:ea typeface="宋体" panose="02010600030101010101" pitchFamily="2" charset="-122"/>
            </a:endParaRPr>
          </a:p>
          <a:p>
            <a:pPr marL="0" algn="just">
              <a:buClrTx/>
              <a:buSzTx/>
              <a:buNone/>
              <a:defRPr sz="1700"/>
            </a:pPr>
            <a:r>
              <a:rPr lang="zh-CN" altLang="en-US" sz="2400">
                <a:uFillTx/>
                <a:latin typeface="Times New Roman" panose="02020603050405020304" pitchFamily="18" charset="0"/>
                <a:ea typeface="宋体" panose="02010600030101010101" pitchFamily="2" charset="-122"/>
              </a:rPr>
              <a:t>1.项目管理计划</a:t>
            </a:r>
            <a:endParaRPr lang="zh-CN" altLang="en-US" sz="2400">
              <a:uFillTx/>
              <a:latin typeface="Times New Roman" panose="02020603050405020304" pitchFamily="18" charset="0"/>
              <a:ea typeface="宋体" panose="02010600030101010101" pitchFamily="2" charset="-122"/>
            </a:endParaRPr>
          </a:p>
          <a:p>
            <a:pPr marL="0" algn="just">
              <a:buClrTx/>
              <a:buSzTx/>
              <a:buNone/>
              <a:defRPr sz="1700"/>
            </a:pPr>
            <a:r>
              <a:rPr lang="zh-CN" altLang="en-US" sz="2400">
                <a:uFillTx/>
                <a:latin typeface="Times New Roman" panose="02020603050405020304" pitchFamily="18" charset="0"/>
                <a:ea typeface="宋体" panose="02010600030101010101" pitchFamily="2" charset="-122"/>
              </a:rPr>
              <a:t>用于估算成本的项目管理计划组件主要包括：</a:t>
            </a:r>
            <a:endParaRPr lang="zh-CN" altLang="en-US" sz="2400">
              <a:uFillTx/>
              <a:latin typeface="Times New Roman" panose="02020603050405020304" pitchFamily="18" charset="0"/>
              <a:ea typeface="宋体" panose="02010600030101010101" pitchFamily="2" charset="-122"/>
            </a:endParaRPr>
          </a:p>
          <a:p>
            <a:pPr marL="0" lvl="1" algn="just">
              <a:spcBef>
                <a:spcPts val="1000"/>
              </a:spcBef>
              <a:buClrTx/>
              <a:buSzTx/>
              <a:buNone/>
              <a:defRPr sz="1700"/>
            </a:pPr>
            <a:r>
              <a:rPr lang="zh-CN" altLang="en-US" sz="2400">
                <a:uFillTx/>
                <a:latin typeface="Times New Roman" panose="02020603050405020304" pitchFamily="18" charset="0"/>
                <a:ea typeface="宋体" panose="02010600030101010101" pitchFamily="2" charset="-122"/>
              </a:rPr>
              <a:t>成本管理计划：描述可使用的估算方法以及成本估算需要达到的准确度和精确度。</a:t>
            </a:r>
            <a:endParaRPr lang="zh-CN" altLang="en-US" sz="2400">
              <a:uFillTx/>
              <a:latin typeface="Times New Roman" panose="02020603050405020304" pitchFamily="18" charset="0"/>
              <a:ea typeface="宋体" panose="02010600030101010101" pitchFamily="2" charset="-122"/>
            </a:endParaRPr>
          </a:p>
          <a:p>
            <a:pPr marL="0" lvl="1" algn="just">
              <a:spcBef>
                <a:spcPts val="1000"/>
              </a:spcBef>
              <a:buClrTx/>
              <a:buSzTx/>
              <a:buNone/>
              <a:defRPr sz="1700"/>
            </a:pPr>
            <a:r>
              <a:rPr lang="zh-CN" altLang="en-US" sz="2400">
                <a:uFillTx/>
                <a:latin typeface="Times New Roman" panose="02020603050405020304" pitchFamily="18" charset="0"/>
                <a:ea typeface="宋体" panose="02010600030101010101" pitchFamily="2" charset="-122"/>
              </a:rPr>
              <a:t>质量管理计划：描述项目管理团队为实现一系列项目质量目标所需的活动和资源。</a:t>
            </a:r>
            <a:endParaRPr lang="zh-CN" altLang="en-US" sz="2400">
              <a:uFillTx/>
              <a:latin typeface="Times New Roman" panose="02020603050405020304" pitchFamily="18" charset="0"/>
              <a:ea typeface="宋体" panose="02010600030101010101" pitchFamily="2" charset="-122"/>
            </a:endParaRPr>
          </a:p>
          <a:p>
            <a:pPr marL="0" lvl="1" algn="just">
              <a:spcBef>
                <a:spcPts val="1000"/>
              </a:spcBef>
              <a:buClrTx/>
              <a:buSzTx/>
              <a:buNone/>
              <a:defRPr sz="1700"/>
            </a:pPr>
            <a:r>
              <a:rPr lang="zh-CN" altLang="en-US" sz="2400">
                <a:uFillTx/>
                <a:latin typeface="Times New Roman" panose="02020603050405020304" pitchFamily="18" charset="0"/>
                <a:ea typeface="宋体" panose="02010600030101010101" pitchFamily="2" charset="-122"/>
              </a:rPr>
              <a:t>范围基准：包括项目范围说明书、WBS和WBS字典。①项目范围说明书。范围说明书反映了因项目资金支出的周期而产生的资金制约因素，或其他财务假设条件和制约因素。②工作分解结构。WBS指明了项目全部可交付成果及其各组成部分之间的相互关系。</a:t>
            </a:r>
            <a:r>
              <a:rPr lang="en-US" altLang="en-US" sz="2400">
                <a:uFillTx/>
                <a:latin typeface="Times New Roman" panose="02020603050405020304" pitchFamily="18" charset="0"/>
                <a:ea typeface="宋体" panose="02010600030101010101" pitchFamily="2" charset="-122"/>
              </a:rPr>
              <a:t>③</a:t>
            </a:r>
            <a:r>
              <a:rPr lang="en-US" altLang="zh-CN" sz="2400">
                <a:uFillTx/>
                <a:latin typeface="Times New Roman" panose="02020603050405020304" pitchFamily="18" charset="0"/>
                <a:ea typeface="宋体" panose="02010600030101010101" pitchFamily="2" charset="-122"/>
              </a:rPr>
              <a:t>WBS</a:t>
            </a:r>
            <a:r>
              <a:rPr lang="zh-CN" altLang="en-US" sz="2400">
                <a:uFillTx/>
                <a:latin typeface="Times New Roman" panose="02020603050405020304" pitchFamily="18" charset="0"/>
                <a:ea typeface="宋体" panose="02010600030101010101" pitchFamily="2" charset="-122"/>
              </a:rPr>
              <a:t>字典。在</a:t>
            </a:r>
            <a:r>
              <a:rPr lang="en-US" altLang="zh-CN" sz="2400">
                <a:uFillTx/>
                <a:latin typeface="Times New Roman" panose="02020603050405020304" pitchFamily="18" charset="0"/>
                <a:ea typeface="宋体" panose="02010600030101010101" pitchFamily="2" charset="-122"/>
              </a:rPr>
              <a:t>WBS</a:t>
            </a:r>
            <a:r>
              <a:rPr lang="zh-CN" altLang="en-US" sz="2400">
                <a:uFillTx/>
                <a:latin typeface="Times New Roman" panose="02020603050405020304" pitchFamily="18" charset="0"/>
                <a:ea typeface="宋体" panose="02010600030101010101" pitchFamily="2" charset="-122"/>
              </a:rPr>
              <a:t>字典和相关的详细工作说明书中列明了可交付成果，并描述了为产出可交付成果，</a:t>
            </a:r>
            <a:r>
              <a:rPr lang="en-US" altLang="zh-CN" sz="2400">
                <a:uFillTx/>
                <a:latin typeface="Times New Roman" panose="02020603050405020304" pitchFamily="18" charset="0"/>
                <a:ea typeface="宋体" panose="02010600030101010101" pitchFamily="2" charset="-122"/>
              </a:rPr>
              <a:t>WBS</a:t>
            </a:r>
            <a:r>
              <a:rPr lang="zh-CN" altLang="en-US" sz="2400">
                <a:uFillTx/>
                <a:latin typeface="Times New Roman" panose="02020603050405020304" pitchFamily="18" charset="0"/>
                <a:ea typeface="宋体" panose="02010600030101010101" pitchFamily="2" charset="-122"/>
              </a:rPr>
              <a:t>各组成部分所需进行的工作。</a:t>
            </a:r>
            <a:endParaRPr lang="zh-CN" altLang="en-US" sz="2400">
              <a:uFillTx/>
              <a:latin typeface="Times New Roman" panose="02020603050405020304" pitchFamily="18" charset="0"/>
              <a:ea typeface="宋体" panose="02010600030101010101" pitchFamily="2" charset="-122"/>
            </a:endParaRPr>
          </a:p>
          <a:p>
            <a:pPr marL="0" algn="just">
              <a:buClrTx/>
              <a:buSzTx/>
              <a:buNone/>
              <a:defRPr sz="1700"/>
            </a:pPr>
            <a:endParaRPr lang="zh-CN" altLang="en-US" sz="2400">
              <a:uFillTx/>
              <a:latin typeface="Times New Roman" panose="02020603050405020304" pitchFamily="18" charset="0"/>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67995" y="476250"/>
            <a:ext cx="7886700" cy="4351338"/>
          </a:xfrm>
        </p:spPr>
        <p:txBody>
          <a:bodyPr wrap="square">
            <a:noAutofit/>
          </a:bodyPr>
          <a:lstStyle/>
          <a:p>
            <a:pPr marL="0" lvl="1" algn="just">
              <a:spcBef>
                <a:spcPts val="1000"/>
              </a:spcBef>
              <a:buClrTx/>
              <a:buSzTx/>
              <a:buNone/>
              <a:defRPr sz="1700"/>
            </a:pPr>
            <a:r>
              <a:rPr lang="zh-CN" altLang="en-US" sz="2400">
                <a:uFillTx/>
                <a:latin typeface="Times New Roman" panose="02020603050405020304" pitchFamily="18" charset="0"/>
                <a:ea typeface="宋体" panose="02010600030101010101" pitchFamily="2" charset="-122"/>
              </a:rPr>
              <a:t>2.项目文件</a:t>
            </a:r>
            <a:endParaRPr lang="zh-CN" altLang="en-US" sz="2400">
              <a:uFillTx/>
              <a:latin typeface="Times New Roman" panose="02020603050405020304" pitchFamily="18" charset="0"/>
              <a:ea typeface="宋体" panose="02010600030101010101" pitchFamily="2" charset="-122"/>
            </a:endParaRPr>
          </a:p>
          <a:p>
            <a:pPr marL="0" lvl="1" algn="just">
              <a:spcBef>
                <a:spcPts val="1000"/>
              </a:spcBef>
              <a:buClrTx/>
              <a:buSzTx/>
              <a:buNone/>
              <a:defRPr sz="1700"/>
            </a:pPr>
            <a:r>
              <a:rPr lang="zh-CN" altLang="en-US" sz="2400">
                <a:uFillTx/>
                <a:latin typeface="Times New Roman" panose="02020603050405020304" pitchFamily="18" charset="0"/>
                <a:ea typeface="宋体" panose="02010600030101010101" pitchFamily="2" charset="-122"/>
              </a:rPr>
              <a:t>可作为估算成本过程输入的项目文件包括：</a:t>
            </a:r>
            <a:endParaRPr lang="zh-CN" altLang="en-US" sz="2400">
              <a:uFillTx/>
              <a:latin typeface="Times New Roman" panose="02020603050405020304" pitchFamily="18" charset="0"/>
              <a:ea typeface="宋体" panose="02010600030101010101" pitchFamily="2" charset="-122"/>
            </a:endParaRPr>
          </a:p>
          <a:p>
            <a:pPr marL="0" lvl="1" algn="just">
              <a:spcBef>
                <a:spcPts val="1000"/>
              </a:spcBef>
              <a:buClrTx/>
              <a:buSzTx/>
              <a:buNone/>
              <a:defRPr sz="1700"/>
            </a:pPr>
            <a:r>
              <a:rPr lang="zh-CN" altLang="en-US" sz="2400" b="1">
                <a:uFillTx/>
                <a:latin typeface="Times New Roman" panose="02020603050405020304" pitchFamily="18" charset="0"/>
                <a:ea typeface="宋体" panose="02010600030101010101" pitchFamily="2" charset="-122"/>
              </a:rPr>
              <a:t>风险登记册</a:t>
            </a:r>
            <a:r>
              <a:rPr lang="zh-CN" altLang="en-US" sz="2400">
                <a:uFillTx/>
                <a:latin typeface="Times New Roman" panose="02020603050405020304" pitchFamily="18" charset="0"/>
                <a:ea typeface="宋体" panose="02010600030101010101" pitchFamily="2" charset="-122"/>
              </a:rPr>
              <a:t>：包含已识别并按优先顺序排列的单个项目风险的详细信息及针对这些风险采取的应对措施。风险登记册还提供了可用于估算成本的详细信息。</a:t>
            </a:r>
            <a:endParaRPr lang="zh-CN" altLang="en-US" sz="2400">
              <a:uFillTx/>
              <a:latin typeface="Times New Roman" panose="02020603050405020304" pitchFamily="18" charset="0"/>
              <a:ea typeface="宋体" panose="02010600030101010101" pitchFamily="2" charset="-122"/>
            </a:endParaRPr>
          </a:p>
          <a:p>
            <a:pPr marL="0" lvl="1" algn="just">
              <a:spcBef>
                <a:spcPts val="1000"/>
              </a:spcBef>
              <a:buClrTx/>
              <a:buSzTx/>
              <a:buNone/>
              <a:defRPr sz="1700"/>
            </a:pPr>
            <a:r>
              <a:rPr lang="zh-CN" altLang="en-US" sz="2400" b="1">
                <a:uFillTx/>
                <a:latin typeface="Times New Roman" panose="02020603050405020304" pitchFamily="18" charset="0"/>
                <a:ea typeface="宋体" panose="02010600030101010101" pitchFamily="2" charset="-122"/>
              </a:rPr>
              <a:t>经验教训登记册</a:t>
            </a:r>
            <a:r>
              <a:rPr lang="zh-CN" altLang="en-US" sz="2400">
                <a:uFillTx/>
                <a:latin typeface="Times New Roman" panose="02020603050405020304" pitchFamily="18" charset="0"/>
                <a:ea typeface="宋体" panose="02010600030101010101" pitchFamily="2" charset="-122"/>
              </a:rPr>
              <a:t>：项目早期与制定成本估算有关的经验教训可以运用到项目后期阶段，以提高成本估算的准确度和精确度。</a:t>
            </a:r>
            <a:endParaRPr lang="zh-CN" altLang="en-US" sz="2400">
              <a:uFillTx/>
              <a:latin typeface="Times New Roman" panose="02020603050405020304" pitchFamily="18" charset="0"/>
              <a:ea typeface="宋体" panose="02010600030101010101" pitchFamily="2" charset="-122"/>
            </a:endParaRPr>
          </a:p>
          <a:p>
            <a:pPr marL="0" lvl="1" algn="just">
              <a:spcBef>
                <a:spcPts val="1000"/>
              </a:spcBef>
              <a:buClrTx/>
              <a:buSzTx/>
              <a:buNone/>
              <a:defRPr sz="1700"/>
            </a:pPr>
            <a:r>
              <a:rPr lang="zh-CN" altLang="en-US" sz="2400" b="1">
                <a:uFillTx/>
                <a:latin typeface="Times New Roman" panose="02020603050405020304" pitchFamily="18" charset="0"/>
                <a:ea typeface="宋体" panose="02010600030101010101" pitchFamily="2" charset="-122"/>
              </a:rPr>
              <a:t>资源需求</a:t>
            </a:r>
            <a:r>
              <a:rPr lang="zh-CN" altLang="en-US" sz="2400">
                <a:uFillTx/>
                <a:latin typeface="Times New Roman" panose="02020603050405020304" pitchFamily="18" charset="0"/>
                <a:ea typeface="宋体" panose="02010600030101010101" pitchFamily="2" charset="-122"/>
              </a:rPr>
              <a:t>：明确每个工作包或活动所需的资源类型和数量。</a:t>
            </a:r>
            <a:endParaRPr lang="zh-CN" altLang="en-US" sz="2400">
              <a:uFillTx/>
              <a:latin typeface="Times New Roman" panose="02020603050405020304" pitchFamily="18" charset="0"/>
              <a:ea typeface="宋体" panose="02010600030101010101" pitchFamily="2" charset="-122"/>
            </a:endParaRPr>
          </a:p>
          <a:p>
            <a:pPr marL="0" lvl="1" algn="just">
              <a:spcBef>
                <a:spcPts val="1000"/>
              </a:spcBef>
              <a:buClrTx/>
              <a:buSzTx/>
              <a:buNone/>
              <a:defRPr sz="1700"/>
            </a:pPr>
            <a:r>
              <a:rPr lang="zh-CN" altLang="en-US" sz="2400" b="1">
                <a:uFillTx/>
                <a:latin typeface="Times New Roman" panose="02020603050405020304" pitchFamily="18" charset="0"/>
                <a:ea typeface="宋体" panose="02010600030101010101" pitchFamily="2" charset="-122"/>
              </a:rPr>
              <a:t>项目进度计划</a:t>
            </a:r>
            <a:r>
              <a:rPr lang="zh-CN" altLang="en-US" sz="2400">
                <a:uFillTx/>
                <a:latin typeface="Times New Roman" panose="02020603050405020304" pitchFamily="18" charset="0"/>
                <a:ea typeface="宋体" panose="02010600030101010101" pitchFamily="2" charset="-122"/>
              </a:rPr>
              <a:t>：包括项目可用的团队和实物资源的类型、数量和可用时间的长短。如果资源成本取决于使用时间的长短，并且成本出现季节波动，则持续时间估算会对成本估算产生影响。进度计划还为包含融资成本（包括利息）的项目提供有用信息。</a:t>
            </a:r>
            <a:endParaRPr lang="zh-CN" altLang="en-US" sz="2400">
              <a:uFillTx/>
              <a:latin typeface="Times New Roman" panose="02020603050405020304" pitchFamily="18" charset="0"/>
              <a:ea typeface="宋体" panose="02010600030101010101" pitchFamily="2" charset="-122"/>
            </a:endParaRPr>
          </a:p>
          <a:p>
            <a:pPr marL="0" lvl="1" algn="just">
              <a:spcBef>
                <a:spcPts val="1000"/>
              </a:spcBef>
              <a:buClrTx/>
              <a:buSzTx/>
              <a:buNone/>
              <a:defRPr sz="1700"/>
            </a:pPr>
            <a:endParaRPr lang="zh-CN" altLang="en-US" sz="2400">
              <a:uFillTx/>
              <a:latin typeface="Times New Roman" panose="02020603050405020304" pitchFamily="18" charset="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tile tx="0" ty="0" sx="100000" sy="100000" flip="none" algn="tl"/>
        </a:blipFill>
        <a:effectLst/>
      </p:bgPr>
    </p:bg>
    <p:spTree>
      <p:nvGrpSpPr>
        <p:cNvPr id="1" name=""/>
        <p:cNvGrpSpPr/>
        <p:nvPr/>
      </p:nvGrpSpPr>
      <p:grpSpPr/>
      <p:sp>
        <p:nvSpPr>
          <p:cNvPr id="3" name="Content Placeholder 2"/>
          <p:cNvSpPr>
            <a:spLocks noGrp="1"/>
          </p:cNvSpPr>
          <p:nvPr>
            <p:ph idx="1"/>
          </p:nvPr>
        </p:nvSpPr>
        <p:spPr>
          <a:xfrm>
            <a:off x="323850" y="260350"/>
            <a:ext cx="7886700" cy="5866130"/>
          </a:xfrm>
        </p:spPr>
        <p:txBody>
          <a:bodyPr wrap="square">
            <a:noAutofit/>
          </a:bodyPr>
          <a:lstStyle/>
          <a:p>
            <a:pPr marL="0" indent="0">
              <a:buNone/>
              <a:defRPr sz="1700"/>
            </a:pPr>
            <a:r>
              <a:rPr lang="zh-CN" altLang="en-US" sz="2400">
                <a:uFillTx/>
                <a:latin typeface="Times New Roman" panose="02020603050405020304" pitchFamily="18" charset="0"/>
                <a:ea typeface="宋体" panose="02010600030101010101" pitchFamily="2" charset="-122"/>
              </a:rPr>
              <a:t>2工具与技术</a:t>
            </a:r>
            <a:endParaRPr lang="zh-CN" altLang="en-US" sz="2400">
              <a:uFillTx/>
              <a:latin typeface="Times New Roman" panose="02020603050405020304" pitchFamily="18" charset="0"/>
              <a:ea typeface="宋体" panose="02010600030101010101" pitchFamily="2" charset="-122"/>
            </a:endParaRPr>
          </a:p>
          <a:p>
            <a:pPr>
              <a:defRPr sz="1700"/>
            </a:pPr>
            <a:r>
              <a:rPr lang="zh-CN" altLang="en-US" sz="2400">
                <a:uFillTx/>
                <a:latin typeface="Times New Roman" panose="02020603050405020304" pitchFamily="18" charset="0"/>
                <a:ea typeface="宋体" panose="02010600030101010101" pitchFamily="2" charset="-122"/>
              </a:rPr>
              <a:t>1.专家判断</a:t>
            </a:r>
            <a:endParaRPr lang="zh-CN" altLang="en-US" sz="2400">
              <a:uFillTx/>
              <a:latin typeface="Times New Roman" panose="02020603050405020304" pitchFamily="18" charset="0"/>
              <a:ea typeface="宋体" panose="02010600030101010101" pitchFamily="2" charset="-122"/>
            </a:endParaRPr>
          </a:p>
          <a:p>
            <a:pPr marL="0" indent="0">
              <a:buNone/>
              <a:defRPr sz="1700"/>
            </a:pPr>
            <a:r>
              <a:rPr lang="zh-CN" altLang="en-US" sz="2400">
                <a:uFillTx/>
                <a:latin typeface="Times New Roman" panose="02020603050405020304" pitchFamily="18" charset="0"/>
                <a:ea typeface="宋体" panose="02010600030101010101" pitchFamily="2" charset="-122"/>
              </a:rPr>
              <a:t>在项目中进行成本估算时，应征求具备以下专业知识或接受过相关培训的个人或小组的意见：以往类似项目；来自行业、学科和应用领域的信息；成本估算方法等。</a:t>
            </a:r>
            <a:endParaRPr lang="zh-CN" altLang="en-US" sz="2400">
              <a:uFillTx/>
              <a:latin typeface="Times New Roman" panose="02020603050405020304" pitchFamily="18" charset="0"/>
              <a:ea typeface="宋体" panose="02010600030101010101" pitchFamily="2" charset="-122"/>
            </a:endParaRPr>
          </a:p>
          <a:p>
            <a:pPr marL="0" indent="0">
              <a:buNone/>
              <a:defRPr sz="1700"/>
            </a:pPr>
            <a:r>
              <a:rPr lang="en-US" altLang="zh-CN" sz="2400">
                <a:uFillTx/>
                <a:latin typeface="Times New Roman" panose="02020603050405020304" pitchFamily="18" charset="0"/>
                <a:ea typeface="宋体" panose="02010600030101010101" pitchFamily="2" charset="-122"/>
              </a:rPr>
              <a:t>2.</a:t>
            </a:r>
            <a:r>
              <a:rPr lang="zh-CN" altLang="en-US" sz="2400">
                <a:uFillTx/>
                <a:latin typeface="Times New Roman" panose="02020603050405020304" pitchFamily="18" charset="0"/>
                <a:ea typeface="宋体" panose="02010600030101010101" pitchFamily="2" charset="-122"/>
              </a:rPr>
              <a:t>类比估算</a:t>
            </a:r>
            <a:endParaRPr lang="zh-CN" altLang="en-US" sz="2400">
              <a:uFillTx/>
              <a:latin typeface="Times New Roman" panose="02020603050405020304" pitchFamily="18" charset="0"/>
              <a:ea typeface="宋体" panose="02010600030101010101" pitchFamily="2" charset="-122"/>
            </a:endParaRPr>
          </a:p>
          <a:p>
            <a:pPr marL="0" indent="0">
              <a:buNone/>
              <a:defRPr sz="1700"/>
            </a:pPr>
            <a:r>
              <a:rPr lang="zh-CN" altLang="en-US" sz="2400">
                <a:uFillTx/>
                <a:latin typeface="Times New Roman" panose="02020603050405020304" pitchFamily="18" charset="0"/>
                <a:ea typeface="宋体" panose="02010600030101010101" pitchFamily="2" charset="-122"/>
              </a:rPr>
              <a:t>成本、预算、持续时间和规模指标（如尺寸、重量），类比估算以这些项目参数值或属性为基础来估算当前项目的同类参数或指标。</a:t>
            </a:r>
            <a:endParaRPr lang="zh-CN" altLang="en-US" sz="2400">
              <a:uFillTx/>
              <a:latin typeface="Times New Roman" panose="02020603050405020304" pitchFamily="18" charset="0"/>
              <a:ea typeface="宋体" panose="02010600030101010101" pitchFamily="2" charset="-122"/>
            </a:endParaRPr>
          </a:p>
          <a:p>
            <a:pPr marL="0" indent="0">
              <a:buNone/>
              <a:defRPr sz="1700"/>
            </a:pPr>
            <a:r>
              <a:rPr lang="en-US" altLang="zh-CN" sz="2400">
                <a:uFillTx/>
                <a:latin typeface="Times New Roman" panose="02020603050405020304" pitchFamily="18" charset="0"/>
                <a:ea typeface="宋体" panose="02010600030101010101" pitchFamily="2" charset="-122"/>
              </a:rPr>
              <a:t>3.</a:t>
            </a:r>
            <a:r>
              <a:rPr lang="zh-CN" altLang="en-US" sz="2400">
                <a:uFillTx/>
                <a:latin typeface="Times New Roman" panose="02020603050405020304" pitchFamily="18" charset="0"/>
                <a:ea typeface="宋体" panose="02010600030101010101" pitchFamily="2" charset="-122"/>
              </a:rPr>
              <a:t>参数估算</a:t>
            </a:r>
            <a:endParaRPr lang="zh-CN" altLang="en-US" sz="2400">
              <a:uFillTx/>
              <a:latin typeface="Times New Roman" panose="02020603050405020304" pitchFamily="18" charset="0"/>
              <a:ea typeface="宋体" panose="02010600030101010101" pitchFamily="2" charset="-122"/>
            </a:endParaRPr>
          </a:p>
          <a:p>
            <a:pPr marL="0" indent="0">
              <a:buNone/>
              <a:defRPr sz="1700"/>
            </a:pPr>
            <a:r>
              <a:rPr lang="zh-CN" altLang="en-US" sz="2400">
                <a:uFillTx/>
                <a:latin typeface="Times New Roman" panose="02020603050405020304" pitchFamily="18" charset="0"/>
                <a:ea typeface="宋体" panose="02010600030101010101" pitchFamily="2" charset="-122"/>
              </a:rPr>
              <a:t>参数估算是指利用历史数据之间的统计关系和其他变量（如建筑施工中的平方英尺），来进行项目工作的成本估算，其准确性取决于参数模型的成熟度和基础数据的可靠性。参数估算可以针对整个项目或项目中的某个部分，并可与其他估算方法联合使用。</a:t>
            </a:r>
            <a:endParaRPr lang="zh-CN" altLang="en-US" sz="2400">
              <a:uFillTx/>
              <a:latin typeface="Times New Roman" panose="02020603050405020304" pitchFamily="18" charset="0"/>
              <a:ea typeface="宋体" panose="02010600030101010101" pitchFamily="2" charset="-122"/>
            </a:endParaRPr>
          </a:p>
          <a:p>
            <a:pPr marL="0" indent="0">
              <a:buNone/>
              <a:defRPr sz="1700"/>
            </a:pPr>
            <a:endParaRPr lang="zh-CN" altLang="en-US" sz="2400">
              <a:uFillTx/>
              <a:latin typeface="Times New Roman" panose="02020603050405020304" pitchFamily="18"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tile tx="0" ty="0" sx="100000" sy="100000" flip="none" algn="tl"/>
        </a:blipFill>
        <a:effectLst/>
      </p:bgPr>
    </p:bg>
    <p:spTree>
      <p:nvGrpSpPr>
        <p:cNvPr id="1" name=""/>
        <p:cNvGrpSpPr/>
        <p:nvPr/>
      </p:nvGrpSpPr>
      <p:grpSpPr/>
      <p:sp>
        <p:nvSpPr>
          <p:cNvPr id="3" name="Content Placeholder 2"/>
          <p:cNvSpPr>
            <a:spLocks noGrp="1"/>
          </p:cNvSpPr>
          <p:nvPr>
            <p:ph idx="1"/>
          </p:nvPr>
        </p:nvSpPr>
        <p:spPr>
          <a:xfrm>
            <a:off x="166370" y="476250"/>
            <a:ext cx="8794115" cy="5782945"/>
          </a:xfrm>
        </p:spPr>
        <p:txBody>
          <a:bodyPr wrap="square">
            <a:noAutofit/>
          </a:bodyPr>
          <a:lstStyle/>
          <a:p>
            <a:pPr>
              <a:defRPr sz="1700"/>
            </a:pPr>
            <a:r>
              <a:rPr lang="zh-CN" altLang="en-US" sz="2400">
                <a:uFillTx/>
                <a:latin typeface="Times New Roman" panose="02020603050405020304" pitchFamily="18" charset="0"/>
                <a:ea typeface="宋体" panose="02010600030101010101" pitchFamily="2" charset="-122"/>
              </a:rPr>
              <a:t>4.自下而上估算</a:t>
            </a:r>
            <a:endParaRPr lang="zh-CN" altLang="en-US" sz="2400">
              <a:uFillTx/>
              <a:latin typeface="Times New Roman" panose="02020603050405020304" pitchFamily="18" charset="0"/>
              <a:ea typeface="宋体" panose="02010600030101010101" pitchFamily="2" charset="-122"/>
            </a:endParaRPr>
          </a:p>
          <a:p>
            <a:pPr marL="0" indent="0">
              <a:buNone/>
              <a:defRPr sz="1700"/>
            </a:pPr>
            <a:r>
              <a:rPr lang="zh-CN" altLang="en-US" sz="2400">
                <a:uFillTx/>
                <a:latin typeface="Times New Roman" panose="02020603050405020304" pitchFamily="18" charset="0"/>
                <a:ea typeface="宋体" panose="02010600030101010101" pitchFamily="2" charset="-122"/>
              </a:rPr>
              <a:t>自下而上估算是对工作组成部分进行估算的一种方法，首先对单个工作包或活动的成本进行最具体、细致的估算，然后把这些细节性成本向上汇总或“滚动”到更高层次，用于后续报告和跟踪。自下而上估算的准确性及其本身所需的成本，通常取决于单个活动或工作包的规模或其他属性。</a:t>
            </a:r>
            <a:endParaRPr lang="zh-CN" altLang="en-US" sz="2400">
              <a:uFillTx/>
              <a:latin typeface="Times New Roman" panose="02020603050405020304" pitchFamily="18" charset="0"/>
              <a:ea typeface="宋体" panose="02010600030101010101" pitchFamily="2" charset="-122"/>
            </a:endParaRPr>
          </a:p>
          <a:p>
            <a:pPr marL="0" indent="0">
              <a:buNone/>
              <a:defRPr sz="1700"/>
            </a:pPr>
            <a:r>
              <a:rPr lang="zh-CN" altLang="en-US" sz="2400">
                <a:uFillTx/>
                <a:latin typeface="Times New Roman" panose="02020603050405020304" pitchFamily="18" charset="0"/>
                <a:ea typeface="宋体" panose="02010600030101010101" pitchFamily="2" charset="-122"/>
              </a:rPr>
              <a:t>5.三点估算</a:t>
            </a:r>
            <a:endParaRPr lang="zh-CN" altLang="en-US" sz="2400">
              <a:uFillTx/>
              <a:latin typeface="Times New Roman" panose="02020603050405020304" pitchFamily="18" charset="0"/>
              <a:ea typeface="宋体" panose="02010600030101010101" pitchFamily="2" charset="-122"/>
            </a:endParaRPr>
          </a:p>
          <a:p>
            <a:pPr marL="0" indent="0">
              <a:buNone/>
              <a:defRPr sz="1700"/>
            </a:pPr>
            <a:r>
              <a:rPr lang="zh-CN" altLang="en-US" sz="2400">
                <a:uFillTx/>
                <a:latin typeface="Times New Roman" panose="02020603050405020304" pitchFamily="18" charset="0"/>
                <a:ea typeface="宋体" panose="02010600030101010101" pitchFamily="2" charset="-122"/>
              </a:rPr>
              <a:t>通过考虑估算中的不确定性与风险，使用三种估算值来界定活动成本的近似区间，可以提高单点成本估算的准确性。</a:t>
            </a:r>
            <a:endParaRPr lang="zh-CN" altLang="en-US" sz="2400">
              <a:uFillTx/>
              <a:latin typeface="Times New Roman" panose="02020603050405020304" pitchFamily="18" charset="0"/>
              <a:ea typeface="宋体" panose="02010600030101010101" pitchFamily="2" charset="-122"/>
            </a:endParaRPr>
          </a:p>
          <a:p>
            <a:pPr marL="0" indent="0">
              <a:buNone/>
              <a:defRPr sz="1700"/>
            </a:pPr>
            <a:r>
              <a:rPr lang="zh-CN" altLang="en-US" sz="2400" b="1">
                <a:uFillTx/>
                <a:latin typeface="Times New Roman" panose="02020603050405020304" pitchFamily="18" charset="0"/>
                <a:ea typeface="宋体" panose="02010600030101010101" pitchFamily="2" charset="-122"/>
              </a:rPr>
              <a:t>最可能成本（</a:t>
            </a:r>
            <a:r>
              <a:rPr lang="en-US" altLang="zh-CN" sz="2400" b="1">
                <a:uFillTx/>
                <a:latin typeface="Times New Roman" panose="02020603050405020304" pitchFamily="18" charset="0"/>
                <a:ea typeface="宋体" panose="02010600030101010101" pitchFamily="2" charset="-122"/>
              </a:rPr>
              <a:t>C</a:t>
            </a:r>
            <a:r>
              <a:rPr lang="en-US" altLang="zh-CN" sz="2400" b="1" baseline="-25000">
                <a:uFillTx/>
                <a:latin typeface="Times New Roman" panose="02020603050405020304" pitchFamily="18" charset="0"/>
                <a:ea typeface="宋体" panose="02010600030101010101" pitchFamily="2" charset="-122"/>
              </a:rPr>
              <a:t>M</a:t>
            </a:r>
            <a:r>
              <a:rPr lang="zh-CN" altLang="en-US" sz="2400" b="1">
                <a:uFillTx/>
                <a:latin typeface="Times New Roman" panose="02020603050405020304" pitchFamily="18" charset="0"/>
                <a:ea typeface="宋体" panose="02010600030101010101" pitchFamily="2" charset="-122"/>
              </a:rPr>
              <a:t>）</a:t>
            </a:r>
            <a:r>
              <a:rPr lang="zh-CN" altLang="en-US" sz="2400">
                <a:uFillTx/>
                <a:latin typeface="Times New Roman" panose="02020603050405020304" pitchFamily="18" charset="0"/>
                <a:ea typeface="宋体" panose="02010600030101010101" pitchFamily="2" charset="-122"/>
              </a:rPr>
              <a:t>：对所需进行的工作和相关费用进行比较现实的估算，所得到的活动</a:t>
            </a:r>
            <a:endParaRPr lang="zh-CN" altLang="en-US" sz="2400">
              <a:uFillTx/>
              <a:latin typeface="Times New Roman" panose="02020603050405020304" pitchFamily="18" charset="0"/>
              <a:ea typeface="宋体" panose="02010600030101010101" pitchFamily="2" charset="-122"/>
            </a:endParaRPr>
          </a:p>
          <a:p>
            <a:pPr marL="0" indent="0">
              <a:buNone/>
              <a:defRPr sz="1700"/>
            </a:pPr>
            <a:r>
              <a:rPr lang="zh-CN" altLang="en-US" sz="2400">
                <a:uFillTx/>
                <a:latin typeface="Times New Roman" panose="02020603050405020304" pitchFamily="18" charset="0"/>
                <a:ea typeface="宋体" panose="02010600030101010101" pitchFamily="2" charset="-122"/>
              </a:rPr>
              <a:t>成本。</a:t>
            </a:r>
            <a:endParaRPr lang="zh-CN" altLang="en-US" sz="2400">
              <a:uFillTx/>
              <a:latin typeface="Times New Roman" panose="02020603050405020304" pitchFamily="18" charset="0"/>
              <a:ea typeface="宋体" panose="02010600030101010101" pitchFamily="2" charset="-122"/>
            </a:endParaRPr>
          </a:p>
          <a:p>
            <a:pPr marL="0" indent="0">
              <a:buNone/>
              <a:defRPr sz="1700"/>
            </a:pPr>
            <a:r>
              <a:rPr lang="zh-CN" altLang="en-US" sz="2400" b="1">
                <a:uFillTx/>
                <a:latin typeface="Times New Roman" panose="02020603050405020304" pitchFamily="18" charset="0"/>
                <a:ea typeface="宋体" panose="02010600030101010101" pitchFamily="2" charset="-122"/>
              </a:rPr>
              <a:t>最乐观成本（</a:t>
            </a:r>
            <a:r>
              <a:rPr lang="en-US" altLang="zh-CN" sz="2400" b="1">
                <a:uFillTx/>
                <a:latin typeface="Times New Roman" panose="02020603050405020304" pitchFamily="18" charset="0"/>
                <a:ea typeface="宋体" panose="02010600030101010101" pitchFamily="2" charset="-122"/>
              </a:rPr>
              <a:t>C</a:t>
            </a:r>
            <a:r>
              <a:rPr lang="en-US" altLang="zh-CN" sz="2400" b="1" baseline="-25000">
                <a:uFillTx/>
                <a:latin typeface="Times New Roman" panose="02020603050405020304" pitchFamily="18" charset="0"/>
                <a:ea typeface="宋体" panose="02010600030101010101" pitchFamily="2" charset="-122"/>
              </a:rPr>
              <a:t>O</a:t>
            </a:r>
            <a:r>
              <a:rPr lang="zh-CN" altLang="en-US" sz="2400" b="1">
                <a:uFillTx/>
                <a:latin typeface="Times New Roman" panose="02020603050405020304" pitchFamily="18" charset="0"/>
                <a:ea typeface="宋体" panose="02010600030101010101" pitchFamily="2" charset="-122"/>
              </a:rPr>
              <a:t>）</a:t>
            </a:r>
            <a:r>
              <a:rPr lang="zh-CN" altLang="en-US" sz="2400">
                <a:uFillTx/>
                <a:latin typeface="Times New Roman" panose="02020603050405020304" pitchFamily="18" charset="0"/>
                <a:ea typeface="宋体" panose="02010600030101010101" pitchFamily="2" charset="-122"/>
              </a:rPr>
              <a:t>：基于活动的最好情况所得到的成本。</a:t>
            </a:r>
            <a:endParaRPr lang="zh-CN" altLang="en-US" sz="2400">
              <a:uFillTx/>
              <a:latin typeface="Times New Roman" panose="02020603050405020304" pitchFamily="18" charset="0"/>
              <a:ea typeface="宋体" panose="02010600030101010101" pitchFamily="2" charset="-122"/>
            </a:endParaRPr>
          </a:p>
          <a:p>
            <a:pPr marL="0" indent="0">
              <a:buNone/>
              <a:defRPr sz="1700"/>
            </a:pPr>
            <a:r>
              <a:rPr lang="zh-CN" altLang="en-US" sz="2400" b="1">
                <a:uFillTx/>
                <a:latin typeface="Times New Roman" panose="02020603050405020304" pitchFamily="18" charset="0"/>
                <a:ea typeface="宋体" panose="02010600030101010101" pitchFamily="2" charset="-122"/>
              </a:rPr>
              <a:t>最悲观成本（</a:t>
            </a:r>
            <a:r>
              <a:rPr lang="en-US" altLang="zh-CN" sz="2400" b="1">
                <a:uFillTx/>
                <a:latin typeface="Times New Roman" panose="02020603050405020304" pitchFamily="18" charset="0"/>
                <a:ea typeface="宋体" panose="02010600030101010101" pitchFamily="2" charset="-122"/>
              </a:rPr>
              <a:t>C</a:t>
            </a:r>
            <a:r>
              <a:rPr lang="en-US" altLang="zh-CN" sz="2400" b="1" baseline="-25000">
                <a:uFillTx/>
                <a:latin typeface="Times New Roman" panose="02020603050405020304" pitchFamily="18" charset="0"/>
                <a:ea typeface="宋体" panose="02010600030101010101" pitchFamily="2" charset="-122"/>
              </a:rPr>
              <a:t>p</a:t>
            </a:r>
            <a:r>
              <a:rPr lang="zh-CN" altLang="en-US" sz="2400" b="1">
                <a:uFillTx/>
                <a:latin typeface="Times New Roman" panose="02020603050405020304" pitchFamily="18" charset="0"/>
                <a:ea typeface="宋体" panose="02010600030101010101" pitchFamily="2" charset="-122"/>
              </a:rPr>
              <a:t>）</a:t>
            </a:r>
            <a:r>
              <a:rPr lang="zh-CN" altLang="en-US" sz="2400">
                <a:uFillTx/>
                <a:latin typeface="Times New Roman" panose="02020603050405020304" pitchFamily="18" charset="0"/>
                <a:ea typeface="宋体" panose="02010600030101010101" pitchFamily="2" charset="-122"/>
              </a:rPr>
              <a:t>：基于活动的最差情况所得到的成本。</a:t>
            </a:r>
            <a:endParaRPr lang="zh-CN" altLang="en-US" sz="2400">
              <a:uFillTx/>
              <a:latin typeface="Times New Roman" panose="02020603050405020304" pitchFamily="18" charset="0"/>
              <a:ea typeface="宋体" panose="02010600030101010101" pitchFamily="2" charset="-122"/>
            </a:endParaRPr>
          </a:p>
          <a:p>
            <a:pPr marL="0" indent="0">
              <a:buNone/>
              <a:defRPr sz="1700"/>
            </a:pPr>
            <a:endParaRPr lang="zh-CN" altLang="en-US" sz="2400">
              <a:uFillTx/>
              <a:latin typeface="Times New Roman" panose="02020603050405020304" pitchFamily="18" charset="0"/>
              <a:ea typeface="宋体" panose="02010600030101010101" pitchFamily="2" charset="-122"/>
            </a:endParaRPr>
          </a:p>
          <a:p>
            <a:pPr marL="0" indent="0">
              <a:buNone/>
              <a:defRPr sz="1700"/>
            </a:pPr>
            <a:endParaRPr lang="zh-CN" altLang="en-US" sz="2400">
              <a:uFillTx/>
              <a:latin typeface="Times New Roman" panose="02020603050405020304" pitchFamily="18"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95605" y="332105"/>
            <a:ext cx="8466455" cy="4351655"/>
          </a:xfrm>
        </p:spPr>
        <p:txBody>
          <a:bodyPr wrap="square">
            <a:noAutofit/>
          </a:bodyPr>
          <a:lstStyle/>
          <a:p>
            <a:pPr marL="0" indent="0" algn="just">
              <a:buNone/>
              <a:defRPr sz="1700"/>
            </a:pPr>
            <a:r>
              <a:rPr lang="zh-CN" altLang="en-US" sz="2400">
                <a:uFillTx/>
                <a:latin typeface="Times New Roman" panose="02020603050405020304" pitchFamily="18" charset="0"/>
                <a:ea typeface="宋体" panose="02010600030101010101" pitchFamily="2" charset="-122"/>
              </a:rPr>
              <a:t>基于活动成本在三种估算值区间内的假定分布情况，使用公式来计算预期成本（C）。两种常用的公式是三角分布和贝塔分布，其计算公式分别为：</a:t>
            </a:r>
            <a:endParaRPr lang="zh-CN" altLang="en-US" sz="2400">
              <a:uFillTx/>
              <a:latin typeface="Times New Roman" panose="02020603050405020304" pitchFamily="18" charset="0"/>
              <a:ea typeface="宋体" panose="02010600030101010101" pitchFamily="2" charset="-122"/>
            </a:endParaRPr>
          </a:p>
          <a:p>
            <a:pPr marL="0" algn="ctr">
              <a:buClrTx/>
              <a:buSzTx/>
              <a:buNone/>
              <a:defRPr sz="1700"/>
            </a:pPr>
            <a:r>
              <a:rPr lang="zh-CN" altLang="en-US" sz="2400">
                <a:uFillTx/>
                <a:latin typeface="Times New Roman" panose="02020603050405020304" pitchFamily="18" charset="0"/>
                <a:ea typeface="宋体" panose="02010600030101010101" pitchFamily="2" charset="-122"/>
              </a:rPr>
              <a:t>三角分布C=（C</a:t>
            </a:r>
            <a:r>
              <a:rPr lang="zh-CN" altLang="en-US" sz="2400" baseline="-25000">
                <a:uFillTx/>
                <a:latin typeface="Times New Roman" panose="02020603050405020304" pitchFamily="18" charset="0"/>
                <a:ea typeface="宋体" panose="02010600030101010101" pitchFamily="2" charset="-122"/>
              </a:rPr>
              <a:t>O</a:t>
            </a:r>
            <a:r>
              <a:rPr lang="zh-CN" altLang="en-US" sz="2400">
                <a:uFillTx/>
                <a:latin typeface="Times New Roman" panose="02020603050405020304" pitchFamily="18" charset="0"/>
                <a:ea typeface="宋体" panose="02010600030101010101" pitchFamily="2" charset="-122"/>
              </a:rPr>
              <a:t>+C</a:t>
            </a:r>
            <a:r>
              <a:rPr lang="zh-CN" altLang="en-US" sz="2400" baseline="-25000">
                <a:uFillTx/>
                <a:latin typeface="Times New Roman" panose="02020603050405020304" pitchFamily="18" charset="0"/>
                <a:ea typeface="宋体" panose="02010600030101010101" pitchFamily="2" charset="-122"/>
              </a:rPr>
              <a:t>M</a:t>
            </a:r>
            <a:r>
              <a:rPr lang="zh-CN" altLang="en-US" sz="2400">
                <a:uFillTx/>
                <a:latin typeface="Times New Roman" panose="02020603050405020304" pitchFamily="18" charset="0"/>
                <a:ea typeface="宋体" panose="02010600030101010101" pitchFamily="2" charset="-122"/>
              </a:rPr>
              <a:t>+C</a:t>
            </a:r>
            <a:r>
              <a:rPr lang="zh-CN" altLang="en-US" sz="2400" baseline="-25000">
                <a:uFillTx/>
                <a:latin typeface="Times New Roman" panose="02020603050405020304" pitchFamily="18" charset="0"/>
                <a:ea typeface="宋体" panose="02010600030101010101" pitchFamily="2" charset="-122"/>
              </a:rPr>
              <a:t>p</a:t>
            </a:r>
            <a:r>
              <a:rPr lang="zh-CN" altLang="en-US" sz="2400">
                <a:uFillTx/>
                <a:latin typeface="Times New Roman" panose="02020603050405020304" pitchFamily="18" charset="0"/>
                <a:ea typeface="宋体" panose="02010600030101010101" pitchFamily="2" charset="-122"/>
              </a:rPr>
              <a:t>）/3</a:t>
            </a:r>
            <a:br>
              <a:rPr lang="zh-CN" altLang="en-US" sz="2400">
                <a:uFillTx/>
                <a:latin typeface="Times New Roman" panose="02020603050405020304" pitchFamily="18" charset="0"/>
                <a:ea typeface="宋体" panose="02010600030101010101" pitchFamily="2" charset="-122"/>
              </a:rPr>
            </a:br>
            <a:r>
              <a:rPr lang="zh-CN" altLang="en-US" sz="2400">
                <a:uFillTx/>
                <a:latin typeface="Times New Roman" panose="02020603050405020304" pitchFamily="18" charset="0"/>
                <a:ea typeface="宋体" panose="02010600030101010101" pitchFamily="2" charset="-122"/>
                <a:sym typeface="+mn-ea"/>
              </a:rPr>
              <a:t>贝塔分布C=（C</a:t>
            </a:r>
            <a:r>
              <a:rPr lang="en-US" altLang="zh-CN" sz="2400" baseline="-25000">
                <a:uFillTx/>
                <a:latin typeface="Times New Roman" panose="02020603050405020304" pitchFamily="18" charset="0"/>
                <a:ea typeface="宋体" panose="02010600030101010101" pitchFamily="2" charset="-122"/>
                <a:sym typeface="+mn-ea"/>
              </a:rPr>
              <a:t>O</a:t>
            </a:r>
            <a:r>
              <a:rPr lang="zh-CN" altLang="en-US" sz="2400">
                <a:uFillTx/>
                <a:latin typeface="Times New Roman" panose="02020603050405020304" pitchFamily="18" charset="0"/>
                <a:ea typeface="宋体" panose="02010600030101010101" pitchFamily="2" charset="-122"/>
                <a:sym typeface="+mn-ea"/>
              </a:rPr>
              <a:t>+4C</a:t>
            </a:r>
            <a:r>
              <a:rPr lang="zh-CN" altLang="en-US" sz="2400" baseline="-25000">
                <a:uFillTx/>
                <a:latin typeface="Times New Roman" panose="02020603050405020304" pitchFamily="18" charset="0"/>
                <a:ea typeface="宋体" panose="02010600030101010101" pitchFamily="2" charset="-122"/>
                <a:sym typeface="+mn-ea"/>
              </a:rPr>
              <a:t>M</a:t>
            </a:r>
            <a:r>
              <a:rPr lang="zh-CN" altLang="en-US" sz="2400">
                <a:uFillTx/>
                <a:latin typeface="Times New Roman" panose="02020603050405020304" pitchFamily="18" charset="0"/>
                <a:ea typeface="宋体" panose="02010600030101010101" pitchFamily="2" charset="-122"/>
                <a:sym typeface="+mn-ea"/>
              </a:rPr>
              <a:t>+C</a:t>
            </a:r>
            <a:r>
              <a:rPr lang="zh-CN" altLang="en-US" sz="2400" baseline="-25000">
                <a:uFillTx/>
                <a:latin typeface="Times New Roman" panose="02020603050405020304" pitchFamily="18" charset="0"/>
                <a:ea typeface="宋体" panose="02010600030101010101" pitchFamily="2" charset="-122"/>
                <a:sym typeface="+mn-ea"/>
              </a:rPr>
              <a:t>p</a:t>
            </a:r>
            <a:r>
              <a:rPr lang="zh-CN" altLang="en-US" sz="2400">
                <a:uFillTx/>
                <a:latin typeface="Times New Roman" panose="02020603050405020304" pitchFamily="18" charset="0"/>
                <a:ea typeface="宋体" panose="02010600030101010101" pitchFamily="2" charset="-122"/>
                <a:sym typeface="+mn-ea"/>
              </a:rPr>
              <a:t>）/6</a:t>
            </a:r>
            <a:endParaRPr lang="zh-CN" altLang="en-US" sz="2400">
              <a:uFillTx/>
              <a:latin typeface="Times New Roman" panose="02020603050405020304" pitchFamily="18" charset="0"/>
              <a:ea typeface="宋体" panose="02010600030101010101" pitchFamily="2" charset="-122"/>
              <a:sym typeface="+mn-ea"/>
            </a:endParaRPr>
          </a:p>
          <a:p>
            <a:pPr>
              <a:defRPr sz="1700"/>
            </a:pPr>
            <a:r>
              <a:rPr sz="2400">
                <a:sym typeface="+mn-ea"/>
              </a:rPr>
              <a:t>6.数据分析</a:t>
            </a:r>
            <a:endParaRPr sz="2400">
              <a:sym typeface="+mn-ea"/>
            </a:endParaRPr>
          </a:p>
          <a:p>
            <a:pPr marL="0" indent="0">
              <a:buNone/>
              <a:defRPr sz="1700"/>
            </a:pPr>
            <a:r>
              <a:rPr sz="2400">
                <a:sym typeface="+mn-ea"/>
              </a:rPr>
              <a:t>适用于估算成本过程的数据分析技术主要包括备选方案分析、储备分析和质量成本。</a:t>
            </a:r>
            <a:endParaRPr sz="2400">
              <a:sym typeface="+mn-ea"/>
            </a:endParaRPr>
          </a:p>
          <a:p>
            <a:pPr marL="0" indent="0">
              <a:buNone/>
              <a:defRPr sz="1700"/>
            </a:pPr>
            <a:r>
              <a:rPr sz="2400">
                <a:sym typeface="+mn-ea"/>
              </a:rPr>
              <a:t>1）备选方案分析</a:t>
            </a:r>
            <a:endParaRPr sz="2400">
              <a:sym typeface="+mn-ea"/>
            </a:endParaRPr>
          </a:p>
          <a:p>
            <a:pPr>
              <a:defRPr sz="1700"/>
            </a:pPr>
            <a:r>
              <a:rPr sz="2400">
                <a:sym typeface="+mn-ea"/>
              </a:rPr>
              <a:t>备选方案分析是一种对已识别的可选方案进行评估的技术，用来决定选择哪种方案或使用何种方法来执行项目工作。例如，评估购买和制造可交付成果两种备选方案分别对成本、进度、资源和质量的影响。</a:t>
            </a:r>
            <a:endParaRPr sz="2400">
              <a:sym typeface="+mn-ea"/>
            </a:endParaRPr>
          </a:p>
          <a:p>
            <a:pPr marL="0" indent="0">
              <a:buNone/>
              <a:defRPr sz="1700"/>
            </a:pPr>
            <a:endParaRPr sz="2400">
              <a:sym typeface="+mn-ea"/>
            </a:endParaRPr>
          </a:p>
          <a:p>
            <a:pPr marL="0" indent="0">
              <a:buNone/>
              <a:defRPr sz="1700"/>
            </a:pPr>
            <a:endParaRPr lang="zh-CN" altLang="en-US" sz="2400">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39750" y="404495"/>
            <a:ext cx="7886700" cy="4351338"/>
          </a:xfrm>
        </p:spPr>
        <p:txBody>
          <a:bodyPr wrap="square">
            <a:noAutofit/>
          </a:bodyPr>
          <a:lstStyle/>
          <a:p>
            <a:pPr marL="0" indent="0">
              <a:buNone/>
              <a:defRPr sz="1700"/>
            </a:pPr>
            <a:r>
              <a:rPr sz="2400"/>
              <a:t>2）储备分析</a:t>
            </a:r>
            <a:endParaRPr sz="2400"/>
          </a:p>
          <a:p>
            <a:pPr marL="0" indent="0">
              <a:buNone/>
              <a:defRPr sz="1700"/>
            </a:pPr>
            <a:r>
              <a:rPr sz="2400"/>
              <a:t>为应对成本的不确定性，成本估算中可以包括应急储备。</a:t>
            </a:r>
            <a:endParaRPr sz="2400"/>
          </a:p>
          <a:p>
            <a:pPr marL="0" indent="0">
              <a:buNone/>
              <a:defRPr sz="1700"/>
            </a:pPr>
            <a:r>
              <a:rPr sz="2400"/>
              <a:t>应急储备是包含在成本基准内的一部分预算，用来应对已经接受的已识别风险，以及已经制定应急或减轻措施的已识别风险。应急储备通常是预算的一部分，用来应对那些会影响项目的“已知－未知”风险。例如，可以预知有些项目可交付成果需要返工，却不知道返工的工作量是多少，可以预留应急储备来应对这些未知数量的返工工作。可以为某个具体活动建立应急储备，也可以为整个项目建立应急储备，还可以同时建立。应急储备可取成本估算值的某一百分比、某个固定值，或者通过定量分析来确定。</a:t>
            </a:r>
            <a:endParaRPr sz="2400"/>
          </a:p>
          <a:p>
            <a:pPr marL="0" indent="0">
              <a:buNone/>
              <a:defRPr sz="1700"/>
            </a:pPr>
            <a:r>
              <a:rPr lang="en-US" sz="2400"/>
              <a:t>         </a:t>
            </a:r>
            <a:r>
              <a:rPr sz="2400"/>
              <a:t>而随着项目信息越来越明确，可以动用、减少或取消应急储备，应该在成本文件中清楚地列出应急储备，应急储备是成本基准的一部分，也是项目整体资金需求的一部分。</a:t>
            </a:r>
            <a:endParaRPr sz="2400"/>
          </a:p>
          <a:p>
            <a:pPr marL="0" indent="0">
              <a:buNone/>
              <a:defRPr sz="1700"/>
            </a:pPr>
            <a:endParaRPr sz="24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95605" y="260350"/>
            <a:ext cx="8628380" cy="4351655"/>
          </a:xfrm>
        </p:spPr>
        <p:txBody>
          <a:bodyPr wrap="square">
            <a:noAutofit/>
          </a:bodyPr>
          <a:lstStyle/>
          <a:p>
            <a:pPr marL="0" algn="l">
              <a:buClrTx/>
              <a:buSzTx/>
              <a:buNone/>
              <a:defRPr sz="1700"/>
            </a:pPr>
            <a:r>
              <a:rPr lang="en-US" sz="2400"/>
              <a:t>4.3输出</a:t>
            </a:r>
            <a:endParaRPr lang="en-US" sz="2400"/>
          </a:p>
          <a:p>
            <a:pPr marL="0" algn="l">
              <a:buClrTx/>
              <a:buSzTx/>
              <a:buNone/>
              <a:defRPr sz="1700"/>
            </a:pPr>
            <a:r>
              <a:rPr lang="en-US" sz="2400"/>
              <a:t>1.成本估算</a:t>
            </a:r>
            <a:endParaRPr lang="en-US" sz="2400"/>
          </a:p>
          <a:p>
            <a:pPr marL="0" algn="l">
              <a:buClrTx/>
              <a:buSzTx/>
              <a:buNone/>
              <a:defRPr sz="1700"/>
            </a:pPr>
            <a:r>
              <a:rPr lang="en-US" sz="2400"/>
              <a:t>成本估算包括对完成项目工作可能需要的成本、应对已识别风险的应急储备。成本估算可以是汇总的或详细分列的。成本估算应覆盖项目所使用的全部资源，包括直接人工、材料、设备、服务、设施、信息技术以及一些特殊的成本种类，如融资成本（包括利息）、通货膨胀补贴、汇率或成本应急储备。如果间接成本也包含在项目估算中，则可在活动层次或更高层次上计列间接成本。</a:t>
            </a:r>
            <a:endParaRPr lang="en-US" sz="2400"/>
          </a:p>
          <a:p>
            <a:pPr marL="0" algn="l">
              <a:buClrTx/>
              <a:buSzTx/>
              <a:buNone/>
              <a:defRPr sz="1700"/>
            </a:pPr>
            <a:r>
              <a:rPr lang="en-US" sz="2400"/>
              <a:t>2.估算依据</a:t>
            </a:r>
            <a:endParaRPr lang="en-US" sz="2400"/>
          </a:p>
          <a:p>
            <a:pPr marL="0" algn="l">
              <a:buClrTx/>
              <a:buSzTx/>
              <a:buNone/>
              <a:defRPr sz="1700"/>
            </a:pPr>
            <a:r>
              <a:rPr lang="en-US" sz="2400"/>
              <a:t>成本估算所需的支持信息的数量和种类因应用领域而异，不论其详细程度如何，支持性文件都应该清晰、完整地说明成本估算是如何得出的。</a:t>
            </a:r>
            <a:endParaRPr lang="en-US" sz="2400"/>
          </a:p>
          <a:p>
            <a:pPr marL="0" algn="l">
              <a:buClrTx/>
              <a:buSzTx/>
              <a:buNone/>
              <a:defRPr sz="1700"/>
            </a:pPr>
            <a:endParaRPr lang="en-US" sz="24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tile tx="0" ty="0" sx="100000" sy="100000" flip="none" algn="tl"/>
        </a:blipFill>
        <a:effectLst/>
      </p:bgPr>
    </p:bg>
    <p:spTree>
      <p:nvGrpSpPr>
        <p:cNvPr id="1" name=""/>
        <p:cNvGrpSpPr/>
        <p:nvPr/>
      </p:nvGrpSpPr>
      <p:grpSpPr/>
      <p:sp>
        <p:nvSpPr>
          <p:cNvPr id="3" name="Content Placeholder 2"/>
          <p:cNvSpPr>
            <a:spLocks noGrp="1"/>
          </p:cNvSpPr>
          <p:nvPr>
            <p:ph idx="1"/>
          </p:nvPr>
        </p:nvSpPr>
        <p:spPr>
          <a:xfrm>
            <a:off x="323850" y="260350"/>
            <a:ext cx="8341360" cy="3752215"/>
          </a:xfrm>
        </p:spPr>
        <p:txBody>
          <a:bodyPr wrap="square">
            <a:noAutofit/>
          </a:bodyPr>
          <a:lstStyle/>
          <a:p>
            <a:pPr marL="0" algn="l">
              <a:buClrTx/>
              <a:buSzTx/>
              <a:buNone/>
              <a:defRPr sz="1700"/>
            </a:pPr>
            <a:r>
              <a:rPr lang="en-US" sz="2400">
                <a:solidFill>
                  <a:schemeClr val="tx1"/>
                </a:solidFill>
                <a:uFillTx/>
                <a:latin typeface="Times New Roman" panose="02020603050405020304" pitchFamily="18" charset="0"/>
                <a:ea typeface="宋体" panose="02010600030101010101" pitchFamily="2" charset="-122"/>
              </a:rPr>
              <a:t>成本估算的支持信息可包括：</a:t>
            </a:r>
            <a:endParaRPr lang="en-US" sz="2400">
              <a:solidFill>
                <a:schemeClr val="tx1"/>
              </a:solidFill>
              <a:uFillTx/>
              <a:latin typeface="Times New Roman" panose="02020603050405020304" pitchFamily="18" charset="0"/>
              <a:ea typeface="宋体" panose="02010600030101010101" pitchFamily="2" charset="-122"/>
            </a:endParaRPr>
          </a:p>
          <a:p>
            <a:pPr marL="0" algn="l">
              <a:buClrTx/>
              <a:buSzTx/>
              <a:buNone/>
              <a:defRPr sz="1700"/>
            </a:pPr>
            <a:r>
              <a:rPr lang="en-US" sz="2400">
                <a:solidFill>
                  <a:schemeClr val="tx1"/>
                </a:solidFill>
                <a:uFillTx/>
                <a:latin typeface="Times New Roman" panose="02020603050405020304" pitchFamily="18" charset="0"/>
                <a:ea typeface="宋体" panose="02010600030101010101" pitchFamily="2" charset="-122"/>
              </a:rPr>
              <a:t>①关于估算依据的文件（如估算是如何编制的）；</a:t>
            </a:r>
            <a:endParaRPr lang="en-US" sz="2400">
              <a:solidFill>
                <a:schemeClr val="tx1"/>
              </a:solidFill>
              <a:uFillTx/>
              <a:latin typeface="Times New Roman" panose="02020603050405020304" pitchFamily="18" charset="0"/>
              <a:ea typeface="宋体" panose="02010600030101010101" pitchFamily="2" charset="-122"/>
            </a:endParaRPr>
          </a:p>
          <a:p>
            <a:pPr marL="0" algn="l">
              <a:buClrTx/>
              <a:buSzTx/>
              <a:buNone/>
              <a:defRPr sz="1700"/>
            </a:pPr>
            <a:r>
              <a:rPr lang="en-US" sz="2400">
                <a:solidFill>
                  <a:schemeClr val="tx1"/>
                </a:solidFill>
                <a:uFillTx/>
                <a:latin typeface="Times New Roman" panose="02020603050405020304" pitchFamily="18" charset="0"/>
                <a:ea typeface="宋体" panose="02010600030101010101" pitchFamily="2" charset="-122"/>
              </a:rPr>
              <a:t>②关于全部假设条件的文件；</a:t>
            </a:r>
            <a:endParaRPr lang="en-US" sz="2400">
              <a:solidFill>
                <a:schemeClr val="tx1"/>
              </a:solidFill>
              <a:uFillTx/>
              <a:latin typeface="Times New Roman" panose="02020603050405020304" pitchFamily="18" charset="0"/>
              <a:ea typeface="宋体" panose="02010600030101010101" pitchFamily="2" charset="-122"/>
            </a:endParaRPr>
          </a:p>
          <a:p>
            <a:pPr marL="0" algn="l">
              <a:buClrTx/>
              <a:buSzTx/>
              <a:buNone/>
              <a:defRPr sz="1700"/>
            </a:pPr>
            <a:r>
              <a:rPr lang="en-US" sz="2400">
                <a:solidFill>
                  <a:schemeClr val="tx1"/>
                </a:solidFill>
                <a:uFillTx/>
                <a:latin typeface="Times New Roman" panose="02020603050405020304" pitchFamily="18" charset="0"/>
                <a:ea typeface="宋体" panose="02010600030101010101" pitchFamily="2" charset="-122"/>
              </a:rPr>
              <a:t>③关于各种已知制约因素的文件；</a:t>
            </a:r>
            <a:endParaRPr lang="en-US" sz="2400">
              <a:solidFill>
                <a:schemeClr val="tx1"/>
              </a:solidFill>
              <a:uFillTx/>
              <a:latin typeface="Times New Roman" panose="02020603050405020304" pitchFamily="18" charset="0"/>
              <a:ea typeface="宋体" panose="02010600030101010101" pitchFamily="2" charset="-122"/>
            </a:endParaRPr>
          </a:p>
          <a:p>
            <a:pPr marL="0" algn="l">
              <a:buClrTx/>
              <a:buSzTx/>
              <a:buNone/>
              <a:defRPr sz="1700"/>
            </a:pPr>
            <a:r>
              <a:rPr lang="en-US" sz="2400">
                <a:solidFill>
                  <a:schemeClr val="tx1"/>
                </a:solidFill>
                <a:uFillTx/>
                <a:latin typeface="Times New Roman" panose="02020603050405020304" pitchFamily="18" charset="0"/>
                <a:ea typeface="宋体" panose="02010600030101010101" pitchFamily="2" charset="-122"/>
              </a:rPr>
              <a:t>④有关已识别的、在估算成本时应考虑的风险的文件；</a:t>
            </a:r>
            <a:endParaRPr lang="en-US" sz="2400">
              <a:solidFill>
                <a:schemeClr val="tx1"/>
              </a:solidFill>
              <a:uFillTx/>
              <a:latin typeface="Times New Roman" panose="02020603050405020304" pitchFamily="18" charset="0"/>
              <a:ea typeface="宋体" panose="02010600030101010101" pitchFamily="2" charset="-122"/>
            </a:endParaRPr>
          </a:p>
          <a:p>
            <a:pPr marL="0" algn="l">
              <a:buClrTx/>
              <a:buSzTx/>
              <a:buNone/>
              <a:defRPr sz="1700"/>
            </a:pPr>
            <a:r>
              <a:rPr lang="zh-CN" altLang="en-US" sz="2400">
                <a:solidFill>
                  <a:schemeClr val="tx1"/>
                </a:solidFill>
                <a:uFillTx/>
                <a:latin typeface="Times New Roman" panose="02020603050405020304" pitchFamily="18" charset="0"/>
                <a:ea typeface="宋体" panose="02010600030101010101" pitchFamily="2" charset="-122"/>
              </a:rPr>
              <a:t>⑤</a:t>
            </a:r>
            <a:r>
              <a:rPr lang="en-US" sz="2400">
                <a:solidFill>
                  <a:schemeClr val="tx1"/>
                </a:solidFill>
                <a:uFillTx/>
                <a:latin typeface="Times New Roman" panose="02020603050405020304" pitchFamily="18" charset="0"/>
                <a:ea typeface="宋体" panose="02010600030101010101" pitchFamily="2" charset="-122"/>
              </a:rPr>
              <a:t>对估算区间的说明（如“10000元土10%”就说明了预期成本的所在区间）；</a:t>
            </a:r>
            <a:endParaRPr lang="en-US" sz="2400">
              <a:solidFill>
                <a:schemeClr val="tx1"/>
              </a:solidFill>
              <a:uFillTx/>
              <a:latin typeface="Times New Roman" panose="02020603050405020304" pitchFamily="18" charset="0"/>
              <a:ea typeface="宋体" panose="02010600030101010101" pitchFamily="2" charset="-122"/>
            </a:endParaRPr>
          </a:p>
          <a:p>
            <a:pPr marL="0" algn="l">
              <a:buClrTx/>
              <a:buSzTx/>
              <a:buNone/>
              <a:defRPr sz="1700"/>
            </a:pPr>
            <a:r>
              <a:rPr lang="zh-CN" altLang="en-US" sz="2400">
                <a:solidFill>
                  <a:schemeClr val="tx1"/>
                </a:solidFill>
                <a:uFillTx/>
                <a:latin typeface="Times New Roman" panose="02020603050405020304" pitchFamily="18" charset="0"/>
                <a:ea typeface="宋体" panose="02010600030101010101" pitchFamily="2" charset="-122"/>
              </a:rPr>
              <a:t>⑥</a:t>
            </a:r>
            <a:r>
              <a:rPr lang="en-US" sz="2400">
                <a:solidFill>
                  <a:schemeClr val="tx1"/>
                </a:solidFill>
                <a:uFillTx/>
                <a:latin typeface="Times New Roman" panose="02020603050405020304" pitchFamily="18" charset="0"/>
                <a:ea typeface="宋体" panose="02010600030101010101" pitchFamily="2" charset="-122"/>
              </a:rPr>
              <a:t>对最终估算的置信水平的说明等。</a:t>
            </a:r>
            <a:endParaRPr lang="zh-CN" altLang="en-US">
              <a:solidFill>
                <a:schemeClr val="tx1"/>
              </a:solidFill>
              <a:uFillTx/>
              <a:latin typeface="Times New Roman" panose="02020603050405020304" pitchFamily="18"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tile tx="0" ty="0" sx="100000" sy="100000" flip="none" algn="tl"/>
        </a:blipFill>
        <a:effectLst/>
      </p:bgPr>
    </p:bg>
    <p:spTree>
      <p:nvGrpSpPr>
        <p:cNvPr id="1" name=""/>
        <p:cNvGrpSpPr/>
        <p:nvPr/>
      </p:nvGrpSpPr>
      <p:grpSpPr/>
      <p:sp>
        <p:nvSpPr>
          <p:cNvPr id="3" name="Content Placeholder 2"/>
          <p:cNvSpPr>
            <a:spLocks noGrp="1"/>
          </p:cNvSpPr>
          <p:nvPr>
            <p:ph idx="1"/>
          </p:nvPr>
        </p:nvSpPr>
        <p:spPr>
          <a:xfrm>
            <a:off x="467995" y="548640"/>
            <a:ext cx="7886700" cy="3646170"/>
          </a:xfrm>
        </p:spPr>
        <p:txBody>
          <a:bodyPr wrap="square">
            <a:noAutofit/>
          </a:bodyPr>
          <a:lstStyle/>
          <a:p>
            <a:pPr marL="0" algn="l">
              <a:buClrTx/>
              <a:buSzTx/>
              <a:buNone/>
              <a:defRPr sz="1700"/>
            </a:pPr>
            <a:r>
              <a:rPr lang="en-US" sz="2400">
                <a:uFillTx/>
                <a:latin typeface="Times New Roman" panose="02020603050405020304" pitchFamily="18" charset="0"/>
                <a:ea typeface="宋体" panose="02010600030101010101" pitchFamily="2" charset="-122"/>
              </a:rPr>
              <a:t>3.项目文件（更新）</a:t>
            </a:r>
            <a:endParaRPr lang="en-US" sz="2400">
              <a:uFillTx/>
              <a:latin typeface="Times New Roman" panose="02020603050405020304" pitchFamily="18" charset="0"/>
              <a:ea typeface="宋体" panose="02010600030101010101" pitchFamily="2" charset="-122"/>
            </a:endParaRPr>
          </a:p>
          <a:p>
            <a:pPr marL="0" algn="l">
              <a:buClrTx/>
              <a:buSzTx/>
              <a:buNone/>
              <a:defRPr sz="1700"/>
            </a:pPr>
            <a:r>
              <a:rPr lang="en-US" sz="2400">
                <a:uFillTx/>
                <a:latin typeface="Times New Roman" panose="02020603050405020304" pitchFamily="18" charset="0"/>
                <a:ea typeface="宋体" panose="02010600030101010101" pitchFamily="2" charset="-122"/>
              </a:rPr>
              <a:t>可在成本估算过程更新的项目文件主要包括：</a:t>
            </a:r>
            <a:endParaRPr lang="en-US" sz="2400">
              <a:uFillTx/>
              <a:latin typeface="Times New Roman" panose="02020603050405020304" pitchFamily="18" charset="0"/>
              <a:ea typeface="宋体" panose="02010600030101010101" pitchFamily="2" charset="-122"/>
            </a:endParaRPr>
          </a:p>
          <a:p>
            <a:pPr marL="0" algn="l">
              <a:buClrTx/>
              <a:buSzTx/>
              <a:defRPr sz="1700"/>
            </a:pPr>
            <a:r>
              <a:rPr lang="en-US" sz="2400">
                <a:uFillTx/>
                <a:latin typeface="Times New Roman" panose="02020603050405020304" pitchFamily="18" charset="0"/>
                <a:ea typeface="宋体" panose="02010600030101010101" pitchFamily="2" charset="-122"/>
              </a:rPr>
              <a:t>假设日志：成本估算过程中可能会做出新假设、识别新的制约因素，或者重新审查和修改已有假设条件或制约因素，假设日志应根据这些新信息做出相应更新。</a:t>
            </a:r>
            <a:endParaRPr lang="en-US" sz="2400">
              <a:uFillTx/>
              <a:latin typeface="Times New Roman" panose="02020603050405020304" pitchFamily="18" charset="0"/>
              <a:ea typeface="宋体" panose="02010600030101010101" pitchFamily="2" charset="-122"/>
            </a:endParaRPr>
          </a:p>
          <a:p>
            <a:pPr marL="0" algn="l">
              <a:buClrTx/>
              <a:buSzTx/>
              <a:defRPr sz="1700"/>
            </a:pPr>
            <a:r>
              <a:rPr lang="en-US" sz="2400">
                <a:uFillTx/>
                <a:latin typeface="Times New Roman" panose="02020603050405020304" pitchFamily="18" charset="0"/>
                <a:ea typeface="宋体" panose="02010600030101010101" pitchFamily="2" charset="-122"/>
                <a:sym typeface="+mn-ea"/>
              </a:rPr>
              <a:t>经验教训登记册：有效和高效地估算成本的技术，需要更新在经验教训登记册中。</a:t>
            </a:r>
            <a:endParaRPr lang="en-US" sz="2400">
              <a:uFillTx/>
              <a:latin typeface="Times New Roman" panose="02020603050405020304" pitchFamily="18" charset="0"/>
              <a:ea typeface="宋体" panose="02010600030101010101" pitchFamily="2" charset="-122"/>
              <a:sym typeface="+mn-ea"/>
            </a:endParaRPr>
          </a:p>
          <a:p>
            <a:pPr marL="0" algn="l">
              <a:buClrTx/>
              <a:buSzTx/>
              <a:defRPr sz="1700"/>
            </a:pPr>
            <a:r>
              <a:rPr lang="en-US" sz="2400">
                <a:uFillTx/>
                <a:latin typeface="Times New Roman" panose="02020603050405020304" pitchFamily="18" charset="0"/>
                <a:ea typeface="宋体" panose="02010600030101010101" pitchFamily="2" charset="-122"/>
                <a:sym typeface="+mn-ea"/>
              </a:rPr>
              <a:t>风险登记册：在估算成本过程中选择和商定风险应对措施时，可能需要更新风险登记册。</a:t>
            </a:r>
            <a:endParaRPr lang="en-US" sz="2400">
              <a:uFillTx/>
              <a:latin typeface="Times New Roman" panose="02020603050405020304" pitchFamily="18" charset="0"/>
              <a:ea typeface="宋体" panose="02010600030101010101" pitchFamily="2" charset="-122"/>
              <a:sym typeface="+mn-ea"/>
            </a:endParaRPr>
          </a:p>
          <a:p>
            <a:pPr>
              <a:defRPr sz="1700"/>
            </a:pPr>
          </a:p>
        </p:txBody>
      </p:sp>
    </p:spTree>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23215" y="188595"/>
            <a:ext cx="8337550" cy="2573655"/>
          </a:xfrm>
        </p:spPr>
        <p:txBody>
          <a:bodyPr wrap="square">
            <a:noAutofit/>
          </a:bodyPr>
          <a:lstStyle/>
          <a:p>
            <a:pPr marL="0" algn="l">
              <a:buClrTx/>
              <a:buSzTx/>
              <a:defRPr sz="1700"/>
            </a:pPr>
            <a:r>
              <a:rPr lang="en-US" sz="2400">
                <a:uFillTx/>
                <a:latin typeface="Times New Roman" panose="02020603050405020304" pitchFamily="18" charset="0"/>
                <a:ea typeface="宋体" panose="02010600030101010101" pitchFamily="2" charset="-122"/>
              </a:rPr>
              <a:t>11.5制定预算</a:t>
            </a:r>
            <a:endParaRPr lang="en-US" sz="2400">
              <a:uFillTx/>
              <a:latin typeface="Times New Roman" panose="02020603050405020304" pitchFamily="18" charset="0"/>
              <a:ea typeface="宋体" panose="02010600030101010101" pitchFamily="2" charset="-122"/>
            </a:endParaRPr>
          </a:p>
          <a:p>
            <a:pPr marL="0" indent="0" algn="l">
              <a:buClrTx/>
              <a:buSzTx/>
              <a:buNone/>
              <a:defRPr sz="1700"/>
            </a:pPr>
            <a:r>
              <a:rPr lang="en-US" sz="2400">
                <a:uFillTx/>
                <a:latin typeface="Times New Roman" panose="02020603050405020304" pitchFamily="18" charset="0"/>
                <a:ea typeface="宋体" panose="02010600030101010101" pitchFamily="2" charset="-122"/>
              </a:rPr>
              <a:t>制定预算是汇总所有单个活动或工作包的估算成本，建立一个经批准的成本基准的过程。本过程的主要作用是，确定可以依据其来进行监督和控制项目绩效的成本基准。项目预算包括经批准用于执行项目的全部资金，而成本基准是经过批准且按时间段分配的项目预算，包括应急储备，但不包括管理储备。制定预算过程的数据流向如下图所示。</a:t>
            </a:r>
            <a:endParaRPr lang="en-US" sz="2400">
              <a:uFillTx/>
              <a:latin typeface="Times New Roman" panose="02020603050405020304" pitchFamily="18" charset="0"/>
              <a:ea typeface="宋体" panose="02010600030101010101" pitchFamily="2" charset="-122"/>
            </a:endParaRPr>
          </a:p>
        </p:txBody>
      </p:sp>
      <p:pic>
        <p:nvPicPr>
          <p:cNvPr id="8" name="图片 7"/>
          <p:cNvPicPr>
            <a:picLocks noChangeAspect="1"/>
          </p:cNvPicPr>
          <p:nvPr/>
        </p:nvPicPr>
        <p:blipFill>
          <a:blip r:embed="rId1"/>
          <a:stretch>
            <a:fillRect/>
          </a:stretch>
        </p:blipFill>
        <p:spPr>
          <a:xfrm>
            <a:off x="1259840" y="2780665"/>
            <a:ext cx="6701155" cy="354838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67995" y="260350"/>
            <a:ext cx="7886700" cy="6360795"/>
          </a:xfrm>
        </p:spPr>
        <p:txBody>
          <a:bodyPr wrap="square">
            <a:noAutofit/>
          </a:bodyPr>
          <a:lstStyle/>
          <a:p>
            <a:pPr marL="0" indent="0">
              <a:buNone/>
              <a:defRPr sz="1700"/>
            </a:pPr>
            <a:r>
              <a:rPr lang="en-US" sz="2400">
                <a:uFillTx/>
                <a:latin typeface="Times New Roman" panose="02020603050405020304" pitchFamily="18" charset="0"/>
                <a:ea typeface="宋体" panose="02010600030101010101" pitchFamily="2" charset="-122"/>
                <a:sym typeface="+mn-ea"/>
              </a:rPr>
              <a:t>输人</a:t>
            </a:r>
            <a:endParaRPr lang="en-US" sz="2400">
              <a:uFillTx/>
              <a:latin typeface="Times New Roman" panose="02020603050405020304" pitchFamily="18" charset="0"/>
              <a:ea typeface="宋体" panose="02010600030101010101" pitchFamily="2" charset="-122"/>
              <a:sym typeface="+mn-ea"/>
            </a:endParaRPr>
          </a:p>
          <a:p>
            <a:pPr marL="0" indent="0">
              <a:buNone/>
              <a:defRPr sz="1700"/>
            </a:pPr>
            <a:r>
              <a:rPr lang="en-US" sz="2400">
                <a:uFillTx/>
                <a:latin typeface="Times New Roman" panose="02020603050405020304" pitchFamily="18" charset="0"/>
                <a:ea typeface="宋体" panose="02010600030101010101" pitchFamily="2" charset="-122"/>
              </a:rPr>
              <a:t>1.项目管理计划</a:t>
            </a:r>
            <a:endParaRPr lang="en-US" sz="2400">
              <a:uFillTx/>
              <a:latin typeface="Times New Roman" panose="02020603050405020304" pitchFamily="18" charset="0"/>
              <a:ea typeface="宋体" panose="02010600030101010101" pitchFamily="2" charset="-122"/>
            </a:endParaRPr>
          </a:p>
          <a:p>
            <a:pPr marL="0" indent="0">
              <a:buNone/>
              <a:defRPr sz="1700"/>
            </a:pPr>
            <a:r>
              <a:rPr lang="en-US" sz="2400">
                <a:uFillTx/>
                <a:latin typeface="Times New Roman" panose="02020603050405020304" pitchFamily="18" charset="0"/>
                <a:ea typeface="宋体" panose="02010600030101010101" pitchFamily="2" charset="-122"/>
              </a:rPr>
              <a:t>用于制定预算的项目管理计划组件主要包括：</a:t>
            </a:r>
            <a:endParaRPr lang="en-US" sz="2400">
              <a:uFillTx/>
              <a:latin typeface="Times New Roman" panose="02020603050405020304" pitchFamily="18" charset="0"/>
              <a:ea typeface="宋体" panose="02010600030101010101" pitchFamily="2" charset="-122"/>
            </a:endParaRPr>
          </a:p>
          <a:p>
            <a:pPr lvl="1">
              <a:defRPr sz="1700"/>
            </a:pPr>
            <a:r>
              <a:rPr lang="en-US" sz="2400">
                <a:uFillTx/>
                <a:latin typeface="Times New Roman" panose="02020603050405020304" pitchFamily="18" charset="0"/>
                <a:ea typeface="宋体" panose="02010600030101010101" pitchFamily="2" charset="-122"/>
              </a:rPr>
              <a:t>成本管理计划：描述如何将项目成本纳入项目预算中。</a:t>
            </a:r>
            <a:endParaRPr lang="en-US" sz="2400">
              <a:uFillTx/>
              <a:latin typeface="Times New Roman" panose="02020603050405020304" pitchFamily="18" charset="0"/>
              <a:ea typeface="宋体" panose="02010600030101010101" pitchFamily="2" charset="-122"/>
            </a:endParaRPr>
          </a:p>
          <a:p>
            <a:pPr lvl="1">
              <a:defRPr sz="1700"/>
            </a:pPr>
            <a:r>
              <a:rPr lang="en-US" sz="2400">
                <a:uFillTx/>
                <a:latin typeface="Times New Roman" panose="02020603050405020304" pitchFamily="18" charset="0"/>
                <a:ea typeface="宋体" panose="02010600030101010101" pitchFamily="2" charset="-122"/>
              </a:rPr>
              <a:t>资源管理计划：提供有关（人力和其他资源的）费率、差旅成本估算和其他可预见成本信息，这些信息是估算整个项目预算时必须考虑的因素。</a:t>
            </a:r>
            <a:endParaRPr lang="en-US" sz="2400">
              <a:uFillTx/>
              <a:latin typeface="Times New Roman" panose="02020603050405020304" pitchFamily="18" charset="0"/>
              <a:ea typeface="宋体" panose="02010600030101010101" pitchFamily="2" charset="-122"/>
            </a:endParaRPr>
          </a:p>
          <a:p>
            <a:pPr lvl="1">
              <a:defRPr sz="1700"/>
            </a:pPr>
            <a:r>
              <a:rPr lang="en-US" sz="2400">
                <a:uFillTx/>
                <a:latin typeface="Times New Roman" panose="02020603050405020304" pitchFamily="18" charset="0"/>
                <a:ea typeface="宋体" panose="02010600030101010101" pitchFamily="2" charset="-122"/>
              </a:rPr>
              <a:t>范围基准：包括项目范围说明书、WBS和WBS字典的详细信息，可用于成本估算和</a:t>
            </a:r>
            <a:r>
              <a:rPr lang="en-US" sz="2400">
                <a:uFillTx/>
                <a:latin typeface="Times New Roman" panose="02020603050405020304" pitchFamily="18" charset="0"/>
                <a:ea typeface="宋体" panose="02010600030101010101" pitchFamily="2" charset="-122"/>
                <a:sym typeface="+mn-ea"/>
              </a:rPr>
              <a:t>管理。</a:t>
            </a:r>
            <a:endParaRPr lang="en-US" sz="2400">
              <a:uFillTx/>
              <a:latin typeface="Times New Roman" panose="02020603050405020304" pitchFamily="18" charset="0"/>
              <a:ea typeface="宋体" panose="02010600030101010101" pitchFamily="2" charset="-122"/>
              <a:sym typeface="+mn-ea"/>
            </a:endParaRPr>
          </a:p>
          <a:p>
            <a:pPr marL="0" indent="0">
              <a:buNone/>
              <a:defRPr sz="1700"/>
            </a:pPr>
            <a:r>
              <a:rPr lang="en-US" sz="2400">
                <a:uFillTx/>
                <a:latin typeface="Times New Roman" panose="02020603050405020304" pitchFamily="18" charset="0"/>
                <a:ea typeface="宋体" panose="02010600030101010101" pitchFamily="2" charset="-122"/>
                <a:sym typeface="+mn-ea"/>
              </a:rPr>
              <a:t>2.可行性研究文件</a:t>
            </a:r>
            <a:endParaRPr lang="en-US" sz="2400">
              <a:uFillTx/>
              <a:latin typeface="Times New Roman" panose="02020603050405020304" pitchFamily="18" charset="0"/>
              <a:ea typeface="宋体" panose="02010600030101010101" pitchFamily="2" charset="-122"/>
              <a:sym typeface="+mn-ea"/>
            </a:endParaRPr>
          </a:p>
          <a:p>
            <a:pPr marL="0" indent="0">
              <a:buNone/>
              <a:defRPr sz="1700"/>
            </a:pPr>
            <a:r>
              <a:rPr lang="en-US" sz="2400">
                <a:uFillTx/>
                <a:latin typeface="Times New Roman" panose="02020603050405020304" pitchFamily="18" charset="0"/>
                <a:ea typeface="宋体" panose="02010600030101010101" pitchFamily="2" charset="-122"/>
                <a:sym typeface="+mn-ea"/>
              </a:rPr>
              <a:t>可作为制定预算过程输入的可行性研究文件包括：</a:t>
            </a:r>
            <a:endParaRPr lang="en-US" sz="2400">
              <a:uFillTx/>
              <a:latin typeface="Times New Roman" panose="02020603050405020304" pitchFamily="18" charset="0"/>
              <a:ea typeface="宋体" panose="02010600030101010101" pitchFamily="2" charset="-122"/>
              <a:sym typeface="+mn-ea"/>
            </a:endParaRPr>
          </a:p>
          <a:p>
            <a:pPr lvl="1">
              <a:defRPr sz="1700"/>
            </a:pPr>
            <a:r>
              <a:rPr lang="en-US" sz="2400">
                <a:uFillTx/>
                <a:latin typeface="Times New Roman" panose="02020603050405020304" pitchFamily="18" charset="0"/>
                <a:ea typeface="宋体" panose="02010600030101010101" pitchFamily="2" charset="-122"/>
                <a:sym typeface="+mn-ea"/>
              </a:rPr>
              <a:t>可行性研究报告：识别了项目成功的关键因素，包括财务成功因素。</a:t>
            </a:r>
            <a:endParaRPr lang="en-US" sz="2400">
              <a:uFillTx/>
              <a:latin typeface="Times New Roman" panose="02020603050405020304" pitchFamily="18" charset="0"/>
              <a:ea typeface="宋体" panose="02010600030101010101" pitchFamily="2" charset="-122"/>
              <a:sym typeface="+mn-ea"/>
            </a:endParaRPr>
          </a:p>
          <a:p>
            <a:pPr lvl="1">
              <a:defRPr sz="1700"/>
            </a:pPr>
            <a:r>
              <a:rPr lang="en-US" sz="2400">
                <a:uFillTx/>
                <a:latin typeface="Times New Roman" panose="02020603050405020304" pitchFamily="18" charset="0"/>
                <a:ea typeface="宋体" panose="02010600030101010101" pitchFamily="2" charset="-122"/>
                <a:sym typeface="+mn-ea"/>
              </a:rPr>
              <a:t>项目评估报告：概述了项目的目标效益，例如净现值的计算、实现效益的时限，以及与效益有关的测量指标。</a:t>
            </a:r>
            <a:endParaRPr lang="en-US" sz="2400">
              <a:uFillTx/>
              <a:latin typeface="Times New Roman" panose="02020603050405020304" pitchFamily="18" charset="0"/>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67995" y="476250"/>
            <a:ext cx="8186420" cy="4351655"/>
          </a:xfrm>
        </p:spPr>
        <p:txBody>
          <a:bodyPr wrap="square">
            <a:noAutofit/>
          </a:bodyPr>
          <a:lstStyle/>
          <a:p>
            <a:pPr marL="0" lvl="1" indent="0" algn="just" fontAlgn="auto">
              <a:lnSpc>
                <a:spcPct val="100000"/>
              </a:lnSpc>
              <a:spcBef>
                <a:spcPts val="0"/>
              </a:spcBef>
              <a:buClrTx/>
              <a:buSzTx/>
              <a:buNone/>
              <a:defRPr sz="1700"/>
            </a:pPr>
            <a:r>
              <a:rPr lang="en-US" sz="2400">
                <a:uFillTx/>
                <a:latin typeface="Times New Roman" panose="02020603050405020304" pitchFamily="18" charset="0"/>
                <a:ea typeface="宋体" panose="02010600030101010101" pitchFamily="2" charset="-122"/>
                <a:sym typeface="+mn-ea"/>
              </a:rPr>
              <a:t>3.项目文件</a:t>
            </a:r>
            <a:endParaRPr lang="en-US" sz="2400">
              <a:uFillTx/>
              <a:latin typeface="Times New Roman" panose="02020603050405020304" pitchFamily="18" charset="0"/>
              <a:ea typeface="宋体" panose="02010600030101010101" pitchFamily="2" charset="-122"/>
              <a:sym typeface="+mn-ea"/>
            </a:endParaRPr>
          </a:p>
          <a:p>
            <a:pPr marL="0" lvl="1" indent="0" algn="just" fontAlgn="auto">
              <a:lnSpc>
                <a:spcPct val="100000"/>
              </a:lnSpc>
              <a:spcBef>
                <a:spcPts val="0"/>
              </a:spcBef>
              <a:buClrTx/>
              <a:buSzTx/>
              <a:buNone/>
              <a:defRPr sz="1700"/>
            </a:pPr>
            <a:r>
              <a:rPr lang="en-US" sz="2400">
                <a:uFillTx/>
                <a:latin typeface="Times New Roman" panose="02020603050405020304" pitchFamily="18" charset="0"/>
                <a:ea typeface="宋体" panose="02010600030101010101" pitchFamily="2" charset="-122"/>
              </a:rPr>
              <a:t>可作为制定预算过程输入的项目文件主要包括：</a:t>
            </a:r>
            <a:endParaRPr lang="en-US" sz="2400">
              <a:uFillTx/>
              <a:latin typeface="Times New Roman" panose="02020603050405020304" pitchFamily="18" charset="0"/>
              <a:ea typeface="宋体" panose="02010600030101010101" pitchFamily="2" charset="-122"/>
            </a:endParaRPr>
          </a:p>
          <a:p>
            <a:pPr marL="0" lvl="1" indent="-457200" algn="just" fontAlgn="auto">
              <a:lnSpc>
                <a:spcPct val="100000"/>
              </a:lnSpc>
              <a:spcBef>
                <a:spcPts val="0"/>
              </a:spcBef>
              <a:buClrTx/>
              <a:buSzTx/>
              <a:defRPr sz="1700"/>
            </a:pPr>
            <a:r>
              <a:rPr lang="en-US" sz="2400" b="1">
                <a:uFillTx/>
                <a:latin typeface="Times New Roman" panose="02020603050405020304" pitchFamily="18" charset="0"/>
                <a:ea typeface="宋体" panose="02010600030101010101" pitchFamily="2" charset="-122"/>
              </a:rPr>
              <a:t>估算依据</a:t>
            </a:r>
            <a:r>
              <a:rPr lang="en-US" sz="2400">
                <a:uFillTx/>
                <a:latin typeface="Times New Roman" panose="02020603050405020304" pitchFamily="18" charset="0"/>
                <a:ea typeface="宋体" panose="02010600030101010101" pitchFamily="2" charset="-122"/>
              </a:rPr>
              <a:t>：在估算依据中包括基本的假设条件，例如，项目预算中是否应该包含间接成本或其他成本。</a:t>
            </a:r>
            <a:endParaRPr lang="en-US" sz="2400">
              <a:uFillTx/>
              <a:latin typeface="Times New Roman" panose="02020603050405020304" pitchFamily="18" charset="0"/>
              <a:ea typeface="宋体" panose="02010600030101010101" pitchFamily="2" charset="-122"/>
            </a:endParaRPr>
          </a:p>
          <a:p>
            <a:pPr marL="0" lvl="1" indent="-457200" algn="just" fontAlgn="auto">
              <a:lnSpc>
                <a:spcPct val="100000"/>
              </a:lnSpc>
              <a:spcBef>
                <a:spcPts val="0"/>
              </a:spcBef>
              <a:buClrTx/>
              <a:buSzTx/>
              <a:defRPr sz="1700"/>
            </a:pPr>
            <a:r>
              <a:rPr lang="en-US" sz="2400" b="1">
                <a:uFillTx/>
                <a:latin typeface="Times New Roman" panose="02020603050405020304" pitchFamily="18" charset="0"/>
                <a:ea typeface="宋体" panose="02010600030101010101" pitchFamily="2" charset="-122"/>
              </a:rPr>
              <a:t>成本估算</a:t>
            </a:r>
            <a:r>
              <a:rPr lang="en-US" sz="2400">
                <a:uFillTx/>
                <a:latin typeface="Times New Roman" panose="02020603050405020304" pitchFamily="18" charset="0"/>
                <a:ea typeface="宋体" panose="02010600030101010101" pitchFamily="2" charset="-122"/>
              </a:rPr>
              <a:t>：将各工作包内每个活动的成本估算汇总后，即可得到各工作包的成本估算。</a:t>
            </a:r>
            <a:endParaRPr lang="en-US" sz="2400">
              <a:uFillTx/>
              <a:latin typeface="Times New Roman" panose="02020603050405020304" pitchFamily="18" charset="0"/>
              <a:ea typeface="宋体" panose="02010600030101010101" pitchFamily="2" charset="-122"/>
            </a:endParaRPr>
          </a:p>
          <a:p>
            <a:pPr marL="0" lvl="1" indent="-457200" algn="just" fontAlgn="auto">
              <a:lnSpc>
                <a:spcPct val="100000"/>
              </a:lnSpc>
              <a:spcBef>
                <a:spcPts val="0"/>
              </a:spcBef>
              <a:buClrTx/>
              <a:buSzTx/>
              <a:defRPr sz="1700"/>
            </a:pPr>
            <a:r>
              <a:rPr lang="en-US" sz="2400">
                <a:uFillTx/>
                <a:latin typeface="Times New Roman" panose="02020603050405020304" pitchFamily="18" charset="0"/>
                <a:ea typeface="宋体" panose="02010600030101010101" pitchFamily="2" charset="-122"/>
              </a:rPr>
              <a:t>项目进度计划：包括项目活动、里程碑、工作包和控制账户的计划开始和完成日期。可根据这些信息，把计划成本和实际成本汇总到相应日历时段.</a:t>
            </a:r>
            <a:endParaRPr lang="en-US" sz="2400">
              <a:uFillTx/>
              <a:latin typeface="Times New Roman" panose="02020603050405020304" pitchFamily="18" charset="0"/>
              <a:ea typeface="宋体" panose="02010600030101010101" pitchFamily="2" charset="-122"/>
            </a:endParaRPr>
          </a:p>
          <a:p>
            <a:pPr marL="0" lvl="1" indent="-457200" algn="just" fontAlgn="auto">
              <a:lnSpc>
                <a:spcPct val="100000"/>
              </a:lnSpc>
              <a:spcBef>
                <a:spcPts val="0"/>
              </a:spcBef>
              <a:buClrTx/>
              <a:buSzTx/>
              <a:defRPr sz="1700"/>
            </a:pPr>
            <a:r>
              <a:rPr lang="en-US" sz="2400" b="1">
                <a:uFillTx/>
                <a:latin typeface="Times New Roman" panose="02020603050405020304" pitchFamily="18" charset="0"/>
                <a:ea typeface="宋体" panose="02010600030101010101" pitchFamily="2" charset="-122"/>
              </a:rPr>
              <a:t>风险登记册</a:t>
            </a:r>
            <a:r>
              <a:rPr lang="en-US" sz="2400">
                <a:uFillTx/>
                <a:latin typeface="Times New Roman" panose="02020603050405020304" pitchFamily="18" charset="0"/>
                <a:ea typeface="宋体" panose="02010600030101010101" pitchFamily="2" charset="-122"/>
              </a:rPr>
              <a:t>：应该审查风险登记册，以确定如何汇总风险应对成本。风险登记册的更新</a:t>
            </a:r>
            <a:r>
              <a:rPr sz="2400">
                <a:sym typeface="+mn-ea"/>
              </a:rPr>
              <a:t>包含在项目文件更新中。</a:t>
            </a:r>
            <a:endParaRPr sz="2400">
              <a:sym typeface="+mn-ea"/>
            </a:endParaRPr>
          </a:p>
          <a:p>
            <a:pPr marL="0" lvl="1" indent="0" algn="just" fontAlgn="auto">
              <a:lnSpc>
                <a:spcPct val="100000"/>
              </a:lnSpc>
              <a:spcBef>
                <a:spcPts val="0"/>
              </a:spcBef>
              <a:buClrTx/>
              <a:buSzTx/>
              <a:buNone/>
              <a:defRPr sz="1700"/>
            </a:pPr>
            <a:r>
              <a:rPr lang="en-US" sz="2400">
                <a:uFillTx/>
                <a:latin typeface="Times New Roman" panose="02020603050405020304" pitchFamily="18" charset="0"/>
                <a:ea typeface="宋体" panose="02010600030101010101" pitchFamily="2" charset="-122"/>
                <a:sym typeface="+mn-ea"/>
              </a:rPr>
              <a:t>4.协议</a:t>
            </a:r>
            <a:endParaRPr lang="en-US" sz="2400">
              <a:uFillTx/>
              <a:latin typeface="Times New Roman" panose="02020603050405020304" pitchFamily="18" charset="0"/>
              <a:ea typeface="宋体" panose="02010600030101010101" pitchFamily="2" charset="-122"/>
              <a:sym typeface="+mn-ea"/>
            </a:endParaRPr>
          </a:p>
          <a:p>
            <a:pPr marL="0" lvl="1" indent="0" algn="just" fontAlgn="auto">
              <a:lnSpc>
                <a:spcPct val="100000"/>
              </a:lnSpc>
              <a:spcBef>
                <a:spcPts val="0"/>
              </a:spcBef>
              <a:buClrTx/>
              <a:buSzTx/>
              <a:buNone/>
              <a:defRPr sz="1700"/>
            </a:pPr>
            <a:r>
              <a:rPr lang="en-US" sz="2400">
                <a:uFillTx/>
                <a:latin typeface="Times New Roman" panose="02020603050405020304" pitchFamily="18" charset="0"/>
                <a:ea typeface="宋体" panose="02010600030101010101" pitchFamily="2" charset="-122"/>
                <a:sym typeface="+mn-ea"/>
              </a:rPr>
              <a:t>在制定预算时，需要考虑将要或已经采购的产品、服务或成果的成本，以及适用的协议信息。</a:t>
            </a:r>
            <a:endParaRPr lang="en-US" sz="2400">
              <a:uFillTx/>
              <a:latin typeface="Times New Roman" panose="02020603050405020304" pitchFamily="18" charset="0"/>
              <a:ea typeface="宋体" panose="02010600030101010101" pitchFamily="2" charset="-122"/>
              <a:sym typeface="+mn-ea"/>
            </a:endParaRPr>
          </a:p>
          <a:p>
            <a:pPr marL="0" lvl="1" indent="0" algn="just" fontAlgn="auto">
              <a:lnSpc>
                <a:spcPct val="100000"/>
              </a:lnSpc>
              <a:spcBef>
                <a:spcPts val="0"/>
              </a:spcBef>
              <a:buClrTx/>
              <a:buSzTx/>
              <a:buNone/>
              <a:defRPr sz="1700"/>
            </a:pPr>
            <a:endParaRPr lang="zh-CN" altLang="en-US" sz="2400">
              <a:sym typeface="+mn-ea"/>
            </a:endParaRPr>
          </a:p>
          <a:p>
            <a:pPr marL="0" lvl="1" indent="-457200" algn="just" fontAlgn="auto">
              <a:lnSpc>
                <a:spcPct val="100000"/>
              </a:lnSpc>
              <a:spcBef>
                <a:spcPts val="0"/>
              </a:spcBef>
              <a:buClrTx/>
              <a:buSzTx/>
              <a:defRPr sz="1700"/>
            </a:pPr>
            <a:endParaRPr lang="en-US" sz="2400">
              <a:uFillTx/>
              <a:latin typeface="Times New Roman" panose="02020603050405020304" pitchFamily="18" charset="0"/>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7315" y="188595"/>
            <a:ext cx="8572500" cy="6195695"/>
          </a:xfrm>
        </p:spPr>
        <p:txBody>
          <a:bodyPr wrap="square">
            <a:noAutofit/>
          </a:bodyPr>
          <a:lstStyle/>
          <a:p>
            <a:pPr marL="0" indent="0">
              <a:buNone/>
              <a:defRPr sz="1700"/>
            </a:pPr>
            <a:r>
              <a:rPr lang="en-US" sz="2400">
                <a:uFillTx/>
                <a:latin typeface="Times New Roman" panose="02020603050405020304" pitchFamily="18" charset="0"/>
                <a:ea typeface="宋体" panose="02010600030101010101" pitchFamily="2" charset="-122"/>
              </a:rPr>
              <a:t>工具与技术</a:t>
            </a:r>
            <a:endParaRPr lang="en-US" sz="2400">
              <a:uFillTx/>
              <a:latin typeface="Times New Roman" panose="02020603050405020304" pitchFamily="18" charset="0"/>
              <a:ea typeface="宋体" panose="02010600030101010101" pitchFamily="2" charset="-122"/>
            </a:endParaRPr>
          </a:p>
          <a:p>
            <a:pPr marL="0" indent="0">
              <a:buNone/>
              <a:defRPr sz="1700"/>
            </a:pPr>
            <a:r>
              <a:rPr lang="en-US" sz="2400">
                <a:uFillTx/>
                <a:latin typeface="Times New Roman" panose="02020603050405020304" pitchFamily="18" charset="0"/>
                <a:ea typeface="宋体" panose="02010600030101010101" pitchFamily="2" charset="-122"/>
              </a:rPr>
              <a:t>1.专家判断</a:t>
            </a:r>
            <a:endParaRPr lang="en-US" sz="2400">
              <a:uFillTx/>
              <a:latin typeface="Times New Roman" panose="02020603050405020304" pitchFamily="18" charset="0"/>
              <a:ea typeface="宋体" panose="02010600030101010101" pitchFamily="2" charset="-122"/>
            </a:endParaRPr>
          </a:p>
          <a:p>
            <a:pPr marL="0" indent="0">
              <a:buNone/>
              <a:defRPr sz="1700"/>
            </a:pPr>
            <a:r>
              <a:rPr lang="en-US" sz="2400">
                <a:uFillTx/>
                <a:latin typeface="Times New Roman" panose="02020603050405020304" pitchFamily="18" charset="0"/>
                <a:ea typeface="宋体" panose="02010600030101010101" pitchFamily="2" charset="-122"/>
              </a:rPr>
              <a:t>在制定预算时，应征求具备以下专业知识或接受过相关培训的个人或小组的意见：以往类似项目；来自行业、学科和应用领域的信息；财务原则；资金需求和来源等。</a:t>
            </a:r>
            <a:endParaRPr lang="en-US" sz="2400">
              <a:uFillTx/>
              <a:latin typeface="Times New Roman" panose="02020603050405020304" pitchFamily="18" charset="0"/>
              <a:ea typeface="宋体" panose="02010600030101010101" pitchFamily="2" charset="-122"/>
            </a:endParaRPr>
          </a:p>
          <a:p>
            <a:pPr marL="0" indent="0">
              <a:buNone/>
              <a:defRPr sz="1700"/>
            </a:pPr>
            <a:r>
              <a:rPr lang="en-US" sz="2400">
                <a:uFillTx/>
                <a:latin typeface="Times New Roman" panose="02020603050405020304" pitchFamily="18" charset="0"/>
                <a:ea typeface="宋体" panose="02010600030101010101" pitchFamily="2" charset="-122"/>
                <a:sym typeface="+mn-ea"/>
              </a:rPr>
              <a:t>2.成本汇总</a:t>
            </a:r>
            <a:endParaRPr lang="en-US" sz="2400">
              <a:uFillTx/>
              <a:latin typeface="Times New Roman" panose="02020603050405020304" pitchFamily="18" charset="0"/>
              <a:ea typeface="宋体" panose="02010600030101010101" pitchFamily="2" charset="-122"/>
              <a:sym typeface="+mn-ea"/>
            </a:endParaRPr>
          </a:p>
          <a:p>
            <a:pPr marL="0" indent="0">
              <a:buNone/>
              <a:defRPr sz="1700"/>
            </a:pPr>
            <a:r>
              <a:rPr lang="en-US" sz="2400">
                <a:uFillTx/>
                <a:latin typeface="Times New Roman" panose="02020603050405020304" pitchFamily="18" charset="0"/>
                <a:ea typeface="宋体" panose="02010600030101010101" pitchFamily="2" charset="-122"/>
                <a:sym typeface="+mn-ea"/>
              </a:rPr>
              <a:t>先把成本估算汇总到WBS中的工作包，再由工作包汇总至WBS的更高层次（如控制账户），最终得出整个项目的总成本。</a:t>
            </a:r>
            <a:endParaRPr lang="en-US" sz="2400">
              <a:uFillTx/>
              <a:latin typeface="Times New Roman" panose="02020603050405020304" pitchFamily="18" charset="0"/>
              <a:ea typeface="宋体" panose="02010600030101010101" pitchFamily="2" charset="-122"/>
              <a:sym typeface="+mn-ea"/>
            </a:endParaRPr>
          </a:p>
          <a:p>
            <a:pPr marL="0" indent="0">
              <a:buNone/>
              <a:defRPr sz="1700"/>
            </a:pPr>
            <a:r>
              <a:rPr lang="en-US" sz="2400">
                <a:uFillTx/>
                <a:latin typeface="Times New Roman" panose="02020603050405020304" pitchFamily="18" charset="0"/>
                <a:ea typeface="宋体" panose="02010600030101010101" pitchFamily="2" charset="-122"/>
                <a:sym typeface="+mn-ea"/>
              </a:rPr>
              <a:t>3.数据分析</a:t>
            </a:r>
            <a:endParaRPr lang="en-US" sz="2400">
              <a:uFillTx/>
              <a:latin typeface="Times New Roman" panose="02020603050405020304" pitchFamily="18" charset="0"/>
              <a:ea typeface="宋体" panose="02010600030101010101" pitchFamily="2" charset="-122"/>
              <a:sym typeface="+mn-ea"/>
            </a:endParaRPr>
          </a:p>
          <a:p>
            <a:pPr marL="0" indent="0">
              <a:buNone/>
              <a:defRPr sz="1700"/>
            </a:pPr>
            <a:r>
              <a:rPr lang="en-US" sz="2400">
                <a:uFillTx/>
                <a:latin typeface="Times New Roman" panose="02020603050405020304" pitchFamily="18" charset="0"/>
                <a:ea typeface="宋体" panose="02010600030101010101" pitchFamily="2" charset="-122"/>
                <a:sym typeface="+mn-ea"/>
              </a:rPr>
              <a:t>可用于制定预算过程的数据分析技术之一是建立项目管理储备的储备分析，管理储备是为了管理控制的目的而特别留出的项目预算，用来应对项目范围中不可预见的工作，目的是用来应对会影响项目的“未知－未知”风险。管理储备不包括在成本基准中，但属于项目总预算和资金需求的一部分。当动用管理储备资助不可预见的工作时，就要把动用的管理储备增加到成本基准中，从而导致成本基准变更。</a:t>
            </a:r>
            <a:endParaRPr lang="en-US" sz="2400">
              <a:uFillTx/>
              <a:latin typeface="Times New Roman" panose="02020603050405020304" pitchFamily="18" charset="0"/>
              <a:ea typeface="宋体" panose="02010600030101010101" pitchFamily="2" charset="-122"/>
              <a:sym typeface="+mn-ea"/>
            </a:endParaRPr>
          </a:p>
          <a:p>
            <a:pPr>
              <a:defRPr sz="1700"/>
            </a:pPr>
            <a:endParaRPr>
              <a:sym typeface="+mn-ea"/>
            </a:endParaRPr>
          </a:p>
          <a:p>
            <a:pPr>
              <a:defRPr sz="1700"/>
            </a:p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11.5 内容详情 (13)</a:t>
            </a:r>
          </a:p>
        </p:txBody>
      </p:sp>
      <p:sp>
        <p:nvSpPr>
          <p:cNvPr id="3" name="Content Placeholder 2"/>
          <p:cNvSpPr>
            <a:spLocks noGrp="1"/>
          </p:cNvSpPr>
          <p:nvPr>
            <p:ph idx="1"/>
          </p:nvPr>
        </p:nvSpPr>
        <p:spPr/>
        <p:txBody>
          <a:bodyPr wrap="square"/>
          <a:lstStyle/>
          <a:p>
            <a:pPr>
              <a:defRPr sz="1700"/>
            </a:pPr>
            <a:r>
              <a:t>了管理控制的目的而特别留出的项目预算，用来应对项目范围中不可预见的工作，目的是用来</a:t>
            </a:r>
          </a:p>
          <a:p>
            <a:pPr>
              <a:defRPr sz="1700"/>
            </a:pPr>
            <a:r>
              <a:t>应对会影响项目的“未知－未知”风险。管理储备不包括在成本基准中，但属于项目总预算和</a:t>
            </a:r>
          </a:p>
          <a:p>
            <a:pPr>
              <a:defRPr sz="1700"/>
            </a:pPr>
            <a:r>
              <a:t>资金需求的一部分。当动用管理储备资助不可预见的工作时，就要把动用的管理储备增加到成</a:t>
            </a:r>
          </a:p>
          <a:p>
            <a:pPr>
              <a:defRPr sz="1700"/>
            </a:pPr>
            <a:r>
              <a:t>本基准中，从而导致成本基准变更。</a:t>
            </a:r>
          </a:p>
          <a:p>
            <a:pPr>
              <a:defRPr sz="1700"/>
            </a:pPr>
            <a:r>
              <a:t>4.历史信息审核</a:t>
            </a:r>
          </a:p>
          <a:p>
            <a:pPr>
              <a:defRPr sz="1700"/>
            </a:pPr>
            <a:r>
              <a:t>审核历史信息有助于进行参数估算或类比估算，历史信息包括各种项目特征（参数），它们</a:t>
            </a:r>
          </a:p>
          <a:p>
            <a:pPr>
              <a:defRPr sz="1700"/>
            </a:pPr>
            <a:r>
              <a:t>用于建立数学模型预测项目总成本。这些数学模型可以是简单的（例如，建造住房的总成本取</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11.5 内容详情 (14)</a:t>
            </a:r>
          </a:p>
        </p:txBody>
      </p:sp>
      <p:sp>
        <p:nvSpPr>
          <p:cNvPr id="3" name="Content Placeholder 2"/>
          <p:cNvSpPr>
            <a:spLocks noGrp="1"/>
          </p:cNvSpPr>
          <p:nvPr>
            <p:ph idx="1"/>
          </p:nvPr>
        </p:nvSpPr>
        <p:spPr/>
        <p:txBody>
          <a:bodyPr wrap="square"/>
          <a:lstStyle/>
          <a:p>
            <a:pPr>
              <a:defRPr sz="1700"/>
            </a:pPr>
            <a:r>
              <a:t>决于单位面积的建造成本），也可以是复杂的（例如，软件开发项目的成本模型中有多个变量，</a:t>
            </a:r>
          </a:p>
          <a:p>
            <a:pPr>
              <a:defRPr sz="1700"/>
            </a:pPr>
            <a:r>
              <a:t>且每个变量又受许多因素的影响）。</a:t>
            </a:r>
          </a:p>
          <a:p>
            <a:pPr>
              <a:defRPr sz="1700"/>
            </a:pPr>
            <a:r>
              <a:t>类比和参数模型预测的成本及准确性可能差别很大，满足以下情况时，模型预测最为可靠：</a:t>
            </a:r>
          </a:p>
          <a:p>
            <a:pPr>
              <a:defRPr sz="1700"/>
            </a:pPr>
            <a:r>
              <a:t>①用来建立模型的历史信息准确；②模型中的参数易于量化；③模型可以调整，以便对大项目、</a:t>
            </a:r>
          </a:p>
          <a:p>
            <a:pPr>
              <a:defRPr sz="1700"/>
            </a:pPr>
            <a:r>
              <a:t>小项目和各项目阶段都适用。</a:t>
            </a:r>
          </a:p>
          <a:p>
            <a:pPr>
              <a:defRPr sz="1700"/>
            </a:pPr>
            <a:r>
              <a:t>5.资金限制平衡</a:t>
            </a:r>
          </a:p>
          <a:p>
            <a:pPr>
              <a:defRPr sz="1700"/>
            </a:pPr>
            <a:r>
              <a:t>应该根据对项目资金的限制来平衡资金支出，如果发现资金限制与计划支出之间存在差异，</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11.5 内容详情 (15)</a:t>
            </a:r>
          </a:p>
        </p:txBody>
      </p:sp>
      <p:sp>
        <p:nvSpPr>
          <p:cNvPr id="3" name="Content Placeholder 2"/>
          <p:cNvSpPr>
            <a:spLocks noGrp="1"/>
          </p:cNvSpPr>
          <p:nvPr>
            <p:ph idx="1"/>
          </p:nvPr>
        </p:nvSpPr>
        <p:spPr/>
        <p:txBody>
          <a:bodyPr wrap="square"/>
          <a:lstStyle/>
          <a:p>
            <a:pPr>
              <a:defRPr sz="1700"/>
            </a:pPr>
            <a:r>
              <a:t>则可能需要调整工作的进度计划，以平衡资金的支出水平，例如可以通过在项目进度计划中添</a:t>
            </a:r>
          </a:p>
          <a:p>
            <a:pPr>
              <a:defRPr sz="1700"/>
            </a:pPr>
            <a:r>
              <a:t>加强制日期来实现。</a:t>
            </a:r>
          </a:p>
          <a:p>
            <a:pPr>
              <a:defRPr sz="1700"/>
            </a:pPr>
            <a:r>
              <a:t>6.融资</a:t>
            </a:r>
          </a:p>
          <a:p>
            <a:pPr>
              <a:defRPr sz="1700"/>
            </a:pPr>
            <a:r>
              <a:t>融资是指为项目获取资金。长期的基础设施、工业和公共服务项目通常会寻求外部融资，</a:t>
            </a:r>
          </a:p>
          <a:p>
            <a:pPr>
              <a:defRPr sz="1700"/>
            </a:pPr>
            <a:r>
              <a:t>如果项目使用外部资金，出资实体可能会对项目提出要求。</a:t>
            </a:r>
          </a:p>
          <a:p>
            <a:pPr>
              <a:defRPr sz="1700"/>
            </a:pPr>
            <a:r>
              <a:t>11.5.3输出</a:t>
            </a:r>
          </a:p>
          <a:p>
            <a:pPr>
              <a:defRPr sz="1700"/>
            </a:pPr>
            <a:r>
              <a:t>1.成本基准</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11.5 内容详情 (16)</a:t>
            </a:r>
          </a:p>
        </p:txBody>
      </p:sp>
      <p:sp>
        <p:nvSpPr>
          <p:cNvPr id="3" name="Content Placeholder 2"/>
          <p:cNvSpPr>
            <a:spLocks noGrp="1"/>
          </p:cNvSpPr>
          <p:nvPr>
            <p:ph idx="1"/>
          </p:nvPr>
        </p:nvSpPr>
        <p:spPr/>
        <p:txBody>
          <a:bodyPr wrap="square"/>
          <a:lstStyle/>
          <a:p>
            <a:pPr>
              <a:defRPr sz="1700"/>
            </a:pPr>
            <a:r>
              <a:t>成本基准是经过批准的、按时间段分配的项目预算，不包括任何管理储备，只有通过正式</a:t>
            </a:r>
          </a:p>
          <a:p>
            <a:pPr>
              <a:defRPr sz="1700"/>
            </a:pPr>
            <a:r>
              <a:t>的变更控制程序才能变更，用作与实际结果进行比较的依据，成本基准是不同进度活动经批准</a:t>
            </a:r>
          </a:p>
          <a:p>
            <a:pPr>
              <a:defRPr sz="1700"/>
            </a:pPr>
            <a:r>
              <a:t>的预算的总和。</a:t>
            </a:r>
          </a:p>
          <a:p>
            <a:pPr>
              <a:defRPr sz="1700"/>
            </a:pPr>
            <a:r>
              <a:t>项目预算和成本基准的各个组成部分，如图11-4所示。先汇总各项目活动的成本估算及其</a:t>
            </a:r>
          </a:p>
          <a:p>
            <a:pPr>
              <a:defRPr sz="1700"/>
            </a:pPr>
            <a:r>
              <a:t>应急储备，得到相关工作包的成本；然后汇总各工作包的成本估算及其应急储备，得到控制账</a:t>
            </a:r>
          </a:p>
          <a:p>
            <a:pPr>
              <a:defRPr sz="1700"/>
            </a:pPr>
            <a:r>
              <a:t>户的成本；接着再汇总各控制账户的成本，得到成本基准；最后，在成本基准之上增加管理储</a:t>
            </a:r>
          </a:p>
          <a:p>
            <a:pPr>
              <a:defRPr sz="1700"/>
            </a:pPr>
            <a:r>
              <a:t>备，得到项目预算。当出现有必要动用管理储备的变更时，则应该在获得变更控制过程的批准</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11.5 内容详情 (17)</a:t>
            </a:r>
          </a:p>
        </p:txBody>
      </p:sp>
      <p:sp>
        <p:nvSpPr>
          <p:cNvPr id="3" name="Content Placeholder 2"/>
          <p:cNvSpPr>
            <a:spLocks noGrp="1"/>
          </p:cNvSpPr>
          <p:nvPr>
            <p:ph idx="1"/>
          </p:nvPr>
        </p:nvSpPr>
        <p:spPr/>
        <p:txBody>
          <a:bodyPr wrap="square"/>
          <a:lstStyle/>
          <a:p>
            <a:pPr>
              <a:defRPr sz="1700"/>
            </a:pPr>
            <a:r>
              <a:t>348</a:t>
            </a:r>
          </a:p>
          <a:p>
            <a:pPr>
              <a:defRPr sz="1700"/>
            </a:pPr>
            <a:r>
              <a:t>之后，把适量的管理储备移入成本基准中。</a:t>
            </a:r>
          </a:p>
          <a:p>
            <a:pPr>
              <a:defRPr sz="1700"/>
            </a:pPr>
            <a:r>
              <a:t>项目预算</a:t>
            </a:r>
          </a:p>
          <a:p>
            <a:pPr>
              <a:defRPr sz="1700"/>
            </a:pPr>
            <a:r>
              <a:t>管理储备</a:t>
            </a:r>
          </a:p>
          <a:p>
            <a:pPr>
              <a:defRPr sz="1700"/>
            </a:pPr>
            <a:r>
              <a:t>成本基准</a:t>
            </a:r>
          </a:p>
          <a:p>
            <a:pPr>
              <a:defRPr sz="1700"/>
            </a:pPr>
            <a:r>
              <a:t>控制账户</a:t>
            </a:r>
          </a:p>
          <a:p>
            <a:pPr>
              <a:defRPr sz="1700"/>
            </a:pPr>
            <a:r>
              <a:t>应急储备</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11.5 内容详情 (18)</a:t>
            </a:r>
          </a:p>
        </p:txBody>
      </p:sp>
      <p:sp>
        <p:nvSpPr>
          <p:cNvPr id="3" name="Content Placeholder 2"/>
          <p:cNvSpPr>
            <a:spLocks noGrp="1"/>
          </p:cNvSpPr>
          <p:nvPr>
            <p:ph idx="1"/>
          </p:nvPr>
        </p:nvSpPr>
        <p:spPr/>
        <p:txBody>
          <a:bodyPr wrap="square"/>
          <a:lstStyle/>
          <a:p>
            <a:pPr>
              <a:defRPr sz="1700"/>
            </a:pPr>
            <a:r>
              <a:t>工作包成本</a:t>
            </a:r>
          </a:p>
          <a:p>
            <a:pPr>
              <a:defRPr sz="1700"/>
            </a:pPr>
            <a:r>
              <a:t>活动应急储备</a:t>
            </a:r>
          </a:p>
          <a:p>
            <a:pPr>
              <a:defRPr sz="1700"/>
            </a:pPr>
            <a:r>
              <a:t>估算</a:t>
            </a:r>
          </a:p>
          <a:p>
            <a:pPr>
              <a:defRPr sz="1700"/>
            </a:pPr>
            <a:r>
              <a:t>活动成本估算</a:t>
            </a:r>
          </a:p>
          <a:p>
            <a:pPr>
              <a:defRPr sz="1700"/>
            </a:pPr>
            <a:r>
              <a:t>总计</a:t>
            </a:r>
          </a:p>
          <a:p>
            <a:pPr>
              <a:defRPr sz="1700"/>
            </a:pPr>
            <a:r>
              <a:t>项目预算的组成</a:t>
            </a:r>
          </a:p>
          <a:p>
            <a:pPr>
              <a:defRPr sz="1700"/>
            </a:pPr>
            <a:r>
              <a:t>图11-4项目预算的组成</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11.5 内容详情 (19)</a:t>
            </a:r>
          </a:p>
        </p:txBody>
      </p:sp>
      <p:sp>
        <p:nvSpPr>
          <p:cNvPr id="3" name="Content Placeholder 2"/>
          <p:cNvSpPr>
            <a:spLocks noGrp="1"/>
          </p:cNvSpPr>
          <p:nvPr>
            <p:ph idx="1"/>
          </p:nvPr>
        </p:nvSpPr>
        <p:spPr/>
        <p:txBody>
          <a:bodyPr wrap="square"/>
          <a:lstStyle/>
          <a:p>
            <a:pPr>
              <a:defRPr sz="1700"/>
            </a:pPr>
            <a:r>
              <a:t>由于成本基准中的成本估算与进度活动直接关联，因此就可按时间段分配成本基准，得到</a:t>
            </a:r>
          </a:p>
          <a:p>
            <a:pPr>
              <a:defRPr sz="1700"/>
            </a:pPr>
            <a:r>
              <a:t>一条S曲线，如图11-5所示。对于使用挣值管理的项目，成本基准指的是绩效测量基准。</a:t>
            </a:r>
          </a:p>
          <a:p>
            <a:pPr>
              <a:defRPr sz="1700"/>
            </a:pPr>
            <a:r>
              <a:t>项目预算</a:t>
            </a:r>
          </a:p>
          <a:p>
            <a:pPr>
              <a:defRPr sz="1700"/>
            </a:pPr>
            <a:r>
              <a:t>管理储备</a:t>
            </a:r>
          </a:p>
          <a:p>
            <a:pPr>
              <a:defRPr sz="1700"/>
            </a:pPr>
            <a:r>
              <a:t>完工预算</a:t>
            </a:r>
          </a:p>
          <a:p>
            <a:pPr>
              <a:defRPr sz="1700"/>
            </a:pPr>
            <a:r>
              <a:t>累计值</a:t>
            </a:r>
          </a:p>
          <a:p>
            <a:pPr>
              <a:defRPr sz="1700"/>
            </a:pPr>
            <a:r>
              <a:t>资金需求</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11.5 内容详情 (20)</a:t>
            </a:r>
          </a:p>
        </p:txBody>
      </p:sp>
      <p:sp>
        <p:nvSpPr>
          <p:cNvPr id="3" name="Content Placeholder 2"/>
          <p:cNvSpPr>
            <a:spLocks noGrp="1"/>
          </p:cNvSpPr>
          <p:nvPr>
            <p:ph idx="1"/>
          </p:nvPr>
        </p:nvSpPr>
        <p:spPr/>
        <p:txBody>
          <a:bodyPr wrap="square"/>
          <a:lstStyle/>
          <a:p>
            <a:pPr>
              <a:defRPr sz="1700"/>
            </a:pPr>
            <a:r>
              <a:t>支出</a:t>
            </a:r>
          </a:p>
          <a:p>
            <a:pPr>
              <a:defRPr sz="1700"/>
            </a:pPr>
            <a:r>
              <a:t>成本基准</a:t>
            </a:r>
          </a:p>
          <a:p>
            <a:pPr>
              <a:defRPr sz="1700"/>
            </a:pPr>
            <a:r>
              <a:t>时间</a:t>
            </a:r>
          </a:p>
          <a:p>
            <a:pPr>
              <a:defRPr sz="1700"/>
            </a:pPr>
            <a:r>
              <a:t>图11-5成本基准、支出与资金需求</a:t>
            </a:r>
          </a:p>
          <a:p>
            <a:pPr>
              <a:defRPr sz="1700"/>
            </a:pPr>
            <a:r>
              <a:t>2.项目资金需求</a:t>
            </a:r>
          </a:p>
          <a:p>
            <a:pPr>
              <a:defRPr sz="1700"/>
            </a:pPr>
            <a:r>
              <a:t>根据成本基准，确定总资金需求和阶段性（如季度或年度）资金需求。成本基准中包括预</a:t>
            </a:r>
          </a:p>
          <a:p>
            <a:pPr>
              <a:defRPr sz="1700"/>
            </a:pPr>
            <a:r>
              <a:t>计支出及预计债务。项目资金通常以增量的方式投入，并且可能是非均衡的，呈现出图11-4中</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11.5 内容详情 (21)</a:t>
            </a:r>
          </a:p>
        </p:txBody>
      </p:sp>
      <p:sp>
        <p:nvSpPr>
          <p:cNvPr id="3" name="Content Placeholder 2"/>
          <p:cNvSpPr>
            <a:spLocks noGrp="1"/>
          </p:cNvSpPr>
          <p:nvPr>
            <p:ph idx="1"/>
          </p:nvPr>
        </p:nvSpPr>
        <p:spPr/>
        <p:txBody>
          <a:bodyPr wrap="square"/>
          <a:lstStyle/>
          <a:p>
            <a:pPr>
              <a:defRPr sz="1700"/>
            </a:pPr>
            <a:r>
              <a:t>所示的阶梯状。如果有管理储备，则总资金需求等于成本基准加管理储备。在资金需求文件中，</a:t>
            </a:r>
          </a:p>
          <a:p>
            <a:pPr>
              <a:defRPr sz="1700"/>
            </a:pPr>
            <a:r>
              <a:t>也可说明资金来源。</a:t>
            </a:r>
          </a:p>
          <a:p>
            <a:pPr>
              <a:defRPr sz="1700"/>
            </a:pPr>
            <a:r>
              <a:t>3.项目文件（更新）</a:t>
            </a:r>
          </a:p>
          <a:p>
            <a:pPr>
              <a:defRPr sz="1700"/>
            </a:pPr>
            <a:r>
              <a:t>可在制定预算过程更新的项目文件主要包括：</a:t>
            </a:r>
          </a:p>
          <a:p>
            <a:pPr lvl="1">
              <a:defRPr sz="1700"/>
            </a:pPr>
            <a:r>
              <a:t>成本估算：更新成本估算，以记录任何额外信息。</a:t>
            </a:r>
          </a:p>
          <a:p>
            <a:pPr lvl="1">
              <a:defRPr sz="1700"/>
            </a:pPr>
            <a:r>
              <a:t>项目进度计划：项目进度计划可能记录了各项活动的估算成本。</a:t>
            </a:r>
          </a:p>
          <a:p>
            <a:pPr lvl="1">
              <a:defRPr sz="1700"/>
            </a:pPr>
            <a:r>
              <a:t>风险登记册：记录在本过程中识别的新风险于风险登记册中，并通过风险管理过程</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11.5 内容详情 (22)</a:t>
            </a:r>
          </a:p>
        </p:txBody>
      </p:sp>
      <p:sp>
        <p:nvSpPr>
          <p:cNvPr id="3" name="Content Placeholder 2"/>
          <p:cNvSpPr>
            <a:spLocks noGrp="1"/>
          </p:cNvSpPr>
          <p:nvPr>
            <p:ph idx="1"/>
          </p:nvPr>
        </p:nvSpPr>
        <p:spPr/>
        <p:txBody>
          <a:bodyPr wrap="square"/>
          <a:lstStyle/>
          <a:p>
            <a:pPr>
              <a:defRPr sz="1700"/>
            </a:pPr>
            <a:r>
              <a:t>进行管理。</a:t>
            </a:r>
          </a:p>
          <a:p>
            <a:pPr>
              <a:defRPr sz="1700"/>
            </a:pPr>
            <a:r>
              <a:t>第11章项目成本管理</a:t>
            </a:r>
          </a:p>
          <a:p>
            <a:pPr>
              <a:defRPr sz="1700"/>
            </a:pPr>
            <a:r>
              <a:t>349</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控制成本 - ITTO</a:t>
            </a:r>
          </a:p>
        </p:txBody>
      </p:sp>
      <p:sp>
        <p:nvSpPr>
          <p:cNvPr id="3" name="Content Placeholder 2"/>
          <p:cNvSpPr>
            <a:spLocks noGrp="1"/>
          </p:cNvSpPr>
          <p:nvPr>
            <p:ph idx="1"/>
          </p:nvPr>
        </p:nvSpPr>
        <p:spPr/>
        <p:txBody>
          <a:bodyPr wrap="square"/>
          <a:lstStyle/>
          <a:p>
            <a:pPr>
              <a:defRPr sz="1700"/>
            </a:pPr>
            <a:r>
              <a:t>控制成本过程汇总表</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pic>
        <p:nvPicPr>
          <p:cNvPr id="6" name="Picture 5" descr="itto_11_6_v2.png"/>
          <p:cNvPicPr>
            <a:picLocks noChangeAspect="1"/>
          </p:cNvPicPr>
          <p:nvPr/>
        </p:nvPicPr>
        <p:blipFill>
          <a:blip r:embed="rId1"/>
          <a:stretch>
            <a:fillRect/>
          </a:stretch>
        </p:blipFill>
        <p:spPr>
          <a:xfrm>
            <a:off x="914400" y="1828800"/>
            <a:ext cx="7772400" cy="3825478"/>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(1)</a:t>
            </a:r>
          </a:p>
        </p:txBody>
      </p:sp>
      <p:sp>
        <p:nvSpPr>
          <p:cNvPr id="3" name="Content Placeholder 2"/>
          <p:cNvSpPr>
            <a:spLocks noGrp="1"/>
          </p:cNvSpPr>
          <p:nvPr>
            <p:ph idx="1"/>
          </p:nvPr>
        </p:nvSpPr>
        <p:spPr/>
        <p:txBody>
          <a:bodyPr wrap="square"/>
          <a:lstStyle/>
          <a:p>
            <a:pPr>
              <a:defRPr sz="1700"/>
            </a:pPr>
            <a:r>
              <a:t>11.6控制成本</a:t>
            </a:r>
          </a:p>
          <a:p>
            <a:pPr>
              <a:defRPr sz="1700"/>
            </a:pPr>
            <a:r>
              <a:t>控制成本是监督项目状态，以更新项目成本和管理成本基准变更的过程。本过程的主要作</a:t>
            </a:r>
          </a:p>
          <a:p>
            <a:pPr>
              <a:defRPr sz="1700"/>
            </a:pPr>
            <a:r>
              <a:t>用是在整个项目期间保持对成本基准的维护。本过程需要在整个项目期间开展。控制成本过程</a:t>
            </a:r>
          </a:p>
          <a:p>
            <a:pPr>
              <a:defRPr sz="1700"/>
            </a:pPr>
            <a:r>
              <a:t>的数据流向如图11-6所示。</a:t>
            </a:r>
          </a:p>
          <a:p>
            <a:pPr>
              <a:defRPr sz="1700"/>
            </a:pPr>
            <a:r>
              <a:t>规划成本</a:t>
            </a:r>
          </a:p>
          <a:p>
            <a:pPr>
              <a:defRPr sz="1700"/>
            </a:pPr>
            <a:r>
              <a:t>成本管理计划</a:t>
            </a:r>
          </a:p>
          <a:p>
            <a:pPr>
              <a:defRPr sz="1700"/>
            </a:pPr>
            <a:r>
              <a:t>成本管理计划（更新）</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pic>
        <p:nvPicPr>
          <p:cNvPr id="6" name="Picture 5" descr="fig_11_6.png"/>
          <p:cNvPicPr>
            <a:picLocks noChangeAspect="1"/>
          </p:cNvPicPr>
          <p:nvPr/>
        </p:nvPicPr>
        <p:blipFill>
          <a:blip r:embed="rId1"/>
          <a:stretch>
            <a:fillRect/>
          </a:stretch>
        </p:blipFill>
        <p:spPr>
          <a:xfrm>
            <a:off x="914400" y="3657600"/>
            <a:ext cx="6858000" cy="3375422"/>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(2)</a:t>
            </a:r>
          </a:p>
        </p:txBody>
      </p:sp>
      <p:sp>
        <p:nvSpPr>
          <p:cNvPr id="3" name="Content Placeholder 2"/>
          <p:cNvSpPr>
            <a:spLocks noGrp="1"/>
          </p:cNvSpPr>
          <p:nvPr>
            <p:ph idx="1"/>
          </p:nvPr>
        </p:nvSpPr>
        <p:spPr/>
        <p:txBody>
          <a:bodyPr wrap="square"/>
          <a:lstStyle/>
          <a:p>
            <a:pPr>
              <a:defRPr sz="1700"/>
            </a:pPr>
            <a:r>
              <a:t>管理</a:t>
            </a:r>
          </a:p>
          <a:p>
            <a:pPr>
              <a:defRPr sz="1700"/>
            </a:pPr>
            <a:r>
              <a:t>成本基准（更新）</a:t>
            </a:r>
          </a:p>
          <a:p>
            <a:pPr>
              <a:defRPr sz="1700"/>
            </a:pPr>
            <a:r>
              <a:t>项目管理</a:t>
            </a:r>
          </a:p>
          <a:p>
            <a:pPr>
              <a:defRPr sz="1700"/>
            </a:pPr>
            <a:r>
              <a:t>组织过程资产</a:t>
            </a:r>
          </a:p>
          <a:p>
            <a:pPr>
              <a:defRPr sz="1700"/>
            </a:pPr>
            <a:r>
              <a:t>成本基准</a:t>
            </a:r>
          </a:p>
          <a:p>
            <a:pPr>
              <a:defRPr sz="1700"/>
            </a:pPr>
            <a:r>
              <a:t>绩效测量基准（更新）</a:t>
            </a:r>
          </a:p>
          <a:p>
            <a:pPr>
              <a:defRPr sz="1700"/>
            </a:pPr>
            <a:r>
              <a:t>计划</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(3)</a:t>
            </a:r>
          </a:p>
        </p:txBody>
      </p:sp>
      <p:sp>
        <p:nvSpPr>
          <p:cNvPr id="3" name="Content Placeholder 2"/>
          <p:cNvSpPr>
            <a:spLocks noGrp="1"/>
          </p:cNvSpPr>
          <p:nvPr>
            <p:ph idx="1"/>
          </p:nvPr>
        </p:nvSpPr>
        <p:spPr/>
        <p:txBody>
          <a:bodyPr wrap="square"/>
          <a:lstStyle/>
          <a:p>
            <a:pPr>
              <a:defRPr sz="1700"/>
            </a:pPr>
            <a:r>
              <a:t>项目资金需求</a:t>
            </a:r>
          </a:p>
          <a:p>
            <a:pPr>
              <a:defRPr sz="1700"/>
            </a:pPr>
            <a:r>
              <a:t>制定预算</a:t>
            </a:r>
          </a:p>
          <a:p>
            <a:pPr>
              <a:defRPr sz="1700"/>
            </a:pPr>
            <a:r>
              <a:t>工作绩效信息</a:t>
            </a:r>
          </a:p>
          <a:p>
            <a:pPr>
              <a:defRPr sz="1700"/>
            </a:pPr>
            <a:r>
              <a:t>监控项目</a:t>
            </a:r>
          </a:p>
          <a:p>
            <a:pPr>
              <a:defRPr sz="1700"/>
            </a:pPr>
            <a:r>
              <a:t>工作</a:t>
            </a:r>
          </a:p>
          <a:p>
            <a:pPr>
              <a:defRPr sz="1700"/>
            </a:pPr>
            <a:r>
              <a:t>制订项目</a:t>
            </a:r>
          </a:p>
          <a:p>
            <a:pPr>
              <a:defRPr sz="1700"/>
            </a:pPr>
            <a:r>
              <a:t>绩效测量基准</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(4)</a:t>
            </a:r>
          </a:p>
        </p:txBody>
      </p:sp>
      <p:sp>
        <p:nvSpPr>
          <p:cNvPr id="3" name="Content Placeholder 2"/>
          <p:cNvSpPr>
            <a:spLocks noGrp="1"/>
          </p:cNvSpPr>
          <p:nvPr>
            <p:ph idx="1"/>
          </p:nvPr>
        </p:nvSpPr>
        <p:spPr/>
        <p:txBody>
          <a:bodyPr wrap="square"/>
          <a:lstStyle/>
          <a:p>
            <a:pPr>
              <a:defRPr sz="1700"/>
            </a:pPr>
            <a:r>
              <a:t>变更请求</a:t>
            </a:r>
          </a:p>
          <a:p>
            <a:pPr>
              <a:defRPr sz="1700"/>
            </a:pPr>
            <a:r>
              <a:t>实施整体</a:t>
            </a:r>
          </a:p>
          <a:p>
            <a:pPr>
              <a:defRPr sz="1700"/>
            </a:pPr>
            <a:r>
              <a:t>控制成本</a:t>
            </a:r>
          </a:p>
          <a:p>
            <a:pPr>
              <a:defRPr sz="1700"/>
            </a:pPr>
            <a:r>
              <a:t>管理计划</a:t>
            </a:r>
          </a:p>
          <a:p>
            <a:pPr>
              <a:defRPr sz="1700"/>
            </a:pPr>
            <a:r>
              <a:t>变更控制</a:t>
            </a:r>
          </a:p>
          <a:p>
            <a:pPr>
              <a:defRPr sz="1700"/>
            </a:pPr>
            <a:r>
              <a:t>成本预测</a:t>
            </a:r>
          </a:p>
          <a:p>
            <a:pPr>
              <a:defRPr sz="1700"/>
            </a:pPr>
            <a:r>
              <a:t>管理项目</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(5)</a:t>
            </a:r>
          </a:p>
        </p:txBody>
      </p:sp>
      <p:sp>
        <p:nvSpPr>
          <p:cNvPr id="3" name="Content Placeholder 2"/>
          <p:cNvSpPr>
            <a:spLocks noGrp="1"/>
          </p:cNvSpPr>
          <p:nvPr>
            <p:ph idx="1"/>
          </p:nvPr>
        </p:nvSpPr>
        <p:spPr/>
        <p:txBody>
          <a:bodyPr wrap="square"/>
          <a:lstStyle/>
          <a:p>
            <a:pPr>
              <a:defRPr sz="1700"/>
            </a:pPr>
            <a:r>
              <a:t>经验教训登记册</a:t>
            </a:r>
          </a:p>
          <a:p>
            <a:pPr>
              <a:defRPr sz="1700"/>
            </a:pPr>
            <a:r>
              <a:t>假设日志（更新）</a:t>
            </a:r>
          </a:p>
          <a:p>
            <a:pPr>
              <a:defRPr sz="1700"/>
            </a:pPr>
            <a:r>
              <a:t>知识</a:t>
            </a:r>
          </a:p>
          <a:p>
            <a:pPr>
              <a:defRPr sz="1700"/>
            </a:pPr>
            <a:r>
              <a:t>估算依据（更新）</a:t>
            </a:r>
          </a:p>
          <a:p>
            <a:pPr>
              <a:defRPr sz="1700"/>
            </a:pPr>
            <a:r>
              <a:t>项目文件</a:t>
            </a:r>
          </a:p>
          <a:p>
            <a:pPr>
              <a:defRPr sz="1700"/>
            </a:pPr>
            <a:r>
              <a:t>成本估算（更新）</a:t>
            </a:r>
          </a:p>
          <a:p>
            <a:pPr>
              <a:defRPr sz="1700"/>
            </a:pPr>
            <a:r>
              <a:t>指导与管理</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(6)</a:t>
            </a:r>
          </a:p>
        </p:txBody>
      </p:sp>
      <p:sp>
        <p:nvSpPr>
          <p:cNvPr id="3" name="Content Placeholder 2"/>
          <p:cNvSpPr>
            <a:spLocks noGrp="1"/>
          </p:cNvSpPr>
          <p:nvPr>
            <p:ph idx="1"/>
          </p:nvPr>
        </p:nvSpPr>
        <p:spPr/>
        <p:txBody>
          <a:bodyPr wrap="square"/>
          <a:lstStyle/>
          <a:p>
            <a:pPr>
              <a:defRPr sz="1700"/>
            </a:pPr>
            <a:r>
              <a:t>工作绩效数据</a:t>
            </a:r>
          </a:p>
          <a:p>
            <a:pPr>
              <a:defRPr sz="1700"/>
            </a:pPr>
            <a:r>
              <a:t>经验教训登记册（更新）</a:t>
            </a:r>
          </a:p>
          <a:p>
            <a:pPr>
              <a:defRPr sz="1700"/>
            </a:pPr>
            <a:r>
              <a:t>项目工作</a:t>
            </a:r>
          </a:p>
          <a:p>
            <a:pPr>
              <a:defRPr sz="1700"/>
            </a:pPr>
            <a:r>
              <a:t>风险登记册（更新）</a:t>
            </a:r>
          </a:p>
          <a:p>
            <a:pPr>
              <a:defRPr sz="1700"/>
            </a:pPr>
            <a:r>
              <a:t>图11-6控制成本过程的数据流向图</a:t>
            </a:r>
          </a:p>
          <a:p>
            <a:pPr>
              <a:defRPr sz="1700"/>
            </a:pPr>
            <a:r>
              <a:t>要更新预算，就需要了解截至目前的实际成本。只有经过实施整体变更控制过程的批准，</a:t>
            </a:r>
          </a:p>
          <a:p>
            <a:pPr>
              <a:defRPr sz="1700"/>
            </a:pPr>
            <a:r>
              <a:t>才可以增加预算。只监督资金的支出，而不考虑由这些支出所完成的工作的价值，对项目没有</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(7)</a:t>
            </a:r>
          </a:p>
        </p:txBody>
      </p:sp>
      <p:sp>
        <p:nvSpPr>
          <p:cNvPr id="3" name="Content Placeholder 2"/>
          <p:cNvSpPr>
            <a:spLocks noGrp="1"/>
          </p:cNvSpPr>
          <p:nvPr>
            <p:ph idx="1"/>
          </p:nvPr>
        </p:nvSpPr>
        <p:spPr/>
        <p:txBody>
          <a:bodyPr wrap="square"/>
          <a:lstStyle/>
          <a:p>
            <a:pPr>
              <a:defRPr sz="1700"/>
            </a:pPr>
            <a:r>
              <a:t>任何什么意义，最多只能算是跟踪资金流，因此在成本控制中，应重点分析项目资金支出与完</a:t>
            </a:r>
          </a:p>
          <a:p>
            <a:pPr>
              <a:defRPr sz="1700"/>
            </a:pPr>
            <a:r>
              <a:t>成的相应工作之间的关系，有效成本控制的关键在于管理经批准的成本基准。项目成本控制的目</a:t>
            </a:r>
          </a:p>
          <a:p>
            <a:pPr>
              <a:defRPr sz="1700"/>
            </a:pPr>
            <a:r>
              <a:t>标包括：①对造成成本基准变更的因素施加影响；②确保所有变更请求都得到及时处理；③当</a:t>
            </a:r>
          </a:p>
          <a:p>
            <a:pPr>
              <a:defRPr sz="1700"/>
            </a:pPr>
            <a:r>
              <a:t>变更实际发生时，管理这些变更；④确保成本支出不超过批准的资金限额，既不超出按时段、</a:t>
            </a:r>
          </a:p>
          <a:p>
            <a:pPr>
              <a:defRPr sz="1700"/>
            </a:pPr>
            <a:r>
              <a:t>WBS组件和活动分配的限额，也不超出项目总限额；5监督成本绩效，找出并分析与成本基准</a:t>
            </a:r>
          </a:p>
          <a:p>
            <a:pPr>
              <a:defRPr sz="1700"/>
            </a:pPr>
            <a:r>
              <a:t>间的偏差；③对照资金支出，监督工作绩效；防止在成本或资源使用报告中出现未经批准的</a:t>
            </a:r>
          </a:p>
          <a:p>
            <a:pPr>
              <a:defRPr sz="1700"/>
            </a:pPr>
            <a:r>
              <a:t>变更；⑧向干系人报告所有经批准的变更及其相关成本；9设法把预期的成本超支控制在可接</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挣值、计划价值和实际成本</a:t>
            </a:r>
          </a:p>
        </p:txBody>
      </p:sp>
      <p:sp>
        <p:nvSpPr>
          <p:cNvPr id="3" name="Content Placeholder 2"/>
          <p:cNvSpPr>
            <a:spLocks noGrp="1"/>
          </p:cNvSpPr>
          <p:nvPr>
            <p:ph idx="1"/>
          </p:nvPr>
        </p:nvSpPr>
        <p:spPr/>
        <p:txBody>
          <a:bodyPr wrap="square"/>
          <a:lstStyle/>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pic>
        <p:nvPicPr>
          <p:cNvPr id="6" name="Picture 5" descr="fig_11_7.png"/>
          <p:cNvPicPr>
            <a:picLocks noChangeAspect="1"/>
          </p:cNvPicPr>
          <p:nvPr/>
        </p:nvPicPr>
        <p:blipFill>
          <a:blip r:embed="rId1"/>
          <a:stretch>
            <a:fillRect/>
          </a:stretch>
        </p:blipFill>
        <p:spPr>
          <a:xfrm>
            <a:off x="914400" y="1828800"/>
            <a:ext cx="6858000" cy="3375422"/>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(8)</a:t>
            </a:r>
          </a:p>
        </p:txBody>
      </p:sp>
      <p:sp>
        <p:nvSpPr>
          <p:cNvPr id="3" name="Content Placeholder 2"/>
          <p:cNvSpPr>
            <a:spLocks noGrp="1"/>
          </p:cNvSpPr>
          <p:nvPr>
            <p:ph idx="1"/>
          </p:nvPr>
        </p:nvSpPr>
        <p:spPr/>
        <p:txBody>
          <a:bodyPr wrap="square"/>
          <a:lstStyle/>
          <a:p>
            <a:pPr>
              <a:defRPr sz="1700"/>
            </a:pPr>
            <a:r>
              <a:t>受的范围内等。</a:t>
            </a:r>
          </a:p>
          <a:p>
            <a:pPr>
              <a:defRPr sz="1700"/>
            </a:pPr>
            <a:r>
              <a:t>11.6.1输人</a:t>
            </a:r>
          </a:p>
          <a:p>
            <a:pPr>
              <a:defRPr sz="1700"/>
            </a:pPr>
            <a:r>
              <a:t>1.项目管理计划</a:t>
            </a:r>
          </a:p>
          <a:p>
            <a:pPr>
              <a:defRPr sz="1700"/>
            </a:pPr>
            <a:r>
              <a:t>用于控制成本的项目管理计划组件主要包括：</a:t>
            </a:r>
          </a:p>
          <a:p>
            <a:pPr lvl="1">
              <a:defRPr sz="1700"/>
            </a:pPr>
            <a:r>
              <a:t>成本管理计划：描述如何管理和控制项目成本。</a:t>
            </a:r>
          </a:p>
          <a:p>
            <a:pPr>
              <a:defRPr sz="1700"/>
            </a:pPr>
            <a:r>
              <a:t>成本基准：将成本基准与实际结果相比，以判断是否需要进行变更或采取纠正或预防</a:t>
            </a:r>
          </a:p>
          <a:p>
            <a:pPr>
              <a:defRPr sz="1700"/>
            </a:pPr>
            <a:r>
              <a:t>措施。</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(9)</a:t>
            </a:r>
          </a:p>
        </p:txBody>
      </p:sp>
      <p:sp>
        <p:nvSpPr>
          <p:cNvPr id="3" name="Content Placeholder 2"/>
          <p:cNvSpPr>
            <a:spLocks noGrp="1"/>
          </p:cNvSpPr>
          <p:nvPr>
            <p:ph idx="1"/>
          </p:nvPr>
        </p:nvSpPr>
        <p:spPr/>
        <p:txBody>
          <a:bodyPr wrap="square"/>
          <a:lstStyle/>
          <a:p>
            <a:pPr>
              <a:defRPr sz="1700"/>
            </a:pPr>
            <a:r>
              <a:t>绩效测量基准：使用挣值分析时，将绩效测量基准与实际结果比较，以决定是否有必要</a:t>
            </a:r>
          </a:p>
          <a:p>
            <a:pPr>
              <a:defRPr sz="1700"/>
            </a:pPr>
            <a:r>
              <a:t>进行变更、采取纠正措施或预防措施。</a:t>
            </a:r>
          </a:p>
          <a:p>
            <a:pPr>
              <a:defRPr sz="1700"/>
            </a:pPr>
            <a:r>
              <a:t>350</a:t>
            </a:r>
          </a:p>
          <a:p>
            <a:pPr>
              <a:defRPr sz="1700"/>
            </a:pPr>
            <a:r>
              <a:t>2.项目资金需求</a:t>
            </a:r>
          </a:p>
          <a:p>
            <a:pPr>
              <a:defRPr sz="1700"/>
            </a:pPr>
            <a:r>
              <a:t>项目资金需求包括预计支出及预计债务。</a:t>
            </a:r>
          </a:p>
          <a:p>
            <a:pPr>
              <a:defRPr sz="1700"/>
            </a:pPr>
            <a:r>
              <a:t>3.项目文件</a:t>
            </a:r>
          </a:p>
          <a:p>
            <a:pPr>
              <a:defRPr sz="1700"/>
            </a:pPr>
            <a:r>
              <a:t>可作为控制成本过程输入的项目文件是经验教训登记册，在项目早期获得的经验教训可以</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表11-2挣值计算汇总表 (1)</a:t>
            </a:r>
          </a:p>
        </p:txBody>
      </p:sp>
      <p:sp>
        <p:nvSpPr>
          <p:cNvPr id="3" name="Content Placeholder 2"/>
          <p:cNvSpPr>
            <a:spLocks noGrp="1"/>
          </p:cNvSpPr>
          <p:nvPr>
            <p:ph idx="1"/>
          </p:nvPr>
        </p:nvSpPr>
        <p:spPr/>
        <p:txBody>
          <a:bodyPr wrap="square"/>
          <a:lstStyle/>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pic>
        <p:nvPicPr>
          <p:cNvPr id="6" name="Picture 5" descr="evm_table_p1.png"/>
          <p:cNvPicPr>
            <a:picLocks noChangeAspect="1"/>
          </p:cNvPicPr>
          <p:nvPr/>
        </p:nvPicPr>
        <p:blipFill>
          <a:blip r:embed="rId1"/>
          <a:stretch>
            <a:fillRect/>
          </a:stretch>
        </p:blipFill>
        <p:spPr>
          <a:xfrm>
            <a:off x="914400" y="1828800"/>
            <a:ext cx="8229600" cy="4050506"/>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表11-2挣值计算汇总表 (2)</a:t>
            </a:r>
          </a:p>
        </p:txBody>
      </p:sp>
      <p:sp>
        <p:nvSpPr>
          <p:cNvPr id="3" name="Content Placeholder 2"/>
          <p:cNvSpPr>
            <a:spLocks noGrp="1"/>
          </p:cNvSpPr>
          <p:nvPr>
            <p:ph idx="1"/>
          </p:nvPr>
        </p:nvSpPr>
        <p:spPr/>
        <p:txBody>
          <a:bodyPr wrap="square"/>
          <a:lstStyle/>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pic>
        <p:nvPicPr>
          <p:cNvPr id="6" name="Picture 5" descr="evm_table_p2.png"/>
          <p:cNvPicPr>
            <a:picLocks noChangeAspect="1"/>
          </p:cNvPicPr>
          <p:nvPr/>
        </p:nvPicPr>
        <p:blipFill>
          <a:blip r:embed="rId1"/>
          <a:stretch>
            <a:fillRect/>
          </a:stretch>
        </p:blipFill>
        <p:spPr>
          <a:xfrm>
            <a:off x="914400" y="1828800"/>
            <a:ext cx="8229600" cy="4050506"/>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(10)</a:t>
            </a:r>
          </a:p>
        </p:txBody>
      </p:sp>
      <p:sp>
        <p:nvSpPr>
          <p:cNvPr id="3" name="Content Placeholder 2"/>
          <p:cNvSpPr>
            <a:spLocks noGrp="1"/>
          </p:cNvSpPr>
          <p:nvPr>
            <p:ph idx="1"/>
          </p:nvPr>
        </p:nvSpPr>
        <p:spPr/>
        <p:txBody>
          <a:bodyPr wrap="square"/>
          <a:lstStyle/>
          <a:p>
            <a:pPr>
              <a:defRPr sz="1700"/>
            </a:pPr>
            <a:r>
              <a:t>运用到后期阶段，以改进成本控制。</a:t>
            </a:r>
          </a:p>
          <a:p>
            <a:pPr>
              <a:defRPr sz="1700"/>
            </a:pPr>
            <a:r>
              <a:t>4.工作绩效数据</a:t>
            </a:r>
          </a:p>
          <a:p>
            <a:pPr>
              <a:defRPr sz="1700"/>
            </a:pPr>
            <a:r>
              <a:t>工作绩效数据包含项目状态的数据，例如哪些成本已批准、发生、支付和开具发票。</a:t>
            </a:r>
          </a:p>
          <a:p>
            <a:pPr>
              <a:defRPr sz="1700"/>
            </a:pPr>
            <a:r>
              <a:t>5.组织过程资产</a:t>
            </a:r>
          </a:p>
          <a:p>
            <a:pPr>
              <a:defRPr sz="1700"/>
            </a:pPr>
            <a:r>
              <a:t>会影响控制成本过程的组织过程资产主要包括：现有的正式和非正式的与成本控制相关的</a:t>
            </a:r>
          </a:p>
          <a:p>
            <a:pPr>
              <a:defRPr sz="1700"/>
            </a:pPr>
            <a:r>
              <a:t>政策、程序和指南；成本控制工具；可用的监督和报告方法等。</a:t>
            </a:r>
          </a:p>
          <a:p>
            <a:pPr>
              <a:defRPr sz="1700"/>
            </a:pPr>
            <a:r>
              <a:t>11.6.2工具与技术</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(11)</a:t>
            </a:r>
          </a:p>
        </p:txBody>
      </p:sp>
      <p:sp>
        <p:nvSpPr>
          <p:cNvPr id="3" name="Content Placeholder 2"/>
          <p:cNvSpPr>
            <a:spLocks noGrp="1"/>
          </p:cNvSpPr>
          <p:nvPr>
            <p:ph idx="1"/>
          </p:nvPr>
        </p:nvSpPr>
        <p:spPr/>
        <p:txBody>
          <a:bodyPr wrap="square"/>
          <a:lstStyle/>
          <a:p>
            <a:pPr>
              <a:defRPr sz="1700"/>
            </a:pPr>
            <a:r>
              <a:t>1.专家判断</a:t>
            </a:r>
          </a:p>
          <a:p>
            <a:pPr>
              <a:defRPr sz="1700"/>
            </a:pPr>
            <a:r>
              <a:t>在项目中对成本进行控制时，应征求具备以下专业知识或接受过相关培训的个人或小组的</a:t>
            </a:r>
          </a:p>
          <a:p>
            <a:pPr>
              <a:defRPr sz="1700"/>
            </a:pPr>
            <a:r>
              <a:t>意见：偏差分析、挣值分析、预测、财务分析等。</a:t>
            </a:r>
          </a:p>
          <a:p>
            <a:pPr>
              <a:defRPr sz="1700"/>
            </a:pPr>
            <a:r>
              <a:t>2.数据分析</a:t>
            </a:r>
          </a:p>
          <a:p>
            <a:pPr>
              <a:defRPr sz="1700"/>
            </a:pPr>
            <a:r>
              <a:t>适用于控制成本过程的数据分析技术主要包括：</a:t>
            </a:r>
          </a:p>
          <a:p>
            <a:pPr>
              <a:defRPr sz="1700"/>
            </a:pPr>
            <a:r>
              <a:t>（1）挣值分析（EVA）。挣值分析将实际进度和成本绩效与绩效测量基准进行比较。挣值分</a:t>
            </a:r>
          </a:p>
          <a:p>
            <a:pPr>
              <a:defRPr sz="1700"/>
            </a:pPr>
            <a:r>
              <a:t>析把范围基准、成本基准和进度基准整合起来，形成绩效测量基准。它针对每个工作包和控制</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(12)</a:t>
            </a:r>
          </a:p>
        </p:txBody>
      </p:sp>
      <p:sp>
        <p:nvSpPr>
          <p:cNvPr id="3" name="Content Placeholder 2"/>
          <p:cNvSpPr>
            <a:spLocks noGrp="1"/>
          </p:cNvSpPr>
          <p:nvPr>
            <p:ph idx="1"/>
          </p:nvPr>
        </p:nvSpPr>
        <p:spPr/>
        <p:txBody>
          <a:bodyPr wrap="square"/>
          <a:lstStyle/>
          <a:p>
            <a:pPr>
              <a:defRPr sz="1700"/>
            </a:pPr>
            <a:r>
              <a:t>账户，计算并监测以下三个关键指标。</a:t>
            </a:r>
          </a:p>
          <a:p>
            <a:pPr lvl="1">
              <a:defRPr sz="1700"/>
            </a:pPr>
            <a:r>
              <a:t>计划价值（PV）：是为计划工作分配的经批准的预算，它是为完成某活动或WBS组成</a:t>
            </a:r>
          </a:p>
          <a:p>
            <a:pPr>
              <a:defRPr sz="1700"/>
            </a:pPr>
            <a:r>
              <a:t>部分而准备的一份经批准的预算，不包括管理储备。应该把预算分配至项目生命周期的</a:t>
            </a:r>
          </a:p>
          <a:p>
            <a:pPr>
              <a:defRPr sz="1700"/>
            </a:pPr>
            <a:r>
              <a:t>各个阶段；在某个给定的时间点，计划价值代表着应该已经完成的工作。PV的总和有</a:t>
            </a:r>
          </a:p>
          <a:p>
            <a:pPr>
              <a:defRPr sz="1700"/>
            </a:pPr>
            <a:r>
              <a:t>时被称为绩效测量基准（PMB），项目的总计划价值又被称为完工预算（BAC）。</a:t>
            </a:r>
          </a:p>
          <a:p>
            <a:pPr>
              <a:defRPr sz="1700"/>
            </a:pPr>
            <a:r>
              <a:t>挣值（EV）：是对已完成工作的测量值，用该工作的批准预算来表示，是已完成工作</a:t>
            </a:r>
          </a:p>
          <a:p>
            <a:pPr>
              <a:defRPr sz="1700"/>
            </a:pPr>
            <a:r>
              <a:t>的经批准的预算。EV的计算应该与PMB相对应，且所得的EV值不得大于相应组件的PV</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(13)</a:t>
            </a:r>
          </a:p>
        </p:txBody>
      </p:sp>
      <p:sp>
        <p:nvSpPr>
          <p:cNvPr id="3" name="Content Placeholder 2"/>
          <p:cNvSpPr>
            <a:spLocks noGrp="1"/>
          </p:cNvSpPr>
          <p:nvPr>
            <p:ph idx="1"/>
          </p:nvPr>
        </p:nvSpPr>
        <p:spPr/>
        <p:txBody>
          <a:bodyPr wrap="square"/>
          <a:lstStyle/>
          <a:p>
            <a:pPr>
              <a:defRPr sz="1700"/>
            </a:pPr>
            <a:r>
              <a:t>总预算。EV常用于计算项目的完成百分比，应该为每个WBS组件规定进展测量准则，</a:t>
            </a:r>
          </a:p>
          <a:p>
            <a:pPr>
              <a:defRPr sz="1700"/>
            </a:pPr>
            <a:r>
              <a:t>用于考核正在实施的工作。项目经理既要监测EV的增量，以判断当前的状态，又要监</a:t>
            </a:r>
          </a:p>
          <a:p>
            <a:pPr>
              <a:defRPr sz="1700"/>
            </a:pPr>
            <a:r>
              <a:t>测EV的累计值，以判断长期的绩效趋势。</a:t>
            </a:r>
          </a:p>
          <a:p>
            <a:pPr lvl="1">
              <a:defRPr sz="1700"/>
            </a:pPr>
            <a:r>
              <a:t>实际成本（AC）：是在给定时段内执行某活动而实际发生的成本，是为完成与EV相对</a:t>
            </a:r>
          </a:p>
          <a:p>
            <a:pPr>
              <a:defRPr sz="1700"/>
            </a:pPr>
            <a:r>
              <a:t>应的工作而发生的总成本。AC的计算方法必须与PV和EV的计算方法保持一致（例如，</a:t>
            </a:r>
          </a:p>
          <a:p>
            <a:pPr>
              <a:defRPr sz="1700"/>
            </a:pPr>
            <a:r>
              <a:t>都只计算直接小时数、直接成本或包含间接成本在内的全部成本）。AC没有上限，为</a:t>
            </a:r>
          </a:p>
          <a:p>
            <a:pPr>
              <a:defRPr sz="1700"/>
            </a:pPr>
            <a:r>
              <a:t>实现EV所花费的任何成本都要计算进去。</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(14)</a:t>
            </a:r>
          </a:p>
        </p:txBody>
      </p:sp>
      <p:sp>
        <p:nvSpPr>
          <p:cNvPr id="3" name="Content Placeholder 2"/>
          <p:cNvSpPr>
            <a:spLocks noGrp="1"/>
          </p:cNvSpPr>
          <p:nvPr>
            <p:ph idx="1"/>
          </p:nvPr>
        </p:nvSpPr>
        <p:spPr/>
        <p:txBody>
          <a:bodyPr wrap="square"/>
          <a:lstStyle/>
          <a:p>
            <a:pPr>
              <a:defRPr sz="1700"/>
            </a:pPr>
            <a:r>
              <a:t>第11章项目成本管理</a:t>
            </a:r>
          </a:p>
          <a:p>
            <a:pPr>
              <a:defRPr sz="1700"/>
            </a:pPr>
            <a:r>
              <a:t>351</a:t>
            </a:r>
          </a:p>
          <a:p>
            <a:pPr>
              <a:defRPr sz="1700"/>
            </a:pPr>
            <a:r>
              <a:t>（2）偏差分析。在EVM中，偏差分析用以解释成本偏差（CV=EV-AC）、进度偏差</a:t>
            </a:r>
          </a:p>
          <a:p>
            <a:pPr>
              <a:defRPr sz="1700"/>
            </a:pPr>
            <a:r>
              <a:t>（SV=EV-PV）和完工偏差（VAC=BAC-EAC）的原因、影响和纠正措施，成本和进度偏差是最</a:t>
            </a:r>
          </a:p>
          <a:p>
            <a:pPr>
              <a:defRPr sz="1700"/>
            </a:pPr>
            <a:r>
              <a:t>需要分析的两种偏差。对于不使用正规挣值分析的项目，可开展类似的偏差分析，通过比较计</a:t>
            </a:r>
          </a:p>
          <a:p>
            <a:pPr>
              <a:defRPr sz="1700"/>
            </a:pPr>
            <a:r>
              <a:t>划成本和实际成本，来识别成本基准与实际项目绩效之间的差异；然后可以实施进一步的分析，</a:t>
            </a:r>
          </a:p>
          <a:p>
            <a:pPr>
              <a:defRPr sz="1700"/>
            </a:pPr>
            <a:r>
              <a:t>以判定偏离进度基准的原因和程度，并决定是否需要采取纠正或预防措施。可通过成本绩效测</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(15)</a:t>
            </a:r>
          </a:p>
        </p:txBody>
      </p:sp>
      <p:sp>
        <p:nvSpPr>
          <p:cNvPr id="3" name="Content Placeholder 2"/>
          <p:cNvSpPr>
            <a:spLocks noGrp="1"/>
          </p:cNvSpPr>
          <p:nvPr>
            <p:ph idx="1"/>
          </p:nvPr>
        </p:nvSpPr>
        <p:spPr/>
        <p:txBody>
          <a:bodyPr wrap="square"/>
          <a:lstStyle/>
          <a:p>
            <a:pPr>
              <a:defRPr sz="1700"/>
            </a:pPr>
            <a:r>
              <a:t>量来评价偏离原始成本基准的程度。项目成本控制的重要工作包括：判定偏离成本基准的原因</a:t>
            </a:r>
          </a:p>
          <a:p>
            <a:pPr>
              <a:defRPr sz="1700"/>
            </a:pPr>
            <a:r>
              <a:t>和程度，并决定是否需要采取纠正或预防措施，随着项目工作的逐步完成，偏差的可接受范围</a:t>
            </a:r>
          </a:p>
          <a:p>
            <a:pPr>
              <a:defRPr sz="1700"/>
            </a:pPr>
            <a:r>
              <a:t>（常用百分比表示）将逐步缩小。</a:t>
            </a:r>
          </a:p>
          <a:p>
            <a:pPr lvl="1">
              <a:defRPr sz="1700"/>
            </a:pPr>
            <a:r>
              <a:t>进度偏差（SV）：是测量进度绩效的一种指标，表示为挣值与计划价值之差。它是指在</a:t>
            </a:r>
          </a:p>
          <a:p>
            <a:pPr>
              <a:defRPr sz="1700"/>
            </a:pPr>
            <a:r>
              <a:t>某个给定的时点，项目提前或落后的进度，它是测量项目进度绩效的一种指标，等于挣</a:t>
            </a:r>
          </a:p>
          <a:p>
            <a:pPr>
              <a:defRPr sz="1700"/>
            </a:pPr>
            <a:r>
              <a:t>值（EV）减去计划价值（PV）。进度偏差是一种有用的指标，可表明项目进度是落后</a:t>
            </a:r>
          </a:p>
          <a:p>
            <a:pPr>
              <a:defRPr sz="1700"/>
            </a:pPr>
            <a:r>
              <a:t>还是提前于进度基准。当项目完工时，全部的计划价值都将实现（即成为挣值），进度</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(16)</a:t>
            </a:r>
          </a:p>
        </p:txBody>
      </p:sp>
      <p:sp>
        <p:nvSpPr>
          <p:cNvPr id="3" name="Content Placeholder 2"/>
          <p:cNvSpPr>
            <a:spLocks noGrp="1"/>
          </p:cNvSpPr>
          <p:nvPr>
            <p:ph idx="1"/>
          </p:nvPr>
        </p:nvSpPr>
        <p:spPr/>
        <p:txBody>
          <a:bodyPr wrap="square"/>
          <a:lstStyle/>
          <a:p>
            <a:pPr>
              <a:defRPr sz="1700"/>
            </a:pPr>
            <a:r>
              <a:t>偏差最终将等于零。最好把进度偏差与关键路径法和风险管理一起使用。进度偏差计算</a:t>
            </a:r>
          </a:p>
          <a:p>
            <a:pPr>
              <a:defRPr sz="1700"/>
            </a:pPr>
            <a:r>
              <a:t>公式：SV=EV-PV。</a:t>
            </a:r>
          </a:p>
          <a:p>
            <a:pPr>
              <a:defRPr sz="1700"/>
            </a:pPr>
            <a:r>
              <a:t>）成本偏差（CV）：是在某个给定时点的预算亏空或盈余量，表示为挣值与实际成本之</a:t>
            </a:r>
          </a:p>
          <a:p>
            <a:pPr>
              <a:defRPr sz="1700"/>
            </a:pPr>
            <a:r>
              <a:t>差。它是测量项目成本绩效的一种指标，等于挣值（EV）减去实际成本（AC）。项目</a:t>
            </a:r>
          </a:p>
          <a:p>
            <a:pPr>
              <a:defRPr sz="1700"/>
            </a:pPr>
            <a:r>
              <a:t>结束时的成本偏差，就是完工预算（BAC）与实际成本之间的差值。由于成本偏差指明</a:t>
            </a:r>
          </a:p>
          <a:p>
            <a:pPr>
              <a:defRPr sz="1700"/>
            </a:pPr>
            <a:r>
              <a:t>了实际绩效与成本支出之间的关系，所以非常重要。CV为负值一般都是不可挽回的。</a:t>
            </a:r>
          </a:p>
          <a:p>
            <a:pPr>
              <a:defRPr sz="1700"/>
            </a:pPr>
            <a:r>
              <a:t>成本偏差计算公式：CV=EV-AC。</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(17)</a:t>
            </a:r>
          </a:p>
        </p:txBody>
      </p:sp>
      <p:sp>
        <p:nvSpPr>
          <p:cNvPr id="3" name="Content Placeholder 2"/>
          <p:cNvSpPr>
            <a:spLocks noGrp="1"/>
          </p:cNvSpPr>
          <p:nvPr>
            <p:ph idx="1"/>
          </p:nvPr>
        </p:nvSpPr>
        <p:spPr/>
        <p:txBody>
          <a:bodyPr wrap="square"/>
          <a:lstStyle/>
          <a:p>
            <a:pPr lvl="1">
              <a:defRPr sz="1700"/>
            </a:pPr>
            <a:r>
              <a:t>进度绩效指数（SPI）：是测量进度效率的一种指标，表示为挣值与计划价值之比，反</a:t>
            </a:r>
          </a:p>
          <a:p>
            <a:pPr>
              <a:defRPr sz="1700"/>
            </a:pPr>
            <a:r>
              <a:t>映了项目团队完成工作的效率。有时与成本绩效指数（CPI）一起使用，以预测项目的</a:t>
            </a:r>
          </a:p>
          <a:p>
            <a:pPr>
              <a:defRPr sz="1700"/>
            </a:pPr>
            <a:r>
              <a:t>最终完工估算。当SPI小于1.0时，说明已完成的工作量未达到计划要求；当SPI大于1.0</a:t>
            </a:r>
          </a:p>
          <a:p>
            <a:pPr>
              <a:defRPr sz="1700"/>
            </a:pPr>
            <a:r>
              <a:t>时，则说明已完成的工作量超过计划。由于SPI测量的是项目的总工作量，所以还需要</a:t>
            </a:r>
          </a:p>
          <a:p>
            <a:pPr>
              <a:defRPr sz="1700"/>
            </a:pPr>
            <a:r>
              <a:t>对关键路径上的绩效进行单独分析，以确认项目是否将比计划完成日期提前或推迟完</a:t>
            </a:r>
          </a:p>
          <a:p>
            <a:pPr>
              <a:defRPr sz="1700"/>
            </a:pPr>
            <a:r>
              <a:t>工。进度绩效指数计算公式：SPI=EV/PV。</a:t>
            </a:r>
          </a:p>
          <a:p>
            <a:pPr lvl="1">
              <a:defRPr sz="1700"/>
            </a:pPr>
            <a:r>
              <a:t>成本绩效指数（CPI）：是测量预算资源的成本效率的一种指标，表示为挣值与实际成</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(18)</a:t>
            </a:r>
          </a:p>
        </p:txBody>
      </p:sp>
      <p:sp>
        <p:nvSpPr>
          <p:cNvPr id="3" name="Content Placeholder 2"/>
          <p:cNvSpPr>
            <a:spLocks noGrp="1"/>
          </p:cNvSpPr>
          <p:nvPr>
            <p:ph idx="1"/>
          </p:nvPr>
        </p:nvSpPr>
        <p:spPr/>
        <p:txBody>
          <a:bodyPr wrap="square"/>
          <a:lstStyle/>
          <a:p>
            <a:pPr>
              <a:defRPr sz="1700"/>
            </a:pPr>
            <a:r>
              <a:t>本之比。它是最关键的挣值分析指标，用来测量已完成工作的成本效率。当CPI小于1.0</a:t>
            </a:r>
          </a:p>
          <a:p>
            <a:pPr>
              <a:defRPr sz="1700"/>
            </a:pPr>
            <a:r>
              <a:t>时，说明已完成工作的成本超支；当CPI大于1.0时，则说明到目前为止成本有结余。成</a:t>
            </a:r>
          </a:p>
          <a:p>
            <a:pPr>
              <a:defRPr sz="1700"/>
            </a:pPr>
            <a:r>
              <a:t>本绩效指数公式：CPI=EV/AC。</a:t>
            </a:r>
          </a:p>
          <a:p>
            <a:pPr>
              <a:defRPr sz="1700"/>
            </a:pPr>
            <a:r>
              <a:t>（3）趋势分析。趋势分析旨在审查项目绩效随时间的变化情况，以判断绩效是正在改善还</a:t>
            </a:r>
          </a:p>
          <a:p>
            <a:pPr>
              <a:defRPr sz="1700"/>
            </a:pPr>
            <a:r>
              <a:t>是正在恶化。图形分析技术有助于了解截至目前的绩效情况，并把发展趋势与未来的绩效目标</a:t>
            </a:r>
          </a:p>
          <a:p>
            <a:pPr>
              <a:defRPr sz="1700"/>
            </a:pPr>
            <a:r>
              <a:t>进行比较，如BAC与EAC、预测完工日期与计划完工日期的比较。趋势分析技术包括：</a:t>
            </a:r>
          </a:p>
          <a:p>
            <a:pPr lvl="1">
              <a:defRPr sz="1700"/>
            </a:pPr>
            <a:r>
              <a:t>图表：在挣值分析中，对计划价值、挣值和实际成本这三个参数，既可以分阶段（通常</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(19)</a:t>
            </a:r>
          </a:p>
        </p:txBody>
      </p:sp>
      <p:sp>
        <p:nvSpPr>
          <p:cNvPr id="3" name="Content Placeholder 2"/>
          <p:cNvSpPr>
            <a:spLocks noGrp="1"/>
          </p:cNvSpPr>
          <p:nvPr>
            <p:ph idx="1"/>
          </p:nvPr>
        </p:nvSpPr>
        <p:spPr/>
        <p:txBody>
          <a:bodyPr wrap="square"/>
          <a:lstStyle/>
          <a:p>
            <a:pPr>
              <a:defRPr sz="1700"/>
            </a:pPr>
            <a:r>
              <a:t>以周或月为单位）进行监督和报告，也可针对累计值进行监督和报告。如图11-7所示，</a:t>
            </a:r>
          </a:p>
          <a:p>
            <a:pPr>
              <a:defRPr sz="1700"/>
            </a:pPr>
            <a:r>
              <a:t>以S曲线展示了某个项目EV数据，该项目预算超支且进度落后。</a:t>
            </a:r>
          </a:p>
          <a:p>
            <a:pPr>
              <a:defRPr sz="1700"/>
            </a:pPr>
            <a:r>
              <a:t>352</a:t>
            </a:r>
          </a:p>
          <a:p>
            <a:pPr>
              <a:defRPr sz="1700"/>
            </a:pPr>
            <a:r>
              <a:t>项目预算</a:t>
            </a:r>
          </a:p>
          <a:p>
            <a:pPr>
              <a:defRPr sz="1700"/>
            </a:pPr>
            <a:r>
              <a:t>管理储备</a:t>
            </a:r>
          </a:p>
          <a:p>
            <a:pPr>
              <a:defRPr sz="1700"/>
            </a:pPr>
            <a:r>
              <a:t>估算</a:t>
            </a:r>
          </a:p>
          <a:p>
            <a:pPr>
              <a:defRPr sz="1700"/>
            </a:pPr>
            <a:r>
              <a:t>完工尚</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(20)</a:t>
            </a:r>
          </a:p>
        </p:txBody>
      </p:sp>
      <p:sp>
        <p:nvSpPr>
          <p:cNvPr id="3" name="Content Placeholder 2"/>
          <p:cNvSpPr>
            <a:spLocks noGrp="1"/>
          </p:cNvSpPr>
          <p:nvPr>
            <p:ph idx="1"/>
          </p:nvPr>
        </p:nvSpPr>
        <p:spPr/>
        <p:txBody>
          <a:bodyPr wrap="square"/>
          <a:lstStyle/>
          <a:p>
            <a:pPr>
              <a:defRPr sz="1700"/>
            </a:pPr>
            <a:r>
              <a:t>完工</a:t>
            </a:r>
          </a:p>
          <a:p>
            <a:pPr>
              <a:defRPr sz="1700"/>
            </a:pPr>
            <a:r>
              <a:t>需估算</a:t>
            </a:r>
          </a:p>
          <a:p>
            <a:pPr>
              <a:defRPr sz="1700"/>
            </a:pPr>
            <a:r>
              <a:t>预算：</a:t>
            </a:r>
          </a:p>
          <a:p>
            <a:pPr>
              <a:defRPr sz="1700"/>
            </a:pPr>
            <a:r>
              <a:t>计划价值</a:t>
            </a:r>
          </a:p>
          <a:p>
            <a:pPr>
              <a:defRPr sz="1700"/>
            </a:pPr>
            <a:r>
              <a:t>累计成本</a:t>
            </a:r>
          </a:p>
          <a:p>
            <a:pPr>
              <a:defRPr sz="1700"/>
            </a:pPr>
            <a:r>
              <a:t>实际成本</a:t>
            </a:r>
          </a:p>
          <a:p>
            <a:pPr>
              <a:defRPr sz="1700"/>
            </a:pPr>
            <a:r>
              <a:t>挣值</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(21)</a:t>
            </a:r>
          </a:p>
        </p:txBody>
      </p:sp>
      <p:sp>
        <p:nvSpPr>
          <p:cNvPr id="3" name="Content Placeholder 2"/>
          <p:cNvSpPr>
            <a:spLocks noGrp="1"/>
          </p:cNvSpPr>
          <p:nvPr>
            <p:ph idx="1"/>
          </p:nvPr>
        </p:nvSpPr>
        <p:spPr/>
        <p:txBody>
          <a:bodyPr wrap="square"/>
          <a:lstStyle/>
          <a:p>
            <a:pPr>
              <a:defRPr sz="1700"/>
            </a:pPr>
            <a:r>
              <a:t>数据日期</a:t>
            </a:r>
          </a:p>
          <a:p>
            <a:pPr>
              <a:defRPr sz="1700"/>
            </a:pPr>
            <a:r>
              <a:t>时间</a:t>
            </a:r>
          </a:p>
          <a:p>
            <a:pPr>
              <a:defRPr sz="1700"/>
            </a:pPr>
            <a:r>
              <a:t>图11-7挣值、计划价值和实际成本</a:t>
            </a:r>
          </a:p>
          <a:p>
            <a:pPr>
              <a:defRPr sz="1700"/>
            </a:pPr>
            <a:r>
              <a:t>）预测：随着项目进展，项目团队可根据项目绩效，对完工估算（EAC）进行预测，预测</a:t>
            </a:r>
          </a:p>
          <a:p>
            <a:pPr>
              <a:defRPr sz="1700"/>
            </a:pPr>
            <a:r>
              <a:t>的结果可能与完工预算（BAC）存在差异。如果BAC已明显不再可行，则项目经理应考</a:t>
            </a:r>
          </a:p>
          <a:p>
            <a:pPr>
              <a:defRPr sz="1700"/>
            </a:pPr>
            <a:r>
              <a:t>虑对EAC进行预测。预测EAC是根据当前掌握的绩效信息和其他知识，预计项目未来的</a:t>
            </a:r>
          </a:p>
          <a:p>
            <a:pPr>
              <a:defRPr sz="1700"/>
            </a:pPr>
            <a:r>
              <a:t>情况和事件。预测要根据项目执行过程中所提供的工作绩效数据来产生、更新和重新发</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(22)</a:t>
            </a:r>
          </a:p>
        </p:txBody>
      </p:sp>
      <p:sp>
        <p:nvSpPr>
          <p:cNvPr id="3" name="Content Placeholder 2"/>
          <p:cNvSpPr>
            <a:spLocks noGrp="1"/>
          </p:cNvSpPr>
          <p:nvPr>
            <p:ph idx="1"/>
          </p:nvPr>
        </p:nvSpPr>
        <p:spPr/>
        <p:txBody>
          <a:bodyPr wrap="square"/>
          <a:lstStyle/>
          <a:p>
            <a:pPr>
              <a:defRPr sz="1700"/>
            </a:pPr>
            <a:r>
              <a:t>布。工作绩效信息包含项目过去的绩效，以及可能在未来对项目产生影响的任何信息。</a:t>
            </a:r>
          </a:p>
          <a:p>
            <a:pPr>
              <a:defRPr sz="1700"/>
            </a:pPr>
            <a:r>
              <a:t>在计算EAC时，通常用已完成工作的实际成本，加上剩余工作的完工尚需估算（ETC）。</a:t>
            </a:r>
          </a:p>
          <a:p>
            <a:pPr>
              <a:defRPr sz="1700"/>
            </a:pPr>
            <a:r>
              <a:t>项目团队要根据已有的经验，考虑实施ETC工作可能遇到的各种情况。把挣值分析与手工预测</a:t>
            </a:r>
          </a:p>
          <a:p>
            <a:pPr>
              <a:defRPr sz="1700"/>
            </a:pPr>
            <a:r>
              <a:t>EAC方法联合起来使用，效果会更佳。由项目经理和项目团队手工进行的自下而上汇总方法，</a:t>
            </a:r>
          </a:p>
          <a:p>
            <a:pPr>
              <a:defRPr sz="1700"/>
            </a:pPr>
            <a:r>
              <a:t>就是一种最普通的EAC预测方法。</a:t>
            </a:r>
          </a:p>
          <a:p>
            <a:pPr>
              <a:defRPr sz="1700"/>
            </a:pPr>
            <a:r>
              <a:t>项目经理所进行的自下而上的EAC估算，就是以已完成工作的实际成本为基础，并根据已</a:t>
            </a:r>
          </a:p>
          <a:p>
            <a:pPr>
              <a:defRPr sz="1700"/>
            </a:pPr>
            <a:r>
              <a:t>积累的经验来为剩余项目工作编制一个新估算。公式：EAC=AC+自下而上的ETC。</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(23)</a:t>
            </a:r>
          </a:p>
        </p:txBody>
      </p:sp>
      <p:sp>
        <p:nvSpPr>
          <p:cNvPr id="3" name="Content Placeholder 2"/>
          <p:cNvSpPr>
            <a:spLocks noGrp="1"/>
          </p:cNvSpPr>
          <p:nvPr>
            <p:ph idx="1"/>
          </p:nvPr>
        </p:nvSpPr>
        <p:spPr/>
        <p:txBody>
          <a:bodyPr wrap="square"/>
          <a:lstStyle/>
          <a:p>
            <a:pPr>
              <a:defRPr sz="1700"/>
            </a:pPr>
            <a:r>
              <a:t>可以很方便地把项目经理手工估算的EAC与计算得出的一系列EAC做比较，这些计算得</a:t>
            </a:r>
          </a:p>
          <a:p>
            <a:pPr>
              <a:defRPr sz="1700"/>
            </a:pPr>
            <a:r>
              <a:t>出的EAC代表了不同的风险情景。在计算EAC值时，经常会使用累计CPI和累计SPI值。尽</a:t>
            </a:r>
          </a:p>
          <a:p>
            <a:pPr>
              <a:defRPr sz="1700"/>
            </a:pPr>
            <a:r>
              <a:t>管可以用许多方法来计算基于EVM数据的EAC值，但下面只介绍最常用的三种方法：①假设</a:t>
            </a:r>
          </a:p>
          <a:p>
            <a:pPr>
              <a:defRPr sz="1700"/>
            </a:pPr>
            <a:r>
              <a:t>将按预算单价完成ETC工作：这种方法承认以实际成本表示的累计项目绩效，并预计未来的全</a:t>
            </a:r>
          </a:p>
          <a:p>
            <a:pPr>
              <a:defRPr sz="1700"/>
            </a:pPr>
            <a:r>
              <a:t>部ETC工作都将按预算单价完成。如果目前的实际绩效不好，则只有在进行项目风险分析并取</a:t>
            </a:r>
          </a:p>
          <a:p>
            <a:pPr>
              <a:defRPr sz="1700"/>
            </a:pPr>
            <a:r>
              <a:t>得有力证据后，才能做出“未来绩效将会改进”的假设。公式：EAC=AC+（BAC-EV）；②假</a:t>
            </a:r>
          </a:p>
          <a:p>
            <a:pPr>
              <a:defRPr sz="1700"/>
            </a:pPr>
            <a:r>
              <a:t>设以当前CPI完成ETC工作：这种方法假设项目将按截至目前的情况继续进行，即ETC工作</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(24)</a:t>
            </a:r>
          </a:p>
        </p:txBody>
      </p:sp>
      <p:sp>
        <p:nvSpPr>
          <p:cNvPr id="3" name="Content Placeholder 2"/>
          <p:cNvSpPr>
            <a:spLocks noGrp="1"/>
          </p:cNvSpPr>
          <p:nvPr>
            <p:ph idx="1"/>
          </p:nvPr>
        </p:nvSpPr>
        <p:spPr/>
        <p:txBody>
          <a:bodyPr wrap="square"/>
          <a:lstStyle/>
          <a:p>
            <a:pPr>
              <a:defRPr sz="1700"/>
            </a:pPr>
            <a:r>
              <a:t>将按项目截至目前的累计成本绩效指数（CPI）实施。公式：EAC=BAC/CPI；③假设SPI与CPI</a:t>
            </a:r>
          </a:p>
          <a:p>
            <a:pPr>
              <a:defRPr sz="1700"/>
            </a:pPr>
            <a:r>
              <a:t>将同时影响ETC工作：在这种预测中，需要计算一个由成本绩效指数与进度绩效指数综合决定</a:t>
            </a:r>
          </a:p>
          <a:p>
            <a:pPr>
              <a:defRPr sz="1700"/>
            </a:pPr>
            <a:r>
              <a:t>的效率指标，并假设ETC工作将按该效率指标完成。如果项目进度对ETC有重要影响，这种</a:t>
            </a:r>
          </a:p>
          <a:p>
            <a:pPr>
              <a:defRPr sz="1700"/>
            </a:pPr>
            <a:r>
              <a:t>方法最有效。使用这种方法时，还可以根据项目经理的判断，分别给CPI和SPI赋予不同的权</a:t>
            </a:r>
          </a:p>
          <a:p>
            <a:pPr>
              <a:defRPr sz="1700"/>
            </a:pPr>
            <a:r>
              <a:t>重，如80/20、50/50或其他比率。公式：EAC=AC+[（BAC-EV）／（CPI×SPI)]。</a:t>
            </a:r>
          </a:p>
          <a:p>
            <a:pPr>
              <a:defRPr sz="1700"/>
            </a:pPr>
            <a:r>
              <a:t>第11章项目成本管理</a:t>
            </a:r>
          </a:p>
          <a:p>
            <a:pPr>
              <a:defRPr sz="1700"/>
            </a:pPr>
            <a:r>
              <a:t>353</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(25)</a:t>
            </a:r>
          </a:p>
        </p:txBody>
      </p:sp>
      <p:sp>
        <p:nvSpPr>
          <p:cNvPr id="3" name="Content Placeholder 2"/>
          <p:cNvSpPr>
            <a:spLocks noGrp="1"/>
          </p:cNvSpPr>
          <p:nvPr>
            <p:ph idx="1"/>
          </p:nvPr>
        </p:nvSpPr>
        <p:spPr/>
        <p:txBody>
          <a:bodyPr wrap="square"/>
          <a:lstStyle/>
          <a:p>
            <a:pPr>
              <a:defRPr sz="1700"/>
            </a:pPr>
            <a:r>
              <a:t>（4）储备分析。在控制成本过程中，可以采用储备分析来监督项目中应急储备和管理储</a:t>
            </a:r>
          </a:p>
          <a:p>
            <a:pPr>
              <a:defRPr sz="1700"/>
            </a:pPr>
            <a:r>
              <a:t>备的使用情况，从而判断是否还需要这些储备，或者是否需要增加额外的储备。随着项目</a:t>
            </a:r>
          </a:p>
          <a:p>
            <a:pPr>
              <a:defRPr sz="1700"/>
            </a:pPr>
            <a:r>
              <a:t>工作的进展，这些储备可能已按计划用于支付风险或其他应急情况的成本；反之，如果抓</a:t>
            </a:r>
          </a:p>
          <a:p>
            <a:pPr>
              <a:defRPr sz="1700"/>
            </a:pPr>
            <a:r>
              <a:t>住机会节约了成本，节约下来的资金可能会增加到应急储备中，或作为盈利/利润从项目中</a:t>
            </a:r>
          </a:p>
          <a:p>
            <a:pPr>
              <a:defRPr sz="1700"/>
            </a:pPr>
            <a:r>
              <a:t>剥离。</a:t>
            </a:r>
          </a:p>
          <a:p>
            <a:pPr>
              <a:defRPr sz="1700"/>
            </a:pPr>
            <a:r>
              <a:t>如果已识别的风险没有发生，就可能要从项目预算中扣除未使用的应急储备，为其他项目</a:t>
            </a:r>
          </a:p>
          <a:p>
            <a:pPr>
              <a:defRPr sz="1700"/>
            </a:pPr>
            <a:r>
              <a:t>或运营腾出资源。同时，在项目中开展进一步风险分析，可能会发现需要为项目预算申请额外</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(26)</a:t>
            </a:r>
          </a:p>
        </p:txBody>
      </p:sp>
      <p:sp>
        <p:nvSpPr>
          <p:cNvPr id="3" name="Content Placeholder 2"/>
          <p:cNvSpPr>
            <a:spLocks noGrp="1"/>
          </p:cNvSpPr>
          <p:nvPr>
            <p:ph idx="1"/>
          </p:nvPr>
        </p:nvSpPr>
        <p:spPr/>
        <p:txBody>
          <a:bodyPr wrap="square"/>
          <a:lstStyle/>
          <a:p>
            <a:pPr>
              <a:defRPr sz="1700"/>
            </a:pPr>
            <a:r>
              <a:t>的储备。</a:t>
            </a:r>
          </a:p>
          <a:p>
            <a:pPr>
              <a:defRPr sz="1700"/>
            </a:pPr>
            <a:r>
              <a:t>3.完工尚需绩效指数</a:t>
            </a:r>
          </a:p>
          <a:p>
            <a:pPr>
              <a:defRPr sz="1700"/>
            </a:pPr>
            <a:r>
              <a:t>完工尚需绩效指数（TCPI）是一种为了实现特定的管理目标，剩余资源的使用必须达到的</a:t>
            </a:r>
          </a:p>
          <a:p>
            <a:pPr>
              <a:defRPr sz="1700"/>
            </a:pPr>
            <a:r>
              <a:t>成本绩效指标，是完成剩余工作所需的成本与剩余预算之比。TCPI是指为了实现具体的管理目</a:t>
            </a:r>
          </a:p>
          <a:p>
            <a:pPr>
              <a:defRPr sz="1700"/>
            </a:pPr>
            <a:r>
              <a:t>标（如BAC或EAC），剩余工作的实施必须达到的成本绩效指标。如果BAC已明显不再可行，</a:t>
            </a:r>
          </a:p>
          <a:p>
            <a:pPr>
              <a:defRPr sz="1700"/>
            </a:pPr>
            <a:r>
              <a:t>则项目经理应考虑使用预测的EAC。经过批准后，就用EAC取代BAC。基于BAC的TCPI公</a:t>
            </a:r>
          </a:p>
          <a:p>
            <a:pPr>
              <a:defRPr sz="1700"/>
            </a:pPr>
            <a:r>
              <a:t>式：TCPI=（BAC-EV）/（BAC-AC)。</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(27)</a:t>
            </a:r>
          </a:p>
        </p:txBody>
      </p:sp>
      <p:sp>
        <p:nvSpPr>
          <p:cNvPr id="3" name="Content Placeholder 2"/>
          <p:cNvSpPr>
            <a:spLocks noGrp="1"/>
          </p:cNvSpPr>
          <p:nvPr>
            <p:ph idx="1"/>
          </p:nvPr>
        </p:nvSpPr>
        <p:spPr/>
        <p:txBody>
          <a:bodyPr wrap="square"/>
          <a:lstStyle/>
          <a:p>
            <a:pPr>
              <a:defRPr sz="1700"/>
            </a:pPr>
            <a:r>
              <a:t>TCPI的概念可用图11-8表示。TCPI的计算公式在图的左下角，用剩余工作（BAC减去</a:t>
            </a:r>
          </a:p>
          <a:p>
            <a:pPr>
              <a:defRPr sz="1700"/>
            </a:pPr>
            <a:r>
              <a:t>EV）除以剩余资金（可以是BAC减去AC，或EAC减去AC）。</a:t>
            </a:r>
          </a:p>
          <a:p>
            <a:pPr>
              <a:defRPr sz="1700"/>
            </a:pPr>
            <a:r>
              <a:t>状态日期</a:t>
            </a:r>
          </a:p>
          <a:p>
            <a:pPr>
              <a:defRPr sz="1700"/>
            </a:pPr>
            <a:r>
              <a:t>TCPI</a:t>
            </a:r>
          </a:p>
          <a:p>
            <a:pPr>
              <a:defRPr sz="1700"/>
            </a:pPr>
            <a:r>
              <a:t>&gt;1</a:t>
            </a:r>
          </a:p>
          <a:p>
            <a:pPr>
              <a:defRPr sz="1700"/>
            </a:pPr>
            <a:r>
              <a:t>（完工预算）</a:t>
            </a:r>
          </a:p>
          <a:p>
            <a:pPr>
              <a:defRPr sz="1700"/>
            </a:pPr>
            <a:r>
              <a:t>1.00</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(28)</a:t>
            </a:r>
          </a:p>
        </p:txBody>
      </p:sp>
      <p:sp>
        <p:nvSpPr>
          <p:cNvPr id="3" name="Content Placeholder 2"/>
          <p:cNvSpPr>
            <a:spLocks noGrp="1"/>
          </p:cNvSpPr>
          <p:nvPr>
            <p:ph idx="1"/>
          </p:nvPr>
        </p:nvSpPr>
        <p:spPr/>
        <p:txBody>
          <a:bodyPr wrap="square"/>
          <a:lstStyle/>
          <a:p>
            <a:pPr>
              <a:defRPr sz="1700"/>
            </a:pPr>
            <a:r>
              <a:t>基准计划</a:t>
            </a:r>
          </a:p>
          <a:p>
            <a:pPr>
              <a:defRPr sz="1700"/>
            </a:pPr>
            <a:r>
              <a:t>TCPI</a:t>
            </a:r>
          </a:p>
          <a:p>
            <a:pPr>
              <a:defRPr sz="1700"/>
            </a:pPr>
            <a:r>
              <a:t>（完工估算）</a:t>
            </a:r>
          </a:p>
          <a:p>
            <a:pPr>
              <a:defRPr sz="1700"/>
            </a:pPr>
            <a:r>
              <a:t>&lt;1</a:t>
            </a:r>
          </a:p>
          <a:p>
            <a:pPr>
              <a:defRPr sz="1700"/>
            </a:pPr>
            <a:r>
              <a:t>累计CPI</a:t>
            </a:r>
          </a:p>
          <a:p>
            <a:pPr>
              <a:defRPr sz="1700"/>
            </a:pPr>
            <a:r>
              <a:t>公式：</a:t>
            </a:r>
          </a:p>
          <a:p>
            <a:pPr>
              <a:defRPr sz="1700"/>
            </a:pPr>
            <a:r>
              <a:t>剩余工作（完工预算-净值）</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(29)</a:t>
            </a:r>
          </a:p>
        </p:txBody>
      </p:sp>
      <p:sp>
        <p:nvSpPr>
          <p:cNvPr id="3" name="Content Placeholder 2"/>
          <p:cNvSpPr>
            <a:spLocks noGrp="1"/>
          </p:cNvSpPr>
          <p:nvPr>
            <p:ph idx="1"/>
          </p:nvPr>
        </p:nvSpPr>
        <p:spPr/>
        <p:txBody>
          <a:bodyPr wrap="square"/>
          <a:lstStyle/>
          <a:p>
            <a:pPr>
              <a:defRPr sz="1700"/>
            </a:pPr>
            <a:r>
              <a:t>TCPI</a:t>
            </a:r>
          </a:p>
          <a:p>
            <a:pPr>
              <a:defRPr sz="1700"/>
            </a:pPr>
            <a:r>
              <a:t>剩余资金（完工预算-实际成本）或（完工估算-实际成本）</a:t>
            </a:r>
          </a:p>
          <a:p>
            <a:pPr>
              <a:defRPr sz="1700"/>
            </a:pPr>
            <a:r>
              <a:t>图11-8完工尚需绩效指数（TCPI）</a:t>
            </a:r>
          </a:p>
          <a:p>
            <a:pPr>
              <a:defRPr sz="1700"/>
            </a:pPr>
            <a:r>
              <a:t>如果累计CPI低于基准（如图11-8所示），那么项目的全部剩余工作都应立即按TCPI</a:t>
            </a:r>
          </a:p>
          <a:p>
            <a:pPr>
              <a:defRPr sz="1700"/>
            </a:pPr>
            <a:r>
              <a:t>（BAC）（图11-8中最高的那条线）执行，才能确保实际总成本不超过批准的BAC。至于所要</a:t>
            </a:r>
          </a:p>
          <a:p>
            <a:pPr>
              <a:defRPr sz="1700"/>
            </a:pPr>
            <a:r>
              <a:t>求的这种绩效水平是否可行，就需要综合考虑多种因素（包括风险、项目剩余时间和技术绩</a:t>
            </a:r>
          </a:p>
          <a:p>
            <a:pPr>
              <a:defRPr sz="1700"/>
            </a:pPr>
            <a:r>
              <a:t>效）后才能判断；如果不可行，就需要把项目未来所需的绩效水平调整为如TCPI（EAC）线</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(30)</a:t>
            </a:r>
          </a:p>
        </p:txBody>
      </p:sp>
      <p:sp>
        <p:nvSpPr>
          <p:cNvPr id="3" name="Content Placeholder 2"/>
          <p:cNvSpPr>
            <a:spLocks noGrp="1"/>
          </p:cNvSpPr>
          <p:nvPr>
            <p:ph idx="1"/>
          </p:nvPr>
        </p:nvSpPr>
        <p:spPr/>
        <p:txBody>
          <a:bodyPr wrap="square"/>
          <a:lstStyle/>
          <a:p>
            <a:pPr>
              <a:defRPr sz="1700"/>
            </a:pPr>
            <a:r>
              <a:t>所示。基于EAC的TCPI公式：TCPI=（BAC-EV）／（EAC-AC）。表11-2列出了EVM的计</a:t>
            </a:r>
          </a:p>
          <a:p>
            <a:pPr>
              <a:defRPr sz="1700"/>
            </a:pPr>
            <a:r>
              <a:t>算公式。</a:t>
            </a:r>
          </a:p>
          <a:p>
            <a:pPr>
              <a:defRPr sz="1700"/>
            </a:pPr>
            <a:r>
              <a:t>354</a:t>
            </a:r>
          </a:p>
          <a:p>
            <a:pPr>
              <a:defRPr sz="1700"/>
            </a:pPr>
            <a:r>
              <a:t>表11-2挣值计算汇总表</a:t>
            </a:r>
          </a:p>
          <a:p>
            <a:pPr>
              <a:defRPr sz="1700"/>
            </a:pPr>
            <a:r>
              <a:t>缩写</a:t>
            </a:r>
          </a:p>
          <a:p>
            <a:pPr>
              <a:defRPr sz="1700"/>
            </a:pPr>
            <a:r>
              <a:t>名称</a:t>
            </a:r>
          </a:p>
          <a:p>
            <a:pPr>
              <a:defRPr sz="1700"/>
            </a:pPr>
            <a:r>
              <a:t>词汇定义</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(31)</a:t>
            </a:r>
          </a:p>
        </p:txBody>
      </p:sp>
      <p:sp>
        <p:nvSpPr>
          <p:cNvPr id="3" name="Content Placeholder 2"/>
          <p:cNvSpPr>
            <a:spLocks noGrp="1"/>
          </p:cNvSpPr>
          <p:nvPr>
            <p:ph idx="1"/>
          </p:nvPr>
        </p:nvSpPr>
        <p:spPr/>
        <p:txBody>
          <a:bodyPr wrap="square"/>
          <a:lstStyle/>
          <a:p>
            <a:pPr>
              <a:defRPr sz="1700"/>
            </a:pPr>
            <a:r>
              <a:t>使用方法</a:t>
            </a:r>
          </a:p>
          <a:p>
            <a:pPr>
              <a:defRPr sz="1700"/>
            </a:pPr>
            <a:r>
              <a:t>公式</a:t>
            </a:r>
          </a:p>
          <a:p>
            <a:pPr>
              <a:defRPr sz="1700"/>
            </a:pPr>
            <a:r>
              <a:t>结果说明</a:t>
            </a:r>
          </a:p>
          <a:p>
            <a:pPr>
              <a:defRPr sz="1700"/>
            </a:pPr>
            <a:r>
              <a:t>计划</a:t>
            </a:r>
          </a:p>
          <a:p>
            <a:pPr>
              <a:defRPr sz="1700"/>
            </a:pPr>
            <a:r>
              <a:t>为计划工作分配的经批</a:t>
            </a:r>
          </a:p>
          <a:p>
            <a:pPr>
              <a:defRPr sz="1700"/>
            </a:pPr>
            <a:r>
              <a:t>某时间点计划完成的</a:t>
            </a:r>
          </a:p>
          <a:p>
            <a:pPr>
              <a:defRPr sz="1700"/>
            </a:pPr>
            <a:r>
              <a:t>的PV=计划完成工作的</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(32)</a:t>
            </a:r>
          </a:p>
        </p:txBody>
      </p:sp>
      <p:sp>
        <p:nvSpPr>
          <p:cNvPr id="3" name="Content Placeholder 2"/>
          <p:cNvSpPr>
            <a:spLocks noGrp="1"/>
          </p:cNvSpPr>
          <p:nvPr>
            <p:ph idx="1"/>
          </p:nvPr>
        </p:nvSpPr>
        <p:spPr/>
        <p:txBody>
          <a:bodyPr wrap="square"/>
          <a:lstStyle/>
          <a:p>
            <a:pPr>
              <a:defRPr sz="1700"/>
            </a:pPr>
            <a:r>
              <a:t>PV</a:t>
            </a:r>
          </a:p>
          <a:p>
            <a:pPr>
              <a:defRPr sz="1700"/>
            </a:pPr>
            <a:r>
              <a:t>价值</a:t>
            </a:r>
          </a:p>
          <a:p>
            <a:pPr>
              <a:defRPr sz="1700"/>
            </a:pPr>
            <a:r>
              <a:t>准的预算</a:t>
            </a:r>
          </a:p>
          <a:p>
            <a:pPr>
              <a:defRPr sz="1700"/>
            </a:pPr>
            <a:r>
              <a:t>工作的价值</a:t>
            </a:r>
          </a:p>
          <a:p>
            <a:pPr>
              <a:defRPr sz="1700"/>
            </a:pPr>
            <a:r>
              <a:t>计划价值之和</a:t>
            </a:r>
          </a:p>
          <a:p>
            <a:pPr>
              <a:defRPr sz="1700"/>
            </a:pPr>
            <a:r>
              <a:t>对已完成工作的测量，</a:t>
            </a:r>
          </a:p>
          <a:p>
            <a:pPr>
              <a:defRPr sz="1700"/>
            </a:pPr>
            <a:r>
              <a:t>某时间点所有已完成</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(33)</a:t>
            </a:r>
          </a:p>
        </p:txBody>
      </p:sp>
      <p:sp>
        <p:nvSpPr>
          <p:cNvPr id="3" name="Content Placeholder 2"/>
          <p:cNvSpPr>
            <a:spLocks noGrp="1"/>
          </p:cNvSpPr>
          <p:nvPr>
            <p:ph idx="1"/>
          </p:nvPr>
        </p:nvSpPr>
        <p:spPr/>
        <p:txBody>
          <a:bodyPr wrap="square"/>
          <a:lstStyle/>
          <a:p>
            <a:pPr>
              <a:defRPr sz="1700"/>
            </a:pPr>
            <a:r>
              <a:t>EV=已完成工作的计</a:t>
            </a:r>
          </a:p>
          <a:p>
            <a:pPr>
              <a:defRPr sz="1700"/>
            </a:pPr>
            <a:r>
              <a:t>EV</a:t>
            </a:r>
          </a:p>
          <a:p>
            <a:pPr>
              <a:defRPr sz="1700"/>
            </a:pPr>
            <a:r>
              <a:t>挣值</a:t>
            </a:r>
          </a:p>
          <a:p>
            <a:pPr>
              <a:defRPr sz="1700"/>
            </a:pPr>
            <a:r>
              <a:t>用该工作的批准预算来</a:t>
            </a:r>
          </a:p>
          <a:p>
            <a:pPr>
              <a:defRPr sz="1700"/>
            </a:pPr>
            <a:r>
              <a:t>工作的计划价值，与</a:t>
            </a:r>
          </a:p>
          <a:p>
            <a:pPr>
              <a:defRPr sz="1700"/>
            </a:pPr>
            <a:r>
              <a:t>划价值之和</a:t>
            </a:r>
          </a:p>
          <a:p>
            <a:pPr>
              <a:defRPr sz="1700"/>
            </a:pPr>
            <a:r>
              <a:t>表示</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(34)</a:t>
            </a:r>
          </a:p>
        </p:txBody>
      </p:sp>
      <p:sp>
        <p:nvSpPr>
          <p:cNvPr id="3" name="Content Placeholder 2"/>
          <p:cNvSpPr>
            <a:spLocks noGrp="1"/>
          </p:cNvSpPr>
          <p:nvPr>
            <p:ph idx="1"/>
          </p:nvPr>
        </p:nvSpPr>
        <p:spPr/>
        <p:txBody>
          <a:bodyPr wrap="square"/>
          <a:lstStyle/>
          <a:p>
            <a:pPr>
              <a:defRPr sz="1700"/>
            </a:pPr>
            <a:r>
              <a:t>实际成本无关</a:t>
            </a:r>
          </a:p>
          <a:p>
            <a:pPr>
              <a:defRPr sz="1700"/>
            </a:pPr>
            <a:r>
              <a:t>在给定时间段内，因执</a:t>
            </a:r>
          </a:p>
          <a:p>
            <a:pPr>
              <a:defRPr sz="1700"/>
            </a:pPr>
            <a:r>
              <a:t>实际</a:t>
            </a:r>
          </a:p>
          <a:p>
            <a:pPr>
              <a:defRPr sz="1700"/>
            </a:pPr>
            <a:r>
              <a:t>某时间点所有已完成</a:t>
            </a:r>
          </a:p>
          <a:p>
            <a:pPr>
              <a:defRPr sz="1700"/>
            </a:pPr>
            <a:r>
              <a:t>EV=已完成工作的实</a:t>
            </a:r>
          </a:p>
          <a:p>
            <a:pPr>
              <a:defRPr sz="1700"/>
            </a:pPr>
            <a:r>
              <a:t>AC</a:t>
            </a:r>
          </a:p>
          <a:p>
            <a:pPr>
              <a:defRPr sz="1700"/>
            </a:pPr>
            <a:r>
              <a:t>行项目活动而实际发生</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(35)</a:t>
            </a:r>
          </a:p>
        </p:txBody>
      </p:sp>
      <p:sp>
        <p:nvSpPr>
          <p:cNvPr id="3" name="Content Placeholder 2"/>
          <p:cNvSpPr>
            <a:spLocks noGrp="1"/>
          </p:cNvSpPr>
          <p:nvPr>
            <p:ph idx="1"/>
          </p:nvPr>
        </p:nvSpPr>
        <p:spPr/>
        <p:txBody>
          <a:bodyPr wrap="square"/>
          <a:lstStyle/>
          <a:p>
            <a:pPr>
              <a:defRPr sz="1700"/>
            </a:pPr>
            <a:r>
              <a:t>成本</a:t>
            </a:r>
          </a:p>
          <a:p>
            <a:pPr>
              <a:defRPr sz="1700"/>
            </a:pPr>
            <a:r>
              <a:t>工作的实际成本</a:t>
            </a:r>
          </a:p>
          <a:p>
            <a:pPr>
              <a:defRPr sz="1700"/>
            </a:pPr>
            <a:r>
              <a:t>际价值之和</a:t>
            </a:r>
          </a:p>
          <a:p>
            <a:pPr>
              <a:defRPr sz="1700"/>
            </a:pPr>
            <a:r>
              <a:t>的成本</a:t>
            </a:r>
          </a:p>
          <a:p>
            <a:pPr>
              <a:defRPr sz="1700"/>
            </a:pPr>
            <a:r>
              <a:t>完工</a:t>
            </a:r>
          </a:p>
          <a:p>
            <a:pPr>
              <a:defRPr sz="1700"/>
            </a:pPr>
            <a:r>
              <a:t>为将要执行的工作所建</a:t>
            </a:r>
          </a:p>
          <a:p>
            <a:pPr>
              <a:defRPr sz="1700"/>
            </a:pPr>
            <a:r>
              <a:t>总计划工作的价值，</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(36)</a:t>
            </a:r>
          </a:p>
        </p:txBody>
      </p:sp>
      <p:sp>
        <p:nvSpPr>
          <p:cNvPr id="3" name="Content Placeholder 2"/>
          <p:cNvSpPr>
            <a:spLocks noGrp="1"/>
          </p:cNvSpPr>
          <p:nvPr>
            <p:ph idx="1"/>
          </p:nvPr>
        </p:nvSpPr>
        <p:spPr/>
        <p:txBody>
          <a:bodyPr wrap="square"/>
          <a:lstStyle/>
          <a:p>
            <a:pPr>
              <a:defRPr sz="1700"/>
            </a:pPr>
            <a:r>
              <a:t>BAC=总计划工作的</a:t>
            </a:r>
          </a:p>
          <a:p>
            <a:pPr>
              <a:defRPr sz="1700"/>
            </a:pPr>
            <a:r>
              <a:t>BAC</a:t>
            </a:r>
          </a:p>
          <a:p>
            <a:pPr>
              <a:defRPr sz="1700"/>
            </a:pPr>
            <a:r>
              <a:t>预算</a:t>
            </a:r>
          </a:p>
          <a:p>
            <a:pPr>
              <a:defRPr sz="1700"/>
            </a:pPr>
            <a:r>
              <a:t>立的全部预算的总和</a:t>
            </a:r>
          </a:p>
          <a:p>
            <a:pPr>
              <a:defRPr sz="1700"/>
            </a:pPr>
            <a:r>
              <a:t>项目成本基准</a:t>
            </a:r>
          </a:p>
          <a:p>
            <a:pPr>
              <a:defRPr sz="1700"/>
            </a:pPr>
            <a:r>
              <a:t>价值</a:t>
            </a:r>
          </a:p>
          <a:p>
            <a:pPr>
              <a:defRPr sz="1700"/>
            </a:pPr>
            <a:r>
              <a:t>在某个给定时间点，预</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(37)</a:t>
            </a:r>
          </a:p>
        </p:txBody>
      </p:sp>
      <p:sp>
        <p:nvSpPr>
          <p:cNvPr id="3" name="Content Placeholder 2"/>
          <p:cNvSpPr>
            <a:spLocks noGrp="1"/>
          </p:cNvSpPr>
          <p:nvPr>
            <p:ph idx="1"/>
          </p:nvPr>
        </p:nvSpPr>
        <p:spPr/>
        <p:txBody>
          <a:bodyPr wrap="square"/>
          <a:lstStyle/>
          <a:p>
            <a:pPr>
              <a:defRPr sz="1700"/>
            </a:pPr>
            <a:r>
              <a:t>某时间点已完成工作</a:t>
            </a:r>
          </a:p>
          <a:p>
            <a:pPr>
              <a:defRPr sz="1700"/>
            </a:pPr>
            <a:r>
              <a:t>正值=低于计划成本</a:t>
            </a:r>
          </a:p>
          <a:p>
            <a:pPr>
              <a:defRPr sz="1700"/>
            </a:pPr>
            <a:r>
              <a:t>成本</a:t>
            </a:r>
          </a:p>
          <a:p>
            <a:pPr>
              <a:defRPr sz="1700"/>
            </a:pPr>
            <a:r>
              <a:t>CV</a:t>
            </a:r>
          </a:p>
          <a:p>
            <a:pPr>
              <a:defRPr sz="1700"/>
            </a:pPr>
            <a:r>
              <a:t>算亏空或盈余量，表示</a:t>
            </a:r>
          </a:p>
          <a:p>
            <a:pPr>
              <a:defRPr sz="1700"/>
            </a:pPr>
            <a:r>
              <a:t>的计划价值与实际成</a:t>
            </a:r>
          </a:p>
          <a:p>
            <a:pPr>
              <a:defRPr sz="1700"/>
            </a:pPr>
            <a:r>
              <a:t>CV=EV-AC</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(38)</a:t>
            </a:r>
          </a:p>
        </p:txBody>
      </p:sp>
      <p:sp>
        <p:nvSpPr>
          <p:cNvPr id="3" name="Content Placeholder 2"/>
          <p:cNvSpPr>
            <a:spLocks noGrp="1"/>
          </p:cNvSpPr>
          <p:nvPr>
            <p:ph idx="1"/>
          </p:nvPr>
        </p:nvSpPr>
        <p:spPr/>
        <p:txBody>
          <a:bodyPr wrap="square"/>
          <a:lstStyle/>
          <a:p>
            <a:pPr>
              <a:defRPr sz="1700"/>
            </a:pPr>
            <a:r>
              <a:t>正好0=按计划成本</a:t>
            </a:r>
          </a:p>
          <a:p>
            <a:pPr>
              <a:defRPr sz="1700"/>
            </a:pPr>
            <a:r>
              <a:t>偏差</a:t>
            </a:r>
          </a:p>
          <a:p>
            <a:pPr>
              <a:defRPr sz="1700"/>
            </a:pPr>
            <a:r>
              <a:t>为挣值与实际成本之差</a:t>
            </a:r>
          </a:p>
          <a:p>
            <a:pPr>
              <a:defRPr sz="1700"/>
            </a:pPr>
            <a:r>
              <a:t>本之差</a:t>
            </a:r>
          </a:p>
          <a:p>
            <a:pPr>
              <a:defRPr sz="1700"/>
            </a:pPr>
            <a:r>
              <a:t>负值=超出计划成本</a:t>
            </a:r>
          </a:p>
          <a:p>
            <a:pPr>
              <a:defRPr sz="1700"/>
            </a:pPr>
            <a:r>
              <a:t>在某个时间点，项目与</a:t>
            </a:r>
          </a:p>
          <a:p>
            <a:pPr>
              <a:defRPr sz="1700"/>
            </a:pPr>
            <a:r>
              <a:t>某时间点已完成的工</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(39)</a:t>
            </a:r>
          </a:p>
        </p:txBody>
      </p:sp>
      <p:sp>
        <p:nvSpPr>
          <p:cNvPr id="3" name="Content Placeholder 2"/>
          <p:cNvSpPr>
            <a:spLocks noGrp="1"/>
          </p:cNvSpPr>
          <p:nvPr>
            <p:ph idx="1"/>
          </p:nvPr>
        </p:nvSpPr>
        <p:spPr/>
        <p:txBody>
          <a:bodyPr wrap="square"/>
          <a:lstStyle/>
          <a:p>
            <a:pPr>
              <a:defRPr sz="1700"/>
            </a:pPr>
            <a:r>
              <a:t>正值=比计划提前</a:t>
            </a:r>
          </a:p>
          <a:p>
            <a:pPr>
              <a:defRPr sz="1700"/>
            </a:pPr>
            <a:r>
              <a:t>进度</a:t>
            </a:r>
          </a:p>
          <a:p>
            <a:pPr>
              <a:defRPr sz="1700"/>
            </a:pPr>
            <a:r>
              <a:t>计划交付日期相比的亏</a:t>
            </a:r>
          </a:p>
          <a:p>
            <a:pPr>
              <a:defRPr sz="1700"/>
            </a:pPr>
            <a:r>
              <a:t>SV</a:t>
            </a:r>
          </a:p>
          <a:p>
            <a:pPr>
              <a:defRPr sz="1700"/>
            </a:pPr>
            <a:r>
              <a:t>作与计划完成的工作SV=EV-PV</a:t>
            </a:r>
          </a:p>
          <a:p>
            <a:pPr>
              <a:defRPr sz="1700"/>
            </a:pPr>
            <a:r>
              <a:t>正好0=按计划进行</a:t>
            </a:r>
          </a:p>
          <a:p>
            <a:pPr>
              <a:defRPr sz="1700"/>
            </a:pPr>
            <a:r>
              <a:t>偏差</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(40)</a:t>
            </a:r>
          </a:p>
        </p:txBody>
      </p:sp>
      <p:sp>
        <p:nvSpPr>
          <p:cNvPr id="3" name="Content Placeholder 2"/>
          <p:cNvSpPr>
            <a:spLocks noGrp="1"/>
          </p:cNvSpPr>
          <p:nvPr>
            <p:ph idx="1"/>
          </p:nvPr>
        </p:nvSpPr>
        <p:spPr/>
        <p:txBody>
          <a:bodyPr wrap="square"/>
          <a:lstStyle/>
          <a:p>
            <a:pPr>
              <a:defRPr sz="1700"/>
            </a:pPr>
            <a:r>
              <a:t>空或盈余量，表示为挣</a:t>
            </a:r>
          </a:p>
          <a:p>
            <a:pPr>
              <a:defRPr sz="1700"/>
            </a:pPr>
            <a:r>
              <a:t>之差</a:t>
            </a:r>
          </a:p>
          <a:p>
            <a:pPr>
              <a:defRPr sz="1700"/>
            </a:pPr>
            <a:r>
              <a:t>负值=比计划滞后</a:t>
            </a:r>
          </a:p>
          <a:p>
            <a:pPr>
              <a:defRPr sz="1700"/>
            </a:pPr>
            <a:r>
              <a:t>值与计划价值之差</a:t>
            </a:r>
          </a:p>
          <a:p>
            <a:pPr>
              <a:defRPr sz="1700"/>
            </a:pPr>
            <a:r>
              <a:t>对预算亏空或盈余量的</a:t>
            </a:r>
          </a:p>
          <a:p>
            <a:pPr>
              <a:defRPr sz="1700"/>
            </a:pPr>
            <a:r>
              <a:t>完工</a:t>
            </a:r>
          </a:p>
          <a:p>
            <a:pPr>
              <a:defRPr sz="1700"/>
            </a:pPr>
            <a:r>
              <a:t>正值=低于计划成本</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(41)</a:t>
            </a:r>
          </a:p>
        </p:txBody>
      </p:sp>
      <p:sp>
        <p:nvSpPr>
          <p:cNvPr id="3" name="Content Placeholder 2"/>
          <p:cNvSpPr>
            <a:spLocks noGrp="1"/>
          </p:cNvSpPr>
          <p:nvPr>
            <p:ph idx="1"/>
          </p:nvPr>
        </p:nvSpPr>
        <p:spPr/>
        <p:txBody>
          <a:bodyPr wrap="square"/>
          <a:lstStyle/>
          <a:p>
            <a:pPr>
              <a:defRPr sz="1700"/>
            </a:pPr>
            <a:r>
              <a:t>项目完成时的成本估</a:t>
            </a:r>
          </a:p>
          <a:p>
            <a:pPr>
              <a:defRPr sz="1700"/>
            </a:pPr>
            <a:r>
              <a:t>VAC</a:t>
            </a:r>
          </a:p>
          <a:p>
            <a:pPr>
              <a:defRPr sz="1700"/>
            </a:pPr>
            <a:r>
              <a:t>一种预测，是完工预算</a:t>
            </a:r>
          </a:p>
          <a:p>
            <a:pPr>
              <a:defRPr sz="1700"/>
            </a:pPr>
            <a:r>
              <a:t>偏差</a:t>
            </a:r>
          </a:p>
          <a:p>
            <a:pPr>
              <a:defRPr sz="1700"/>
            </a:pPr>
            <a:r>
              <a:t>VAC=BAC-EAC</a:t>
            </a:r>
          </a:p>
          <a:p>
            <a:pPr>
              <a:defRPr sz="1700"/>
            </a:pPr>
            <a:r>
              <a:t>正好0=按计划成本</a:t>
            </a:r>
          </a:p>
          <a:p>
            <a:pPr>
              <a:defRPr sz="1700"/>
            </a:pPr>
            <a:r>
              <a:t>算差距</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(42)</a:t>
            </a:r>
          </a:p>
        </p:txBody>
      </p:sp>
      <p:sp>
        <p:nvSpPr>
          <p:cNvPr id="3" name="Content Placeholder 2"/>
          <p:cNvSpPr>
            <a:spLocks noGrp="1"/>
          </p:cNvSpPr>
          <p:nvPr>
            <p:ph idx="1"/>
          </p:nvPr>
        </p:nvSpPr>
        <p:spPr/>
        <p:txBody>
          <a:bodyPr wrap="square"/>
          <a:lstStyle/>
          <a:p>
            <a:pPr>
              <a:defRPr sz="1700"/>
            </a:pPr>
            <a:r>
              <a:t>与完工估算之差</a:t>
            </a:r>
          </a:p>
          <a:p>
            <a:pPr>
              <a:defRPr sz="1700"/>
            </a:pPr>
            <a:r>
              <a:t>负值=超出计划成本</a:t>
            </a:r>
          </a:p>
          <a:p>
            <a:pPr>
              <a:defRPr sz="1700"/>
            </a:pPr>
            <a:r>
              <a:t>大于1=低于计划</a:t>
            </a:r>
          </a:p>
          <a:p>
            <a:pPr>
              <a:defRPr sz="1700"/>
            </a:pPr>
            <a:r>
              <a:t>CPI为1意味着项目</a:t>
            </a:r>
          </a:p>
          <a:p>
            <a:pPr>
              <a:defRPr sz="1700"/>
            </a:pPr>
            <a:r>
              <a:t>成本</a:t>
            </a:r>
          </a:p>
          <a:p>
            <a:pPr>
              <a:defRPr sz="1700"/>
            </a:pPr>
            <a:r>
              <a:t>测量预算资源的成本效</a:t>
            </a:r>
          </a:p>
          <a:p>
            <a:pPr>
              <a:defRPr sz="1700"/>
            </a:pPr>
            <a:r>
              <a:t>成本</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(43)</a:t>
            </a:r>
          </a:p>
        </p:txBody>
      </p:sp>
      <p:sp>
        <p:nvSpPr>
          <p:cNvPr id="3" name="Content Placeholder 2"/>
          <p:cNvSpPr>
            <a:spLocks noGrp="1"/>
          </p:cNvSpPr>
          <p:nvPr>
            <p:ph idx="1"/>
          </p:nvPr>
        </p:nvSpPr>
        <p:spPr/>
        <p:txBody>
          <a:bodyPr wrap="square"/>
          <a:lstStyle/>
          <a:p>
            <a:pPr>
              <a:defRPr sz="1700"/>
            </a:pPr>
            <a:r>
              <a:t>完全按照预算进行，</a:t>
            </a:r>
          </a:p>
          <a:p>
            <a:pPr>
              <a:defRPr sz="1700"/>
            </a:pPr>
            <a:r>
              <a:t>CPI</a:t>
            </a:r>
          </a:p>
          <a:p>
            <a:pPr>
              <a:defRPr sz="1700"/>
            </a:pPr>
            <a:r>
              <a:t>绩效</a:t>
            </a:r>
          </a:p>
          <a:p>
            <a:pPr>
              <a:defRPr sz="1700"/>
            </a:pPr>
            <a:r>
              <a:t>率的指标，表示为挣值</a:t>
            </a:r>
          </a:p>
          <a:p>
            <a:pPr>
              <a:defRPr sz="1700"/>
            </a:pPr>
            <a:r>
              <a:t>CPI=EV/AC</a:t>
            </a:r>
          </a:p>
          <a:p>
            <a:pPr>
              <a:defRPr sz="1700"/>
            </a:pPr>
            <a:r>
              <a:t>正好1=按计划成本</a:t>
            </a:r>
          </a:p>
          <a:p>
            <a:pPr>
              <a:defRPr sz="1700"/>
            </a:pPr>
            <a:r>
              <a:t>其他值表示超出或者</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(44)</a:t>
            </a:r>
          </a:p>
        </p:txBody>
      </p:sp>
      <p:sp>
        <p:nvSpPr>
          <p:cNvPr id="3" name="Content Placeholder 2"/>
          <p:cNvSpPr>
            <a:spLocks noGrp="1"/>
          </p:cNvSpPr>
          <p:nvPr>
            <p:ph idx="1"/>
          </p:nvPr>
        </p:nvSpPr>
        <p:spPr/>
        <p:txBody>
          <a:bodyPr wrap="square"/>
          <a:lstStyle/>
          <a:p>
            <a:pPr>
              <a:defRPr sz="1700"/>
            </a:pPr>
            <a:r>
              <a:t>指数</a:t>
            </a:r>
          </a:p>
          <a:p>
            <a:pPr>
              <a:defRPr sz="1700"/>
            </a:pPr>
            <a:r>
              <a:t>与实际成本之比</a:t>
            </a:r>
          </a:p>
          <a:p>
            <a:pPr>
              <a:defRPr sz="1700"/>
            </a:pPr>
            <a:r>
              <a:t>小于1=超出计划成</a:t>
            </a:r>
          </a:p>
          <a:p>
            <a:pPr>
              <a:defRPr sz="1700"/>
            </a:pPr>
            <a:r>
              <a:t>低于预算的比例</a:t>
            </a:r>
          </a:p>
          <a:p>
            <a:pPr>
              <a:defRPr sz="1700"/>
            </a:pPr>
            <a:r>
              <a:t>本</a:t>
            </a:r>
          </a:p>
          <a:p>
            <a:pPr>
              <a:defRPr sz="1700"/>
            </a:pPr>
            <a:r>
              <a:t>SPI为意味着项目完</a:t>
            </a:r>
          </a:p>
          <a:p>
            <a:pPr>
              <a:defRPr sz="1700"/>
            </a:pPr>
            <a:r>
              <a:t>进度</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(45)</a:t>
            </a:r>
          </a:p>
        </p:txBody>
      </p:sp>
      <p:sp>
        <p:nvSpPr>
          <p:cNvPr id="3" name="Content Placeholder 2"/>
          <p:cNvSpPr>
            <a:spLocks noGrp="1"/>
          </p:cNvSpPr>
          <p:nvPr>
            <p:ph idx="1"/>
          </p:nvPr>
        </p:nvSpPr>
        <p:spPr/>
        <p:txBody>
          <a:bodyPr wrap="square"/>
          <a:lstStyle/>
          <a:p>
            <a:pPr>
              <a:defRPr sz="1700"/>
            </a:pPr>
            <a:r>
              <a:t>测量进度效率的指标，</a:t>
            </a:r>
          </a:p>
          <a:p>
            <a:pPr>
              <a:defRPr sz="1700"/>
            </a:pPr>
            <a:r>
              <a:t>全按照进度计划进</a:t>
            </a:r>
          </a:p>
          <a:p>
            <a:pPr>
              <a:defRPr sz="1700"/>
            </a:pPr>
            <a:r>
              <a:t>大于1=比计划提前</a:t>
            </a:r>
          </a:p>
          <a:p>
            <a:pPr>
              <a:defRPr sz="1700"/>
            </a:pPr>
            <a:r>
              <a:t>SPI</a:t>
            </a:r>
          </a:p>
          <a:p>
            <a:pPr>
              <a:defRPr sz="1700"/>
            </a:pPr>
            <a:r>
              <a:t>绩效</a:t>
            </a:r>
          </a:p>
          <a:p>
            <a:pPr>
              <a:defRPr sz="1700"/>
            </a:pPr>
            <a:r>
              <a:t>表示为挣值与计划价值</a:t>
            </a:r>
          </a:p>
          <a:p>
            <a:pPr>
              <a:defRPr sz="1700"/>
            </a:pPr>
            <a:r>
              <a:t>行，其他值表示计划SPI=EV/PV</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(46)</a:t>
            </a:r>
          </a:p>
        </p:txBody>
      </p:sp>
      <p:sp>
        <p:nvSpPr>
          <p:cNvPr id="3" name="Content Placeholder 2"/>
          <p:cNvSpPr>
            <a:spLocks noGrp="1"/>
          </p:cNvSpPr>
          <p:nvPr>
            <p:ph idx="1"/>
          </p:nvPr>
        </p:nvSpPr>
        <p:spPr/>
        <p:txBody>
          <a:bodyPr wrap="square"/>
          <a:lstStyle/>
          <a:p>
            <a:pPr>
              <a:defRPr sz="1700"/>
            </a:pPr>
            <a:r>
              <a:t>正好1=按计划进行</a:t>
            </a:r>
          </a:p>
          <a:p>
            <a:pPr>
              <a:defRPr sz="1700"/>
            </a:pPr>
            <a:r>
              <a:t>指数</a:t>
            </a:r>
          </a:p>
          <a:p>
            <a:pPr>
              <a:defRPr sz="1700"/>
            </a:pPr>
            <a:r>
              <a:t>之比</a:t>
            </a:r>
          </a:p>
          <a:p>
            <a:pPr>
              <a:defRPr sz="1700"/>
            </a:pPr>
            <a:r>
              <a:t>的工作超出或低于预</a:t>
            </a:r>
          </a:p>
          <a:p>
            <a:pPr>
              <a:defRPr sz="1700"/>
            </a:pPr>
            <a:r>
              <a:t>小于1=比计划滞后</a:t>
            </a:r>
          </a:p>
          <a:p>
            <a:pPr>
              <a:defRPr sz="1700"/>
            </a:pPr>
            <a:r>
              <a:t>算成本的比例</a:t>
            </a:r>
          </a:p>
          <a:p>
            <a:pPr>
              <a:defRPr sz="1700"/>
            </a:pPr>
            <a:r>
              <a:t>如果预期项目剩余部</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(47)</a:t>
            </a:r>
          </a:p>
        </p:txBody>
      </p:sp>
      <p:sp>
        <p:nvSpPr>
          <p:cNvPr id="3" name="Content Placeholder 2"/>
          <p:cNvSpPr>
            <a:spLocks noGrp="1"/>
          </p:cNvSpPr>
          <p:nvPr>
            <p:ph idx="1"/>
          </p:nvPr>
        </p:nvSpPr>
        <p:spPr/>
        <p:txBody>
          <a:bodyPr wrap="square"/>
          <a:lstStyle/>
          <a:p>
            <a:pPr>
              <a:defRPr sz="1700"/>
            </a:pPr>
            <a:r>
              <a:t>EAC=BAC/CPI</a:t>
            </a:r>
          </a:p>
          <a:p>
            <a:pPr>
              <a:defRPr sz="1700"/>
            </a:pPr>
            <a:r>
              <a:t>分的CPI不变</a:t>
            </a:r>
          </a:p>
          <a:p>
            <a:pPr>
              <a:defRPr sz="1700"/>
            </a:pPr>
            <a:r>
              <a:t>完成所有工作所需的预</a:t>
            </a:r>
          </a:p>
          <a:p>
            <a:pPr>
              <a:defRPr sz="1700"/>
            </a:pPr>
            <a:r>
              <a:t>如果未来工作将按计</a:t>
            </a:r>
          </a:p>
          <a:p>
            <a:pPr>
              <a:defRPr sz="1700"/>
            </a:pPr>
            <a:r>
              <a:t>EAC=AC+（BAC-</a:t>
            </a:r>
          </a:p>
          <a:p>
            <a:pPr>
              <a:defRPr sz="1700"/>
            </a:pPr>
            <a:r>
              <a:t>完工</a:t>
            </a:r>
          </a:p>
          <a:p>
            <a:pPr>
              <a:defRPr sz="1700"/>
            </a:pPr>
            <a:r>
              <a:t>期总成本，等于截至目</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(48)</a:t>
            </a:r>
          </a:p>
        </p:txBody>
      </p:sp>
      <p:sp>
        <p:nvSpPr>
          <p:cNvPr id="3" name="Content Placeholder 2"/>
          <p:cNvSpPr>
            <a:spLocks noGrp="1"/>
          </p:cNvSpPr>
          <p:nvPr>
            <p:ph idx="1"/>
          </p:nvPr>
        </p:nvSpPr>
        <p:spPr/>
        <p:txBody>
          <a:bodyPr wrap="square"/>
          <a:lstStyle/>
          <a:p>
            <a:pPr>
              <a:defRPr sz="1700"/>
            </a:pPr>
            <a:r>
              <a:t>划速度完成</a:t>
            </a:r>
          </a:p>
          <a:p>
            <a:pPr>
              <a:defRPr sz="1700"/>
            </a:pPr>
            <a:r>
              <a:t>EV)</a:t>
            </a:r>
          </a:p>
          <a:p>
            <a:pPr>
              <a:defRPr sz="1700"/>
            </a:pPr>
            <a:r>
              <a:t>EAC</a:t>
            </a:r>
          </a:p>
          <a:p>
            <a:pPr>
              <a:defRPr sz="1700"/>
            </a:pPr>
            <a:r>
              <a:t>估算</a:t>
            </a:r>
          </a:p>
          <a:p>
            <a:pPr>
              <a:defRPr sz="1700"/>
            </a:pPr>
            <a:r>
              <a:t>前的实际成本加上完工</a:t>
            </a:r>
          </a:p>
          <a:p>
            <a:pPr>
              <a:defRPr sz="1700"/>
            </a:pPr>
            <a:r>
              <a:t>如果最初计划不再</a:t>
            </a:r>
          </a:p>
          <a:p>
            <a:pPr>
              <a:defRPr sz="1700"/>
            </a:pPr>
            <a:r>
              <a:t>EAC=AC+自下而上</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(49)</a:t>
            </a:r>
          </a:p>
        </p:txBody>
      </p:sp>
      <p:sp>
        <p:nvSpPr>
          <p:cNvPr id="3" name="Content Placeholder 2"/>
          <p:cNvSpPr>
            <a:spLocks noGrp="1"/>
          </p:cNvSpPr>
          <p:nvPr>
            <p:ph idx="1"/>
          </p:nvPr>
        </p:nvSpPr>
        <p:spPr/>
        <p:txBody>
          <a:bodyPr wrap="square"/>
          <a:lstStyle/>
          <a:p>
            <a:pPr>
              <a:defRPr sz="1700"/>
            </a:pPr>
            <a:r>
              <a:t>尚需估算</a:t>
            </a:r>
          </a:p>
          <a:p>
            <a:pPr>
              <a:defRPr sz="1700"/>
            </a:pPr>
            <a:r>
              <a:t>有效</a:t>
            </a:r>
          </a:p>
          <a:p>
            <a:pPr>
              <a:defRPr sz="1700"/>
            </a:pPr>
            <a:r>
              <a:t>的ETC</a:t>
            </a:r>
          </a:p>
          <a:p>
            <a:pPr>
              <a:defRPr sz="1700"/>
            </a:pPr>
            <a:r>
              <a:t>如果CPI和SPI都会</a:t>
            </a:r>
          </a:p>
          <a:p>
            <a:pPr>
              <a:defRPr sz="1700"/>
            </a:pPr>
            <a:r>
              <a:t>EAC=AC+（BAC-</a:t>
            </a:r>
          </a:p>
          <a:p>
            <a:pPr>
              <a:defRPr sz="1700"/>
            </a:pPr>
            <a:r>
              <a:t>影响剩余工作</a:t>
            </a:r>
          </a:p>
          <a:p>
            <a:pPr>
              <a:defRPr sz="1700"/>
            </a:pPr>
            <a:r>
              <a:t>EV）/(CPIXSPI)</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(50)</a:t>
            </a:r>
          </a:p>
        </p:txBody>
      </p:sp>
      <p:sp>
        <p:nvSpPr>
          <p:cNvPr id="3" name="Content Placeholder 2"/>
          <p:cNvSpPr>
            <a:spLocks noGrp="1"/>
          </p:cNvSpPr>
          <p:nvPr>
            <p:ph idx="1"/>
          </p:nvPr>
        </p:nvSpPr>
        <p:spPr/>
        <p:txBody>
          <a:bodyPr wrap="square"/>
          <a:lstStyle/>
          <a:p>
            <a:pPr>
              <a:defRPr sz="1700"/>
            </a:pPr>
            <a:r>
              <a:t>第11章项目成本管理</a:t>
            </a:r>
          </a:p>
          <a:p>
            <a:pPr>
              <a:defRPr sz="1700"/>
            </a:pPr>
            <a:r>
              <a:t>355</a:t>
            </a:r>
          </a:p>
          <a:p>
            <a:pPr>
              <a:defRPr sz="1700"/>
            </a:pPr>
            <a:r>
              <a:t>(续表）</a:t>
            </a:r>
          </a:p>
          <a:p>
            <a:pPr>
              <a:defRPr sz="1700"/>
            </a:pPr>
            <a:r>
              <a:t>缩写</a:t>
            </a:r>
          </a:p>
          <a:p>
            <a:pPr>
              <a:defRPr sz="1700"/>
            </a:pPr>
            <a:r>
              <a:t>名称</a:t>
            </a:r>
          </a:p>
          <a:p>
            <a:pPr>
              <a:defRPr sz="1700"/>
            </a:pPr>
            <a:r>
              <a:t>词汇定义</a:t>
            </a:r>
          </a:p>
          <a:p>
            <a:pPr>
              <a:defRPr sz="1700"/>
            </a:pPr>
            <a:r>
              <a:t>使用方法</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(51)</a:t>
            </a:r>
          </a:p>
        </p:txBody>
      </p:sp>
      <p:sp>
        <p:nvSpPr>
          <p:cNvPr id="3" name="Content Placeholder 2"/>
          <p:cNvSpPr>
            <a:spLocks noGrp="1"/>
          </p:cNvSpPr>
          <p:nvPr>
            <p:ph idx="1"/>
          </p:nvPr>
        </p:nvSpPr>
        <p:spPr/>
        <p:txBody>
          <a:bodyPr wrap="square"/>
          <a:lstStyle/>
          <a:p>
            <a:pPr>
              <a:defRPr sz="1700"/>
            </a:pPr>
            <a:r>
              <a:t>公式</a:t>
            </a:r>
          </a:p>
          <a:p>
            <a:pPr>
              <a:defRPr sz="1700"/>
            </a:pPr>
            <a:r>
              <a:t>结果说明</a:t>
            </a:r>
          </a:p>
          <a:p>
            <a:pPr>
              <a:defRPr sz="1700"/>
            </a:pPr>
            <a:r>
              <a:t>假设工作继续按计划</a:t>
            </a:r>
          </a:p>
          <a:p>
            <a:pPr>
              <a:defRPr sz="1700"/>
            </a:pPr>
            <a:r>
              <a:t>完工</a:t>
            </a:r>
          </a:p>
          <a:p>
            <a:pPr>
              <a:defRPr sz="1700"/>
            </a:pPr>
            <a:r>
              <a:t>ETC=EAC-AC</a:t>
            </a:r>
          </a:p>
          <a:p>
            <a:pPr>
              <a:defRPr sz="1700"/>
            </a:pPr>
            <a:r>
              <a:t>完成所有剩余项目工作 进行</a:t>
            </a:r>
          </a:p>
          <a:p>
            <a:pPr>
              <a:defRPr sz="1700"/>
            </a:pPr>
            <a:r>
              <a:t>ETC</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(52)</a:t>
            </a:r>
          </a:p>
        </p:txBody>
      </p:sp>
      <p:sp>
        <p:nvSpPr>
          <p:cNvPr id="3" name="Content Placeholder 2"/>
          <p:cNvSpPr>
            <a:spLocks noGrp="1"/>
          </p:cNvSpPr>
          <p:nvPr>
            <p:ph idx="1"/>
          </p:nvPr>
        </p:nvSpPr>
        <p:spPr/>
        <p:txBody>
          <a:bodyPr wrap="square"/>
          <a:lstStyle/>
          <a:p>
            <a:pPr>
              <a:defRPr sz="1700"/>
            </a:pPr>
            <a:r>
              <a:t>尚需</a:t>
            </a:r>
          </a:p>
          <a:p>
            <a:pPr>
              <a:defRPr sz="1700"/>
            </a:pPr>
            <a:r>
              <a:t>的预计成本</a:t>
            </a:r>
          </a:p>
          <a:p>
            <a:pPr>
              <a:defRPr sz="1700"/>
            </a:pPr>
            <a:r>
              <a:t>重新自下而上估算剩</a:t>
            </a:r>
          </a:p>
          <a:p>
            <a:pPr>
              <a:defRPr sz="1700"/>
            </a:pPr>
            <a:r>
              <a:t>估算</a:t>
            </a:r>
          </a:p>
          <a:p>
            <a:pPr>
              <a:defRPr sz="1700"/>
            </a:pPr>
            <a:r>
              <a:t>ETC=重新估算</a:t>
            </a:r>
          </a:p>
          <a:p>
            <a:pPr>
              <a:defRPr sz="1700"/>
            </a:pPr>
            <a:r>
              <a:t>余工作</a:t>
            </a:r>
          </a:p>
          <a:p>
            <a:pPr>
              <a:defRPr sz="1700"/>
            </a:pPr>
            <a:r>
              <a:t>为了实现特定的管理目</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(53)</a:t>
            </a:r>
          </a:p>
        </p:txBody>
      </p:sp>
      <p:sp>
        <p:nvSpPr>
          <p:cNvPr id="3" name="Content Placeholder 2"/>
          <p:cNvSpPr>
            <a:spLocks noGrp="1"/>
          </p:cNvSpPr>
          <p:nvPr>
            <p:ph idx="1"/>
          </p:nvPr>
        </p:nvSpPr>
        <p:spPr/>
        <p:txBody>
          <a:bodyPr wrap="square"/>
          <a:lstStyle/>
          <a:p>
            <a:pPr>
              <a:defRPr sz="1700"/>
            </a:pPr>
            <a:r>
              <a:t>为完成计划必须保持</a:t>
            </a:r>
          </a:p>
          <a:p>
            <a:pPr>
              <a:defRPr sz="1700"/>
            </a:pPr>
            <a:r>
              <a:t>TCPI=（BAC-EV）/</a:t>
            </a:r>
          </a:p>
          <a:p>
            <a:pPr>
              <a:defRPr sz="1700"/>
            </a:pPr>
            <a:r>
              <a:t>完工</a:t>
            </a:r>
          </a:p>
          <a:p>
            <a:pPr>
              <a:defRPr sz="1700"/>
            </a:pPr>
            <a:r>
              <a:t>标，剩余资源的使用</a:t>
            </a:r>
          </a:p>
          <a:p>
            <a:pPr>
              <a:defRPr sz="1700"/>
            </a:pPr>
            <a:r>
              <a:t>的效率</a:t>
            </a:r>
          </a:p>
          <a:p>
            <a:pPr>
              <a:defRPr sz="1700"/>
            </a:pPr>
            <a:r>
              <a:t>(BAC-AC)</a:t>
            </a:r>
          </a:p>
          <a:p>
            <a:pPr>
              <a:defRPr sz="1700"/>
            </a:pPr>
            <a:r>
              <a:t>大于1=难以完成</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(54)</a:t>
            </a:r>
          </a:p>
        </p:txBody>
      </p:sp>
      <p:sp>
        <p:nvSpPr>
          <p:cNvPr id="3" name="Content Placeholder 2"/>
          <p:cNvSpPr>
            <a:spLocks noGrp="1"/>
          </p:cNvSpPr>
          <p:nvPr>
            <p:ph idx="1"/>
          </p:nvPr>
        </p:nvSpPr>
        <p:spPr/>
        <p:txBody>
          <a:bodyPr wrap="square"/>
          <a:lstStyle/>
          <a:p>
            <a:pPr>
              <a:defRPr sz="1700"/>
            </a:pPr>
            <a:r>
              <a:t>尚需</a:t>
            </a:r>
          </a:p>
          <a:p>
            <a:pPr>
              <a:defRPr sz="1700"/>
            </a:pPr>
            <a:r>
              <a:t>TCPI</a:t>
            </a:r>
          </a:p>
          <a:p>
            <a:pPr>
              <a:defRPr sz="1700"/>
            </a:pPr>
            <a:r>
              <a:t>必须达成的成本绩效指</a:t>
            </a:r>
          </a:p>
          <a:p>
            <a:pPr>
              <a:defRPr sz="1700"/>
            </a:pPr>
            <a:r>
              <a:t>正好1=正好完成</a:t>
            </a:r>
          </a:p>
          <a:p>
            <a:pPr>
              <a:defRPr sz="1700"/>
            </a:pPr>
            <a:r>
              <a:t>绩效</a:t>
            </a:r>
          </a:p>
          <a:p>
            <a:pPr>
              <a:defRPr sz="1700"/>
            </a:pPr>
            <a:r>
              <a:t>未完成当前完工估算</a:t>
            </a:r>
          </a:p>
          <a:p>
            <a:pPr>
              <a:defRPr sz="1700"/>
            </a:pPr>
            <a:r>
              <a:t>TCPI=（BAC-EV）</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(55)</a:t>
            </a:r>
          </a:p>
        </p:txBody>
      </p:sp>
      <p:sp>
        <p:nvSpPr>
          <p:cNvPr id="3" name="Content Placeholder 2"/>
          <p:cNvSpPr>
            <a:spLocks noGrp="1"/>
          </p:cNvSpPr>
          <p:nvPr>
            <p:ph idx="1"/>
          </p:nvPr>
        </p:nvSpPr>
        <p:spPr/>
        <p:txBody>
          <a:bodyPr wrap="square"/>
          <a:lstStyle/>
          <a:p>
            <a:pPr>
              <a:defRPr sz="1700"/>
            </a:pPr>
            <a:r>
              <a:t>标，是完成剩余工作所</a:t>
            </a:r>
          </a:p>
          <a:p>
            <a:pPr>
              <a:defRPr sz="1700"/>
            </a:pPr>
            <a:r>
              <a:t>小于1=轻易完成</a:t>
            </a:r>
          </a:p>
          <a:p>
            <a:pPr>
              <a:defRPr sz="1700"/>
            </a:pPr>
            <a:r>
              <a:t>指数</a:t>
            </a:r>
          </a:p>
          <a:p>
            <a:pPr>
              <a:defRPr sz="1700"/>
            </a:pPr>
            <a:r>
              <a:t>必须保持的效率</a:t>
            </a:r>
          </a:p>
          <a:p>
            <a:pPr>
              <a:defRPr sz="1700"/>
            </a:pPr>
            <a:r>
              <a:t>(EAC-AC)</a:t>
            </a:r>
          </a:p>
          <a:p>
            <a:pPr>
              <a:defRPr sz="1700"/>
            </a:pPr>
            <a:r>
              <a:t>需成本与可用预算之比</a:t>
            </a:r>
          </a:p>
          <a:p>
            <a:pPr>
              <a:defRPr sz="1700"/>
            </a:pPr>
            <a:r>
              <a:t>4.项目管理信息系统</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(56)</a:t>
            </a:r>
          </a:p>
        </p:txBody>
      </p:sp>
      <p:sp>
        <p:nvSpPr>
          <p:cNvPr id="3" name="Content Placeholder 2"/>
          <p:cNvSpPr>
            <a:spLocks noGrp="1"/>
          </p:cNvSpPr>
          <p:nvPr>
            <p:ph idx="1"/>
          </p:nvPr>
        </p:nvSpPr>
        <p:spPr/>
        <p:txBody>
          <a:bodyPr wrap="square"/>
          <a:lstStyle/>
          <a:p>
            <a:pPr>
              <a:defRPr sz="1700"/>
            </a:pPr>
            <a:r>
              <a:t>项目管理信息系统常用于监测PV、EV和AC这三个挣值分析指标、绘制趋势图，并预测</a:t>
            </a:r>
          </a:p>
          <a:p>
            <a:pPr>
              <a:defRPr sz="1700"/>
            </a:pPr>
            <a:r>
              <a:t>最终项目结果的可能区间。</a:t>
            </a:r>
          </a:p>
          <a:p>
            <a:pPr>
              <a:defRPr sz="1700"/>
            </a:pPr>
            <a:r>
              <a:t>11.6.3输出</a:t>
            </a:r>
          </a:p>
          <a:p>
            <a:pPr>
              <a:defRPr sz="1700"/>
            </a:pPr>
            <a:r>
              <a:t>1.工作绩效信息</a:t>
            </a:r>
          </a:p>
          <a:p>
            <a:pPr>
              <a:defRPr sz="1700"/>
            </a:pPr>
            <a:r>
              <a:t>工作绩效信息包括有关项目工作实施情况的信息（对照成本基准），可以在工作包层级和控</a:t>
            </a:r>
          </a:p>
          <a:p>
            <a:pPr>
              <a:defRPr sz="1700"/>
            </a:pPr>
            <a:r>
              <a:t>制账户层级上评估已执行的工作和工作成本方面的偏差。对于使用挣值分析的项目，CV、CPI、</a:t>
            </a:r>
          </a:p>
          <a:p>
            <a:pPr>
              <a:defRPr sz="1700"/>
            </a:pPr>
            <a:r>
              <a:t>EAC、VAC和TCPI将记录在工作绩效报告中。</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(57)</a:t>
            </a:r>
          </a:p>
        </p:txBody>
      </p:sp>
      <p:sp>
        <p:nvSpPr>
          <p:cNvPr id="3" name="Content Placeholder 2"/>
          <p:cNvSpPr>
            <a:spLocks noGrp="1"/>
          </p:cNvSpPr>
          <p:nvPr>
            <p:ph idx="1"/>
          </p:nvPr>
        </p:nvSpPr>
        <p:spPr/>
        <p:txBody>
          <a:bodyPr wrap="square"/>
          <a:lstStyle/>
          <a:p>
            <a:pPr>
              <a:defRPr sz="1700"/>
            </a:pPr>
            <a:r>
              <a:t>2.成本预测</a:t>
            </a:r>
          </a:p>
          <a:p>
            <a:pPr>
              <a:defRPr sz="1700"/>
            </a:pPr>
            <a:r>
              <a:t>无论是计算得出的EAC值，还是自下而上估算的EAC值，都需要记录下来，并传达给干</a:t>
            </a:r>
          </a:p>
          <a:p>
            <a:pPr>
              <a:defRPr sz="1700"/>
            </a:pPr>
            <a:r>
              <a:t>系人。</a:t>
            </a:r>
          </a:p>
          <a:p>
            <a:pPr>
              <a:defRPr sz="1700"/>
            </a:pPr>
            <a:r>
              <a:t>3.变更请求</a:t>
            </a:r>
          </a:p>
          <a:p>
            <a:pPr>
              <a:defRPr sz="1700"/>
            </a:pPr>
            <a:r>
              <a:t>分析项目绩效后，可能会就成本基准和进度基准，或项目管理计划的其他组成部分提出变</a:t>
            </a:r>
          </a:p>
          <a:p>
            <a:pPr>
              <a:defRPr sz="1700"/>
            </a:pPr>
            <a:r>
              <a:t>更请求。应该通过实施整体变更控制过程对变更请求进行审查和处理。</a:t>
            </a:r>
          </a:p>
          <a:p>
            <a:pPr>
              <a:defRPr sz="1700"/>
            </a:pPr>
            <a:r>
              <a:t>4.项目管理计划（更新）</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(58)</a:t>
            </a:r>
          </a:p>
        </p:txBody>
      </p:sp>
      <p:sp>
        <p:nvSpPr>
          <p:cNvPr id="3" name="Content Placeholder 2"/>
          <p:cNvSpPr>
            <a:spLocks noGrp="1"/>
          </p:cNvSpPr>
          <p:nvPr>
            <p:ph idx="1"/>
          </p:nvPr>
        </p:nvSpPr>
        <p:spPr/>
        <p:txBody>
          <a:bodyPr wrap="square"/>
          <a:lstStyle/>
          <a:p>
            <a:pPr>
              <a:defRPr sz="1700"/>
            </a:pPr>
            <a:r>
              <a:t>项目管理计划的任何变更都以变更请求的形式提出，且通过组织的变更控制过程进行处理，</a:t>
            </a:r>
          </a:p>
          <a:p>
            <a:pPr>
              <a:defRPr sz="1700"/>
            </a:pPr>
            <a:r>
              <a:t>需要变更请求的项目管理计划组成部分包括：</a:t>
            </a:r>
          </a:p>
          <a:p>
            <a:pPr lvl="1">
              <a:defRPr sz="1700"/>
            </a:pPr>
            <a:r>
              <a:t>成本管理计划：该计划中需要更新的内容包括用于管理项目成本的控制临界值或所要求</a:t>
            </a:r>
          </a:p>
          <a:p>
            <a:pPr>
              <a:defRPr sz="1700"/>
            </a:pPr>
            <a:r>
              <a:t>的准确度。要根据干系人的反馈意见，对它们进行更新。</a:t>
            </a:r>
          </a:p>
          <a:p>
            <a:pPr>
              <a:defRPr sz="1700"/>
            </a:pPr>
            <a:r>
              <a:t>成本基准：在针对范围、资源或成本估算的变更获得批准后，需要对成本基准做出相应</a:t>
            </a:r>
          </a:p>
          <a:p>
            <a:pPr>
              <a:defRPr sz="1700"/>
            </a:pPr>
            <a:r>
              <a:t>的变更。在某些情况下，成本偏差可能太过严重，以至于需要修订成本基准，以便为绩</a:t>
            </a:r>
          </a:p>
          <a:p>
            <a:pPr>
              <a:defRPr sz="1700"/>
            </a:pPr>
            <a:r>
              <a:t>效测量提供现实可行的依据。</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(59)</a:t>
            </a:r>
          </a:p>
        </p:txBody>
      </p:sp>
      <p:sp>
        <p:nvSpPr>
          <p:cNvPr id="3" name="Content Placeholder 2"/>
          <p:cNvSpPr>
            <a:spLocks noGrp="1"/>
          </p:cNvSpPr>
          <p:nvPr>
            <p:ph idx="1"/>
          </p:nvPr>
        </p:nvSpPr>
        <p:spPr/>
        <p:txBody>
          <a:bodyPr wrap="square"/>
          <a:lstStyle/>
          <a:p>
            <a:pPr>
              <a:defRPr sz="1700"/>
            </a:pPr>
            <a:r>
              <a:t>356</a:t>
            </a:r>
          </a:p>
          <a:p>
            <a:pPr>
              <a:defRPr sz="1700"/>
            </a:pPr>
            <a:r>
              <a:t>绩效测量基准：在针对范围、进度绩效或成本估算的变更获得批准后，需要对绩效测量</a:t>
            </a:r>
          </a:p>
          <a:p>
            <a:pPr>
              <a:defRPr sz="1700"/>
            </a:pPr>
            <a:r>
              <a:t>基准做出相应的变更。在某些情况下，绩效偏差可能太过严重，以至于需要提出变更请</a:t>
            </a:r>
          </a:p>
          <a:p>
            <a:pPr>
              <a:defRPr sz="1700"/>
            </a:pPr>
            <a:r>
              <a:t>求来修订绩效测量基准，以便为绩效测量提供现实可行的依据。</a:t>
            </a:r>
          </a:p>
          <a:p>
            <a:pPr>
              <a:defRPr sz="1700"/>
            </a:pPr>
            <a:r>
              <a:t>5.项目文件（更新）</a:t>
            </a:r>
          </a:p>
          <a:p>
            <a:pPr>
              <a:defRPr sz="1700"/>
            </a:pPr>
            <a:r>
              <a:t>可在控制成本过程更新的项目文件主要包括：</a:t>
            </a:r>
          </a:p>
          <a:p>
            <a:pPr lvl="1">
              <a:defRPr sz="1700"/>
            </a:pPr>
            <a:r>
              <a:t>假设日志：成本绩效可能表明需要重新修订有关资源生产率和其他影响成本绩效因素的</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(60)</a:t>
            </a:r>
          </a:p>
        </p:txBody>
      </p:sp>
      <p:sp>
        <p:nvSpPr>
          <p:cNvPr id="3" name="Content Placeholder 2"/>
          <p:cNvSpPr>
            <a:spLocks noGrp="1"/>
          </p:cNvSpPr>
          <p:nvPr>
            <p:ph idx="1"/>
          </p:nvPr>
        </p:nvSpPr>
        <p:spPr/>
        <p:txBody>
          <a:bodyPr wrap="square"/>
          <a:lstStyle/>
          <a:p>
            <a:pPr>
              <a:defRPr sz="1700"/>
            </a:pPr>
            <a:r>
              <a:t>假设条件。</a:t>
            </a:r>
          </a:p>
          <a:p>
            <a:pPr>
              <a:defRPr sz="1700"/>
            </a:pPr>
            <a:r>
              <a:t>估算依据：成本绩效可能表明需要重新审查初始估算依据。</a:t>
            </a:r>
          </a:p>
          <a:p>
            <a:pPr>
              <a:defRPr sz="1700"/>
            </a:pPr>
            <a:r>
              <a:t>成本估算：可能需要更新成本估算，以反映项目的实际成本效率。</a:t>
            </a:r>
          </a:p>
          <a:p>
            <a:pPr>
              <a:defRPr sz="1700"/>
            </a:pPr>
            <a:r>
              <a:t>经验教训登记册：有效维护预算、偏差分析、挣值分析、预测，以及应对成本偏差的纠</a:t>
            </a:r>
          </a:p>
          <a:p>
            <a:pPr>
              <a:defRPr sz="1700"/>
            </a:pPr>
            <a:r>
              <a:t>正措施的相关技术，应当更新在经验教训登记册中。</a:t>
            </a:r>
          </a:p>
          <a:p>
            <a:pPr>
              <a:defRPr sz="1700"/>
            </a:pPr>
            <a:r>
              <a:t>风险登记册：如果出现成本偏差，或成本可能达到临界值，则应更新风险登记册。</a:t>
            </a:r>
          </a:p>
          <a:p>
            <a:pPr>
              <a:defRPr sz="1700"/>
            </a:pP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内容详情 (67)</a:t>
            </a:r>
          </a:p>
        </p:txBody>
      </p:sp>
      <p:sp>
        <p:nvSpPr>
          <p:cNvPr id="3" name="Content Placeholder 2"/>
          <p:cNvSpPr>
            <a:spLocks noGrp="1"/>
          </p:cNvSpPr>
          <p:nvPr>
            <p:ph idx="1"/>
          </p:nvPr>
        </p:nvSpPr>
        <p:spPr/>
        <p:txBody>
          <a:bodyPr wrap="square"/>
          <a:lstStyle/>
          <a:p>
            <a:pPr>
              <a:defRPr sz="1700"/>
            </a:pPr>
            <a:r>
              <a:t>大帮助。</a:t>
            </a:r>
          </a:p>
          <a:p>
            <a:pPr>
              <a:defRPr sz="1700"/>
            </a:pPr>
            <a:r>
              <a:t>（）</a:t>
            </a:r>
          </a:p>
          <a:p>
            <a:pPr>
              <a:defRPr sz="1700"/>
            </a:pPr>
            <a:r>
              <a:t>（3）自上而下估算的准确性及其本身所需的成本，通常取决于单个活动或工作包的规模或</a:t>
            </a:r>
          </a:p>
          <a:p>
            <a:pPr>
              <a:defRPr sz="1700"/>
            </a:pPr>
            <a:r>
              <a:t>其他属性。</a:t>
            </a:r>
          </a:p>
          <a:p>
            <a:pPr>
              <a:defRPr sz="1700"/>
            </a:pPr>
            <a:r>
              <a:t>（）</a:t>
            </a:r>
          </a:p>
          <a:p>
            <a:pPr>
              <a:defRPr sz="1700"/>
            </a:pPr>
            <a:r>
              <a:t>参考答案：（1）×（2）√（3）×</a:t>
            </a:r>
          </a:p>
          <a:p>
            <a:pPr>
              <a:defRPr sz="1700"/>
            </a:pPr>
            <a:r>
              <a:t>3.思考题</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themeOverride>
</file>

<file path=ppt/theme/themeOverride2.xml><?xml version="1.0" encoding="utf-8"?>
<a:themeOverride xmlns:a="http://schemas.openxmlformats.org/drawingml/2006/main">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themeOverride>
</file>

<file path=ppt/theme/themeOverride3.xml><?xml version="1.0" encoding="utf-8"?>
<a:themeOverride xmlns:a="http://schemas.openxmlformats.org/drawingml/2006/main">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themeOverride>
</file>

<file path=ppt/theme/themeOverride4.xml><?xml version="1.0" encoding="utf-8"?>
<a:themeOverride xmlns:a="http://schemas.openxmlformats.org/drawingml/2006/main">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themeOverride>
</file>

<file path=ppt/theme/themeOverride5.xml><?xml version="1.0" encoding="utf-8"?>
<a:themeOverride xmlns:a="http://schemas.openxmlformats.org/drawingml/2006/main">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themeOverride>
</file>

<file path=docProps/app.xml><?xml version="1.0" encoding="utf-8"?>
<Properties xmlns="http://schemas.openxmlformats.org/officeDocument/2006/extended-properties" xmlns:vt="http://schemas.openxmlformats.org/officeDocument/2006/docPropsVTypes">
  <TotalTime>0</TotalTime>
  <Words>21285</Words>
  <Application>WPS 演示</Application>
  <PresentationFormat>全屏显示(4:3)</PresentationFormat>
  <Paragraphs>1099</Paragraphs>
  <Slides>107</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107</vt:i4>
      </vt:variant>
    </vt:vector>
  </HeadingPairs>
  <TitlesOfParts>
    <vt:vector size="119" baseType="lpstr">
      <vt:lpstr>Arial</vt:lpstr>
      <vt:lpstr>宋体</vt:lpstr>
      <vt:lpstr>Wingdings</vt:lpstr>
      <vt:lpstr>微软雅黑</vt:lpstr>
      <vt:lpstr>Arial Unicode MS</vt:lpstr>
      <vt:lpstr>等线 Light</vt:lpstr>
      <vt:lpstr>Calibri Light</vt:lpstr>
      <vt:lpstr>等线</vt:lpstr>
      <vt:lpstr>Calibri</vt:lpstr>
      <vt:lpstr>Times New Roman</vt:lpstr>
      <vt:lpstr>Wingdings</vt:lpstr>
      <vt:lpstr>Office Theme</vt:lpstr>
      <vt:lpstr>PowerPoint 演示文稿</vt:lpstr>
      <vt:lpstr>信息系统项目的进度管理</vt:lpstr>
      <vt:lpstr>信息系统项目的成本管理</vt:lpstr>
      <vt:lpstr>信息系统项目的成本管理</vt:lpstr>
      <vt:lpstr>信息系统项目的成本管理</vt:lpstr>
      <vt:lpstr>信息系统项目的成本管理</vt:lpstr>
      <vt:lpstr>信息系统项目的成本管理</vt:lpstr>
      <vt:lpstr>信息系统项目的成本管理</vt:lpstr>
      <vt:lpstr>信息系统项目的成本管理</vt:lpstr>
      <vt:lpstr>信息系统项目的成本管理</vt:lpstr>
      <vt:lpstr>信息系统项目的成本管理</vt:lpstr>
      <vt:lpstr>信息系统项目的成本管理</vt:lpstr>
      <vt:lpstr>11.3 内容详情 (1)</vt:lpstr>
      <vt:lpstr>11.3 内容详情 (4)</vt:lpstr>
      <vt:lpstr>11.3 内容详情 (8)</vt:lpstr>
      <vt:lpstr>11.3 内容详情 (9)</vt:lpstr>
      <vt:lpstr>11.3 内容详情 (10)</vt:lpstr>
      <vt:lpstr>11.4 内容详情 (1)</vt:lpstr>
      <vt:lpstr>11.4 内容详情 (5)</vt:lpstr>
      <vt:lpstr>11.4 内容详情 (8)</vt:lpstr>
      <vt:lpstr>11.4 内容详情 (9)</vt:lpstr>
      <vt:lpstr>11.4 内容详情 (12)</vt:lpstr>
      <vt:lpstr>11.4 内容详情 (14)</vt:lpstr>
      <vt:lpstr>11.4 内容详情 (15)</vt:lpstr>
      <vt:lpstr>11.4 内容详情 (17)</vt:lpstr>
      <vt:lpstr>11.4 内容详情 (20)</vt:lpstr>
      <vt:lpstr>11.4 内容详情 (21)</vt:lpstr>
      <vt:lpstr>11.4 内容详情 (22)</vt:lpstr>
      <vt:lpstr>11.5 内容详情 (1)</vt:lpstr>
      <vt:lpstr>11.5 内容详情 (7)</vt:lpstr>
      <vt:lpstr>11.5 内容详情 (9)</vt:lpstr>
      <vt:lpstr>11.5 内容详情 (11)</vt:lpstr>
      <vt:lpstr>11.5 内容详情 (13)</vt:lpstr>
      <vt:lpstr>11.5 内容详情 (14)</vt:lpstr>
      <vt:lpstr>11.5 内容详情 (15)</vt:lpstr>
      <vt:lpstr>11.5 内容详情 (16)</vt:lpstr>
      <vt:lpstr>11.5 内容详情 (17)</vt:lpstr>
      <vt:lpstr>11.5 内容详情 (18)</vt:lpstr>
      <vt:lpstr>11.5 内容详情 (19)</vt:lpstr>
      <vt:lpstr>11.5 内容详情 (20)</vt:lpstr>
      <vt:lpstr>11.5 内容详情 (21)</vt:lpstr>
      <vt:lpstr>11.5 内容详情 (22)</vt:lpstr>
      <vt:lpstr>11.6 控制成本 - ITTO</vt:lpstr>
      <vt:lpstr>11.6 内容详情 (1)</vt:lpstr>
      <vt:lpstr>11.6 内容详情 (2)</vt:lpstr>
      <vt:lpstr>11.6 内容详情 (3)</vt:lpstr>
      <vt:lpstr>11.6 内容详情 (4)</vt:lpstr>
      <vt:lpstr>11.6 内容详情 (5)</vt:lpstr>
      <vt:lpstr>11.6 内容详情 (6)</vt:lpstr>
      <vt:lpstr>11.6 内容详情 (7)</vt:lpstr>
      <vt:lpstr>11.6 挣值、计划价值和实际成本</vt:lpstr>
      <vt:lpstr>11.6 内容详情 (8)</vt:lpstr>
      <vt:lpstr>11.6 内容详情 (9)</vt:lpstr>
      <vt:lpstr>11.6 表11-2挣值计算汇总表 (1)</vt:lpstr>
      <vt:lpstr>11.6 表11-2挣值计算汇总表 (2)</vt:lpstr>
      <vt:lpstr>11.6 内容详情 (10)</vt:lpstr>
      <vt:lpstr>11.6 内容详情 (11)</vt:lpstr>
      <vt:lpstr>11.6 内容详情 (12)</vt:lpstr>
      <vt:lpstr>11.6 内容详情 (13)</vt:lpstr>
      <vt:lpstr>11.6 内容详情 (14)</vt:lpstr>
      <vt:lpstr>11.6 内容详情 (15)</vt:lpstr>
      <vt:lpstr>11.6 内容详情 (16)</vt:lpstr>
      <vt:lpstr>11.6 内容详情 (17)</vt:lpstr>
      <vt:lpstr>11.6 内容详情 (18)</vt:lpstr>
      <vt:lpstr>11.6 内容详情 (19)</vt:lpstr>
      <vt:lpstr>11.6 内容详情 (20)</vt:lpstr>
      <vt:lpstr>11.6 内容详情 (21)</vt:lpstr>
      <vt:lpstr>11.6 内容详情 (22)</vt:lpstr>
      <vt:lpstr>11.6 内容详情 (23)</vt:lpstr>
      <vt:lpstr>11.6 内容详情 (24)</vt:lpstr>
      <vt:lpstr>11.6 内容详情 (25)</vt:lpstr>
      <vt:lpstr>11.6 内容详情 (26)</vt:lpstr>
      <vt:lpstr>11.6 内容详情 (27)</vt:lpstr>
      <vt:lpstr>11.6 内容详情 (28)</vt:lpstr>
      <vt:lpstr>11.6 内容详情 (29)</vt:lpstr>
      <vt:lpstr>11.6 内容详情 (30)</vt:lpstr>
      <vt:lpstr>11.6 内容详情 (31)</vt:lpstr>
      <vt:lpstr>11.6 内容详情 (32)</vt:lpstr>
      <vt:lpstr>11.6 内容详情 (33)</vt:lpstr>
      <vt:lpstr>11.6 内容详情 (34)</vt:lpstr>
      <vt:lpstr>11.6 内容详情 (35)</vt:lpstr>
      <vt:lpstr>11.6 内容详情 (36)</vt:lpstr>
      <vt:lpstr>11.6 内容详情 (37)</vt:lpstr>
      <vt:lpstr>11.6 内容详情 (38)</vt:lpstr>
      <vt:lpstr>11.6 内容详情 (39)</vt:lpstr>
      <vt:lpstr>11.6 内容详情 (40)</vt:lpstr>
      <vt:lpstr>11.6 内容详情 (41)</vt:lpstr>
      <vt:lpstr>11.6 内容详情 (42)</vt:lpstr>
      <vt:lpstr>11.6 内容详情 (43)</vt:lpstr>
      <vt:lpstr>11.6 内容详情 (44)</vt:lpstr>
      <vt:lpstr>11.6 内容详情 (45)</vt:lpstr>
      <vt:lpstr>11.6 内容详情 (46)</vt:lpstr>
      <vt:lpstr>11.6 内容详情 (47)</vt:lpstr>
      <vt:lpstr>11.6 内容详情 (48)</vt:lpstr>
      <vt:lpstr>11.6 内容详情 (49)</vt:lpstr>
      <vt:lpstr>11.6 内容详情 (50)</vt:lpstr>
      <vt:lpstr>11.6 内容详情 (51)</vt:lpstr>
      <vt:lpstr>11.6 内容详情 (52)</vt:lpstr>
      <vt:lpstr>11.6 内容详情 (53)</vt:lpstr>
      <vt:lpstr>11.6 内容详情 (54)</vt:lpstr>
      <vt:lpstr>11.6 内容详情 (55)</vt:lpstr>
      <vt:lpstr>11.6 内容详情 (56)</vt:lpstr>
      <vt:lpstr>11.6 内容详情 (57)</vt:lpstr>
      <vt:lpstr>11.6 内容详情 (58)</vt:lpstr>
      <vt:lpstr>11.6 内容详情 (59)</vt:lpstr>
      <vt:lpstr>11.6 内容详情 (60)</vt:lpstr>
      <vt:lpstr>11.6 内容详情 (67)</vt:lpstr>
    </vt:vector>
  </TitlesOfParts>
  <Company>RUC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十一五规划教材                                          《信息系统项目管理》讲义</dc:title>
  <dc:creator>Meiyun Zuo</dc:creator>
  <cp:lastModifiedBy>杨辉</cp:lastModifiedBy>
  <cp:revision>381</cp:revision>
  <dcterms:created xsi:type="dcterms:W3CDTF">2008-05-12T14:48:00Z</dcterms:created>
  <dcterms:modified xsi:type="dcterms:W3CDTF">2026-03-22T10:02:44Z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2052-12.1.0.25222</vt:lpwstr>
  </property>
  <property fmtid="{D5CDD505-2E9C-101B-9397-08002B2CF9AE}" pid="3" name="ICV">
    <vt:lpwstr>F507AE065A8E4A2D8989231FC6042DA6_12</vt:lpwstr>
  </property>
</Properties>
</file>