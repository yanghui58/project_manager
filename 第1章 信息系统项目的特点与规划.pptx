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2" r:id="rId1"/>
    <p:sldMasterId id="2147484033" r:id="rId2"/>
  </p:sldMasterIdLst>
  <p:notesMasterIdLst>
    <p:notesMasterId r:id="rId64"/>
  </p:notesMasterIdLst>
  <p:sldIdLst>
    <p:sldId id="327" r:id="rId3"/>
    <p:sldId id="390" r:id="rId4"/>
    <p:sldId id="391" r:id="rId5"/>
    <p:sldId id="393" r:id="rId6"/>
    <p:sldId id="256" r:id="rId7"/>
    <p:sldId id="320" r:id="rId8"/>
    <p:sldId id="257" r:id="rId9"/>
    <p:sldId id="402" r:id="rId10"/>
    <p:sldId id="287" r:id="rId11"/>
    <p:sldId id="288" r:id="rId12"/>
    <p:sldId id="292" r:id="rId13"/>
    <p:sldId id="258" r:id="rId14"/>
    <p:sldId id="293" r:id="rId15"/>
    <p:sldId id="294" r:id="rId16"/>
    <p:sldId id="295" r:id="rId17"/>
    <p:sldId id="259" r:id="rId18"/>
    <p:sldId id="296" r:id="rId19"/>
    <p:sldId id="395" r:id="rId20"/>
    <p:sldId id="297" r:id="rId21"/>
    <p:sldId id="396" r:id="rId22"/>
    <p:sldId id="398" r:id="rId23"/>
    <p:sldId id="397" r:id="rId24"/>
    <p:sldId id="403" r:id="rId25"/>
    <p:sldId id="399" r:id="rId26"/>
    <p:sldId id="322" r:id="rId27"/>
    <p:sldId id="261" r:id="rId28"/>
    <p:sldId id="299" r:id="rId29"/>
    <p:sldId id="300" r:id="rId30"/>
    <p:sldId id="301" r:id="rId31"/>
    <p:sldId id="262" r:id="rId32"/>
    <p:sldId id="302" r:id="rId33"/>
    <p:sldId id="303" r:id="rId34"/>
    <p:sldId id="304" r:id="rId35"/>
    <p:sldId id="305" r:id="rId36"/>
    <p:sldId id="263" r:id="rId37"/>
    <p:sldId id="306" r:id="rId38"/>
    <p:sldId id="323" r:id="rId39"/>
    <p:sldId id="264" r:id="rId40"/>
    <p:sldId id="401" r:id="rId41"/>
    <p:sldId id="307" r:id="rId42"/>
    <p:sldId id="309" r:id="rId43"/>
    <p:sldId id="324" r:id="rId44"/>
    <p:sldId id="283" r:id="rId45"/>
    <p:sldId id="308" r:id="rId46"/>
    <p:sldId id="284" r:id="rId47"/>
    <p:sldId id="310" r:id="rId48"/>
    <p:sldId id="311" r:id="rId49"/>
    <p:sldId id="312" r:id="rId50"/>
    <p:sldId id="325" r:id="rId51"/>
    <p:sldId id="265" r:id="rId52"/>
    <p:sldId id="285" r:id="rId53"/>
    <p:sldId id="313" r:id="rId54"/>
    <p:sldId id="314" r:id="rId55"/>
    <p:sldId id="316" r:id="rId56"/>
    <p:sldId id="315" r:id="rId57"/>
    <p:sldId id="266" r:id="rId58"/>
    <p:sldId id="317" r:id="rId59"/>
    <p:sldId id="286" r:id="rId60"/>
    <p:sldId id="318" r:id="rId61"/>
    <p:sldId id="326" r:id="rId62"/>
    <p:sldId id="329" r:id="rId6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9900CC"/>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487" y="55"/>
      </p:cViewPr>
      <p:guideLst>
        <p:guide orient="horz" pos="2160"/>
        <p:guide pos="288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Header Placeholder 1">
            <a:extLst>
              <a:ext uri="{FF2B5EF4-FFF2-40B4-BE49-F238E27FC236}">
                <a16:creationId xmlns:a16="http://schemas.microsoft.com/office/drawing/2014/main" id="{129DD74B-A075-42BB-8596-64AD56B6CFAA}"/>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buFont typeface="Arial" pitchFamily="34" charset="0"/>
              <a:buNone/>
              <a:defRPr sz="1200" b="0">
                <a:latin typeface="Arial" pitchFamily="34" charset="0"/>
              </a:defRPr>
            </a:lvl1pPr>
          </a:lstStyle>
          <a:p>
            <a:pPr>
              <a:defRPr/>
            </a:pPr>
            <a:endParaRPr lang="en-US" altLang="zh-CN"/>
          </a:p>
        </p:txBody>
      </p:sp>
      <p:sp>
        <p:nvSpPr>
          <p:cNvPr id="2051" name="Date Placeholder 2">
            <a:extLst>
              <a:ext uri="{FF2B5EF4-FFF2-40B4-BE49-F238E27FC236}">
                <a16:creationId xmlns:a16="http://schemas.microsoft.com/office/drawing/2014/main" id="{C6DB2D00-F101-4D9A-AC33-DD3B5D7FE3DE}"/>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buFont typeface="Arial" pitchFamily="34" charset="0"/>
              <a:buNone/>
              <a:defRPr sz="1200" b="0">
                <a:latin typeface="Arial" pitchFamily="34" charset="0"/>
              </a:defRPr>
            </a:lvl1pPr>
          </a:lstStyle>
          <a:p>
            <a:pPr>
              <a:defRPr/>
            </a:pPr>
            <a:fld id="{266F4AED-7715-4A68-806D-C83F71FB9EB6}" type="datetimeFigureOut">
              <a:rPr lang="en-US" altLang="zh-CN"/>
              <a:pPr>
                <a:defRPr/>
              </a:pPr>
              <a:t>3/1/2026</a:t>
            </a:fld>
            <a:endParaRPr lang="en-US" altLang="zh-CN"/>
          </a:p>
        </p:txBody>
      </p:sp>
      <p:sp>
        <p:nvSpPr>
          <p:cNvPr id="6148" name="Slide Image Placeholder 3">
            <a:extLst>
              <a:ext uri="{FF2B5EF4-FFF2-40B4-BE49-F238E27FC236}">
                <a16:creationId xmlns:a16="http://schemas.microsoft.com/office/drawing/2014/main" id="{DDF9DEF8-8F9A-4AE6-86E8-A664026D869D}"/>
              </a:ext>
            </a:extLst>
          </p:cNvPr>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2053" name="Notes Placeholder 4">
            <a:extLst>
              <a:ext uri="{FF2B5EF4-FFF2-40B4-BE49-F238E27FC236}">
                <a16:creationId xmlns:a16="http://schemas.microsoft.com/office/drawing/2014/main" id="{FE7BCC6D-035D-4602-810C-BC9F0439A804}"/>
              </a:ext>
            </a:extLst>
          </p:cNvPr>
          <p:cNvSpPr>
            <a:spLocks noGrp="1" noChangeArrowheads="1"/>
          </p:cNvSpPr>
          <p:nvPr>
            <p:ph type="body" sz="quarter" idx="3"/>
          </p:nvPr>
        </p:nvSpPr>
        <p:spPr bwMode="auto">
          <a:xfrm>
            <a:off x="685800" y="4343400"/>
            <a:ext cx="5486400" cy="4114800"/>
          </a:xfrm>
          <a:prstGeom prst="rect">
            <a:avLst/>
          </a:prstGeom>
          <a:noFill/>
          <a:ln>
            <a:noFill/>
          </a:ln>
        </p:spPr>
        <p:txBody>
          <a:bodyPr vert="horz" wrap="square" lIns="91440" tIns="45720" rIns="91440" bIns="45720" numCol="1" anchor="ctr"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Footer Placeholder 5">
            <a:extLst>
              <a:ext uri="{FF2B5EF4-FFF2-40B4-BE49-F238E27FC236}">
                <a16:creationId xmlns:a16="http://schemas.microsoft.com/office/drawing/2014/main" id="{39B647D8-3B51-46D5-8A6E-64140A47CA28}"/>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buFont typeface="Arial" pitchFamily="34" charset="0"/>
              <a:buNone/>
              <a:defRPr sz="1200" b="0">
                <a:latin typeface="Arial" pitchFamily="34" charset="0"/>
              </a:defRPr>
            </a:lvl1pPr>
          </a:lstStyle>
          <a:p>
            <a:pPr>
              <a:defRPr/>
            </a:pPr>
            <a:endParaRPr lang="en-US" altLang="zh-CN"/>
          </a:p>
        </p:txBody>
      </p:sp>
      <p:sp>
        <p:nvSpPr>
          <p:cNvPr id="2055" name="Slide Number Placeholder 6">
            <a:extLst>
              <a:ext uri="{FF2B5EF4-FFF2-40B4-BE49-F238E27FC236}">
                <a16:creationId xmlns:a16="http://schemas.microsoft.com/office/drawing/2014/main" id="{07B6FAC8-00BF-4F46-B46E-14958FFDEFA1}"/>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lvl1pPr>
          </a:lstStyle>
          <a:p>
            <a:fld id="{13B5F489-06AF-4657-A0F6-1CD07BE9BD6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6AF01F37-BDD3-462D-9501-2D0F4BFC6E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FFD0D9B-4E95-4A38-A625-F47486AB90E6}" type="slidenum">
              <a:rPr lang="en-US" altLang="zh-CN">
                <a:latin typeface="Arial" panose="020B0604020202020204" pitchFamily="34" charset="0"/>
              </a:rPr>
              <a:pPr>
                <a:spcBef>
                  <a:spcPct val="0"/>
                </a:spcBef>
                <a:buFontTx/>
                <a:buNone/>
              </a:pPr>
              <a:t>2</a:t>
            </a:fld>
            <a:endParaRPr lang="en-US" altLang="zh-CN">
              <a:latin typeface="Arial" panose="020B0604020202020204" pitchFamily="34" charset="0"/>
            </a:endParaRPr>
          </a:p>
        </p:txBody>
      </p:sp>
      <p:sp>
        <p:nvSpPr>
          <p:cNvPr id="9219" name="Rectangle 2050">
            <a:extLst>
              <a:ext uri="{FF2B5EF4-FFF2-40B4-BE49-F238E27FC236}">
                <a16:creationId xmlns:a16="http://schemas.microsoft.com/office/drawing/2014/main" id="{E336E5C4-5AF5-42AF-B810-32BD50391560}"/>
              </a:ext>
            </a:extLst>
          </p:cNvPr>
          <p:cNvSpPr>
            <a:spLocks noGrp="1" noRot="1" noChangeAspect="1" noChangeArrowheads="1" noTextEdit="1"/>
          </p:cNvSpPr>
          <p:nvPr>
            <p:ph type="sldImg"/>
          </p:nvPr>
        </p:nvSpPr>
        <p:spPr>
          <a:xfrm>
            <a:off x="922338" y="747713"/>
            <a:ext cx="4987925" cy="3741737"/>
          </a:xfrm>
        </p:spPr>
      </p:sp>
      <p:sp>
        <p:nvSpPr>
          <p:cNvPr id="9220" name="Rectangle 2051">
            <a:extLst>
              <a:ext uri="{FF2B5EF4-FFF2-40B4-BE49-F238E27FC236}">
                <a16:creationId xmlns:a16="http://schemas.microsoft.com/office/drawing/2014/main" id="{5D641C0F-A955-4B60-9A98-DA8B9DCB1E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C6E56EA-02A9-48C3-9517-EA014716D8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CD37F1D-96A2-448D-8FD7-683FB3BC5203}" type="slidenum">
              <a:rPr lang="en-US" altLang="zh-CN">
                <a:latin typeface="Arial" panose="020B0604020202020204" pitchFamily="34" charset="0"/>
              </a:rPr>
              <a:pPr>
                <a:spcBef>
                  <a:spcPct val="0"/>
                </a:spcBef>
                <a:buFontTx/>
                <a:buNone/>
              </a:pPr>
              <a:t>3</a:t>
            </a:fld>
            <a:endParaRPr lang="en-US" altLang="zh-CN">
              <a:latin typeface="Arial" panose="020B0604020202020204" pitchFamily="34" charset="0"/>
            </a:endParaRPr>
          </a:p>
        </p:txBody>
      </p:sp>
      <p:sp>
        <p:nvSpPr>
          <p:cNvPr id="11267" name="Rectangle 2050">
            <a:extLst>
              <a:ext uri="{FF2B5EF4-FFF2-40B4-BE49-F238E27FC236}">
                <a16:creationId xmlns:a16="http://schemas.microsoft.com/office/drawing/2014/main" id="{613C34B4-C0FF-4D56-8EAF-851E2DDFC818}"/>
              </a:ext>
            </a:extLst>
          </p:cNvPr>
          <p:cNvSpPr>
            <a:spLocks noGrp="1" noRot="1" noChangeAspect="1" noChangeArrowheads="1" noTextEdit="1"/>
          </p:cNvSpPr>
          <p:nvPr>
            <p:ph type="sldImg"/>
          </p:nvPr>
        </p:nvSpPr>
        <p:spPr>
          <a:xfrm>
            <a:off x="922338" y="747713"/>
            <a:ext cx="4987925" cy="3741737"/>
          </a:xfrm>
        </p:spPr>
      </p:sp>
      <p:sp>
        <p:nvSpPr>
          <p:cNvPr id="11268" name="Rectangle 2051">
            <a:extLst>
              <a:ext uri="{FF2B5EF4-FFF2-40B4-BE49-F238E27FC236}">
                <a16:creationId xmlns:a16="http://schemas.microsoft.com/office/drawing/2014/main" id="{6E605A0E-4B08-41DA-BEA2-737786E12E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C6E56EA-02A9-48C3-9517-EA014716D85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CD37F1D-96A2-448D-8FD7-683FB3BC5203}" type="slidenum">
              <a:rPr lang="en-US" altLang="zh-CN">
                <a:latin typeface="Arial" panose="020B0604020202020204" pitchFamily="34" charset="0"/>
              </a:rPr>
              <a:pPr>
                <a:spcBef>
                  <a:spcPct val="0"/>
                </a:spcBef>
                <a:buFontTx/>
                <a:buNone/>
              </a:pPr>
              <a:t>4</a:t>
            </a:fld>
            <a:endParaRPr lang="en-US" altLang="zh-CN">
              <a:latin typeface="Arial" panose="020B0604020202020204" pitchFamily="34" charset="0"/>
            </a:endParaRPr>
          </a:p>
        </p:txBody>
      </p:sp>
      <p:sp>
        <p:nvSpPr>
          <p:cNvPr id="11267" name="Rectangle 2050">
            <a:extLst>
              <a:ext uri="{FF2B5EF4-FFF2-40B4-BE49-F238E27FC236}">
                <a16:creationId xmlns:a16="http://schemas.microsoft.com/office/drawing/2014/main" id="{613C34B4-C0FF-4D56-8EAF-851E2DDFC818}"/>
              </a:ext>
            </a:extLst>
          </p:cNvPr>
          <p:cNvSpPr>
            <a:spLocks noGrp="1" noRot="1" noChangeAspect="1" noChangeArrowheads="1" noTextEdit="1"/>
          </p:cNvSpPr>
          <p:nvPr>
            <p:ph type="sldImg"/>
          </p:nvPr>
        </p:nvSpPr>
        <p:spPr>
          <a:xfrm>
            <a:off x="922338" y="747713"/>
            <a:ext cx="4987925" cy="3741737"/>
          </a:xfrm>
        </p:spPr>
      </p:sp>
      <p:sp>
        <p:nvSpPr>
          <p:cNvPr id="11268" name="Rectangle 2051">
            <a:extLst>
              <a:ext uri="{FF2B5EF4-FFF2-40B4-BE49-F238E27FC236}">
                <a16:creationId xmlns:a16="http://schemas.microsoft.com/office/drawing/2014/main" id="{6E605A0E-4B08-41DA-BEA2-737786E12E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569963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B5F489-06AF-4657-A0F6-1CD07BE9BD62}" type="slidenum">
              <a:rPr lang="en-US" altLang="zh-CN" smtClean="0"/>
              <a:pPr/>
              <a:t>5</a:t>
            </a:fld>
            <a:endParaRPr lang="en-US" altLang="zh-CN"/>
          </a:p>
        </p:txBody>
      </p:sp>
    </p:spTree>
    <p:extLst>
      <p:ext uri="{BB962C8B-B14F-4D97-AF65-F5344CB8AC3E}">
        <p14:creationId xmlns:p14="http://schemas.microsoft.com/office/powerpoint/2010/main" val="1683196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1176424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3824137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p>
        </p:txBody>
      </p:sp>
    </p:spTree>
    <p:extLst>
      <p:ext uri="{BB962C8B-B14F-4D97-AF65-F5344CB8AC3E}">
        <p14:creationId xmlns:p14="http://schemas.microsoft.com/office/powerpoint/2010/main" val="355552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9850"/>
            <a:ext cx="4038600" cy="4854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0877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3108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0352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798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1618461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Tree>
    <p:extLst>
      <p:ext uri="{BB962C8B-B14F-4D97-AF65-F5344CB8AC3E}">
        <p14:creationId xmlns:p14="http://schemas.microsoft.com/office/powerpoint/2010/main" val="137267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50465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9688"/>
            <a:ext cx="2057400" cy="6234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9688"/>
            <a:ext cx="6019800" cy="62341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77922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SmartArt 占位符 2"/>
          <p:cNvSpPr>
            <a:spLocks noGrp="1"/>
          </p:cNvSpPr>
          <p:nvPr>
            <p:ph type="dgm" idx="1"/>
          </p:nvPr>
        </p:nvSpPr>
        <p:spPr>
          <a:xfrm>
            <a:off x="457200" y="1828800"/>
            <a:ext cx="8229600" cy="4495800"/>
          </a:xfrm>
        </p:spPr>
        <p:txBody>
          <a:bodyPr/>
          <a:lstStyle/>
          <a:p>
            <a:pPr lvl="0"/>
            <a:r>
              <a:rPr lang="zh-CN" altLang="en-US" noProof="0"/>
              <a:t>单击图标添加 </a:t>
            </a:r>
            <a:r>
              <a:rPr lang="en-US" altLang="zh-CN" noProof="0"/>
              <a:t>SmartArt </a:t>
            </a:r>
            <a:r>
              <a:rPr lang="zh-CN" altLang="en-US" noProof="0"/>
              <a:t>图形</a:t>
            </a:r>
          </a:p>
        </p:txBody>
      </p:sp>
      <p:sp>
        <p:nvSpPr>
          <p:cNvPr id="4" name="Rectangle 15">
            <a:extLst>
              <a:ext uri="{FF2B5EF4-FFF2-40B4-BE49-F238E27FC236}">
                <a16:creationId xmlns:a16="http://schemas.microsoft.com/office/drawing/2014/main" id="{F4C0C26C-6A56-4D28-84AE-A58DAF5C8D01}"/>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61467136-6CCC-48C6-800A-8CB2B6A688B1}"/>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347259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5">
            <a:extLst>
              <a:ext uri="{FF2B5EF4-FFF2-40B4-BE49-F238E27FC236}">
                <a16:creationId xmlns:a16="http://schemas.microsoft.com/office/drawing/2014/main" id="{95C673C6-B9C2-44A4-AADB-004B917FC8BD}"/>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6" name="Rectangle 16">
            <a:extLst>
              <a:ext uri="{FF2B5EF4-FFF2-40B4-BE49-F238E27FC236}">
                <a16:creationId xmlns:a16="http://schemas.microsoft.com/office/drawing/2014/main" id="{8AED25B8-A29C-4EBD-9EF4-1DF4A1D35758}"/>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3418925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88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52900"/>
            <a:ext cx="4038600" cy="21717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5">
            <a:extLst>
              <a:ext uri="{FF2B5EF4-FFF2-40B4-BE49-F238E27FC236}">
                <a16:creationId xmlns:a16="http://schemas.microsoft.com/office/drawing/2014/main" id="{72176879-732F-4A95-A4FE-E0BC881709AD}"/>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7" name="Rectangle 16">
            <a:extLst>
              <a:ext uri="{FF2B5EF4-FFF2-40B4-BE49-F238E27FC236}">
                <a16:creationId xmlns:a16="http://schemas.microsoft.com/office/drawing/2014/main" id="{AB7E0BC3-0E23-43E0-8607-7C5476C341F0}"/>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27180111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828800"/>
            <a:ext cx="8229600" cy="4495800"/>
          </a:xfrm>
        </p:spPr>
        <p:txBody>
          <a:bodyPr/>
          <a:lstStyle/>
          <a:p>
            <a:pPr lvl="0"/>
            <a:r>
              <a:rPr lang="zh-CN" altLang="en-US" noProof="0"/>
              <a:t>单击图标添加表格</a:t>
            </a:r>
          </a:p>
        </p:txBody>
      </p:sp>
      <p:sp>
        <p:nvSpPr>
          <p:cNvPr id="4" name="Rectangle 15">
            <a:extLst>
              <a:ext uri="{FF2B5EF4-FFF2-40B4-BE49-F238E27FC236}">
                <a16:creationId xmlns:a16="http://schemas.microsoft.com/office/drawing/2014/main" id="{981E7CAE-9DCE-4626-ACE0-300A015FB030}"/>
              </a:ext>
            </a:extLst>
          </p:cNvPr>
          <p:cNvSpPr>
            <a:spLocks noGrp="1" noChangeArrowheads="1"/>
          </p:cNvSpPr>
          <p:nvPr>
            <p:ph type="dt" sz="half" idx="10"/>
          </p:nvPr>
        </p:nvSpPr>
        <p:spPr>
          <a:xfrm>
            <a:off x="457200" y="6400800"/>
            <a:ext cx="213360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
        <p:nvSpPr>
          <p:cNvPr id="5" name="Rectangle 16">
            <a:extLst>
              <a:ext uri="{FF2B5EF4-FFF2-40B4-BE49-F238E27FC236}">
                <a16:creationId xmlns:a16="http://schemas.microsoft.com/office/drawing/2014/main" id="{B69F7E37-1E2E-4A78-8E11-161A54D91169}"/>
              </a:ext>
            </a:extLst>
          </p:cNvPr>
          <p:cNvSpPr>
            <a:spLocks noGrp="1" noChangeArrowheads="1"/>
          </p:cNvSpPr>
          <p:nvPr>
            <p:ph type="ftr" sz="quarter" idx="11"/>
          </p:nvPr>
        </p:nvSpPr>
        <p:spPr>
          <a:xfrm>
            <a:off x="5219700" y="6381750"/>
            <a:ext cx="3600450" cy="320675"/>
          </a:xfrm>
          <a:prstGeom prst="rect">
            <a:avLst/>
          </a:prstGeom>
        </p:spPr>
        <p:txBody>
          <a:bodyPr/>
          <a:lstStyle>
            <a:lvl1pPr eaLnBrk="1" hangingPunct="1">
              <a:buFont typeface="Arial" pitchFamily="34" charset="0"/>
              <a:buNone/>
              <a:defRPr>
                <a:latin typeface="Arial" pitchFamily="34" charset="0"/>
                <a:ea typeface="宋体" pitchFamily="2" charset="-122"/>
              </a:defRPr>
            </a:lvl1pPr>
          </a:lstStyle>
          <a:p>
            <a:pPr>
              <a:defRPr/>
            </a:pPr>
            <a:endParaRPr lang="en-US" altLang="zh-CN"/>
          </a:p>
        </p:txBody>
      </p:sp>
    </p:spTree>
    <p:extLst>
      <p:ext uri="{BB962C8B-B14F-4D97-AF65-F5344CB8AC3E}">
        <p14:creationId xmlns:p14="http://schemas.microsoft.com/office/powerpoint/2010/main" val="1883246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129336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864968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1404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731182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424931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721534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146955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04006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smtClean="0"/>
              <a:pPr/>
              <a:t>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99633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4729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32081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1">
          <a:blip r:embed="rId17"/>
          <a:srcRect/>
          <a:tile tx="0" ty="0" sx="100000" sy="100000" flip="none" algn="tl"/>
        </a:blipFill>
        <a:effectLst/>
      </p:bgPr>
    </p:bg>
    <p:spTree>
      <p:nvGrpSpPr>
        <p:cNvPr id="1" name=""/>
        <p:cNvGrpSpPr/>
        <p:nvPr/>
      </p:nvGrpSpPr>
      <p:grpSpPr>
        <a:xfrm>
          <a:off x="0" y="0"/>
          <a:ext cx="0" cy="0"/>
          <a:chOff x="0" y="0"/>
          <a:chExt cx="0" cy="0"/>
        </a:xfrm>
      </p:grpSpPr>
      <p:pic>
        <p:nvPicPr>
          <p:cNvPr id="1026" name="Picture 2" descr="未命名_副本">
            <a:extLst>
              <a:ext uri="{FF2B5EF4-FFF2-40B4-BE49-F238E27FC236}">
                <a16:creationId xmlns:a16="http://schemas.microsoft.com/office/drawing/2014/main" id="{C9DF6CC9-542D-41BF-852F-1B280F355DC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l="1405" t="12910" r="2878" b="10757"/>
          <a:stretch>
            <a:fillRect/>
          </a:stretch>
        </p:blipFill>
        <p:spPr bwMode="auto">
          <a:xfrm>
            <a:off x="-22225" y="838200"/>
            <a:ext cx="9161463"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图片2">
            <a:extLst>
              <a:ext uri="{FF2B5EF4-FFF2-40B4-BE49-F238E27FC236}">
                <a16:creationId xmlns:a16="http://schemas.microsoft.com/office/drawing/2014/main" id="{603CF280-D038-48D4-BCAA-90FD43BC7DA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25" y="6453188"/>
            <a:ext cx="916622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图片2">
            <a:extLst>
              <a:ext uri="{FF2B5EF4-FFF2-40B4-BE49-F238E27FC236}">
                <a16:creationId xmlns:a16="http://schemas.microsoft.com/office/drawing/2014/main" id="{B55253E0-B819-4C25-931A-6812F7A9645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225" y="-28575"/>
            <a:ext cx="91662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2">
            <a:extLst>
              <a:ext uri="{FF2B5EF4-FFF2-40B4-BE49-F238E27FC236}">
                <a16:creationId xmlns:a16="http://schemas.microsoft.com/office/drawing/2014/main" id="{3F3F4A9E-53BF-4A27-8DC7-7F9D6DC3E199}"/>
              </a:ext>
            </a:extLst>
          </p:cNvPr>
          <p:cNvSpPr>
            <a:spLocks noGrp="1" noChangeArrowheads="1"/>
          </p:cNvSpPr>
          <p:nvPr>
            <p:ph type="title"/>
          </p:nvPr>
        </p:nvSpPr>
        <p:spPr bwMode="auto">
          <a:xfrm>
            <a:off x="457200" y="-39688"/>
            <a:ext cx="8229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30" name="Rectangle 3">
            <a:extLst>
              <a:ext uri="{FF2B5EF4-FFF2-40B4-BE49-F238E27FC236}">
                <a16:creationId xmlns:a16="http://schemas.microsoft.com/office/drawing/2014/main" id="{BF31EA9D-E580-4FCC-8FCA-BCFCBBB05726}"/>
              </a:ext>
            </a:extLst>
          </p:cNvPr>
          <p:cNvSpPr>
            <a:spLocks noGrp="1" noChangeArrowheads="1"/>
          </p:cNvSpPr>
          <p:nvPr>
            <p:ph type="body" idx="1"/>
          </p:nvPr>
        </p:nvSpPr>
        <p:spPr bwMode="auto">
          <a:xfrm>
            <a:off x="457200" y="1339850"/>
            <a:ext cx="82296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31" name="Text Box 7">
            <a:extLst>
              <a:ext uri="{FF2B5EF4-FFF2-40B4-BE49-F238E27FC236}">
                <a16:creationId xmlns:a16="http://schemas.microsoft.com/office/drawing/2014/main" id="{1B82E9A2-3B7A-4435-8F7F-E645F2C1C2F2}"/>
              </a:ext>
            </a:extLst>
          </p:cNvPr>
          <p:cNvSpPr txBox="1">
            <a:spLocks noChangeArrowheads="1"/>
          </p:cNvSpPr>
          <p:nvPr/>
        </p:nvSpPr>
        <p:spPr bwMode="auto">
          <a:xfrm>
            <a:off x="5510213" y="6454775"/>
            <a:ext cx="4103687" cy="334963"/>
          </a:xfrm>
          <a:prstGeom prst="rect">
            <a:avLst/>
          </a:prstGeom>
          <a:noFill/>
          <a:ln>
            <a:noFill/>
          </a:ln>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buFont typeface="Arial" panose="020B0604020202020204" pitchFamily="34" charset="0"/>
              <a:buNone/>
              <a:defRPr/>
            </a:pPr>
            <a:r>
              <a:rPr lang="en-US" altLang="zh-CN" sz="1600" b="1">
                <a:solidFill>
                  <a:schemeClr val="bg1"/>
                </a:solidFill>
              </a:rPr>
              <a:t>An Introduction to Database System</a:t>
            </a:r>
          </a:p>
        </p:txBody>
      </p:sp>
    </p:spTree>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 id="2147483988" r:id="rId7"/>
    <p:sldLayoutId id="2147483989" r:id="rId8"/>
    <p:sldLayoutId id="2147483990" r:id="rId9"/>
    <p:sldLayoutId id="2147483991" r:id="rId10"/>
    <p:sldLayoutId id="2147483992" r:id="rId11"/>
    <p:sldLayoutId id="2147483993" r:id="rId12"/>
    <p:sldLayoutId id="2147483994" r:id="rId13"/>
    <p:sldLayoutId id="2147483995" r:id="rId14"/>
    <p:sldLayoutId id="2147483996" r:id="rId15"/>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itchFamily="34" charset="0"/>
          <a:ea typeface="宋体" pitchFamily="2" charset="-122"/>
        </a:defRPr>
      </a:lvl2pPr>
      <a:lvl3pPr algn="ctr" rtl="0" fontAlgn="base">
        <a:spcBef>
          <a:spcPct val="0"/>
        </a:spcBef>
        <a:spcAft>
          <a:spcPct val="0"/>
        </a:spcAft>
        <a:defRPr sz="4000" b="1">
          <a:solidFill>
            <a:schemeClr val="bg1"/>
          </a:solidFill>
          <a:latin typeface="Arial" pitchFamily="34" charset="0"/>
          <a:ea typeface="宋体" pitchFamily="2" charset="-122"/>
        </a:defRPr>
      </a:lvl3pPr>
      <a:lvl4pPr algn="ctr" rtl="0" fontAlgn="base">
        <a:spcBef>
          <a:spcPct val="0"/>
        </a:spcBef>
        <a:spcAft>
          <a:spcPct val="0"/>
        </a:spcAft>
        <a:defRPr sz="4000" b="1">
          <a:solidFill>
            <a:schemeClr val="bg1"/>
          </a:solidFill>
          <a:latin typeface="Arial" pitchFamily="34" charset="0"/>
          <a:ea typeface="宋体" pitchFamily="2" charset="-122"/>
        </a:defRPr>
      </a:lvl4pPr>
      <a:lvl5pPr algn="ctr" rtl="0" fontAlgn="base">
        <a:spcBef>
          <a:spcPct val="0"/>
        </a:spcBef>
        <a:spcAft>
          <a:spcPct val="0"/>
        </a:spcAft>
        <a:defRPr sz="4000" b="1">
          <a:solidFill>
            <a:schemeClr val="bg1"/>
          </a:solidFill>
          <a:latin typeface="Arial" pitchFamily="34" charset="0"/>
          <a:ea typeface="宋体" pitchFamily="2" charset="-122"/>
        </a:defRPr>
      </a:lvl5pPr>
      <a:lvl6pPr marL="457200" algn="ctr" rtl="0" eaLnBrk="1" fontAlgn="base" hangingPunct="1">
        <a:spcBef>
          <a:spcPct val="0"/>
        </a:spcBef>
        <a:spcAft>
          <a:spcPct val="0"/>
        </a:spcAft>
        <a:defRPr sz="4000" b="1">
          <a:solidFill>
            <a:schemeClr val="bg1"/>
          </a:solidFill>
          <a:latin typeface="Arial" pitchFamily="34" charset="0"/>
          <a:ea typeface="宋体" pitchFamily="2" charset="-122"/>
        </a:defRPr>
      </a:lvl6pPr>
      <a:lvl7pPr marL="914400" algn="ctr" rtl="0" eaLnBrk="1" fontAlgn="base" hangingPunct="1">
        <a:spcBef>
          <a:spcPct val="0"/>
        </a:spcBef>
        <a:spcAft>
          <a:spcPct val="0"/>
        </a:spcAft>
        <a:defRPr sz="4000" b="1">
          <a:solidFill>
            <a:schemeClr val="bg1"/>
          </a:solidFill>
          <a:latin typeface="Arial" pitchFamily="34" charset="0"/>
          <a:ea typeface="宋体" pitchFamily="2" charset="-122"/>
        </a:defRPr>
      </a:lvl7pPr>
      <a:lvl8pPr marL="1371600" algn="ctr" rtl="0" eaLnBrk="1" fontAlgn="base" hangingPunct="1">
        <a:spcBef>
          <a:spcPct val="0"/>
        </a:spcBef>
        <a:spcAft>
          <a:spcPct val="0"/>
        </a:spcAft>
        <a:defRPr sz="4000" b="1">
          <a:solidFill>
            <a:schemeClr val="bg1"/>
          </a:solidFill>
          <a:latin typeface="Arial" pitchFamily="34" charset="0"/>
          <a:ea typeface="宋体" pitchFamily="2" charset="-122"/>
        </a:defRPr>
      </a:lvl8pPr>
      <a:lvl9pPr marL="1828800" algn="ctr" rtl="0" eaLnBrk="1" fontAlgn="base" hangingPunct="1">
        <a:spcBef>
          <a:spcPct val="0"/>
        </a:spcBef>
        <a:spcAft>
          <a:spcPct val="0"/>
        </a:spcAft>
        <a:defRPr sz="4000" b="1">
          <a:solidFill>
            <a:schemeClr val="bg1"/>
          </a:solidFill>
          <a:latin typeface="Arial" pitchFamily="34" charset="0"/>
          <a:ea typeface="宋体" pitchFamily="2" charset="-122"/>
        </a:defRPr>
      </a:lvl9pPr>
    </p:titleStyle>
    <p:bodyStyle>
      <a:lvl1pPr marL="342900" indent="-342900" algn="l" rtl="0" fontAlgn="base">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fontAlgn="base">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fontAlgn="base">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fontAlgn="base">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fontAlgn="base">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6pPr>
      <a:lvl7pPr marL="29718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7pPr>
      <a:lvl8pPr marL="34290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8pPr>
      <a:lvl9pPr marL="3886200" indent="-228600" algn="l" rtl="0" eaLnBrk="1" fontAlgn="base" hangingPunct="1">
        <a:spcBef>
          <a:spcPct val="20000"/>
        </a:spcBef>
        <a:spcAft>
          <a:spcPct val="0"/>
        </a:spcAft>
        <a:buFont typeface="Arial"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3/1/2026</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490112022"/>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85CB5423-4420-41D0-A5B9-3E57472EDDC3}"/>
              </a:ext>
            </a:extLst>
          </p:cNvPr>
          <p:cNvSpPr txBox="1">
            <a:spLocks noChangeArrowheads="1"/>
          </p:cNvSpPr>
          <p:nvPr/>
        </p:nvSpPr>
        <p:spPr bwMode="auto">
          <a:xfrm>
            <a:off x="539750" y="1557338"/>
            <a:ext cx="81534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SzTx/>
              <a:buFontTx/>
              <a:buNone/>
            </a:pPr>
            <a:r>
              <a:rPr kumimoji="1" lang="zh-CN" altLang="en-US" sz="5400" b="0" dirty="0">
                <a:latin typeface="Times New Roman" panose="02020603050405020304" pitchFamily="18" charset="0"/>
              </a:rPr>
              <a:t>信息系统项目管理</a:t>
            </a:r>
            <a:endParaRPr kumimoji="1" lang="en-US" altLang="zh-CN" sz="5400" b="0" dirty="0">
              <a:latin typeface="Times New Roman" panose="02020603050405020304" pitchFamily="18" charset="0"/>
            </a:endParaRPr>
          </a:p>
        </p:txBody>
      </p:sp>
      <p:sp>
        <p:nvSpPr>
          <p:cNvPr id="7171" name="Text Box 3">
            <a:extLst>
              <a:ext uri="{FF2B5EF4-FFF2-40B4-BE49-F238E27FC236}">
                <a16:creationId xmlns:a16="http://schemas.microsoft.com/office/drawing/2014/main" id="{ABF8D103-822F-4E9C-B15F-47CD76C477FD}"/>
              </a:ext>
            </a:extLst>
          </p:cNvPr>
          <p:cNvSpPr txBox="1">
            <a:spLocks noChangeArrowheads="1"/>
          </p:cNvSpPr>
          <p:nvPr/>
        </p:nvSpPr>
        <p:spPr bwMode="auto">
          <a:xfrm>
            <a:off x="1187450" y="3068638"/>
            <a:ext cx="6858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SzTx/>
              <a:buFontTx/>
              <a:buNone/>
            </a:pPr>
            <a:r>
              <a:rPr kumimoji="1" lang="zh-CN" altLang="en-US" sz="2400" dirty="0">
                <a:latin typeface="Times New Roman" panose="02020603050405020304" pitchFamily="18" charset="0"/>
              </a:rPr>
              <a:t>杨辉</a:t>
            </a:r>
            <a:endParaRPr kumimoji="1" lang="en-US" altLang="zh-CN" sz="2400" dirty="0">
              <a:latin typeface="Times New Roman" panose="02020603050405020304" pitchFamily="18" charset="0"/>
            </a:endParaRPr>
          </a:p>
          <a:p>
            <a:pPr algn="ctr" eaLnBrk="1" hangingPunct="1">
              <a:spcBef>
                <a:spcPct val="50000"/>
              </a:spcBef>
              <a:buSzTx/>
              <a:buFontTx/>
              <a:buNone/>
            </a:pPr>
            <a:r>
              <a:rPr kumimoji="1" lang="zh-CN" altLang="en-US" sz="2400" dirty="0">
                <a:latin typeface="Times New Roman" panose="02020603050405020304" pitchFamily="18" charset="0"/>
              </a:rPr>
              <a:t>邮箱：</a:t>
            </a:r>
            <a:r>
              <a:rPr kumimoji="1" lang="en-US" altLang="zh-CN" sz="2400" dirty="0">
                <a:latin typeface="Times New Roman" panose="02020603050405020304" pitchFamily="18" charset="0"/>
                <a:ea typeface="楷体_GB2312" pitchFamily="49" charset="-122"/>
              </a:rPr>
              <a:t>yanghui58@xupt.edu.cn</a:t>
            </a:r>
            <a:r>
              <a:rPr kumimoji="1" lang="en-US" altLang="zh-CN" sz="2400" dirty="0">
                <a:latin typeface="Times New Roman" panose="02020603050405020304" pitchFamily="18" charset="0"/>
              </a:rPr>
              <a:t> </a:t>
            </a:r>
          </a:p>
          <a:p>
            <a:pPr algn="ctr" eaLnBrk="1" hangingPunct="1">
              <a:spcBef>
                <a:spcPct val="50000"/>
              </a:spcBef>
              <a:buSzTx/>
              <a:buFontTx/>
              <a:buNone/>
            </a:pPr>
            <a:r>
              <a:rPr kumimoji="1" lang="zh-CN" altLang="en-US" sz="2400" dirty="0">
                <a:latin typeface="Times New Roman" panose="02020603050405020304" pitchFamily="18" charset="0"/>
              </a:rPr>
              <a:t>电话：</a:t>
            </a:r>
            <a:r>
              <a:rPr kumimoji="1" lang="en-US" altLang="zh-CN" sz="2400" dirty="0">
                <a:latin typeface="Times New Roman" panose="02020603050405020304" pitchFamily="18" charset="0"/>
              </a:rPr>
              <a:t>13325473501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D78D78F-64C4-45AE-AD87-17D8BFBB119A}"/>
              </a:ext>
            </a:extLst>
          </p:cNvPr>
          <p:cNvSpPr txBox="1">
            <a:spLocks noRot="1" noChangeArrowheads="1"/>
          </p:cNvSpPr>
          <p:nvPr/>
        </p:nvSpPr>
        <p:spPr>
          <a:xfrm>
            <a:off x="395536" y="980728"/>
            <a:ext cx="8135937" cy="5487987"/>
          </a:xfrm>
          <a:prstGeom prst="rect">
            <a:avLst/>
          </a:prstGeom>
        </p:spPr>
        <p:txBody>
          <a:bodyPr lIns="121917" tIns="60958" rIns="121917" bIns="60958">
            <a:normAutofit/>
          </a:bodyPr>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fontAlgn="auto">
              <a:lnSpc>
                <a:spcPct val="150000"/>
              </a:lnSpc>
              <a:spcAft>
                <a:spcPts val="0"/>
              </a:spcAft>
              <a:buFont typeface="Wingdings" pitchFamily="2" charset="2"/>
              <a:buNone/>
              <a:defRPr/>
            </a:pPr>
            <a:r>
              <a:rPr lang="en-US" altLang="zh-CN" sz="3300" dirty="0">
                <a:solidFill>
                  <a:srgbClr val="0000FF"/>
                </a:solidFill>
                <a:ea typeface="微软雅黑"/>
                <a:sym typeface="Wingdings" pitchFamily="2" charset="2"/>
              </a:rPr>
              <a:t></a:t>
            </a:r>
            <a:r>
              <a:rPr lang="zh-CN" altLang="en-US" sz="3600" b="1" dirty="0">
                <a:solidFill>
                  <a:sysClr val="windowText" lastClr="000000"/>
                </a:solidFill>
                <a:ea typeface="隶书" pitchFamily="49" charset="-122"/>
              </a:rPr>
              <a:t>教材</a:t>
            </a:r>
          </a:p>
          <a:p>
            <a:pPr lvl="1" fontAlgn="auto">
              <a:lnSpc>
                <a:spcPct val="110000"/>
              </a:lnSpc>
              <a:spcAft>
                <a:spcPts val="0"/>
              </a:spcAft>
              <a:defRPr/>
            </a:pPr>
            <a:r>
              <a:rPr lang="zh-CN" altLang="en-US" sz="2800" dirty="0">
                <a:solidFill>
                  <a:sysClr val="windowText" lastClr="000000"/>
                </a:solidFill>
                <a:ea typeface="微软雅黑"/>
              </a:rPr>
              <a:t>左美云 ：信息系统项目管理（第</a:t>
            </a:r>
            <a:r>
              <a:rPr lang="en-US" altLang="zh-CN" sz="2800" dirty="0">
                <a:solidFill>
                  <a:sysClr val="windowText" lastClr="000000"/>
                </a:solidFill>
                <a:ea typeface="微软雅黑"/>
              </a:rPr>
              <a:t>2</a:t>
            </a:r>
            <a:r>
              <a:rPr lang="zh-CN" altLang="en-US" sz="2800" dirty="0">
                <a:solidFill>
                  <a:sysClr val="windowText" lastClr="000000"/>
                </a:solidFill>
                <a:ea typeface="微软雅黑"/>
              </a:rPr>
              <a:t>版）    </a:t>
            </a:r>
            <a:endParaRPr lang="en-US" altLang="zh-CN" sz="2800" dirty="0">
              <a:solidFill>
                <a:sysClr val="windowText" lastClr="000000"/>
              </a:solidFill>
              <a:ea typeface="微软雅黑"/>
            </a:endParaRPr>
          </a:p>
          <a:p>
            <a:pPr marL="609814" lvl="1" indent="0" fontAlgn="auto">
              <a:lnSpc>
                <a:spcPct val="110000"/>
              </a:lnSpc>
              <a:spcAft>
                <a:spcPts val="0"/>
              </a:spcAft>
              <a:buFont typeface="Arial" pitchFamily="34" charset="0"/>
              <a:buNone/>
              <a:defRPr/>
            </a:pPr>
            <a:r>
              <a:rPr lang="zh-CN" altLang="en-US" sz="2800" dirty="0">
                <a:solidFill>
                  <a:sysClr val="windowText" lastClr="000000"/>
                </a:solidFill>
                <a:ea typeface="微软雅黑"/>
              </a:rPr>
              <a:t>清华大学出版社</a:t>
            </a:r>
            <a:endParaRPr lang="en-US" altLang="zh-CN" sz="3800" dirty="0">
              <a:solidFill>
                <a:sysClr val="windowText" lastClr="000000"/>
              </a:solidFill>
              <a:ea typeface="微软雅黑"/>
            </a:endParaRPr>
          </a:p>
          <a:p>
            <a:pPr fontAlgn="auto">
              <a:lnSpc>
                <a:spcPct val="90000"/>
              </a:lnSpc>
              <a:spcAft>
                <a:spcPts val="0"/>
              </a:spcAft>
              <a:buClr>
                <a:srgbClr val="1F497D"/>
              </a:buClr>
              <a:buFont typeface="Wingdings" pitchFamily="2" charset="2"/>
              <a:buChar char="&amp;"/>
              <a:defRPr/>
            </a:pPr>
            <a:r>
              <a:rPr lang="zh-CN" altLang="en-US" sz="3600" b="1" dirty="0">
                <a:solidFill>
                  <a:sysClr val="windowText" lastClr="000000"/>
                </a:solidFill>
                <a:ea typeface="隶书" pitchFamily="49" charset="-122"/>
                <a:sym typeface="Wingdings" pitchFamily="2" charset="2"/>
              </a:rPr>
              <a:t>学时</a:t>
            </a:r>
            <a:endParaRPr lang="en-US" altLang="zh-CN" sz="3600" b="1" dirty="0">
              <a:solidFill>
                <a:sysClr val="windowText" lastClr="000000"/>
              </a:solidFill>
              <a:ea typeface="隶书" pitchFamily="49" charset="-122"/>
              <a:sym typeface="Wingdings" pitchFamily="2" charset="2"/>
            </a:endParaRPr>
          </a:p>
          <a:p>
            <a:pPr lvl="1" fontAlgn="auto">
              <a:lnSpc>
                <a:spcPct val="90000"/>
              </a:lnSpc>
              <a:spcAft>
                <a:spcPts val="0"/>
              </a:spcAft>
              <a:defRPr/>
            </a:pPr>
            <a:r>
              <a:rPr lang="zh-CN" altLang="en-US" sz="2800" dirty="0">
                <a:solidFill>
                  <a:sysClr val="windowText" lastClr="000000"/>
                </a:solidFill>
                <a:ea typeface="微软雅黑"/>
              </a:rPr>
              <a:t>理论（</a:t>
            </a:r>
            <a:r>
              <a:rPr lang="en-US" altLang="zh-CN" sz="2800" dirty="0">
                <a:solidFill>
                  <a:sysClr val="windowText" lastClr="000000"/>
                </a:solidFill>
                <a:ea typeface="微软雅黑"/>
              </a:rPr>
              <a:t>32</a:t>
            </a:r>
            <a:r>
              <a:rPr lang="zh-CN" altLang="en-US" sz="2800" dirty="0">
                <a:solidFill>
                  <a:sysClr val="windowText" lastClr="000000"/>
                </a:solidFill>
                <a:ea typeface="微软雅黑"/>
              </a:rPr>
              <a:t>）</a:t>
            </a:r>
            <a:r>
              <a:rPr lang="en-US" altLang="zh-CN" sz="2800" dirty="0">
                <a:solidFill>
                  <a:sysClr val="windowText" lastClr="000000"/>
                </a:solidFill>
                <a:ea typeface="微软雅黑"/>
              </a:rPr>
              <a:t>+</a:t>
            </a:r>
            <a:r>
              <a:rPr lang="zh-CN" altLang="en-US" sz="2800" dirty="0">
                <a:solidFill>
                  <a:sysClr val="windowText" lastClr="000000"/>
                </a:solidFill>
                <a:ea typeface="微软雅黑"/>
              </a:rPr>
              <a:t>上机（</a:t>
            </a:r>
            <a:r>
              <a:rPr lang="en-US" altLang="zh-CN" sz="2800" dirty="0">
                <a:solidFill>
                  <a:sysClr val="windowText" lastClr="000000"/>
                </a:solidFill>
                <a:ea typeface="微软雅黑"/>
              </a:rPr>
              <a:t>16</a:t>
            </a:r>
            <a:r>
              <a:rPr lang="zh-CN" altLang="en-US" sz="2800" dirty="0">
                <a:solidFill>
                  <a:sysClr val="windowText" lastClr="000000"/>
                </a:solidFill>
                <a:ea typeface="微软雅黑"/>
              </a:rPr>
              <a:t>）</a:t>
            </a:r>
            <a:r>
              <a:rPr lang="en-US" altLang="zh-CN" sz="2800" dirty="0">
                <a:solidFill>
                  <a:sysClr val="windowText" lastClr="000000"/>
                </a:solidFill>
                <a:ea typeface="微软雅黑"/>
              </a:rPr>
              <a:t>= 48</a:t>
            </a:r>
            <a:r>
              <a:rPr lang="zh-CN" altLang="en-US" sz="2800" dirty="0">
                <a:solidFill>
                  <a:sysClr val="windowText" lastClr="000000"/>
                </a:solidFill>
                <a:ea typeface="微软雅黑"/>
              </a:rPr>
              <a:t>学时</a:t>
            </a:r>
            <a:endParaRPr lang="en-US" altLang="zh-CN" sz="2800" dirty="0">
              <a:solidFill>
                <a:sysClr val="windowText" lastClr="000000"/>
              </a:solidFill>
              <a:ea typeface="微软雅黑"/>
            </a:endParaRPr>
          </a:p>
          <a:p>
            <a:pPr lvl="1" fontAlgn="auto">
              <a:lnSpc>
                <a:spcPct val="90000"/>
              </a:lnSpc>
              <a:spcAft>
                <a:spcPts val="0"/>
              </a:spcAft>
              <a:defRPr/>
            </a:pPr>
            <a:endParaRPr lang="en-US" altLang="zh-CN" sz="2800" dirty="0">
              <a:solidFill>
                <a:sysClr val="windowText" lastClr="000000"/>
              </a:solidFill>
              <a:ea typeface="微软雅黑"/>
            </a:endParaRPr>
          </a:p>
          <a:p>
            <a:pPr fontAlgn="auto">
              <a:lnSpc>
                <a:spcPct val="90000"/>
              </a:lnSpc>
              <a:spcAft>
                <a:spcPts val="0"/>
              </a:spcAft>
              <a:buFont typeface="Wingdings" pitchFamily="2" charset="2"/>
              <a:buNone/>
              <a:defRPr/>
            </a:pPr>
            <a:r>
              <a:rPr lang="en-US" altLang="zh-CN" sz="3300" dirty="0">
                <a:solidFill>
                  <a:srgbClr val="4F81BD"/>
                </a:solidFill>
                <a:ea typeface="微软雅黑"/>
                <a:sym typeface="Wingdings" pitchFamily="2" charset="2"/>
              </a:rPr>
              <a:t> </a:t>
            </a:r>
            <a:r>
              <a:rPr lang="zh-CN" altLang="en-US" sz="3600" b="1" dirty="0">
                <a:solidFill>
                  <a:sysClr val="windowText" lastClr="000000"/>
                </a:solidFill>
                <a:ea typeface="隶书" pitchFamily="49" charset="-122"/>
              </a:rPr>
              <a:t>上机软件</a:t>
            </a:r>
          </a:p>
          <a:p>
            <a:pPr fontAlgn="auto">
              <a:spcAft>
                <a:spcPts val="0"/>
              </a:spcAft>
              <a:buFont typeface="Wingdings" pitchFamily="2" charset="2"/>
              <a:buNone/>
              <a:defRPr/>
            </a:pPr>
            <a:r>
              <a:rPr lang="en-US" altLang="zh-CN" sz="2800" dirty="0">
                <a:solidFill>
                  <a:sysClr val="windowText" lastClr="000000">
                    <a:lumMod val="75000"/>
                    <a:lumOff val="25000"/>
                  </a:sysClr>
                </a:solidFill>
                <a:ea typeface="微软雅黑"/>
              </a:rPr>
              <a:t>       — MS project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7" dur="500"/>
                                        <p:tgtEl>
                                          <p:spTgt spid="6">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0" dur="500"/>
                                        <p:tgtEl>
                                          <p:spTgt spid="6">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randombar(horizontal)">
                                      <p:cBhvr>
                                        <p:cTn id="15" dur="500"/>
                                        <p:tgtEl>
                                          <p:spTgt spid="6">
                                            <p:txEl>
                                              <p:pRg st="3" end="3"/>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randombar(horizontal)">
                                      <p:cBhvr>
                                        <p:cTn id="18" dur="500"/>
                                        <p:tgtEl>
                                          <p:spTgt spid="6">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animEffect transition="in" filter="randombar(horizontal)">
                                      <p:cBhvr>
                                        <p:cTn id="23" dur="500"/>
                                        <p:tgtEl>
                                          <p:spTgt spid="6">
                                            <p:txEl>
                                              <p:pRg st="6" end="6"/>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4" presetClass="entr" presetSubtype="10" fill="hold" nodeType="clickEffect">
                                  <p:stCondLst>
                                    <p:cond delay="0"/>
                                  </p:stCondLst>
                                  <p:childTnLst>
                                    <p:set>
                                      <p:cBhvr>
                                        <p:cTn id="27" dur="1" fill="hold">
                                          <p:stCondLst>
                                            <p:cond delay="0"/>
                                          </p:stCondLst>
                                        </p:cTn>
                                        <p:tgtEl>
                                          <p:spTgt spid="6">
                                            <p:txEl>
                                              <p:pRg st="7" end="7"/>
                                            </p:txEl>
                                          </p:spTgt>
                                        </p:tgtEl>
                                        <p:attrNameLst>
                                          <p:attrName>style.visibility</p:attrName>
                                        </p:attrNameLst>
                                      </p:cBhvr>
                                      <p:to>
                                        <p:strVal val="visible"/>
                                      </p:to>
                                    </p:set>
                                    <p:animEffect transition="in" filter="randombar(horizontal)">
                                      <p:cBhvr>
                                        <p:cTn id="28"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D78D78F-64C4-45AE-AD87-17D8BFBB119A}"/>
              </a:ext>
            </a:extLst>
          </p:cNvPr>
          <p:cNvSpPr txBox="1">
            <a:spLocks noRot="1" noChangeArrowheads="1"/>
          </p:cNvSpPr>
          <p:nvPr/>
        </p:nvSpPr>
        <p:spPr>
          <a:xfrm>
            <a:off x="323528" y="0"/>
            <a:ext cx="8135937" cy="5373216"/>
          </a:xfrm>
          <a:prstGeom prst="rect">
            <a:avLst/>
          </a:prstGeom>
        </p:spPr>
        <p:txBody>
          <a:bodyPr lIns="121917" tIns="60958" rIns="121917" bIns="60958"/>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fontAlgn="auto">
              <a:lnSpc>
                <a:spcPct val="150000"/>
              </a:lnSpc>
              <a:spcAft>
                <a:spcPts val="0"/>
              </a:spcAft>
              <a:buFont typeface="Wingdings" pitchFamily="2" charset="2"/>
              <a:buNone/>
              <a:defRPr/>
            </a:pPr>
            <a:r>
              <a:rPr lang="zh-CN" altLang="en-US" sz="3600" b="1" dirty="0">
                <a:solidFill>
                  <a:srgbClr val="FF0000"/>
                </a:solidFill>
                <a:ea typeface="隶书" pitchFamily="49" charset="-122"/>
              </a:rPr>
              <a:t>课程目标：</a:t>
            </a:r>
          </a:p>
          <a:p>
            <a:pPr marL="342900" lvl="1" indent="-342900" algn="just" fontAlgn="auto">
              <a:lnSpc>
                <a:spcPct val="110000"/>
              </a:lnSpc>
              <a:spcBef>
                <a:spcPts val="0"/>
              </a:spcBef>
              <a:spcAft>
                <a:spcPts val="0"/>
              </a:spcAft>
              <a:buFont typeface="Wingdings" panose="05000000000000000000" pitchFamily="2" charset="2"/>
              <a:buChar char="l"/>
              <a:defRPr/>
            </a:pPr>
            <a:r>
              <a:rPr lang="zh-CN" altLang="en-US" sz="2400" b="1" dirty="0">
                <a:latin typeface="Times New Roman" panose="02020603050405020304" pitchFamily="18" charset="0"/>
                <a:ea typeface="黑体" panose="02010609060101010101" pitchFamily="49" charset="-122"/>
              </a:rPr>
              <a:t>本课程旨在培养学生运用现代项目管理的理论体系与专业工具，在既定的时间、成本和质量约束下，科学地规划、监控并成功交付信息系统（</a:t>
            </a:r>
            <a:r>
              <a:rPr lang="en-US" altLang="zh-CN" sz="2400" b="1" dirty="0">
                <a:latin typeface="Times New Roman" panose="02020603050405020304" pitchFamily="18" charset="0"/>
                <a:ea typeface="黑体" panose="02010609060101010101" pitchFamily="49" charset="-122"/>
              </a:rPr>
              <a:t>IT</a:t>
            </a:r>
            <a:r>
              <a:rPr lang="zh-CN" altLang="en-US" sz="2400" b="1" dirty="0">
                <a:latin typeface="Times New Roman" panose="02020603050405020304" pitchFamily="18" charset="0"/>
                <a:ea typeface="黑体" panose="02010609060101010101" pitchFamily="49" charset="-122"/>
              </a:rPr>
              <a:t>）项目的综合实战能力。</a:t>
            </a:r>
            <a:r>
              <a:rPr lang="en-US" altLang="zh-CN" sz="2400" b="1" dirty="0">
                <a:solidFill>
                  <a:sysClr val="windowText" lastClr="000000"/>
                </a:solidFill>
                <a:latin typeface="Times New Roman" panose="02020603050405020304" pitchFamily="18" charset="0"/>
                <a:ea typeface="黑体" panose="02010609060101010101" pitchFamily="49" charset="-122"/>
              </a:rPr>
              <a:t> </a:t>
            </a:r>
          </a:p>
          <a:p>
            <a:pPr marL="342900" lvl="1" indent="-342900" algn="just" fontAlgn="auto">
              <a:lnSpc>
                <a:spcPct val="110000"/>
              </a:lnSpc>
              <a:spcBef>
                <a:spcPts val="0"/>
              </a:spcBef>
              <a:spcAft>
                <a:spcPts val="0"/>
              </a:spcAft>
              <a:buFont typeface="Wingdings" panose="05000000000000000000" pitchFamily="2" charset="2"/>
              <a:buChar char="l"/>
              <a:defRPr/>
            </a:pPr>
            <a:r>
              <a:rPr lang="zh-CN" altLang="en-US" sz="2400" b="1" dirty="0">
                <a:solidFill>
                  <a:sysClr val="windowText" lastClr="000000"/>
                </a:solidFill>
                <a:latin typeface="Times New Roman" panose="02020603050405020304" pitchFamily="18" charset="0"/>
                <a:ea typeface="黑体" panose="02010609060101010101" pitchFamily="49" charset="-122"/>
              </a:rPr>
              <a:t>项目管理是目前企业运作中最常用的运作方式，不懂项目管理将在未来的企业中无法生存！</a:t>
            </a:r>
            <a:endParaRPr lang="en-US" altLang="zh-CN" sz="2400" b="1" dirty="0">
              <a:solidFill>
                <a:sysClr val="windowText" lastClr="000000"/>
              </a:solidFill>
              <a:latin typeface="Times New Roman" panose="02020603050405020304" pitchFamily="18" charset="0"/>
              <a:ea typeface="黑体" panose="02010609060101010101" pitchFamily="49" charset="-122"/>
            </a:endParaRPr>
          </a:p>
          <a:p>
            <a:pPr marL="0" indent="0" fontAlgn="auto">
              <a:lnSpc>
                <a:spcPct val="90000"/>
              </a:lnSpc>
              <a:spcAft>
                <a:spcPts val="0"/>
              </a:spcAft>
              <a:buClr>
                <a:srgbClr val="1F497D"/>
              </a:buClr>
              <a:buFont typeface="Wingdings" pitchFamily="2" charset="2"/>
              <a:buNone/>
              <a:defRPr/>
            </a:pPr>
            <a:r>
              <a:rPr lang="zh-CN" altLang="en-US" sz="3600" b="1" dirty="0">
                <a:solidFill>
                  <a:srgbClr val="FF0000"/>
                </a:solidFill>
                <a:ea typeface="隶书" pitchFamily="49" charset="-122"/>
                <a:sym typeface="Wingdings" pitchFamily="2" charset="2"/>
              </a:rPr>
              <a:t>课程定位：</a:t>
            </a:r>
            <a:endParaRPr lang="en-US" altLang="zh-CN" sz="3600" b="1" dirty="0">
              <a:solidFill>
                <a:srgbClr val="FF0000"/>
              </a:solidFill>
              <a:ea typeface="隶书" pitchFamily="49" charset="-122"/>
              <a:sym typeface="Wingdings" pitchFamily="2" charset="2"/>
            </a:endParaRPr>
          </a:p>
          <a:p>
            <a:pPr fontAlgn="auto">
              <a:lnSpc>
                <a:spcPct val="90000"/>
              </a:lnSpc>
              <a:spcAft>
                <a:spcPts val="0"/>
              </a:spcAft>
              <a:buClr>
                <a:srgbClr val="1F497D"/>
              </a:buClr>
              <a:defRPr/>
            </a:pPr>
            <a:r>
              <a:rPr lang="zh-CN" altLang="en-US" sz="2800" b="1" dirty="0">
                <a:solidFill>
                  <a:sysClr val="windowText" lastClr="000000"/>
                </a:solidFill>
                <a:ea typeface="黑体" panose="02010609060101010101" pitchFamily="49" charset="-122"/>
                <a:sym typeface="Wingdings" pitchFamily="2" charset="2"/>
              </a:rPr>
              <a:t>以信息系统项目为对象，全面系统地学习项目管理的</a:t>
            </a:r>
            <a:r>
              <a:rPr lang="zh-CN" altLang="en-US" sz="2800" b="1" dirty="0">
                <a:solidFill>
                  <a:srgbClr val="FF0000"/>
                </a:solidFill>
                <a:ea typeface="黑体" panose="02010609060101010101" pitchFamily="49" charset="-122"/>
                <a:sym typeface="Wingdings" pitchFamily="2" charset="2"/>
              </a:rPr>
              <a:t>十大知识领域</a:t>
            </a:r>
            <a:r>
              <a:rPr lang="en-US" altLang="zh-CN" sz="2800" b="1" dirty="0">
                <a:solidFill>
                  <a:sysClr val="windowText" lastClr="000000"/>
                </a:solidFill>
                <a:ea typeface="黑体" panose="02010609060101010101" pitchFamily="49" charset="-122"/>
                <a:sym typeface="Wingdings" pitchFamily="2" charset="2"/>
              </a:rPr>
              <a:t>;</a:t>
            </a:r>
            <a:r>
              <a:rPr lang="zh-CN" altLang="en-US" sz="2800" b="1" dirty="0">
                <a:solidFill>
                  <a:sysClr val="windowText" lastClr="000000"/>
                </a:solidFill>
                <a:ea typeface="黑体" panose="02010609060101010101" pitchFamily="49" charset="-122"/>
                <a:sym typeface="Wingdings" pitchFamily="2" charset="2"/>
              </a:rPr>
              <a:t>重理论知识、实践操作和工具掌握</a:t>
            </a:r>
            <a:r>
              <a:rPr lang="en-US" altLang="zh-CN" sz="2800" b="1" dirty="0">
                <a:solidFill>
                  <a:sysClr val="windowText" lastClr="000000"/>
                </a:solidFill>
                <a:ea typeface="黑体" panose="02010609060101010101" pitchFamily="49" charset="-122"/>
                <a:sym typeface="Wingdings" pitchFamily="2" charset="2"/>
              </a:rPr>
              <a:t>.</a:t>
            </a:r>
            <a:endParaRPr lang="en-US" altLang="zh-CN" sz="2800" dirty="0">
              <a:solidFill>
                <a:sysClr val="windowText" lastClr="00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randombar(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D78D78F-64C4-45AE-AD87-17D8BFBB119A}"/>
              </a:ext>
            </a:extLst>
          </p:cNvPr>
          <p:cNvSpPr txBox="1">
            <a:spLocks noRot="1" noChangeArrowheads="1"/>
          </p:cNvSpPr>
          <p:nvPr/>
        </p:nvSpPr>
        <p:spPr>
          <a:xfrm>
            <a:off x="323528" y="0"/>
            <a:ext cx="8568952" cy="6525344"/>
          </a:xfrm>
          <a:prstGeom prst="rect">
            <a:avLst/>
          </a:prstGeom>
        </p:spPr>
        <p:txBody>
          <a:bodyPr lIns="121917" tIns="60958" rIns="121917" bIns="60958"/>
          <a:lstStyle>
            <a:lvl1pPr marL="457360" indent="-457360" algn="l" defTabSz="1219627" rtl="0" eaLnBrk="1" latinLnBrk="0" hangingPunct="1">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fontAlgn="auto">
              <a:lnSpc>
                <a:spcPct val="150000"/>
              </a:lnSpc>
              <a:spcAft>
                <a:spcPts val="0"/>
              </a:spcAft>
              <a:buFont typeface="Wingdings" pitchFamily="2" charset="2"/>
              <a:buNone/>
              <a:defRPr/>
            </a:pPr>
            <a:r>
              <a:rPr lang="zh-CN" altLang="en-US" sz="3600" b="1" dirty="0">
                <a:solidFill>
                  <a:srgbClr val="FF0000"/>
                </a:solidFill>
                <a:ea typeface="隶书" pitchFamily="49" charset="-122"/>
              </a:rPr>
              <a:t>课程考核与评价：</a:t>
            </a:r>
          </a:p>
          <a:p>
            <a:pPr marL="0" indent="0" fontAlgn="auto">
              <a:lnSpc>
                <a:spcPct val="90000"/>
              </a:lnSpc>
              <a:spcAft>
                <a:spcPts val="0"/>
              </a:spcAft>
              <a:buClr>
                <a:srgbClr val="1F497D"/>
              </a:buClr>
              <a:buNone/>
              <a:defRPr/>
            </a:pPr>
            <a:r>
              <a:rPr lang="zh-CN" altLang="en-US" sz="2800" b="1" dirty="0">
                <a:solidFill>
                  <a:schemeClr val="tx1"/>
                </a:solidFill>
                <a:ea typeface="隶书" pitchFamily="49" charset="-122"/>
                <a:sym typeface="Wingdings" pitchFamily="2" charset="2"/>
              </a:rPr>
              <a:t>本课程成绩为百分制，总成绩由平时成绩和期末考试成绩综合构成。各部分比例如下：</a:t>
            </a: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a:p>
            <a:pPr marL="0" indent="0" fontAlgn="auto">
              <a:lnSpc>
                <a:spcPct val="90000"/>
              </a:lnSpc>
              <a:spcAft>
                <a:spcPts val="0"/>
              </a:spcAft>
              <a:buClr>
                <a:srgbClr val="1F497D"/>
              </a:buClr>
              <a:buNone/>
              <a:defRPr/>
            </a:pPr>
            <a:r>
              <a:rPr lang="zh-CN" altLang="en-US" sz="2800" b="1" dirty="0">
                <a:solidFill>
                  <a:schemeClr val="tx1"/>
                </a:solidFill>
                <a:ea typeface="隶书" pitchFamily="49" charset="-122"/>
                <a:sym typeface="Wingdings" pitchFamily="2" charset="2"/>
              </a:rPr>
              <a:t>总成绩 </a:t>
            </a:r>
            <a:r>
              <a:rPr lang="en-US" altLang="zh-CN" sz="2800" b="1" dirty="0">
                <a:solidFill>
                  <a:schemeClr val="tx1"/>
                </a:solidFill>
                <a:ea typeface="隶书" pitchFamily="49" charset="-122"/>
                <a:sym typeface="Wingdings" pitchFamily="2" charset="2"/>
              </a:rPr>
              <a:t>= </a:t>
            </a:r>
            <a:r>
              <a:rPr lang="zh-CN" altLang="en-US" sz="2800" b="1" dirty="0">
                <a:solidFill>
                  <a:schemeClr val="tx1"/>
                </a:solidFill>
                <a:ea typeface="隶书" pitchFamily="49" charset="-122"/>
                <a:sym typeface="Wingdings" pitchFamily="2" charset="2"/>
              </a:rPr>
              <a:t>平时成绩*</a:t>
            </a:r>
            <a:r>
              <a:rPr lang="en-US" altLang="zh-CN" sz="2800" b="1" dirty="0">
                <a:solidFill>
                  <a:schemeClr val="tx1"/>
                </a:solidFill>
                <a:ea typeface="隶书" pitchFamily="49" charset="-122"/>
                <a:sym typeface="Wingdings" pitchFamily="2" charset="2"/>
              </a:rPr>
              <a:t>40% +</a:t>
            </a:r>
            <a:r>
              <a:rPr lang="zh-CN" altLang="en-US" sz="2800" b="1" dirty="0">
                <a:solidFill>
                  <a:schemeClr val="tx1"/>
                </a:solidFill>
                <a:ea typeface="隶书" pitchFamily="49" charset="-122"/>
                <a:sym typeface="Wingdings" pitchFamily="2" charset="2"/>
              </a:rPr>
              <a:t>期末考试成绩*</a:t>
            </a:r>
            <a:r>
              <a:rPr lang="en-US" altLang="zh-CN" sz="2800" b="1" dirty="0">
                <a:solidFill>
                  <a:schemeClr val="tx1"/>
                </a:solidFill>
                <a:ea typeface="隶书" pitchFamily="49" charset="-122"/>
                <a:sym typeface="Wingdings" pitchFamily="2" charset="2"/>
              </a:rPr>
              <a:t>60%</a:t>
            </a:r>
          </a:p>
          <a:p>
            <a:pPr marL="0" indent="0" fontAlgn="auto">
              <a:lnSpc>
                <a:spcPct val="90000"/>
              </a:lnSpc>
              <a:spcAft>
                <a:spcPts val="0"/>
              </a:spcAft>
              <a:buClr>
                <a:srgbClr val="1F497D"/>
              </a:buClr>
              <a:buNone/>
              <a:defRPr/>
            </a:pPr>
            <a:r>
              <a:rPr lang="zh-CN" altLang="en-US" sz="2800" b="1" dirty="0">
                <a:solidFill>
                  <a:schemeClr val="tx1"/>
                </a:solidFill>
                <a:ea typeface="隶书" pitchFamily="49" charset="-122"/>
                <a:sym typeface="Wingdings" pitchFamily="2" charset="2"/>
              </a:rPr>
              <a:t>平时成绩 </a:t>
            </a:r>
            <a:r>
              <a:rPr lang="en-US" altLang="zh-CN" sz="2800" b="1" dirty="0">
                <a:solidFill>
                  <a:schemeClr val="tx1"/>
                </a:solidFill>
                <a:ea typeface="隶书" pitchFamily="49" charset="-122"/>
                <a:sym typeface="Wingdings" pitchFamily="2" charset="2"/>
              </a:rPr>
              <a:t>= </a:t>
            </a:r>
            <a:r>
              <a:rPr lang="zh-CN" altLang="en-US" sz="2800" b="1" dirty="0">
                <a:solidFill>
                  <a:schemeClr val="tx1"/>
                </a:solidFill>
                <a:ea typeface="隶书" pitchFamily="49" charset="-122"/>
                <a:sym typeface="Wingdings" pitchFamily="2" charset="2"/>
              </a:rPr>
              <a:t>平时作业*</a:t>
            </a:r>
            <a:r>
              <a:rPr lang="en-US" altLang="zh-CN" sz="2800" b="1" dirty="0">
                <a:solidFill>
                  <a:schemeClr val="tx1"/>
                </a:solidFill>
                <a:ea typeface="隶书" pitchFamily="49" charset="-122"/>
                <a:sym typeface="Wingdings" pitchFamily="2" charset="2"/>
              </a:rPr>
              <a:t>30% +</a:t>
            </a:r>
            <a:r>
              <a:rPr lang="zh-CN" altLang="en-US" sz="2800" b="1" dirty="0">
                <a:solidFill>
                  <a:schemeClr val="tx1"/>
                </a:solidFill>
                <a:ea typeface="隶书" pitchFamily="49" charset="-122"/>
                <a:sym typeface="Wingdings" pitchFamily="2" charset="2"/>
              </a:rPr>
              <a:t>上机实验*</a:t>
            </a:r>
            <a:r>
              <a:rPr lang="en-US" altLang="zh-CN" sz="2800" b="1" dirty="0">
                <a:solidFill>
                  <a:schemeClr val="tx1"/>
                </a:solidFill>
                <a:ea typeface="隶书" pitchFamily="49" charset="-122"/>
                <a:sym typeface="Wingdings" pitchFamily="2" charset="2"/>
              </a:rPr>
              <a:t>40+</a:t>
            </a:r>
            <a:r>
              <a:rPr lang="zh-CN" altLang="en-US" sz="2800" b="1" dirty="0">
                <a:solidFill>
                  <a:schemeClr val="tx1"/>
                </a:solidFill>
                <a:ea typeface="隶书" pitchFamily="49" charset="-122"/>
                <a:sym typeface="Wingdings" pitchFamily="2" charset="2"/>
              </a:rPr>
              <a:t>出勤*</a:t>
            </a:r>
            <a:r>
              <a:rPr lang="en-US" altLang="zh-CN" sz="2800" b="1" dirty="0">
                <a:solidFill>
                  <a:schemeClr val="tx1"/>
                </a:solidFill>
                <a:ea typeface="隶书" pitchFamily="49" charset="-122"/>
                <a:sym typeface="Wingdings" pitchFamily="2" charset="2"/>
              </a:rPr>
              <a:t>30%</a:t>
            </a:r>
          </a:p>
          <a:p>
            <a:pPr marL="0" indent="0" fontAlgn="auto">
              <a:lnSpc>
                <a:spcPct val="90000"/>
              </a:lnSpc>
              <a:spcAft>
                <a:spcPts val="0"/>
              </a:spcAft>
              <a:buClr>
                <a:srgbClr val="1F497D"/>
              </a:buClr>
              <a:buNone/>
              <a:defRPr/>
            </a:pPr>
            <a:endParaRPr lang="en-US" altLang="zh-CN" sz="2800" b="1" dirty="0">
              <a:solidFill>
                <a:schemeClr val="tx1"/>
              </a:solidFill>
              <a:ea typeface="隶书" pitchFamily="49" charset="-122"/>
              <a:sym typeface="Wingdings" pitchFamily="2" charset="2"/>
            </a:endParaRPr>
          </a:p>
        </p:txBody>
      </p:sp>
      <p:pic>
        <p:nvPicPr>
          <p:cNvPr id="3" name="内容占位符 3">
            <a:extLst>
              <a:ext uri="{FF2B5EF4-FFF2-40B4-BE49-F238E27FC236}">
                <a16:creationId xmlns:a16="http://schemas.microsoft.com/office/drawing/2014/main" id="{F608B260-5B3F-4165-A006-BA277900726E}"/>
              </a:ext>
            </a:extLst>
          </p:cNvPr>
          <p:cNvPicPr>
            <a:picLocks noGrp="1" noChangeAspect="1"/>
          </p:cNvPicPr>
          <p:nvPr>
            <p:ph idx="1"/>
          </p:nvPr>
        </p:nvPicPr>
        <p:blipFill>
          <a:blip r:embed="rId3"/>
          <a:stretch>
            <a:fillRect/>
          </a:stretch>
        </p:blipFill>
        <p:spPr>
          <a:xfrm>
            <a:off x="791096" y="1772816"/>
            <a:ext cx="7200800" cy="3719944"/>
          </a:xfrm>
          <a:prstGeom prst="rect">
            <a:avLst/>
          </a:prstGeom>
        </p:spPr>
      </p:pic>
    </p:spTree>
    <p:extLst>
      <p:ext uri="{BB962C8B-B14F-4D97-AF65-F5344CB8AC3E}">
        <p14:creationId xmlns:p14="http://schemas.microsoft.com/office/powerpoint/2010/main" val="292236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E558AE93-2EE9-41FA-BF46-7AC0CBB9D20A}"/>
              </a:ext>
            </a:extLst>
          </p:cNvPr>
          <p:cNvSpPr>
            <a:spLocks noGrp="1" noChangeArrowheads="1"/>
          </p:cNvSpPr>
          <p:nvPr>
            <p:ph type="title" idx="4294967295"/>
          </p:nvPr>
        </p:nvSpPr>
        <p:spPr>
          <a:xfrm>
            <a:off x="0" y="571500"/>
            <a:ext cx="8229600" cy="1143000"/>
          </a:xfrm>
        </p:spPr>
        <p:txBody>
          <a:bodyPr>
            <a:normAutofit fontScale="90000"/>
          </a:bodyPr>
          <a:lstStyle/>
          <a:p>
            <a:r>
              <a:rPr lang="zh-CN" altLang="en-US" dirty="0">
                <a:solidFill>
                  <a:srgbClr val="FF0000"/>
                </a:solidFill>
              </a:rPr>
              <a:t>第</a:t>
            </a:r>
            <a:r>
              <a:rPr lang="en-US" altLang="zh-CN" dirty="0">
                <a:solidFill>
                  <a:srgbClr val="FF0000"/>
                </a:solidFill>
              </a:rPr>
              <a:t>1</a:t>
            </a:r>
            <a:r>
              <a:rPr lang="zh-CN" altLang="en-US" dirty="0">
                <a:solidFill>
                  <a:srgbClr val="FF0000"/>
                </a:solidFill>
              </a:rPr>
              <a:t>章</a:t>
            </a:r>
            <a:r>
              <a:rPr lang="en-US" altLang="zh-CN" dirty="0">
                <a:solidFill>
                  <a:srgbClr val="FF0000"/>
                </a:solidFill>
              </a:rPr>
              <a:t>   </a:t>
            </a:r>
            <a:r>
              <a:rPr lang="zh-CN" altLang="en-US" dirty="0">
                <a:solidFill>
                  <a:srgbClr val="FF0000"/>
                </a:solidFill>
              </a:rPr>
              <a:t>信息系统项目的特点与规划</a:t>
            </a:r>
          </a:p>
        </p:txBody>
      </p:sp>
      <p:sp>
        <p:nvSpPr>
          <p:cNvPr id="12291" name="Rectangle 5">
            <a:extLst>
              <a:ext uri="{FF2B5EF4-FFF2-40B4-BE49-F238E27FC236}">
                <a16:creationId xmlns:a16="http://schemas.microsoft.com/office/drawing/2014/main" id="{95A252B6-D43C-492D-B9C6-375AEC4B41C1}"/>
              </a:ext>
            </a:extLst>
          </p:cNvPr>
          <p:cNvSpPr>
            <a:spLocks noGrp="1" noChangeArrowheads="1"/>
          </p:cNvSpPr>
          <p:nvPr>
            <p:ph type="body" idx="4294967295"/>
          </p:nvPr>
        </p:nvSpPr>
        <p:spPr>
          <a:xfrm>
            <a:off x="0" y="1857375"/>
            <a:ext cx="8229600" cy="4525963"/>
          </a:xfrm>
        </p:spPr>
        <p:txBody>
          <a:bodyPr>
            <a:normAutofit/>
          </a:bodyPr>
          <a:lstStyle/>
          <a:p>
            <a:r>
              <a:rPr lang="en-US" altLang="zh-CN" sz="2800" dirty="0"/>
              <a:t>1.1 </a:t>
            </a:r>
            <a:r>
              <a:rPr lang="zh-CN" altLang="en-US" sz="2800" dirty="0"/>
              <a:t>项目管理的基本内容</a:t>
            </a:r>
            <a:endParaRPr lang="en-US" altLang="zh-CN" sz="2800" dirty="0"/>
          </a:p>
          <a:p>
            <a:endParaRPr lang="zh-CN" altLang="en-US" sz="2800" dirty="0"/>
          </a:p>
          <a:p>
            <a:r>
              <a:rPr lang="en-US" altLang="zh-CN" sz="2800" dirty="0"/>
              <a:t>1.2 </a:t>
            </a:r>
            <a:r>
              <a:rPr lang="zh-CN" altLang="en-US" sz="2800" dirty="0"/>
              <a:t>信息系统项目的特点与生命期</a:t>
            </a:r>
            <a:endParaRPr lang="en-US" altLang="zh-CN" sz="2800" dirty="0"/>
          </a:p>
          <a:p>
            <a:endParaRPr lang="en-US" altLang="zh-CN" sz="2800" dirty="0"/>
          </a:p>
          <a:p>
            <a:r>
              <a:rPr lang="en-US" altLang="zh-CN" sz="2800" dirty="0"/>
              <a:t>1.3 </a:t>
            </a:r>
            <a:r>
              <a:rPr lang="zh-CN" altLang="en-US" sz="2800" dirty="0"/>
              <a:t>组织信息化战略</a:t>
            </a:r>
            <a:endParaRPr lang="en-US" altLang="zh-CN" sz="2800" dirty="0"/>
          </a:p>
          <a:p>
            <a:endParaRPr lang="en-US" altLang="zh-CN" sz="2800" dirty="0"/>
          </a:p>
          <a:p>
            <a:r>
              <a:rPr lang="en-US" altLang="zh-CN" sz="2800" dirty="0"/>
              <a:t>1.4 </a:t>
            </a:r>
            <a:r>
              <a:rPr lang="zh-CN" altLang="en-US" sz="2800" dirty="0"/>
              <a:t>组织信息化项目规划方法</a:t>
            </a:r>
            <a:endParaRPr lang="en-US" altLang="zh-CN" sz="2800" dirty="0"/>
          </a:p>
        </p:txBody>
      </p:sp>
      <p:sp>
        <p:nvSpPr>
          <p:cNvPr id="12292" name="Line 7">
            <a:extLst>
              <a:ext uri="{FF2B5EF4-FFF2-40B4-BE49-F238E27FC236}">
                <a16:creationId xmlns:a16="http://schemas.microsoft.com/office/drawing/2014/main" id="{4737E960-C1F9-4F41-B357-845DED6477E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D6152818-AC6C-44B0-A42D-13FC0AAE36D8}"/>
              </a:ext>
            </a:extLst>
          </p:cNvPr>
          <p:cNvSpPr>
            <a:spLocks noGrp="1" noChangeArrowheads="1"/>
          </p:cNvSpPr>
          <p:nvPr>
            <p:ph type="title" idx="4294967295"/>
          </p:nvPr>
        </p:nvSpPr>
        <p:spPr>
          <a:xfrm>
            <a:off x="0" y="1500188"/>
            <a:ext cx="8229600" cy="3000375"/>
          </a:xfrm>
        </p:spPr>
        <p:txBody>
          <a:bodyPr/>
          <a:lstStyle/>
          <a:p>
            <a:r>
              <a:rPr lang="en-US" altLang="zh-CN" sz="4800" dirty="0"/>
              <a:t>1.1   </a:t>
            </a:r>
            <a:r>
              <a:rPr lang="zh-CN" altLang="en-US" sz="4800" dirty="0"/>
              <a:t>项目管理的基本内容</a:t>
            </a:r>
          </a:p>
        </p:txBody>
      </p:sp>
      <p:sp>
        <p:nvSpPr>
          <p:cNvPr id="13316" name="Line 7">
            <a:extLst>
              <a:ext uri="{FF2B5EF4-FFF2-40B4-BE49-F238E27FC236}">
                <a16:creationId xmlns:a16="http://schemas.microsoft.com/office/drawing/2014/main" id="{5F68D850-91B5-4FDF-A77D-E7544385BC8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C218356E-3E85-4885-80D9-61ABEA29E859}"/>
              </a:ext>
            </a:extLst>
          </p:cNvPr>
          <p:cNvSpPr>
            <a:spLocks noGrp="1" noChangeArrowheads="1"/>
          </p:cNvSpPr>
          <p:nvPr>
            <p:ph type="body" idx="4294967295"/>
          </p:nvPr>
        </p:nvSpPr>
        <p:spPr>
          <a:xfrm>
            <a:off x="-38" y="188640"/>
            <a:ext cx="8964526" cy="5184576"/>
          </a:xfrm>
        </p:spPr>
        <p:txBody>
          <a:bodyPr>
            <a:noAutofit/>
          </a:bodyPr>
          <a:lstStyle/>
          <a:p>
            <a:pPr indent="0" algn="just">
              <a:lnSpc>
                <a:spcPct val="100000"/>
              </a:lnSpc>
              <a:defRPr/>
            </a:pPr>
            <a:r>
              <a:rPr lang="en-US" altLang="zh-CN" sz="4000" dirty="0"/>
              <a:t>1.1.1 </a:t>
            </a:r>
            <a:r>
              <a:rPr lang="zh-CN" altLang="en-US" sz="4000" dirty="0"/>
              <a:t>项目管理的由来与发展</a:t>
            </a:r>
            <a:endParaRPr lang="en-US" altLang="zh-CN" dirty="0"/>
          </a:p>
          <a:p>
            <a:pPr marL="0" lvl="1" indent="0" algn="just">
              <a:lnSpc>
                <a:spcPct val="150000"/>
              </a:lnSpc>
              <a:spcBef>
                <a:spcPts val="0"/>
              </a:spcBef>
              <a:buFontTx/>
              <a:buAutoNum type="arabicPeriod"/>
              <a:defRPr/>
            </a:pPr>
            <a:r>
              <a:rPr lang="zh-CN" altLang="en-US" dirty="0"/>
              <a:t>项目管理定义</a:t>
            </a:r>
            <a:r>
              <a:rPr lang="en-US" altLang="zh-CN" dirty="0"/>
              <a:t>:</a:t>
            </a:r>
          </a:p>
          <a:p>
            <a:pPr marL="0" lvl="1" indent="0" algn="just">
              <a:lnSpc>
                <a:spcPct val="150000"/>
              </a:lnSpc>
              <a:spcBef>
                <a:spcPts val="0"/>
              </a:spcBef>
              <a:buFont typeface="Wingdings" panose="05000000000000000000" pitchFamily="2" charset="2"/>
              <a:buChar char="Ø"/>
              <a:defRPr/>
            </a:pPr>
            <a:r>
              <a:rPr lang="zh-CN" altLang="en-US" dirty="0">
                <a:solidFill>
                  <a:srgbClr val="FF0000"/>
                </a:solidFill>
              </a:rPr>
              <a:t>项目</a:t>
            </a:r>
            <a:r>
              <a:rPr lang="en-US" altLang="zh-CN" dirty="0">
                <a:solidFill>
                  <a:srgbClr val="FF0000"/>
                </a:solidFill>
              </a:rPr>
              <a:t>:</a:t>
            </a:r>
            <a:r>
              <a:rPr lang="zh-CN" altLang="en-US" dirty="0"/>
              <a:t>一定资源约束、一定目标、一次性任务。</a:t>
            </a:r>
            <a:endParaRPr lang="en-US" altLang="zh-CN" dirty="0"/>
          </a:p>
          <a:p>
            <a:pPr marL="0" lvl="1" indent="0" algn="just">
              <a:lnSpc>
                <a:spcPct val="150000"/>
              </a:lnSpc>
              <a:spcBef>
                <a:spcPts val="0"/>
              </a:spcBef>
              <a:buNone/>
              <a:defRPr/>
            </a:pPr>
            <a:r>
              <a:rPr lang="zh-CN" altLang="en-US" dirty="0"/>
              <a:t>资源包括：时间资源、经费资源、人力资源、物质资源等</a:t>
            </a:r>
            <a:endParaRPr lang="en-US" altLang="zh-CN" dirty="0"/>
          </a:p>
          <a:p>
            <a:pPr marL="0" lvl="1" indent="0" algn="just">
              <a:lnSpc>
                <a:spcPct val="150000"/>
              </a:lnSpc>
              <a:spcBef>
                <a:spcPts val="0"/>
              </a:spcBef>
              <a:buFont typeface="Wingdings" panose="05000000000000000000" pitchFamily="2" charset="2"/>
              <a:buChar char="Ø"/>
              <a:defRPr/>
            </a:pPr>
            <a:r>
              <a:rPr lang="zh-CN" altLang="en-US" dirty="0">
                <a:solidFill>
                  <a:srgbClr val="FF0000"/>
                </a:solidFill>
              </a:rPr>
              <a:t>项目管理</a:t>
            </a:r>
            <a:r>
              <a:rPr lang="zh-CN" altLang="en-US" dirty="0"/>
              <a:t>指在项目活动中运用知识、技能、工具和技术，以满足项目干系人对项目的需求和期望的过程</a:t>
            </a:r>
            <a:r>
              <a:rPr lang="en-US" altLang="zh-CN" dirty="0"/>
              <a:t>.</a:t>
            </a:r>
          </a:p>
          <a:p>
            <a:pPr marL="0" lvl="1" indent="0" algn="just">
              <a:lnSpc>
                <a:spcPct val="150000"/>
              </a:lnSpc>
              <a:spcBef>
                <a:spcPts val="0"/>
              </a:spcBef>
              <a:buFont typeface="Wingdings" panose="05000000000000000000" pitchFamily="2" charset="2"/>
              <a:buChar char="Ø"/>
              <a:defRPr/>
            </a:pPr>
            <a:r>
              <a:rPr lang="zh-CN" altLang="en-US" dirty="0">
                <a:solidFill>
                  <a:srgbClr val="FF0000"/>
                </a:solidFill>
              </a:rPr>
              <a:t>项目干系人</a:t>
            </a:r>
            <a:r>
              <a:rPr lang="zh-CN" altLang="en-US" dirty="0"/>
              <a:t>是指能影响项目决策、活动或结果的个人、群体或组织，以及会受或自认为会受项目决策、活动或结果影响的个人、群体或组织。</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C218356E-3E85-4885-80D9-61ABEA29E859}"/>
              </a:ext>
            </a:extLst>
          </p:cNvPr>
          <p:cNvSpPr>
            <a:spLocks noGrp="1" noChangeArrowheads="1"/>
          </p:cNvSpPr>
          <p:nvPr>
            <p:ph type="body" idx="4294967295"/>
          </p:nvPr>
        </p:nvSpPr>
        <p:spPr>
          <a:xfrm>
            <a:off x="-38" y="188640"/>
            <a:ext cx="8964526" cy="6336704"/>
          </a:xfrm>
        </p:spPr>
        <p:txBody>
          <a:bodyPr>
            <a:noAutofit/>
          </a:bodyPr>
          <a:lstStyle/>
          <a:p>
            <a:pPr indent="0" algn="just">
              <a:lnSpc>
                <a:spcPct val="100000"/>
              </a:lnSpc>
              <a:defRPr/>
            </a:pPr>
            <a:r>
              <a:rPr lang="en-US" altLang="zh-CN" sz="4000" dirty="0"/>
              <a:t>1.1.1 </a:t>
            </a:r>
            <a:r>
              <a:rPr lang="zh-CN" altLang="en-US" sz="4000" dirty="0"/>
              <a:t>项目管理的由来与发展</a:t>
            </a:r>
            <a:endParaRPr lang="en-US" altLang="zh-CN" dirty="0"/>
          </a:p>
          <a:p>
            <a:pPr marL="0" lvl="1" indent="0" algn="just">
              <a:lnSpc>
                <a:spcPct val="150000"/>
              </a:lnSpc>
              <a:spcBef>
                <a:spcPts val="0"/>
              </a:spcBef>
              <a:buNone/>
              <a:defRPr/>
            </a:pPr>
            <a:r>
              <a:rPr lang="en-US" altLang="zh-CN" dirty="0"/>
              <a:t>2.</a:t>
            </a:r>
            <a:r>
              <a:rPr lang="zh-CN" altLang="en-US" dirty="0"/>
              <a:t>项目管理的起源与发展</a:t>
            </a:r>
            <a:endParaRPr lang="en-US" altLang="zh-CN" dirty="0"/>
          </a:p>
          <a:p>
            <a:pPr marL="0" lvl="1" indent="0" algn="just">
              <a:lnSpc>
                <a:spcPct val="150000"/>
              </a:lnSpc>
              <a:spcBef>
                <a:spcPts val="0"/>
              </a:spcBef>
              <a:buFont typeface="Wingdings" panose="05000000000000000000" pitchFamily="2" charset="2"/>
              <a:buChar char="Ø"/>
              <a:defRPr/>
            </a:pPr>
            <a:r>
              <a:rPr lang="en-US" altLang="zh-CN" dirty="0"/>
              <a:t>1917</a:t>
            </a:r>
            <a:r>
              <a:rPr lang="zh-CN" altLang="en-US" dirty="0"/>
              <a:t>甘特图</a:t>
            </a:r>
            <a:endParaRPr lang="en-US" altLang="zh-CN" dirty="0"/>
          </a:p>
          <a:p>
            <a:pPr marL="0" lvl="1" indent="0" algn="just">
              <a:lnSpc>
                <a:spcPct val="150000"/>
              </a:lnSpc>
              <a:spcBef>
                <a:spcPts val="0"/>
              </a:spcBef>
              <a:buFont typeface="Wingdings" panose="05000000000000000000" pitchFamily="2" charset="2"/>
              <a:buChar char="Ø"/>
              <a:defRPr/>
            </a:pPr>
            <a:r>
              <a:rPr lang="en-US" altLang="zh-CN" dirty="0"/>
              <a:t>1957</a:t>
            </a:r>
            <a:r>
              <a:rPr lang="zh-CN" altLang="en-US" dirty="0"/>
              <a:t>关键路径法（</a:t>
            </a:r>
            <a:r>
              <a:rPr lang="en-US" altLang="zh-CN" dirty="0"/>
              <a:t>CPM</a:t>
            </a:r>
            <a:r>
              <a:rPr lang="zh-CN" altLang="en-US" dirty="0"/>
              <a:t>）</a:t>
            </a:r>
            <a:endParaRPr lang="en-US" altLang="zh-CN" dirty="0"/>
          </a:p>
          <a:p>
            <a:pPr marL="0" lvl="1" indent="0" algn="just">
              <a:lnSpc>
                <a:spcPct val="150000"/>
              </a:lnSpc>
              <a:spcBef>
                <a:spcPts val="0"/>
              </a:spcBef>
              <a:buFont typeface="Wingdings" panose="05000000000000000000" pitchFamily="2" charset="2"/>
              <a:buChar char="Ø"/>
              <a:defRPr/>
            </a:pPr>
            <a:r>
              <a:rPr lang="en-US" altLang="zh-CN" dirty="0"/>
              <a:t>1958</a:t>
            </a:r>
            <a:r>
              <a:rPr lang="zh-CN" altLang="en-US" dirty="0"/>
              <a:t>计划评审技术（</a:t>
            </a:r>
            <a:r>
              <a:rPr lang="en-US" altLang="zh-CN" dirty="0"/>
              <a:t>PERT</a:t>
            </a:r>
            <a:r>
              <a:rPr lang="zh-CN" altLang="en-US" dirty="0"/>
              <a:t>）</a:t>
            </a:r>
            <a:endParaRPr lang="en-US" altLang="zh-CN" dirty="0"/>
          </a:p>
          <a:p>
            <a:pPr marL="0" lvl="1" indent="0" algn="just">
              <a:lnSpc>
                <a:spcPct val="150000"/>
              </a:lnSpc>
              <a:spcBef>
                <a:spcPts val="0"/>
              </a:spcBef>
              <a:buFont typeface="Wingdings" panose="05000000000000000000" pitchFamily="2" charset="2"/>
              <a:buChar char="Ø"/>
              <a:defRPr/>
            </a:pPr>
            <a:r>
              <a:rPr lang="zh-CN" altLang="en-US" dirty="0"/>
              <a:t>阿波罗登月计划采用的网络计划技术</a:t>
            </a:r>
            <a:endParaRPr lang="en-US" altLang="zh-CN" dirty="0"/>
          </a:p>
        </p:txBody>
      </p:sp>
    </p:spTree>
    <p:extLst>
      <p:ext uri="{BB962C8B-B14F-4D97-AF65-F5344CB8AC3E}">
        <p14:creationId xmlns:p14="http://schemas.microsoft.com/office/powerpoint/2010/main" val="3106134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a:extLst>
              <a:ext uri="{FF2B5EF4-FFF2-40B4-BE49-F238E27FC236}">
                <a16:creationId xmlns:a16="http://schemas.microsoft.com/office/drawing/2014/main" id="{15A83B6D-2E79-4AB4-A2DC-C846F8A45758}"/>
              </a:ext>
            </a:extLst>
          </p:cNvPr>
          <p:cNvSpPr>
            <a:spLocks noGrp="1" noChangeArrowheads="1"/>
          </p:cNvSpPr>
          <p:nvPr>
            <p:ph type="body" idx="4294967295"/>
          </p:nvPr>
        </p:nvSpPr>
        <p:spPr>
          <a:xfrm>
            <a:off x="0" y="760413"/>
            <a:ext cx="8820472" cy="4525962"/>
          </a:xfrm>
        </p:spPr>
        <p:txBody>
          <a:bodyPr>
            <a:noAutofit/>
          </a:bodyPr>
          <a:lstStyle/>
          <a:p>
            <a:r>
              <a:rPr lang="en-US" altLang="zh-CN" sz="4000" dirty="0"/>
              <a:t>1.1.1 </a:t>
            </a:r>
            <a:r>
              <a:rPr lang="zh-CN" altLang="en-US" sz="4000" dirty="0"/>
              <a:t>项目管理的由来与发展</a:t>
            </a:r>
          </a:p>
          <a:p>
            <a:pPr marL="914400" lvl="1" indent="-514350">
              <a:buFontTx/>
              <a:buNone/>
            </a:pPr>
            <a:endParaRPr lang="en-US" altLang="zh-CN" dirty="0"/>
          </a:p>
          <a:p>
            <a:pPr marL="914400" lvl="1" indent="-514350">
              <a:buFontTx/>
              <a:buNone/>
            </a:pPr>
            <a:r>
              <a:rPr lang="en-US" altLang="zh-CN" dirty="0"/>
              <a:t>3.  </a:t>
            </a:r>
            <a:r>
              <a:rPr lang="zh-CN" altLang="en-US" dirty="0"/>
              <a:t>项目管理两阶段</a:t>
            </a:r>
            <a:r>
              <a:rPr lang="en-US" altLang="zh-CN" dirty="0"/>
              <a:t>: </a:t>
            </a:r>
          </a:p>
          <a:p>
            <a:pPr marL="914400" lvl="1" indent="-514350">
              <a:buFont typeface="Wingdings" panose="05000000000000000000" pitchFamily="2" charset="2"/>
              <a:buChar char="Ø"/>
            </a:pPr>
            <a:r>
              <a:rPr lang="en-US" altLang="zh-CN" dirty="0"/>
              <a:t>20</a:t>
            </a:r>
            <a:r>
              <a:rPr lang="zh-CN" altLang="en-US" dirty="0"/>
              <a:t>世纪</a:t>
            </a:r>
            <a:r>
              <a:rPr lang="en-US" altLang="zh-CN" dirty="0"/>
              <a:t>80</a:t>
            </a:r>
            <a:r>
              <a:rPr lang="zh-CN" altLang="en-US" dirty="0"/>
              <a:t>年代作为分水岭</a:t>
            </a:r>
            <a:r>
              <a:rPr lang="en-US" altLang="zh-CN" dirty="0"/>
              <a:t>,</a:t>
            </a:r>
            <a:r>
              <a:rPr lang="zh-CN" altLang="en-US" dirty="0"/>
              <a:t>分为传统的项目管理与现代项目管理；</a:t>
            </a:r>
            <a:endParaRPr lang="en-US" altLang="zh-CN" dirty="0"/>
          </a:p>
          <a:p>
            <a:pPr marL="914400" lvl="1" indent="-514350">
              <a:buFont typeface="Wingdings" panose="05000000000000000000" pitchFamily="2" charset="2"/>
              <a:buChar char="Ø"/>
            </a:pPr>
            <a:r>
              <a:rPr lang="zh-CN" altLang="en-US" dirty="0"/>
              <a:t>传统的项目管理主要运用于建筑、国防、航天等少数行业的工程项目；</a:t>
            </a:r>
            <a:endParaRPr lang="en-US" altLang="zh-CN" dirty="0"/>
          </a:p>
          <a:p>
            <a:pPr marL="914400" lvl="1" indent="-514350">
              <a:buFont typeface="Wingdings" panose="05000000000000000000" pitchFamily="2" charset="2"/>
              <a:buChar char="Ø"/>
            </a:pPr>
            <a:r>
              <a:rPr lang="zh-CN" altLang="en-US" dirty="0"/>
              <a:t>现代项目管理已经泛化至一切一次性的活动，尤其是</a:t>
            </a:r>
            <a:r>
              <a:rPr lang="en-US" altLang="zh-CN" dirty="0"/>
              <a:t>IT</a:t>
            </a:r>
            <a:r>
              <a:rPr lang="zh-CN" altLang="en-US" dirty="0"/>
              <a:t>行业。</a:t>
            </a:r>
            <a:endParaRPr lang="en-US" altLang="zh-CN" dirty="0"/>
          </a:p>
        </p:txBody>
      </p:sp>
      <p:sp>
        <p:nvSpPr>
          <p:cNvPr id="15364" name="Line 7">
            <a:extLst>
              <a:ext uri="{FF2B5EF4-FFF2-40B4-BE49-F238E27FC236}">
                <a16:creationId xmlns:a16="http://schemas.microsoft.com/office/drawing/2014/main" id="{264B0349-A1AE-4EAF-9B6E-3B340892A9B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a:extLst>
              <a:ext uri="{FF2B5EF4-FFF2-40B4-BE49-F238E27FC236}">
                <a16:creationId xmlns:a16="http://schemas.microsoft.com/office/drawing/2014/main" id="{2AD482B6-3F37-42EC-9122-5AFB93B58125}"/>
              </a:ext>
            </a:extLst>
          </p:cNvPr>
          <p:cNvSpPr>
            <a:spLocks noGrp="1" noChangeArrowheads="1"/>
          </p:cNvSpPr>
          <p:nvPr>
            <p:ph type="body" idx="4294967295"/>
          </p:nvPr>
        </p:nvSpPr>
        <p:spPr>
          <a:xfrm>
            <a:off x="179512" y="548680"/>
            <a:ext cx="8568952" cy="6048670"/>
          </a:xfrm>
        </p:spPr>
        <p:txBody>
          <a:bodyPr>
            <a:noAutofit/>
          </a:bodyPr>
          <a:lstStyle/>
          <a:p>
            <a:pPr>
              <a:defRPr/>
            </a:pPr>
            <a:r>
              <a:rPr lang="en-US" altLang="zh-CN" sz="4000" dirty="0"/>
              <a:t>1.1.2 </a:t>
            </a:r>
            <a:r>
              <a:rPr lang="zh-CN" altLang="en-US" sz="4000" dirty="0"/>
              <a:t>推广项目管理的权威机构</a:t>
            </a:r>
            <a:endParaRPr lang="en-US" altLang="zh-CN" dirty="0"/>
          </a:p>
          <a:p>
            <a:pPr marL="0" lvl="1" indent="0">
              <a:lnSpc>
                <a:spcPct val="160000"/>
              </a:lnSpc>
              <a:spcBef>
                <a:spcPts val="0"/>
              </a:spcBef>
              <a:buFontTx/>
              <a:buAutoNum type="arabicPeriod"/>
              <a:defRPr/>
            </a:pPr>
            <a:r>
              <a:rPr lang="zh-CN" altLang="en-US" dirty="0"/>
              <a:t>美国项目管理学会（</a:t>
            </a:r>
            <a:r>
              <a:rPr lang="en-US" altLang="zh-CN" dirty="0"/>
              <a:t>PMI</a:t>
            </a:r>
            <a:r>
              <a:rPr lang="zh-CN" altLang="en-US" dirty="0"/>
              <a:t>）</a:t>
            </a:r>
            <a:endParaRPr lang="en-US" altLang="zh-CN" dirty="0"/>
          </a:p>
          <a:p>
            <a:pPr marL="0" lvl="1" indent="0">
              <a:lnSpc>
                <a:spcPct val="160000"/>
              </a:lnSpc>
              <a:spcBef>
                <a:spcPts val="0"/>
              </a:spcBef>
              <a:buFont typeface="Wingdings" panose="05000000000000000000" pitchFamily="2" charset="2"/>
              <a:buChar char="Ø"/>
              <a:defRPr/>
            </a:pPr>
            <a:r>
              <a:rPr lang="en-US" altLang="zh-CN" dirty="0"/>
              <a:t>PMI</a:t>
            </a:r>
            <a:r>
              <a:rPr lang="zh-CN" altLang="en-US" dirty="0"/>
              <a:t>（</a:t>
            </a:r>
            <a:r>
              <a:rPr lang="en-US" altLang="zh-CN" dirty="0"/>
              <a:t>Project Management Institute</a:t>
            </a:r>
            <a:r>
              <a:rPr lang="zh-CN" altLang="en-US" dirty="0"/>
              <a:t>），是成立于</a:t>
            </a:r>
            <a:r>
              <a:rPr lang="en-US" altLang="zh-CN" dirty="0"/>
              <a:t>1969</a:t>
            </a:r>
            <a:r>
              <a:rPr lang="zh-CN" altLang="en-US" dirty="0"/>
              <a:t>年一个国际性组织，是项目管理专业领域中最大的、由研究人员、学者、顾问和经理组成的全球性专业组织</a:t>
            </a:r>
            <a:endParaRPr lang="en-US" altLang="zh-CN" dirty="0"/>
          </a:p>
          <a:p>
            <a:pPr marL="0" lvl="1" indent="0">
              <a:lnSpc>
                <a:spcPct val="160000"/>
              </a:lnSpc>
              <a:spcBef>
                <a:spcPts val="0"/>
              </a:spcBef>
              <a:buFont typeface="Wingdings" panose="05000000000000000000" pitchFamily="2" charset="2"/>
              <a:buChar char="Ø"/>
              <a:defRPr/>
            </a:pPr>
            <a:r>
              <a:rPr lang="zh-CN" altLang="en-US" dirty="0"/>
              <a:t>其推出了项目管理知识体系指南（</a:t>
            </a:r>
            <a:r>
              <a:rPr lang="en-US" altLang="zh-CN" dirty="0"/>
              <a:t>Project Management Body of Knowledge</a:t>
            </a:r>
            <a:r>
              <a:rPr lang="zh-CN" altLang="en-US" dirty="0"/>
              <a:t>，</a:t>
            </a:r>
            <a:r>
              <a:rPr lang="en-US" altLang="zh-CN" dirty="0"/>
              <a:t>PMBOK</a:t>
            </a:r>
            <a:r>
              <a:rPr lang="zh-CN" altLang="en-US" dirty="0"/>
              <a:t>）是项目管理发展史上地一个里程碑。</a:t>
            </a:r>
            <a:r>
              <a:rPr lang="en-US" altLang="zh-CN" dirty="0"/>
              <a:t>PMBOK</a:t>
            </a:r>
            <a:r>
              <a:rPr lang="zh-CN" altLang="en-US" dirty="0"/>
              <a:t>定义了项目管理的</a:t>
            </a:r>
            <a:r>
              <a:rPr lang="zh-CN" altLang="en-US" dirty="0">
                <a:solidFill>
                  <a:srgbClr val="FF0000"/>
                </a:solidFill>
              </a:rPr>
              <a:t>十大知识领域</a:t>
            </a:r>
            <a:r>
              <a:rPr lang="zh-CN" altLang="en-US" dirty="0"/>
              <a:t>和</a:t>
            </a:r>
            <a:r>
              <a:rPr lang="zh-CN" altLang="en-US" dirty="0">
                <a:solidFill>
                  <a:srgbClr val="FF0000"/>
                </a:solidFill>
              </a:rPr>
              <a:t>五大管理过程</a:t>
            </a:r>
            <a:r>
              <a:rPr lang="zh-CN" altLang="en-US" dirty="0"/>
              <a:t>。</a:t>
            </a:r>
            <a:endParaRPr lang="en-US" altLang="zh-CN" dirty="0"/>
          </a:p>
          <a:p>
            <a:pPr marL="0" lvl="1" indent="0">
              <a:lnSpc>
                <a:spcPct val="160000"/>
              </a:lnSpc>
              <a:spcBef>
                <a:spcPts val="0"/>
              </a:spcBef>
              <a:buFont typeface="Wingdings" panose="05000000000000000000" pitchFamily="2" charset="2"/>
              <a:buChar char="Ø"/>
              <a:defRPr/>
            </a:pPr>
            <a:r>
              <a:rPr lang="en-US" altLang="zh-CN" dirty="0"/>
              <a:t>PMI</a:t>
            </a:r>
            <a:r>
              <a:rPr lang="zh-CN" altLang="en-US" dirty="0"/>
              <a:t>组织的项目管理资格认证考试（</a:t>
            </a:r>
            <a:r>
              <a:rPr lang="en-US" altLang="zh-CN" dirty="0"/>
              <a:t>PMP</a:t>
            </a:r>
            <a:r>
              <a:rPr lang="zh-CN" altLang="en-US" dirty="0"/>
              <a:t>，</a:t>
            </a:r>
            <a:r>
              <a:rPr lang="en-US" altLang="zh-CN" dirty="0"/>
              <a:t>Project Management Professional</a:t>
            </a:r>
            <a:r>
              <a:rPr lang="zh-CN" altLang="en-US" dirty="0"/>
              <a:t>）已经成为项目管理领域的权威认证。</a:t>
            </a:r>
            <a:endParaRPr lang="en-US" altLang="zh-CN" dirty="0"/>
          </a:p>
        </p:txBody>
      </p:sp>
      <p:sp>
        <p:nvSpPr>
          <p:cNvPr id="16388" name="Line 7">
            <a:extLst>
              <a:ext uri="{FF2B5EF4-FFF2-40B4-BE49-F238E27FC236}">
                <a16:creationId xmlns:a16="http://schemas.microsoft.com/office/drawing/2014/main" id="{9910477A-33AD-4F94-961F-2ADBEC6D379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a:extLst>
              <a:ext uri="{FF2B5EF4-FFF2-40B4-BE49-F238E27FC236}">
                <a16:creationId xmlns:a16="http://schemas.microsoft.com/office/drawing/2014/main" id="{3635D860-E57F-4789-AB3C-13310E9FB7C2}"/>
              </a:ext>
            </a:extLst>
          </p:cNvPr>
          <p:cNvSpPr>
            <a:spLocks noGrp="1" noChangeArrowheads="1"/>
          </p:cNvSpPr>
          <p:nvPr>
            <p:ph type="body" idx="4294967295"/>
          </p:nvPr>
        </p:nvSpPr>
        <p:spPr>
          <a:xfrm>
            <a:off x="0" y="831850"/>
            <a:ext cx="8964488" cy="4525963"/>
          </a:xfrm>
        </p:spPr>
        <p:txBody>
          <a:bodyPr>
            <a:noAutofit/>
          </a:bodyPr>
          <a:lstStyle/>
          <a:p>
            <a:pPr marL="971550" lvl="1" indent="-514350">
              <a:buFontTx/>
              <a:buNone/>
              <a:defRPr/>
            </a:pPr>
            <a:r>
              <a:rPr lang="en-US" altLang="zh-CN" sz="2800" dirty="0"/>
              <a:t>2. </a:t>
            </a:r>
            <a:r>
              <a:rPr lang="zh-CN" altLang="en-US" sz="2800" dirty="0"/>
              <a:t>国际项目管理协会（</a:t>
            </a:r>
            <a:r>
              <a:rPr lang="en-US" altLang="zh-CN" sz="2800" dirty="0"/>
              <a:t>IPMA</a:t>
            </a:r>
            <a:r>
              <a:rPr lang="zh-CN" altLang="en-US" sz="2800" dirty="0"/>
              <a:t>）</a:t>
            </a:r>
            <a:endParaRPr lang="en-US" altLang="zh-CN" sz="2800" dirty="0"/>
          </a:p>
          <a:p>
            <a:pPr marL="971550" lvl="1" indent="-514350">
              <a:buFont typeface="Wingdings" panose="05000000000000000000" pitchFamily="2" charset="2"/>
              <a:buChar char="Ø"/>
              <a:defRPr/>
            </a:pPr>
            <a:r>
              <a:rPr lang="en-US" altLang="zh-CN" sz="2800" dirty="0"/>
              <a:t>IPMA</a:t>
            </a:r>
            <a:r>
              <a:rPr lang="zh-CN" altLang="en-US" sz="2800" dirty="0"/>
              <a:t>（</a:t>
            </a:r>
            <a:r>
              <a:rPr lang="en-US" altLang="zh-CN" sz="2800" dirty="0"/>
              <a:t>International Project Management Association</a:t>
            </a:r>
            <a:r>
              <a:rPr lang="zh-CN" altLang="en-US" sz="2800" dirty="0"/>
              <a:t>），创建于</a:t>
            </a:r>
            <a:r>
              <a:rPr lang="en-US" altLang="zh-CN" sz="2800" dirty="0"/>
              <a:t>1965</a:t>
            </a:r>
            <a:r>
              <a:rPr lang="zh-CN" altLang="en-US" sz="2800" dirty="0"/>
              <a:t>年，是国际上成立最早的项目管理专业组织</a:t>
            </a:r>
            <a:r>
              <a:rPr lang="en-US" altLang="zh-CN" sz="2800" dirty="0"/>
              <a:t>;</a:t>
            </a:r>
          </a:p>
          <a:p>
            <a:pPr marL="971550" lvl="1" indent="-514350">
              <a:buFont typeface="Wingdings" panose="05000000000000000000" pitchFamily="2" charset="2"/>
              <a:buChar char="Ø"/>
              <a:defRPr/>
            </a:pPr>
            <a:r>
              <a:rPr lang="zh-CN" altLang="en-US" sz="2800" dirty="0"/>
              <a:t>国际项目管理专业资质认证（</a:t>
            </a:r>
            <a:r>
              <a:rPr lang="en-US" altLang="zh-CN" sz="2800" dirty="0"/>
              <a:t>International Project Management Professional</a:t>
            </a:r>
            <a:r>
              <a:rPr lang="zh-CN" altLang="en-US" sz="2800" dirty="0"/>
              <a:t>，简称</a:t>
            </a:r>
            <a:r>
              <a:rPr lang="en-US" altLang="zh-CN" sz="2800" dirty="0"/>
              <a:t>IPMP</a:t>
            </a:r>
            <a:r>
              <a:rPr lang="zh-CN" altLang="en-US" sz="2800" dirty="0"/>
              <a:t>）是</a:t>
            </a:r>
            <a:r>
              <a:rPr lang="en-US" altLang="zh-CN" sz="2800" dirty="0"/>
              <a:t>IPMA</a:t>
            </a:r>
            <a:r>
              <a:rPr lang="zh-CN" altLang="en-US" sz="2800" dirty="0"/>
              <a:t>在全球推行的四级项目管理专业资质认证体系的总称。</a:t>
            </a:r>
            <a:endParaRPr lang="en-US" altLang="zh-CN" sz="2800" dirty="0"/>
          </a:p>
          <a:p>
            <a:pPr marL="971550" lvl="1" indent="-514350">
              <a:buFont typeface="Wingdings" panose="05000000000000000000" pitchFamily="2" charset="2"/>
              <a:buChar char="Ø"/>
              <a:defRPr/>
            </a:pPr>
            <a:r>
              <a:rPr lang="en-US" altLang="zh-CN" sz="2800" dirty="0"/>
              <a:t>IPMA</a:t>
            </a:r>
            <a:r>
              <a:rPr lang="zh-CN" altLang="en-US" sz="2800" dirty="0"/>
              <a:t>四级分别对应大型国际项目、大型复杂项目、一般复杂项目与项目管理专业能力</a:t>
            </a:r>
            <a:endParaRPr lang="en-US" altLang="zh-CN" sz="2800" dirty="0"/>
          </a:p>
          <a:p>
            <a:pPr marL="971550" lvl="1" indent="-514350">
              <a:buFontTx/>
              <a:buNone/>
              <a:defRPr/>
            </a:pPr>
            <a:endParaRPr lang="zh-CN" altLang="en-US" dirty="0"/>
          </a:p>
        </p:txBody>
      </p:sp>
      <p:sp>
        <p:nvSpPr>
          <p:cNvPr id="17412" name="Line 7">
            <a:extLst>
              <a:ext uri="{FF2B5EF4-FFF2-40B4-BE49-F238E27FC236}">
                <a16:creationId xmlns:a16="http://schemas.microsoft.com/office/drawing/2014/main" id="{85A9ED8E-F6EC-4669-9473-52F6B5BDB29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a:extLst>
              <a:ext uri="{FF2B5EF4-FFF2-40B4-BE49-F238E27FC236}">
                <a16:creationId xmlns:a16="http://schemas.microsoft.com/office/drawing/2014/main" id="{9A513C6C-97DD-42BF-8D1B-13F801FB09DF}"/>
              </a:ext>
            </a:extLst>
          </p:cNvPr>
          <p:cNvSpPr>
            <a:spLocks noGrp="1" noChangeArrowheads="1"/>
          </p:cNvSpPr>
          <p:nvPr>
            <p:ph type="body" idx="4294967295"/>
          </p:nvPr>
        </p:nvSpPr>
        <p:spPr>
          <a:xfrm>
            <a:off x="0" y="642938"/>
            <a:ext cx="8229600" cy="4525962"/>
          </a:xfrm>
        </p:spPr>
        <p:txBody>
          <a:bodyPr>
            <a:noAutofit/>
          </a:bodyPr>
          <a:lstStyle/>
          <a:p>
            <a:pPr marL="971550" lvl="1" indent="-514350">
              <a:buFontTx/>
              <a:buNone/>
              <a:defRPr/>
            </a:pPr>
            <a:r>
              <a:rPr lang="en-US" altLang="zh-CN" sz="2800" dirty="0"/>
              <a:t>3. </a:t>
            </a:r>
            <a:r>
              <a:rPr lang="zh-CN" altLang="en-US" sz="2800" dirty="0"/>
              <a:t>英国商务部与</a:t>
            </a:r>
            <a:r>
              <a:rPr lang="en-US" altLang="zh-CN" sz="2800" dirty="0"/>
              <a:t>PRINCE 2:</a:t>
            </a:r>
          </a:p>
          <a:p>
            <a:pPr marL="971550" lvl="1" indent="-514350">
              <a:buFont typeface="Wingdings" panose="05000000000000000000" pitchFamily="2" charset="2"/>
              <a:buChar char="Ø"/>
              <a:defRPr/>
            </a:pPr>
            <a:r>
              <a:rPr lang="zh-CN" altLang="en-US" sz="2800" dirty="0"/>
              <a:t>英国商务部出资研发的</a:t>
            </a:r>
            <a:r>
              <a:rPr lang="en-US" altLang="zh-CN" sz="2800" dirty="0"/>
              <a:t>PRINCE</a:t>
            </a:r>
            <a:r>
              <a:rPr lang="zh-CN" altLang="en-US" sz="2800" dirty="0"/>
              <a:t>（</a:t>
            </a:r>
            <a:r>
              <a:rPr lang="en-US" altLang="zh-CN" sz="2800" dirty="0" err="1"/>
              <a:t>PRojects</a:t>
            </a:r>
            <a:r>
              <a:rPr lang="en-US" altLang="zh-CN" sz="2800" dirty="0"/>
              <a:t> IN Controlled Environments</a:t>
            </a:r>
            <a:r>
              <a:rPr lang="zh-CN" altLang="en-US" sz="2800" dirty="0"/>
              <a:t>）是组织、管理和控制项目的方法，改进后的</a:t>
            </a:r>
            <a:r>
              <a:rPr lang="en-US" altLang="zh-CN" sz="2800" dirty="0"/>
              <a:t>2</a:t>
            </a:r>
            <a:r>
              <a:rPr lang="zh-CN" altLang="en-US" sz="2800" dirty="0"/>
              <a:t>代成为面向所有类型项目的、通用的、最佳实践的项目管理方法。</a:t>
            </a:r>
            <a:endParaRPr lang="en-US" altLang="zh-CN" sz="2800" dirty="0"/>
          </a:p>
          <a:p>
            <a:pPr marL="971550" lvl="1" indent="-514350">
              <a:buFont typeface="Wingdings" panose="05000000000000000000" pitchFamily="2" charset="2"/>
              <a:buChar char="Ø"/>
              <a:defRPr/>
            </a:pPr>
            <a:r>
              <a:rPr lang="en-US" altLang="zh-CN" sz="2800" dirty="0"/>
              <a:t>PRINCE2</a:t>
            </a:r>
            <a:r>
              <a:rPr lang="zh-CN" altLang="en-US" sz="2800" dirty="0"/>
              <a:t>是基于过程（</a:t>
            </a:r>
            <a:r>
              <a:rPr lang="en-US" altLang="zh-CN" sz="2800" dirty="0"/>
              <a:t>process-based</a:t>
            </a:r>
            <a:r>
              <a:rPr lang="zh-CN" altLang="en-US" sz="2800" dirty="0"/>
              <a:t>）的方法，它提供从项目开始到项目结束覆盖整个项目生命期的基于过程的结构化的项目管理方法，适合于所有类型项目（不管项目的大小和领域，不再局限于</a:t>
            </a:r>
            <a:r>
              <a:rPr lang="en-US" altLang="zh-CN" sz="2800" dirty="0"/>
              <a:t>IT</a:t>
            </a:r>
            <a:r>
              <a:rPr lang="zh-CN" altLang="en-US" sz="2800" dirty="0"/>
              <a:t>项目），是一种易于剪裁和灵活使用的管理方法</a:t>
            </a:r>
          </a:p>
        </p:txBody>
      </p:sp>
      <p:sp>
        <p:nvSpPr>
          <p:cNvPr id="18436" name="Line 7">
            <a:extLst>
              <a:ext uri="{FF2B5EF4-FFF2-40B4-BE49-F238E27FC236}">
                <a16:creationId xmlns:a16="http://schemas.microsoft.com/office/drawing/2014/main" id="{9B8F31AC-3CE3-402A-B4FC-109CA0882312}"/>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a:extLst>
              <a:ext uri="{FF2B5EF4-FFF2-40B4-BE49-F238E27FC236}">
                <a16:creationId xmlns:a16="http://schemas.microsoft.com/office/drawing/2014/main" id="{B16B0250-B347-42B0-89C3-77DF99E633BF}"/>
              </a:ext>
            </a:extLst>
          </p:cNvPr>
          <p:cNvSpPr>
            <a:spLocks noGrp="1" noChangeArrowheads="1"/>
          </p:cNvSpPr>
          <p:nvPr>
            <p:ph type="body" idx="4294967295"/>
          </p:nvPr>
        </p:nvSpPr>
        <p:spPr>
          <a:xfrm>
            <a:off x="0" y="760413"/>
            <a:ext cx="9036496" cy="4525962"/>
          </a:xfrm>
        </p:spPr>
        <p:txBody>
          <a:bodyPr>
            <a:noAutofit/>
          </a:bodyPr>
          <a:lstStyle/>
          <a:p>
            <a:pPr marL="971550" lvl="1" indent="-514350">
              <a:buFontTx/>
              <a:buNone/>
              <a:defRPr/>
            </a:pPr>
            <a:r>
              <a:rPr lang="en-US" altLang="zh-CN" sz="2800" dirty="0"/>
              <a:t>4. </a:t>
            </a:r>
            <a:r>
              <a:rPr lang="zh-CN" altLang="en-US" sz="2800" dirty="0"/>
              <a:t>中国项目管理研究委员会（</a:t>
            </a:r>
            <a:r>
              <a:rPr lang="en-US" altLang="zh-CN" sz="2800" dirty="0"/>
              <a:t>PMRC</a:t>
            </a:r>
            <a:r>
              <a:rPr lang="zh-CN" altLang="en-US" sz="2800" dirty="0"/>
              <a:t>）</a:t>
            </a:r>
            <a:endParaRPr lang="en-US" altLang="zh-CN" sz="2800" dirty="0"/>
          </a:p>
          <a:p>
            <a:pPr marL="971550" lvl="1" indent="-514350">
              <a:buFont typeface="Wingdings" panose="05000000000000000000" pitchFamily="2" charset="2"/>
              <a:buChar char="Ø"/>
              <a:defRPr/>
            </a:pPr>
            <a:r>
              <a:rPr lang="en-US" altLang="zh-CN" sz="2800" dirty="0"/>
              <a:t>PMRC</a:t>
            </a:r>
            <a:r>
              <a:rPr lang="zh-CN" altLang="en-US" sz="2800" dirty="0"/>
              <a:t>成立于</a:t>
            </a:r>
            <a:r>
              <a:rPr lang="en-US" altLang="zh-CN" sz="2800" dirty="0"/>
              <a:t>1991</a:t>
            </a:r>
            <a:r>
              <a:rPr lang="zh-CN" altLang="en-US" sz="2800" dirty="0"/>
              <a:t>年</a:t>
            </a:r>
            <a:r>
              <a:rPr lang="en-US" altLang="zh-CN" sz="2800" dirty="0"/>
              <a:t>6</a:t>
            </a:r>
            <a:r>
              <a:rPr lang="zh-CN" altLang="en-US" sz="2800" dirty="0"/>
              <a:t>月，作为中国项目管理专业组织的代表加入了</a:t>
            </a:r>
            <a:r>
              <a:rPr lang="en-US" altLang="zh-CN" sz="2800" dirty="0"/>
              <a:t>IPMA</a:t>
            </a:r>
          </a:p>
          <a:p>
            <a:pPr marL="971550" lvl="1" indent="-514350">
              <a:buFont typeface="Wingdings" panose="05000000000000000000" pitchFamily="2" charset="2"/>
              <a:buChar char="Ø"/>
              <a:defRPr/>
            </a:pPr>
            <a:r>
              <a:rPr lang="en-US" altLang="zh-CN" sz="2800" dirty="0"/>
              <a:t>PMRC</a:t>
            </a:r>
            <a:r>
              <a:rPr lang="zh-CN" altLang="en-US" sz="2800" dirty="0"/>
              <a:t>建立了与国际接轨的</a:t>
            </a:r>
            <a:r>
              <a:rPr lang="en-US" altLang="zh-CN" sz="2800" dirty="0"/>
              <a:t>《</a:t>
            </a:r>
            <a:r>
              <a:rPr lang="zh-CN" altLang="en-US" sz="2800" dirty="0"/>
              <a:t>中国项目管理知识体系（</a:t>
            </a:r>
            <a:r>
              <a:rPr lang="en-US" altLang="zh-CN" sz="2800" dirty="0"/>
              <a:t>C-PMBOK</a:t>
            </a:r>
            <a:r>
              <a:rPr lang="zh-CN" altLang="en-US" sz="2800" dirty="0"/>
              <a:t>）</a:t>
            </a:r>
            <a:r>
              <a:rPr lang="en-US" altLang="zh-CN" sz="2800" dirty="0"/>
              <a:t>》</a:t>
            </a:r>
            <a:r>
              <a:rPr lang="zh-CN" altLang="en-US" sz="2800" dirty="0"/>
              <a:t>，引进并推行“国际项目管理专业资质认证（</a:t>
            </a:r>
            <a:r>
              <a:rPr lang="en-US" altLang="zh-CN" sz="2800" dirty="0"/>
              <a:t>IPMP</a:t>
            </a:r>
            <a:r>
              <a:rPr lang="zh-CN" altLang="en-US" sz="2800" dirty="0"/>
              <a:t>）”，基于国际项目管理协会推出的认证标准</a:t>
            </a:r>
            <a:r>
              <a:rPr lang="en-US" altLang="zh-CN" sz="2800" dirty="0"/>
              <a:t>ICB</a:t>
            </a:r>
            <a:r>
              <a:rPr lang="zh-CN" altLang="en-US" sz="2800" dirty="0"/>
              <a:t>（</a:t>
            </a:r>
            <a:r>
              <a:rPr lang="en-US" altLang="zh-CN" sz="2800" dirty="0"/>
              <a:t>IPMA Competence Baseline</a:t>
            </a:r>
            <a:r>
              <a:rPr lang="zh-CN" altLang="en-US" sz="2800" dirty="0"/>
              <a:t>）建立了既能适合我国的国情又能得到国际认可的中国项目管理能力基准（</a:t>
            </a:r>
            <a:r>
              <a:rPr lang="en-US" altLang="zh-CN" sz="2800" dirty="0"/>
              <a:t>C-NCB</a:t>
            </a:r>
            <a:r>
              <a:rPr lang="zh-CN" altLang="en-US" sz="2800" dirty="0"/>
              <a:t>）</a:t>
            </a:r>
            <a:endParaRPr lang="en-US" altLang="zh-CN" sz="2800" dirty="0"/>
          </a:p>
          <a:p>
            <a:pPr marL="971550" lvl="1" indent="-514350">
              <a:buFont typeface="Wingdings" panose="05000000000000000000" pitchFamily="2" charset="2"/>
              <a:buChar char="Ø"/>
              <a:defRPr/>
            </a:pP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a:extLst>
              <a:ext uri="{FF2B5EF4-FFF2-40B4-BE49-F238E27FC236}">
                <a16:creationId xmlns:a16="http://schemas.microsoft.com/office/drawing/2014/main" id="{489058EA-9113-4EAC-A4D0-A8F6A0CEBA27}"/>
              </a:ext>
            </a:extLst>
          </p:cNvPr>
          <p:cNvSpPr>
            <a:spLocks noGrp="1" noChangeArrowheads="1"/>
          </p:cNvSpPr>
          <p:nvPr>
            <p:ph type="body" idx="4294967295"/>
          </p:nvPr>
        </p:nvSpPr>
        <p:spPr>
          <a:xfrm>
            <a:off x="0" y="714375"/>
            <a:ext cx="8748464" cy="4525963"/>
          </a:xfrm>
        </p:spPr>
        <p:txBody>
          <a:bodyPr>
            <a:noAutofit/>
          </a:bodyPr>
          <a:lstStyle/>
          <a:p>
            <a:pPr marL="971550" lvl="1" indent="-514350">
              <a:buFontTx/>
              <a:buNone/>
            </a:pPr>
            <a:r>
              <a:rPr lang="en-US" altLang="zh-CN" sz="2800" dirty="0"/>
              <a:t>5.  </a:t>
            </a:r>
            <a:r>
              <a:rPr lang="zh-CN" altLang="en-US" sz="2800" dirty="0"/>
              <a:t>中国人力资源和社会保障部与项目管理师</a:t>
            </a:r>
            <a:endParaRPr lang="en-US" altLang="zh-CN" sz="2800" dirty="0"/>
          </a:p>
          <a:p>
            <a:pPr marL="971550" lvl="1" indent="-514350">
              <a:buFont typeface="Wingdings" panose="05000000000000000000" pitchFamily="2" charset="2"/>
              <a:buChar char="Ø"/>
            </a:pPr>
            <a:r>
              <a:rPr lang="zh-CN" altLang="en-US" sz="2800" dirty="0"/>
              <a:t>中国的项目管理师（</a:t>
            </a:r>
            <a:r>
              <a:rPr lang="en-US" altLang="zh-CN" sz="2800" dirty="0"/>
              <a:t>China Project Management Professional</a:t>
            </a:r>
            <a:r>
              <a:rPr lang="zh-CN" altLang="en-US" sz="2800" dirty="0"/>
              <a:t>）国家职业资格认证是中华人民共和国劳动和社会保障部在全国范围内推行的项目管理专业人员资质认证体系的总称。</a:t>
            </a:r>
            <a:endParaRPr lang="en-US" altLang="zh-CN" sz="2800" dirty="0"/>
          </a:p>
          <a:p>
            <a:pPr marL="971550" lvl="1" indent="-514350">
              <a:buFont typeface="Wingdings" panose="05000000000000000000" pitchFamily="2" charset="2"/>
              <a:buChar char="Ø"/>
            </a:pPr>
            <a:r>
              <a:rPr lang="zh-CN" altLang="en-US" sz="2800" dirty="0"/>
              <a:t>它共分为四个等级：项目管理员、助理项目管理师、项目管理师、高级项目管理师，每个等级分别授予不同级别的证书。</a:t>
            </a:r>
          </a:p>
        </p:txBody>
      </p:sp>
      <p:sp>
        <p:nvSpPr>
          <p:cNvPr id="20484" name="Line 7">
            <a:extLst>
              <a:ext uri="{FF2B5EF4-FFF2-40B4-BE49-F238E27FC236}">
                <a16:creationId xmlns:a16="http://schemas.microsoft.com/office/drawing/2014/main" id="{4BFFDB80-458A-4E91-AEA8-B549D438F4E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a:extLst>
              <a:ext uri="{FF2B5EF4-FFF2-40B4-BE49-F238E27FC236}">
                <a16:creationId xmlns:a16="http://schemas.microsoft.com/office/drawing/2014/main" id="{52C42CD8-8E13-4C78-B0B9-DB781A0F2180}"/>
              </a:ext>
            </a:extLst>
          </p:cNvPr>
          <p:cNvSpPr>
            <a:spLocks noGrp="1" noChangeArrowheads="1"/>
          </p:cNvSpPr>
          <p:nvPr>
            <p:ph type="body" idx="4294967295"/>
          </p:nvPr>
        </p:nvSpPr>
        <p:spPr>
          <a:xfrm>
            <a:off x="0" y="688975"/>
            <a:ext cx="8229600" cy="4525963"/>
          </a:xfrm>
        </p:spPr>
        <p:txBody>
          <a:bodyPr>
            <a:noAutofit/>
          </a:bodyPr>
          <a:lstStyle/>
          <a:p>
            <a:pPr marL="971550" lvl="1" indent="-514350">
              <a:buFontTx/>
              <a:buNone/>
            </a:pPr>
            <a:r>
              <a:rPr lang="en-US" altLang="zh-CN" sz="2800" dirty="0"/>
              <a:t>6. </a:t>
            </a:r>
            <a:r>
              <a:rPr lang="zh-CN" altLang="en-US" sz="2800" dirty="0"/>
              <a:t>中国信息产业部与系统集成项目经理</a:t>
            </a:r>
            <a:endParaRPr lang="en-US" altLang="zh-CN" sz="2800" dirty="0"/>
          </a:p>
          <a:p>
            <a:pPr marL="971550" lvl="1" indent="-514350">
              <a:buFont typeface="Wingdings" panose="05000000000000000000" pitchFamily="2" charset="2"/>
              <a:buChar char="Ø"/>
            </a:pPr>
            <a:r>
              <a:rPr lang="zh-CN" altLang="en-US" sz="2800" dirty="0"/>
              <a:t>信息产业部于</a:t>
            </a:r>
            <a:r>
              <a:rPr lang="en-US" altLang="zh-CN" sz="2800" dirty="0"/>
              <a:t>2002</a:t>
            </a:r>
            <a:r>
              <a:rPr lang="zh-CN" altLang="en-US" sz="2800" dirty="0"/>
              <a:t>年发布了</a:t>
            </a:r>
            <a:r>
              <a:rPr lang="en-US" altLang="zh-CN" sz="2800" dirty="0"/>
              <a:t>《</a:t>
            </a:r>
            <a:r>
              <a:rPr lang="zh-CN" altLang="en-US" sz="2800" dirty="0"/>
              <a:t>计算机信息系统集成项目经理资质管理办法（试行）</a:t>
            </a:r>
            <a:r>
              <a:rPr lang="en-US" altLang="zh-CN" sz="2800" dirty="0"/>
              <a:t>》</a:t>
            </a:r>
            <a:r>
              <a:rPr lang="zh-CN" altLang="en-US" sz="2800" dirty="0"/>
              <a:t>的通知，明文规定信息产业部负责全国系统集成项目经理资质的管理工作，系统集成项目经理资质证书由信息产业部统一印制。</a:t>
            </a:r>
            <a:endParaRPr lang="en-US" altLang="zh-CN" sz="2800" dirty="0"/>
          </a:p>
          <a:p>
            <a:pPr marL="971550" lvl="1" indent="-514350">
              <a:buFont typeface="Wingdings" panose="05000000000000000000" pitchFamily="2" charset="2"/>
              <a:buChar char="Ø"/>
            </a:pPr>
            <a:r>
              <a:rPr lang="zh-CN" altLang="en-US" sz="2800" dirty="0"/>
              <a:t>系统集成项目经理分为项目经理、高级项目经理和资深项目经理三个级别。</a:t>
            </a:r>
            <a:endParaRPr lang="en-US" altLang="zh-CN" sz="2800" dirty="0"/>
          </a:p>
        </p:txBody>
      </p:sp>
      <p:sp>
        <p:nvSpPr>
          <p:cNvPr id="21508" name="Line 7">
            <a:extLst>
              <a:ext uri="{FF2B5EF4-FFF2-40B4-BE49-F238E27FC236}">
                <a16:creationId xmlns:a16="http://schemas.microsoft.com/office/drawing/2014/main" id="{96C44911-D00A-4B82-81B0-3229FDF6D9C7}"/>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DEEBC380-8B9B-4D5A-B9F9-AAFF55EC4CB5}"/>
              </a:ext>
            </a:extLst>
          </p:cNvPr>
          <p:cNvSpPr>
            <a:spLocks noGrp="1" noChangeArrowheads="1"/>
          </p:cNvSpPr>
          <p:nvPr>
            <p:ph type="body" idx="4294967295"/>
          </p:nvPr>
        </p:nvSpPr>
        <p:spPr>
          <a:xfrm>
            <a:off x="0" y="642938"/>
            <a:ext cx="8229600" cy="4829175"/>
          </a:xfrm>
        </p:spPr>
        <p:txBody>
          <a:bodyPr/>
          <a:lstStyle/>
          <a:p>
            <a:pPr>
              <a:defRPr/>
            </a:pPr>
            <a:r>
              <a:rPr lang="en-US" altLang="zh-CN" sz="4000" dirty="0"/>
              <a:t>1.1.3 </a:t>
            </a:r>
            <a:r>
              <a:rPr lang="zh-CN" altLang="en-US" sz="4000" dirty="0"/>
              <a:t>项目的职能管理</a:t>
            </a:r>
          </a:p>
          <a:p>
            <a:pPr marL="971550" lvl="1" indent="-514350">
              <a:lnSpc>
                <a:spcPts val="3063"/>
              </a:lnSpc>
              <a:buFont typeface="Wingdings" panose="05000000000000000000" pitchFamily="2" charset="2"/>
              <a:buChar char="Ø"/>
              <a:defRPr/>
            </a:pPr>
            <a:endParaRPr lang="en-US" altLang="zh-CN" dirty="0"/>
          </a:p>
          <a:p>
            <a:pPr marL="571500" indent="-514350">
              <a:lnSpc>
                <a:spcPts val="3063"/>
              </a:lnSpc>
              <a:buFont typeface="Wingdings" panose="05000000000000000000" pitchFamily="2" charset="2"/>
              <a:buChar char="Ø"/>
              <a:defRPr/>
            </a:pPr>
            <a:r>
              <a:rPr lang="zh-CN" altLang="en-US" sz="2400" dirty="0"/>
              <a:t>美国项目管理学会</a:t>
            </a:r>
            <a:r>
              <a:rPr lang="en-US" altLang="zh-CN" sz="2400" dirty="0"/>
              <a:t>(PMI)</a:t>
            </a:r>
            <a:r>
              <a:rPr lang="zh-CN" altLang="en-US" sz="2400" dirty="0"/>
              <a:t>对项目管理的知识体系进行了规范，将项目管理知识结构化为</a:t>
            </a:r>
            <a:r>
              <a:rPr lang="zh-CN" altLang="en-US" sz="2400" dirty="0">
                <a:solidFill>
                  <a:srgbClr val="FF0000"/>
                </a:solidFill>
              </a:rPr>
              <a:t>十大知识领域</a:t>
            </a:r>
            <a:r>
              <a:rPr lang="zh-CN" altLang="en-US" sz="2400" dirty="0"/>
              <a:t>。</a:t>
            </a:r>
            <a:endParaRPr lang="en-US" altLang="zh-CN" sz="2400" dirty="0"/>
          </a:p>
          <a:p>
            <a:pPr marL="571500" indent="-514350">
              <a:lnSpc>
                <a:spcPts val="3063"/>
              </a:lnSpc>
              <a:buFont typeface="Wingdings" panose="05000000000000000000" pitchFamily="2" charset="2"/>
              <a:buChar char="Ø"/>
              <a:defRPr/>
            </a:pPr>
            <a:endParaRPr lang="en-US" altLang="zh-CN" sz="2400" dirty="0"/>
          </a:p>
          <a:p>
            <a:pPr marL="571500" indent="-514350">
              <a:lnSpc>
                <a:spcPts val="3063"/>
              </a:lnSpc>
              <a:buFont typeface="Wingdings" panose="05000000000000000000" pitchFamily="2" charset="2"/>
              <a:buChar char="Ø"/>
              <a:defRPr/>
            </a:pPr>
            <a:r>
              <a:rPr lang="zh-CN" altLang="en-US" sz="2400" dirty="0"/>
              <a:t>即项目整体管理、项目范围管理、项目时间管理、项目费用管理、项目质量管理、项目人力资源管理、项目沟通管理、项目风险管理、项目采购管理和项目干系人管理。这十大知识领域我们又称项目的十大职能管理。</a:t>
            </a:r>
            <a:endParaRPr lang="en-US" altLang="zh-CN" sz="2400" dirty="0"/>
          </a:p>
        </p:txBody>
      </p:sp>
      <p:sp>
        <p:nvSpPr>
          <p:cNvPr id="22532" name="Line 7">
            <a:extLst>
              <a:ext uri="{FF2B5EF4-FFF2-40B4-BE49-F238E27FC236}">
                <a16:creationId xmlns:a16="http://schemas.microsoft.com/office/drawing/2014/main" id="{F519CC75-C00B-48D3-B01F-0FE72F5D0DA2}"/>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a:extLst>
              <a:ext uri="{FF2B5EF4-FFF2-40B4-BE49-F238E27FC236}">
                <a16:creationId xmlns:a16="http://schemas.microsoft.com/office/drawing/2014/main" id="{B7A2561F-AD9C-406D-9BF4-2B91723B9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44463"/>
            <a:ext cx="6624637"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a:extLst>
              <a:ext uri="{FF2B5EF4-FFF2-40B4-BE49-F238E27FC236}">
                <a16:creationId xmlns:a16="http://schemas.microsoft.com/office/drawing/2014/main" id="{D10E1447-B5EB-4D9D-A2F7-CF7D3BFB552D}"/>
              </a:ext>
            </a:extLst>
          </p:cNvPr>
          <p:cNvSpPr>
            <a:spLocks noGrp="1" noChangeArrowheads="1"/>
          </p:cNvSpPr>
          <p:nvPr>
            <p:ph type="body" idx="4294967295"/>
          </p:nvPr>
        </p:nvSpPr>
        <p:spPr>
          <a:xfrm>
            <a:off x="53752" y="116632"/>
            <a:ext cx="8748464" cy="6840760"/>
          </a:xfrm>
        </p:spPr>
        <p:txBody>
          <a:bodyPr>
            <a:noAutofit/>
          </a:bodyPr>
          <a:lstStyle/>
          <a:p>
            <a:pPr>
              <a:defRPr/>
            </a:pPr>
            <a:r>
              <a:rPr lang="en-US" altLang="zh-CN" sz="4000" dirty="0"/>
              <a:t>1.1.4 </a:t>
            </a:r>
            <a:r>
              <a:rPr lang="zh-CN" altLang="en-US" sz="4000" dirty="0"/>
              <a:t>项目的过程管理</a:t>
            </a:r>
            <a:endParaRPr lang="en-US" altLang="zh-CN" sz="4000" dirty="0"/>
          </a:p>
          <a:p>
            <a:pPr>
              <a:buFont typeface="Courier New" panose="02070309020205020404" pitchFamily="49" charset="0"/>
              <a:buChar char="o"/>
              <a:defRPr/>
            </a:pPr>
            <a:r>
              <a:rPr lang="zh-CN" altLang="en-US" sz="2400" dirty="0">
                <a:ea typeface="黑体" panose="02010609060101010101" pitchFamily="49" charset="-122"/>
              </a:rPr>
              <a:t>项目过程由人执行，主要分为两类：项目管理过程，主要关注描述和组织项目的各项工作；产品实现过程，主要关注具体描述和创造项目产品</a:t>
            </a:r>
          </a:p>
          <a:p>
            <a:pPr marL="0" lvl="1" indent="0" algn="just">
              <a:lnSpc>
                <a:spcPct val="100000"/>
              </a:lnSpc>
              <a:spcBef>
                <a:spcPts val="0"/>
              </a:spcBef>
              <a:buFontTx/>
              <a:buAutoNum type="arabicPeriod"/>
              <a:defRPr/>
            </a:pPr>
            <a:r>
              <a:rPr lang="zh-CN" altLang="en-US" dirty="0">
                <a:solidFill>
                  <a:srgbClr val="FF0000"/>
                </a:solidFill>
                <a:ea typeface="黑体" panose="02010609060101010101" pitchFamily="49" charset="-122"/>
              </a:rPr>
              <a:t>项目的生命期</a:t>
            </a:r>
            <a:r>
              <a:rPr lang="en-US" altLang="zh-CN" dirty="0">
                <a:ea typeface="黑体" panose="02010609060101010101" pitchFamily="49" charset="-122"/>
              </a:rPr>
              <a:t>:</a:t>
            </a:r>
            <a:r>
              <a:rPr lang="zh-CN" altLang="en-US" dirty="0">
                <a:ea typeface="黑体" panose="02010609060101010101" pitchFamily="49" charset="-122"/>
              </a:rPr>
              <a:t>决定了“我们要按什么顺序做具体的业务工作”。</a:t>
            </a:r>
            <a:r>
              <a:rPr lang="zh-CN" altLang="en-US" dirty="0">
                <a:solidFill>
                  <a:srgbClr val="FF0000"/>
                </a:solidFill>
                <a:ea typeface="黑体" panose="02010609060101010101" pitchFamily="49" charset="-122"/>
              </a:rPr>
              <a:t>它是面向业务的</a:t>
            </a:r>
            <a:r>
              <a:rPr lang="zh-CN" altLang="en-US" dirty="0">
                <a:ea typeface="黑体" panose="02010609060101010101" pitchFamily="49" charset="-122"/>
              </a:rPr>
              <a:t>。不同业务的生命周期完全不同。例如软件开发项目的生命周期包括：需求分析 </a:t>
            </a:r>
            <a:r>
              <a:rPr lang="en-US" altLang="zh-CN" dirty="0">
                <a:ea typeface="黑体" panose="02010609060101010101" pitchFamily="49" charset="-122"/>
              </a:rPr>
              <a:t>-&gt;</a:t>
            </a:r>
            <a:r>
              <a:rPr lang="zh-CN" altLang="en-US" dirty="0">
                <a:ea typeface="黑体" panose="02010609060101010101" pitchFamily="49" charset="-122"/>
              </a:rPr>
              <a:t>系统设计</a:t>
            </a:r>
            <a:r>
              <a:rPr lang="en-US" altLang="zh-CN" dirty="0">
                <a:ea typeface="黑体" panose="02010609060101010101" pitchFamily="49" charset="-122"/>
              </a:rPr>
              <a:t>-&gt; </a:t>
            </a:r>
            <a:r>
              <a:rPr lang="zh-CN" altLang="en-US" dirty="0">
                <a:ea typeface="黑体" panose="02010609060101010101" pitchFamily="49" charset="-122"/>
              </a:rPr>
              <a:t>编码</a:t>
            </a:r>
            <a:r>
              <a:rPr lang="en-US" altLang="zh-CN" dirty="0">
                <a:ea typeface="黑体" panose="02010609060101010101" pitchFamily="49" charset="-122"/>
              </a:rPr>
              <a:t>-&gt;</a:t>
            </a:r>
            <a:r>
              <a:rPr lang="zh-CN" altLang="en-US" dirty="0">
                <a:ea typeface="黑体" panose="02010609060101010101" pitchFamily="49" charset="-122"/>
              </a:rPr>
              <a:t>测试</a:t>
            </a:r>
            <a:r>
              <a:rPr lang="en-US" altLang="zh-CN" dirty="0">
                <a:ea typeface="黑体" panose="02010609060101010101" pitchFamily="49" charset="-122"/>
              </a:rPr>
              <a:t>-&gt; </a:t>
            </a:r>
            <a:r>
              <a:rPr lang="zh-CN" altLang="en-US" dirty="0">
                <a:ea typeface="黑体" panose="02010609060101010101" pitchFamily="49" charset="-122"/>
              </a:rPr>
              <a:t>部署上线五个阶段。</a:t>
            </a:r>
            <a:endParaRPr lang="en-US" altLang="zh-CN" dirty="0">
              <a:ea typeface="黑体" panose="02010609060101010101" pitchFamily="49" charset="-122"/>
            </a:endParaRPr>
          </a:p>
          <a:p>
            <a:pPr marL="0" lvl="1" indent="0" algn="just">
              <a:lnSpc>
                <a:spcPct val="100000"/>
              </a:lnSpc>
              <a:spcBef>
                <a:spcPts val="0"/>
              </a:spcBef>
              <a:buNone/>
              <a:defRPr/>
            </a:pPr>
            <a:r>
              <a:rPr lang="zh-CN" altLang="en-US" dirty="0">
                <a:ea typeface="黑体" panose="02010609060101010101" pitchFamily="49" charset="-122"/>
              </a:rPr>
              <a:t>通常来讲项目一般包括项目的启动、组织和准备</a:t>
            </a:r>
            <a:r>
              <a:rPr lang="en-US" altLang="zh-CN" dirty="0">
                <a:ea typeface="黑体" panose="02010609060101010101" pitchFamily="49" charset="-122"/>
              </a:rPr>
              <a:t>(</a:t>
            </a:r>
            <a:r>
              <a:rPr lang="zh-CN" altLang="en-US" dirty="0">
                <a:ea typeface="黑体" panose="02010609060101010101" pitchFamily="49" charset="-122"/>
              </a:rPr>
              <a:t>计划</a:t>
            </a:r>
            <a:r>
              <a:rPr lang="en-US" altLang="zh-CN" dirty="0">
                <a:ea typeface="黑体" panose="02010609060101010101" pitchFamily="49" charset="-122"/>
              </a:rPr>
              <a:t>)</a:t>
            </a:r>
            <a:r>
              <a:rPr lang="zh-CN" altLang="en-US" dirty="0">
                <a:ea typeface="黑体" panose="02010609060101010101" pitchFamily="49" charset="-122"/>
              </a:rPr>
              <a:t>项目、执行项目、结束项目四个阶段。</a:t>
            </a:r>
            <a:endParaRPr lang="en-US" altLang="zh-CN" dirty="0">
              <a:ea typeface="黑体" panose="02010609060101010101" pitchFamily="49" charset="-122"/>
            </a:endParaRPr>
          </a:p>
          <a:p>
            <a:pPr marL="971550" lvl="1" indent="-514350">
              <a:buFontTx/>
              <a:buAutoNum type="arabicPeriod"/>
              <a:defRPr/>
            </a:pPr>
            <a:endParaRPr lang="en-US" altLang="zh-CN" dirty="0"/>
          </a:p>
          <a:p>
            <a:pPr marL="971550" lvl="1" indent="-514350">
              <a:buFontTx/>
              <a:buAutoNum type="arabicPeriod"/>
              <a:defRPr/>
            </a:pPr>
            <a:endParaRPr lang="en-US" altLang="zh-CN" dirty="0"/>
          </a:p>
          <a:p>
            <a:pPr marL="971550" lvl="1" indent="-514350">
              <a:buFontTx/>
              <a:buAutoNum type="arabicPeriod"/>
              <a:defRPr/>
            </a:pPr>
            <a:endParaRPr lang="en-US" altLang="zh-CN" dirty="0"/>
          </a:p>
          <a:p>
            <a:pPr marL="971550" lvl="1" indent="-514350">
              <a:buFontTx/>
              <a:buAutoNum type="arabicPeriod"/>
              <a:defRPr/>
            </a:pPr>
            <a:endParaRPr lang="en-US" altLang="zh-CN" dirty="0"/>
          </a:p>
          <a:p>
            <a:pPr marL="971550" lvl="1" indent="-514350">
              <a:buFontTx/>
              <a:buAutoNum type="arabicPeriod"/>
              <a:defRPr/>
            </a:pPr>
            <a:endParaRPr lang="en-US" altLang="zh-CN" dirty="0"/>
          </a:p>
          <a:p>
            <a:pPr marL="971550" lvl="1" indent="-514350">
              <a:buFontTx/>
              <a:buAutoNum type="arabicPeriod"/>
              <a:defRPr/>
            </a:pPr>
            <a:endParaRPr lang="en-US" altLang="zh-CN" dirty="0"/>
          </a:p>
          <a:p>
            <a:pPr marL="971550" lvl="1" indent="-514350">
              <a:buFontTx/>
              <a:buAutoNum type="arabicPeriod"/>
              <a:defRPr/>
            </a:pPr>
            <a:endParaRPr lang="en-US" altLang="zh-CN" dirty="0"/>
          </a:p>
          <a:p>
            <a:pPr marL="457200" lvl="1" indent="0">
              <a:buNone/>
              <a:defRPr/>
            </a:pPr>
            <a:endParaRPr lang="en-US" altLang="zh-CN" dirty="0"/>
          </a:p>
          <a:p>
            <a:pPr marL="971550" lvl="1" indent="-514350">
              <a:buFontTx/>
              <a:buAutoNum type="arabicPeriod"/>
              <a:defRPr/>
            </a:pPr>
            <a:endParaRPr lang="en-US" altLang="zh-CN" dirty="0"/>
          </a:p>
          <a:p>
            <a:pPr marL="457200" lvl="1" indent="0">
              <a:buNone/>
              <a:defRPr/>
            </a:pPr>
            <a:endParaRPr lang="en-US" altLang="zh-CN" dirty="0"/>
          </a:p>
          <a:p>
            <a:pPr marL="971550" lvl="1" indent="-514350">
              <a:buFontTx/>
              <a:buAutoNum type="arabicPeriod"/>
              <a:defRPr/>
            </a:pPr>
            <a:endParaRPr lang="en-US" altLang="zh-CN" dirty="0"/>
          </a:p>
        </p:txBody>
      </p:sp>
      <p:pic>
        <p:nvPicPr>
          <p:cNvPr id="5" name="图片 4">
            <a:extLst>
              <a:ext uri="{FF2B5EF4-FFF2-40B4-BE49-F238E27FC236}">
                <a16:creationId xmlns:a16="http://schemas.microsoft.com/office/drawing/2014/main" id="{3051F6CF-95F0-4301-BDBA-B72B40D2E122}"/>
              </a:ext>
            </a:extLst>
          </p:cNvPr>
          <p:cNvPicPr>
            <a:picLocks noChangeAspect="1"/>
          </p:cNvPicPr>
          <p:nvPr/>
        </p:nvPicPr>
        <p:blipFill>
          <a:blip r:embed="rId2"/>
          <a:stretch>
            <a:fillRect/>
          </a:stretch>
        </p:blipFill>
        <p:spPr>
          <a:xfrm>
            <a:off x="1979712" y="3983054"/>
            <a:ext cx="5400600" cy="2758314"/>
          </a:xfrm>
          <a:prstGeom prst="rect">
            <a:avLst/>
          </a:prstGeom>
        </p:spPr>
      </p:pic>
    </p:spTree>
    <p:extLst>
      <p:ext uri="{BB962C8B-B14F-4D97-AF65-F5344CB8AC3E}">
        <p14:creationId xmlns:p14="http://schemas.microsoft.com/office/powerpoint/2010/main" val="319396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FE76C534-66F0-41F6-A3E1-68108936218B}"/>
              </a:ext>
            </a:extLst>
          </p:cNvPr>
          <p:cNvSpPr>
            <a:spLocks noGrp="1" noChangeArrowheads="1"/>
          </p:cNvSpPr>
          <p:nvPr>
            <p:ph type="body" idx="4294967295"/>
          </p:nvPr>
        </p:nvSpPr>
        <p:spPr>
          <a:xfrm>
            <a:off x="107504" y="188640"/>
            <a:ext cx="9001000" cy="5184576"/>
          </a:xfrm>
        </p:spPr>
        <p:txBody>
          <a:bodyPr>
            <a:noAutofit/>
          </a:bodyPr>
          <a:lstStyle/>
          <a:p>
            <a:pPr>
              <a:defRPr/>
            </a:pPr>
            <a:r>
              <a:rPr lang="en-US" altLang="zh-CN" sz="4000" dirty="0"/>
              <a:t>1.1.4 </a:t>
            </a:r>
            <a:r>
              <a:rPr lang="zh-CN" altLang="en-US" sz="4000" dirty="0"/>
              <a:t>项目的过程管理</a:t>
            </a:r>
            <a:endParaRPr lang="en-US" altLang="zh-CN" sz="4000" dirty="0"/>
          </a:p>
          <a:p>
            <a:pPr marL="0" indent="0" algn="just">
              <a:lnSpc>
                <a:spcPct val="150000"/>
              </a:lnSpc>
              <a:spcBef>
                <a:spcPts val="0"/>
              </a:spcBef>
              <a:buNone/>
              <a:defRPr/>
            </a:pPr>
            <a:r>
              <a:rPr lang="en-US" altLang="zh-CN" dirty="0">
                <a:latin typeface="Times New Roman" panose="02020603050405020304" pitchFamily="18" charset="0"/>
                <a:ea typeface="黑体" panose="02010609060101010101" pitchFamily="49" charset="-122"/>
              </a:rPr>
              <a:t> </a:t>
            </a:r>
            <a:r>
              <a:rPr lang="en-US" altLang="zh-CN" dirty="0">
                <a:solidFill>
                  <a:srgbClr val="FF0000"/>
                </a:solidFill>
                <a:latin typeface="Times New Roman" panose="02020603050405020304" pitchFamily="18" charset="0"/>
                <a:ea typeface="黑体" panose="02010609060101010101" pitchFamily="49" charset="-122"/>
              </a:rPr>
              <a:t>2.</a:t>
            </a:r>
            <a:r>
              <a:rPr lang="zh-CN" altLang="en-US" dirty="0">
                <a:solidFill>
                  <a:srgbClr val="FF0000"/>
                </a:solidFill>
                <a:latin typeface="Times New Roman" panose="02020603050405020304" pitchFamily="18" charset="0"/>
                <a:ea typeface="黑体" panose="02010609060101010101" pitchFamily="49" charset="-122"/>
              </a:rPr>
              <a:t>生命期阶段中的管理过程组</a:t>
            </a:r>
            <a:endParaRPr lang="en-US" altLang="zh-CN" dirty="0">
              <a:solidFill>
                <a:srgbClr val="FF0000"/>
              </a:solidFill>
              <a:latin typeface="Times New Roman" panose="02020603050405020304" pitchFamily="18" charset="0"/>
              <a:ea typeface="黑体" panose="02010609060101010101" pitchFamily="49" charset="-122"/>
            </a:endParaRPr>
          </a:p>
          <a:p>
            <a:pPr marL="0" indent="0" algn="just">
              <a:lnSpc>
                <a:spcPct val="150000"/>
              </a:lnSpc>
              <a:spcBef>
                <a:spcPts val="0"/>
              </a:spcBef>
              <a:buNone/>
              <a:defRPr/>
            </a:pPr>
            <a:r>
              <a:rPr lang="zh-CN" altLang="en-US" dirty="0">
                <a:latin typeface="Times New Roman" panose="02020603050405020304" pitchFamily="18" charset="0"/>
                <a:ea typeface="黑体" panose="02010609060101010101" pitchFamily="49" charset="-122"/>
              </a:rPr>
              <a:t>项目管理就是在项目的生命周期内对其进行管理，将这些管理过程进行分组，就可以得到管理过程组；</a:t>
            </a:r>
            <a:endParaRPr lang="en-US" altLang="zh-CN" dirty="0">
              <a:latin typeface="Times New Roman" panose="02020603050405020304" pitchFamily="18" charset="0"/>
              <a:ea typeface="黑体" panose="02010609060101010101" pitchFamily="49" charset="-122"/>
            </a:endParaRPr>
          </a:p>
          <a:p>
            <a:pPr marL="0" indent="0" algn="just">
              <a:lnSpc>
                <a:spcPct val="150000"/>
              </a:lnSpc>
              <a:spcBef>
                <a:spcPts val="0"/>
              </a:spcBef>
              <a:buNone/>
              <a:defRPr/>
            </a:pPr>
            <a:r>
              <a:rPr lang="zh-CN" altLang="en-US" dirty="0">
                <a:latin typeface="Times New Roman" panose="02020603050405020304" pitchFamily="18" charset="0"/>
                <a:ea typeface="黑体" panose="02010609060101010101" pitchFamily="49" charset="-122"/>
              </a:rPr>
              <a:t>管理过程组决定了“我们如何用管理手段把这些工作控制好”。它是面向</a:t>
            </a:r>
            <a:r>
              <a:rPr lang="zh-CN" altLang="en-US" dirty="0">
                <a:solidFill>
                  <a:srgbClr val="FF0000"/>
                </a:solidFill>
                <a:latin typeface="Times New Roman" panose="02020603050405020304" pitchFamily="18" charset="0"/>
                <a:ea typeface="黑体" panose="02010609060101010101" pitchFamily="49" charset="-122"/>
              </a:rPr>
              <a:t>管理</a:t>
            </a:r>
            <a:r>
              <a:rPr lang="zh-CN" altLang="en-US" dirty="0">
                <a:latin typeface="Times New Roman" panose="02020603050405020304" pitchFamily="18" charset="0"/>
                <a:ea typeface="黑体" panose="02010609060101010101" pitchFamily="49" charset="-122"/>
              </a:rPr>
              <a:t>的。</a:t>
            </a:r>
            <a:endParaRPr lang="en-US" altLang="zh-CN" dirty="0">
              <a:latin typeface="Times New Roman" panose="02020603050405020304" pitchFamily="18" charset="0"/>
              <a:ea typeface="黑体" panose="02010609060101010101" pitchFamily="49" charset="-122"/>
            </a:endParaRPr>
          </a:p>
          <a:p>
            <a:pPr marL="0" indent="0" algn="just">
              <a:lnSpc>
                <a:spcPct val="150000"/>
              </a:lnSpc>
              <a:spcBef>
                <a:spcPts val="0"/>
              </a:spcBef>
              <a:buNone/>
              <a:defRPr/>
            </a:pPr>
            <a:r>
              <a:rPr lang="zh-CN" altLang="en-US" dirty="0">
                <a:latin typeface="Times New Roman" panose="02020603050405020304" pitchFamily="18" charset="0"/>
                <a:ea typeface="黑体" panose="02010609060101010101" pitchFamily="49" charset="-122"/>
              </a:rPr>
              <a:t>无论什么行业，管理动作都是通用的。这五大过程组是</a:t>
            </a:r>
            <a:r>
              <a:rPr lang="en-US" altLang="zh-CN" dirty="0">
                <a:latin typeface="Times New Roman" panose="02020603050405020304" pitchFamily="18" charset="0"/>
                <a:ea typeface="黑体" panose="02010609060101010101" pitchFamily="49" charset="-122"/>
              </a:rPr>
              <a:t>:</a:t>
            </a:r>
            <a:r>
              <a:rPr lang="zh-CN" altLang="en-US" dirty="0">
                <a:solidFill>
                  <a:srgbClr val="FF0000"/>
                </a:solidFill>
                <a:latin typeface="Times New Roman" panose="02020603050405020304" pitchFamily="18" charset="0"/>
                <a:ea typeface="黑体" panose="02010609060101010101" pitchFamily="49" charset="-122"/>
              </a:rPr>
              <a:t>启动过程、计划过程、执行过程、控制过程和收尾过程</a:t>
            </a:r>
            <a:r>
              <a:rPr lang="en-US" altLang="zh-CN" dirty="0">
                <a:latin typeface="Times New Roman" panose="02020603050405020304" pitchFamily="18" charset="0"/>
                <a:ea typeface="黑体" panose="02010609060101010101" pitchFamily="49" charset="-122"/>
              </a:rPr>
              <a:t>.</a:t>
            </a:r>
            <a:endParaRPr lang="en-US" altLang="zh-CN" b="1" dirty="0"/>
          </a:p>
          <a:p>
            <a:pPr marL="0" indent="0" algn="just">
              <a:lnSpc>
                <a:spcPct val="150000"/>
              </a:lnSpc>
              <a:spcBef>
                <a:spcPts val="0"/>
              </a:spcBef>
              <a:buNone/>
              <a:defRPr/>
            </a:pPr>
            <a:endParaRPr lang="en-US" altLang="zh-CN" dirty="0">
              <a:latin typeface="Times New Roman" panose="02020603050405020304" pitchFamily="18" charset="0"/>
              <a:ea typeface="黑体" panose="02010609060101010101" pitchFamily="49" charset="-122"/>
            </a:endParaRPr>
          </a:p>
          <a:p>
            <a:pPr marL="971550" lvl="1" indent="-514350">
              <a:buFontTx/>
              <a:buNone/>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FE76C534-66F0-41F6-A3E1-68108936218B}"/>
              </a:ext>
            </a:extLst>
          </p:cNvPr>
          <p:cNvSpPr>
            <a:spLocks noGrp="1" noChangeArrowheads="1"/>
          </p:cNvSpPr>
          <p:nvPr>
            <p:ph type="body" idx="4294967295"/>
          </p:nvPr>
        </p:nvSpPr>
        <p:spPr>
          <a:xfrm>
            <a:off x="107504" y="188640"/>
            <a:ext cx="9001000" cy="5400600"/>
          </a:xfrm>
        </p:spPr>
        <p:txBody>
          <a:bodyPr>
            <a:noAutofit/>
          </a:bodyPr>
          <a:lstStyle/>
          <a:p>
            <a:pPr>
              <a:defRPr/>
            </a:pPr>
            <a:r>
              <a:rPr lang="en-US" altLang="zh-CN" sz="4000" dirty="0"/>
              <a:t>1.1.4 </a:t>
            </a:r>
            <a:r>
              <a:rPr lang="zh-CN" altLang="en-US" sz="4000" dirty="0"/>
              <a:t>项目的过程管理</a:t>
            </a:r>
            <a:endParaRPr lang="en-US" altLang="zh-CN" sz="4000" dirty="0"/>
          </a:p>
          <a:p>
            <a:pPr marL="0" indent="0">
              <a:buNone/>
            </a:pPr>
            <a:r>
              <a:rPr lang="en-US" altLang="zh-CN" b="1" dirty="0">
                <a:solidFill>
                  <a:srgbClr val="FF0000"/>
                </a:solidFill>
              </a:rPr>
              <a:t>3 </a:t>
            </a:r>
            <a:r>
              <a:rPr lang="zh-CN" altLang="en-US" b="1" dirty="0">
                <a:solidFill>
                  <a:srgbClr val="FF0000"/>
                </a:solidFill>
              </a:rPr>
              <a:t>生命周期和管理过程组的关系</a:t>
            </a:r>
            <a:endParaRPr lang="en-US" altLang="zh-CN" b="1" dirty="0">
              <a:solidFill>
                <a:srgbClr val="FF0000"/>
              </a:solidFill>
            </a:endParaRPr>
          </a:p>
          <a:p>
            <a:r>
              <a:rPr lang="zh-CN" altLang="en-US" sz="2400" b="1" dirty="0">
                <a:latin typeface="Times New Roman" panose="02020603050405020304" pitchFamily="18" charset="0"/>
                <a:ea typeface="黑体" panose="02010609060101010101" pitchFamily="49" charset="-122"/>
              </a:rPr>
              <a:t>过程组是“嵌套”在生命周期的各个阶段中！</a:t>
            </a:r>
            <a:endParaRPr lang="en-US" altLang="zh-CN" sz="2400" b="1" dirty="0">
              <a:latin typeface="Times New Roman" panose="02020603050405020304" pitchFamily="18" charset="0"/>
              <a:ea typeface="黑体" panose="02010609060101010101" pitchFamily="49" charset="-122"/>
            </a:endParaRPr>
          </a:p>
          <a:p>
            <a:pPr algn="just">
              <a:lnSpc>
                <a:spcPct val="150000"/>
              </a:lnSpc>
            </a:pPr>
            <a:r>
              <a:rPr lang="zh-CN" altLang="en-US" sz="2400" b="1" dirty="0">
                <a:latin typeface="Times New Roman" panose="02020603050405020304" pitchFamily="18" charset="0"/>
                <a:ea typeface="黑体" panose="02010609060101010101" pitchFamily="49" charset="-122"/>
              </a:rPr>
              <a:t>项目生命周期是一条横向的时间轴，而五大过程组是推动这个时间轴向前的“管理引擎”。在一个大型项目中，生命周期的每一个单一阶段内，都会完整地经历一遍五大过程组。</a:t>
            </a:r>
            <a:endParaRPr lang="zh-CN" altLang="en-US" sz="2400" dirty="0">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2829520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37">
            <a:extLst>
              <a:ext uri="{FF2B5EF4-FFF2-40B4-BE49-F238E27FC236}">
                <a16:creationId xmlns:a16="http://schemas.microsoft.com/office/drawing/2014/main" id="{B2BB932A-8522-442A-9FFE-3F7391F12C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763588"/>
            <a:ext cx="8372475"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3044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FE76C534-66F0-41F6-A3E1-68108936218B}"/>
              </a:ext>
            </a:extLst>
          </p:cNvPr>
          <p:cNvSpPr>
            <a:spLocks noGrp="1" noChangeArrowheads="1"/>
          </p:cNvSpPr>
          <p:nvPr>
            <p:ph type="body" idx="4294967295"/>
          </p:nvPr>
        </p:nvSpPr>
        <p:spPr>
          <a:xfrm>
            <a:off x="107504" y="188640"/>
            <a:ext cx="9001000" cy="5544616"/>
          </a:xfrm>
        </p:spPr>
        <p:txBody>
          <a:bodyPr>
            <a:noAutofit/>
          </a:bodyPr>
          <a:lstStyle/>
          <a:p>
            <a:pPr>
              <a:defRPr/>
            </a:pPr>
            <a:r>
              <a:rPr lang="en-US" altLang="zh-CN" sz="4000" dirty="0"/>
              <a:t>1.1.4 </a:t>
            </a:r>
            <a:r>
              <a:rPr lang="zh-CN" altLang="en-US" sz="4000" dirty="0"/>
              <a:t>项目的过程管理</a:t>
            </a:r>
            <a:endParaRPr lang="en-US" altLang="zh-CN" sz="4000" dirty="0"/>
          </a:p>
          <a:p>
            <a:pPr marL="0" indent="0" algn="just">
              <a:lnSpc>
                <a:spcPct val="100000"/>
              </a:lnSpc>
              <a:spcBef>
                <a:spcPts val="0"/>
              </a:spcBef>
              <a:buNone/>
            </a:pPr>
            <a:r>
              <a:rPr lang="en-US" altLang="zh-CN" dirty="0"/>
              <a:t>(1)</a:t>
            </a:r>
            <a:r>
              <a:rPr lang="zh-CN" altLang="en-US" dirty="0"/>
              <a:t>项目生命周期就像是“人的成长阶段”：</a:t>
            </a:r>
            <a:endParaRPr lang="en-US" altLang="zh-CN" dirty="0"/>
          </a:p>
          <a:p>
            <a:pPr marL="0" indent="0" algn="just">
              <a:lnSpc>
                <a:spcPct val="100000"/>
              </a:lnSpc>
              <a:spcBef>
                <a:spcPts val="0"/>
              </a:spcBef>
              <a:buNone/>
            </a:pPr>
            <a:r>
              <a:rPr lang="zh-CN" altLang="en-US" dirty="0"/>
              <a:t> 婴儿期 </a:t>
            </a:r>
            <a:r>
              <a:rPr lang="en-US" altLang="zh-CN" dirty="0"/>
              <a:t>-&gt;</a:t>
            </a:r>
            <a:r>
              <a:rPr lang="zh-CN" altLang="en-US" dirty="0"/>
              <a:t>儿童期 </a:t>
            </a:r>
            <a:r>
              <a:rPr lang="en-US" altLang="zh-CN" dirty="0"/>
              <a:t>-&gt;</a:t>
            </a:r>
            <a:r>
              <a:rPr lang="zh-CN" altLang="en-US" dirty="0"/>
              <a:t>青年期</a:t>
            </a:r>
            <a:r>
              <a:rPr lang="en-US" altLang="zh-CN" dirty="0"/>
              <a:t>-&gt; </a:t>
            </a:r>
            <a:r>
              <a:rPr lang="zh-CN" altLang="en-US" dirty="0"/>
              <a:t>中年期 </a:t>
            </a:r>
            <a:r>
              <a:rPr lang="en-US" altLang="zh-CN" dirty="0"/>
              <a:t>-&gt; </a:t>
            </a:r>
            <a:r>
              <a:rPr lang="zh-CN" altLang="en-US" dirty="0"/>
              <a:t>老年期。</a:t>
            </a:r>
            <a:endParaRPr lang="en-US" altLang="zh-CN" dirty="0"/>
          </a:p>
          <a:p>
            <a:pPr marL="0" indent="0" algn="just">
              <a:lnSpc>
                <a:spcPct val="100000"/>
              </a:lnSpc>
              <a:spcBef>
                <a:spcPts val="0"/>
              </a:spcBef>
              <a:buNone/>
            </a:pPr>
            <a:r>
              <a:rPr lang="zh-CN" altLang="en-US" dirty="0">
                <a:solidFill>
                  <a:srgbClr val="FF0000"/>
                </a:solidFill>
              </a:rPr>
              <a:t> 这代表了事物发展的客观规律。</a:t>
            </a:r>
            <a:endParaRPr lang="en-US" altLang="zh-CN" dirty="0">
              <a:solidFill>
                <a:srgbClr val="FF0000"/>
              </a:solidFill>
            </a:endParaRPr>
          </a:p>
          <a:p>
            <a:pPr marL="0" indent="0" algn="just">
              <a:lnSpc>
                <a:spcPct val="100000"/>
              </a:lnSpc>
              <a:spcBef>
                <a:spcPts val="0"/>
              </a:spcBef>
              <a:buNone/>
            </a:pPr>
            <a:r>
              <a:rPr lang="en-US" altLang="zh-CN" dirty="0"/>
              <a:t>(2)</a:t>
            </a:r>
            <a:r>
              <a:rPr lang="zh-CN" altLang="en-US" dirty="0"/>
              <a:t>管理过程组就像是 “每天的日常作息” ：</a:t>
            </a:r>
            <a:endParaRPr lang="en-US" altLang="zh-CN" dirty="0"/>
          </a:p>
          <a:p>
            <a:pPr marL="0" indent="0" algn="just">
              <a:lnSpc>
                <a:spcPct val="100000"/>
              </a:lnSpc>
              <a:spcBef>
                <a:spcPts val="0"/>
              </a:spcBef>
              <a:buNone/>
            </a:pPr>
            <a:r>
              <a:rPr lang="zh-CN" altLang="en-US" dirty="0"/>
              <a:t>起床</a:t>
            </a:r>
            <a:r>
              <a:rPr lang="en-US" altLang="zh-CN" dirty="0"/>
              <a:t>(</a:t>
            </a:r>
            <a:r>
              <a:rPr lang="zh-CN" altLang="en-US" dirty="0"/>
              <a:t>启动过程</a:t>
            </a:r>
            <a:r>
              <a:rPr lang="en-US" altLang="zh-CN" dirty="0"/>
              <a:t>)-&gt; </a:t>
            </a:r>
            <a:r>
              <a:rPr lang="zh-CN" altLang="en-US" dirty="0"/>
              <a:t>列出今天的日程</a:t>
            </a:r>
            <a:r>
              <a:rPr lang="en-US" altLang="zh-CN" dirty="0"/>
              <a:t>(</a:t>
            </a:r>
            <a:r>
              <a:rPr lang="zh-CN" altLang="en-US" dirty="0"/>
              <a:t>规划过程</a:t>
            </a:r>
            <a:r>
              <a:rPr lang="en-US" altLang="zh-CN" dirty="0"/>
              <a:t>) -&gt;</a:t>
            </a:r>
            <a:r>
              <a:rPr lang="zh-CN" altLang="en-US" dirty="0"/>
              <a:t>去上课</a:t>
            </a:r>
            <a:r>
              <a:rPr lang="en-US" altLang="zh-CN" dirty="0"/>
              <a:t>/</a:t>
            </a:r>
            <a:r>
              <a:rPr lang="zh-CN" altLang="en-US" dirty="0"/>
              <a:t>工作</a:t>
            </a:r>
            <a:r>
              <a:rPr lang="en-US" altLang="zh-CN" dirty="0"/>
              <a:t>(</a:t>
            </a:r>
            <a:r>
              <a:rPr lang="zh-CN" altLang="en-US" dirty="0"/>
              <a:t>执行过程</a:t>
            </a:r>
            <a:r>
              <a:rPr lang="en-US" altLang="zh-CN" dirty="0"/>
              <a:t>)-&gt;</a:t>
            </a:r>
            <a:r>
              <a:rPr lang="zh-CN" altLang="en-US" dirty="0"/>
              <a:t>看看手表进度怎么样、有没有走神</a:t>
            </a:r>
            <a:r>
              <a:rPr lang="en-US" altLang="zh-CN" dirty="0"/>
              <a:t>(</a:t>
            </a:r>
            <a:r>
              <a:rPr lang="zh-CN" altLang="en-US" dirty="0"/>
              <a:t>监控过程</a:t>
            </a:r>
            <a:r>
              <a:rPr lang="en-US" altLang="zh-CN" dirty="0"/>
              <a:t>)-&gt; </a:t>
            </a:r>
            <a:r>
              <a:rPr lang="zh-CN" altLang="en-US" dirty="0"/>
              <a:t>晚上总结并睡觉</a:t>
            </a:r>
            <a:r>
              <a:rPr lang="en-US" altLang="zh-CN" dirty="0"/>
              <a:t>(</a:t>
            </a:r>
            <a:r>
              <a:rPr lang="zh-CN" altLang="en-US" dirty="0"/>
              <a:t>收尾过程</a:t>
            </a:r>
            <a:r>
              <a:rPr lang="en-US" altLang="zh-CN" dirty="0"/>
              <a:t>)</a:t>
            </a:r>
            <a:r>
              <a:rPr lang="zh-CN" altLang="en-US" dirty="0"/>
              <a:t>。</a:t>
            </a:r>
            <a:endParaRPr lang="en-US" altLang="zh-CN" dirty="0"/>
          </a:p>
          <a:p>
            <a:pPr marL="0" indent="0" algn="just">
              <a:lnSpc>
                <a:spcPct val="100000"/>
              </a:lnSpc>
              <a:spcBef>
                <a:spcPts val="0"/>
              </a:spcBef>
              <a:buNone/>
            </a:pPr>
            <a:r>
              <a:rPr lang="zh-CN" altLang="en-US" dirty="0">
                <a:solidFill>
                  <a:srgbClr val="FF0000"/>
                </a:solidFill>
              </a:rPr>
              <a:t>这代表了管理过程。</a:t>
            </a:r>
            <a:endParaRPr lang="en-US" altLang="zh-CN" dirty="0">
              <a:solidFill>
                <a:srgbClr val="FF0000"/>
              </a:solidFill>
            </a:endParaRPr>
          </a:p>
          <a:p>
            <a:pPr marL="0" indent="0" algn="just">
              <a:lnSpc>
                <a:spcPct val="100000"/>
              </a:lnSpc>
              <a:spcBef>
                <a:spcPts val="0"/>
              </a:spcBef>
              <a:buNone/>
            </a:pPr>
            <a:r>
              <a:rPr lang="en-US" altLang="zh-CN" dirty="0"/>
              <a:t>(3)</a:t>
            </a:r>
            <a:r>
              <a:rPr lang="zh-CN" altLang="en-US" dirty="0"/>
              <a:t>关系</a:t>
            </a:r>
            <a:r>
              <a:rPr lang="en-US" altLang="zh-CN" dirty="0"/>
              <a:t>:</a:t>
            </a:r>
            <a:r>
              <a:rPr lang="zh-CN" altLang="en-US" dirty="0"/>
              <a:t>无论处于人生的哪个阶段（无论是儿童期还是中年期</a:t>
            </a:r>
            <a:r>
              <a:rPr lang="en-US" altLang="zh-CN" dirty="0"/>
              <a:t>),</a:t>
            </a:r>
            <a:r>
              <a:rPr lang="zh-CN" altLang="en-US" dirty="0"/>
              <a:t>每一天</a:t>
            </a:r>
            <a:r>
              <a:rPr lang="en-US" altLang="zh-CN" dirty="0"/>
              <a:t>(</a:t>
            </a:r>
            <a:r>
              <a:rPr lang="zh-CN" altLang="en-US" dirty="0"/>
              <a:t>每一个阶段</a:t>
            </a:r>
            <a:r>
              <a:rPr lang="en-US" altLang="zh-CN" dirty="0"/>
              <a:t>)</a:t>
            </a:r>
            <a:r>
              <a:rPr lang="zh-CN" altLang="en-US" dirty="0"/>
              <a:t>都需要完整地经历起床、计划、做事、检查、睡觉这套管理流程</a:t>
            </a:r>
            <a:r>
              <a:rPr lang="en-US" altLang="zh-CN" dirty="0"/>
              <a:t>(</a:t>
            </a:r>
            <a:r>
              <a:rPr lang="zh-CN" altLang="en-US" dirty="0"/>
              <a:t>五个过程组</a:t>
            </a:r>
            <a:r>
              <a:rPr lang="en-US" altLang="zh-CN" dirty="0"/>
              <a:t>)</a:t>
            </a:r>
            <a:r>
              <a:rPr lang="zh-CN" altLang="en-US" dirty="0"/>
              <a:t>。</a:t>
            </a:r>
            <a:endParaRPr lang="en-US" altLang="zh-CN" dirty="0"/>
          </a:p>
        </p:txBody>
      </p:sp>
    </p:spTree>
    <p:extLst>
      <p:ext uri="{BB962C8B-B14F-4D97-AF65-F5344CB8AC3E}">
        <p14:creationId xmlns:p14="http://schemas.microsoft.com/office/powerpoint/2010/main" val="22851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3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FE76C534-66F0-41F6-A3E1-68108936218B}"/>
              </a:ext>
            </a:extLst>
          </p:cNvPr>
          <p:cNvSpPr>
            <a:spLocks noGrp="1" noChangeArrowheads="1"/>
          </p:cNvSpPr>
          <p:nvPr>
            <p:ph type="body" idx="4294967295"/>
          </p:nvPr>
        </p:nvSpPr>
        <p:spPr>
          <a:xfrm>
            <a:off x="107504" y="188640"/>
            <a:ext cx="9001000" cy="3384376"/>
          </a:xfrm>
        </p:spPr>
        <p:txBody>
          <a:bodyPr>
            <a:noAutofit/>
          </a:bodyPr>
          <a:lstStyle/>
          <a:p>
            <a:pPr>
              <a:defRPr/>
            </a:pPr>
            <a:r>
              <a:rPr lang="en-US" altLang="zh-CN" sz="4000" dirty="0"/>
              <a:t>1.1.4 </a:t>
            </a:r>
            <a:r>
              <a:rPr lang="zh-CN" altLang="en-US" sz="4000" dirty="0"/>
              <a:t>项目的过程管理</a:t>
            </a:r>
            <a:endParaRPr lang="en-US" altLang="zh-CN" sz="4000" dirty="0"/>
          </a:p>
          <a:p>
            <a:pPr marL="0" indent="0" algn="just">
              <a:lnSpc>
                <a:spcPct val="150000"/>
              </a:lnSpc>
              <a:spcBef>
                <a:spcPts val="0"/>
              </a:spcBef>
              <a:buNone/>
            </a:pPr>
            <a:r>
              <a:rPr lang="zh-CN" altLang="en-US" sz="2400" dirty="0">
                <a:solidFill>
                  <a:srgbClr val="FF0000"/>
                </a:solidFill>
                <a:latin typeface="Times New Roman" panose="02020603050405020304" pitchFamily="18" charset="0"/>
                <a:ea typeface="黑体" panose="02010609060101010101" pitchFamily="49" charset="-122"/>
              </a:rPr>
              <a:t>例</a:t>
            </a:r>
            <a:r>
              <a:rPr lang="en-US" altLang="zh-CN" sz="2400" dirty="0">
                <a:solidFill>
                  <a:srgbClr val="FF0000"/>
                </a:solidFill>
                <a:latin typeface="Times New Roman" panose="02020603050405020304" pitchFamily="18" charset="0"/>
                <a:ea typeface="黑体" panose="02010609060101010101" pitchFamily="49" charset="-122"/>
              </a:rPr>
              <a:t>1</a:t>
            </a:r>
            <a:r>
              <a:rPr lang="zh-CN" altLang="en-US" sz="2400" dirty="0">
                <a:solidFill>
                  <a:srgbClr val="FF0000"/>
                </a:solidFill>
                <a:latin typeface="Times New Roman" panose="02020603050405020304" pitchFamily="18" charset="0"/>
                <a:ea typeface="黑体" panose="02010609060101010101" pitchFamily="49" charset="-122"/>
              </a:rPr>
              <a:t>：</a:t>
            </a:r>
            <a:endParaRPr lang="en-US" altLang="zh-CN" sz="2400" dirty="0">
              <a:solidFill>
                <a:srgbClr val="FF0000"/>
              </a:solidFill>
              <a:latin typeface="Times New Roman" panose="02020603050405020304" pitchFamily="18" charset="0"/>
              <a:ea typeface="黑体" panose="02010609060101010101" pitchFamily="49" charset="-122"/>
            </a:endParaRPr>
          </a:p>
          <a:p>
            <a:pPr marL="0" indent="0" algn="just">
              <a:lnSpc>
                <a:spcPct val="150000"/>
              </a:lnSpc>
              <a:spcBef>
                <a:spcPts val="0"/>
              </a:spcBef>
              <a:buNone/>
            </a:pPr>
            <a:r>
              <a:rPr lang="zh-CN" altLang="en-US" sz="2400" dirty="0">
                <a:latin typeface="Times New Roman" panose="02020603050405020304" pitchFamily="18" charset="0"/>
                <a:ea typeface="黑体" panose="02010609060101010101" pitchFamily="49" charset="-122"/>
              </a:rPr>
              <a:t>“启动过程组”对应生命周期的“需求分析阶段”，“收尾过程组”对应生命周期的“上线阶段”。这个表述是否正确？</a:t>
            </a:r>
            <a:endParaRPr lang="en-US" altLang="zh-CN" sz="2400" dirty="0">
              <a:latin typeface="Times New Roman" panose="02020603050405020304" pitchFamily="18" charset="0"/>
              <a:ea typeface="黑体" panose="02010609060101010101" pitchFamily="49" charset="-122"/>
            </a:endParaRPr>
          </a:p>
          <a:p>
            <a:pPr marL="0" indent="0" algn="just">
              <a:lnSpc>
                <a:spcPct val="150000"/>
              </a:lnSpc>
              <a:spcBef>
                <a:spcPts val="0"/>
              </a:spcBef>
              <a:buNone/>
            </a:pPr>
            <a:r>
              <a:rPr lang="zh-CN" altLang="en-US" sz="2400" b="1" dirty="0">
                <a:solidFill>
                  <a:srgbClr val="FF0000"/>
                </a:solidFill>
                <a:latin typeface="Times New Roman" panose="02020603050405020304" pitchFamily="18" charset="0"/>
                <a:ea typeface="黑体" panose="02010609060101010101" pitchFamily="49" charset="-122"/>
              </a:rPr>
              <a:t>这是错误的！</a:t>
            </a:r>
            <a:endParaRPr lang="zh-CN" altLang="en-US" sz="2400" dirty="0">
              <a:solidFill>
                <a:srgbClr val="FF0000"/>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3303857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FE76C534-66F0-41F6-A3E1-68108936218B}"/>
              </a:ext>
            </a:extLst>
          </p:cNvPr>
          <p:cNvSpPr>
            <a:spLocks noGrp="1" noChangeArrowheads="1"/>
          </p:cNvSpPr>
          <p:nvPr>
            <p:ph type="body" idx="4294967295"/>
          </p:nvPr>
        </p:nvSpPr>
        <p:spPr>
          <a:xfrm>
            <a:off x="107504" y="188640"/>
            <a:ext cx="9001000" cy="6120680"/>
          </a:xfrm>
        </p:spPr>
        <p:txBody>
          <a:bodyPr>
            <a:noAutofit/>
          </a:bodyPr>
          <a:lstStyle/>
          <a:p>
            <a:pPr>
              <a:defRPr/>
            </a:pPr>
            <a:r>
              <a:rPr lang="en-US" altLang="zh-CN" sz="4000" dirty="0"/>
              <a:t>1.1.4 </a:t>
            </a:r>
            <a:r>
              <a:rPr lang="zh-CN" altLang="en-US" sz="4000" dirty="0"/>
              <a:t>项目的过程管理</a:t>
            </a:r>
            <a:endParaRPr lang="en-US" altLang="zh-CN" sz="4000" dirty="0"/>
          </a:p>
          <a:p>
            <a:pPr marL="0" indent="0">
              <a:buNone/>
              <a:defRPr/>
            </a:pPr>
            <a:r>
              <a:rPr lang="zh-CN" altLang="en-US" sz="2400" b="1" dirty="0">
                <a:solidFill>
                  <a:srgbClr val="FF0000"/>
                </a:solidFill>
              </a:rPr>
              <a:t>例：当软件开发项目处于 </a:t>
            </a:r>
            <a:r>
              <a:rPr lang="en-US" altLang="zh-CN" sz="2400" b="1" dirty="0">
                <a:solidFill>
                  <a:srgbClr val="FF0000"/>
                </a:solidFill>
              </a:rPr>
              <a:t>“</a:t>
            </a:r>
            <a:r>
              <a:rPr lang="zh-CN" altLang="en-US" sz="2400" b="1" dirty="0">
                <a:solidFill>
                  <a:srgbClr val="FF0000"/>
                </a:solidFill>
              </a:rPr>
              <a:t>系统设计阶段</a:t>
            </a:r>
            <a:r>
              <a:rPr lang="en-US" altLang="zh-CN" sz="2400" b="1" dirty="0">
                <a:solidFill>
                  <a:srgbClr val="FF0000"/>
                </a:solidFill>
              </a:rPr>
              <a:t>”</a:t>
            </a:r>
            <a:r>
              <a:rPr lang="zh-CN" altLang="en-US" sz="2400" b="1" dirty="0">
                <a:solidFill>
                  <a:srgbClr val="FF0000"/>
                </a:solidFill>
              </a:rPr>
              <a:t>。请问，系统设计阶段有没有启动和收尾？</a:t>
            </a:r>
            <a:endParaRPr lang="en-US" altLang="zh-CN" sz="2400" b="1" dirty="0">
              <a:solidFill>
                <a:srgbClr val="FF0000"/>
              </a:solidFill>
            </a:endParaRPr>
          </a:p>
          <a:p>
            <a:pPr marL="0" indent="0">
              <a:buNone/>
              <a:defRPr/>
            </a:pPr>
            <a:r>
              <a:rPr lang="zh-CN" altLang="en-US" sz="2400" b="1" dirty="0"/>
              <a:t>项目经理也必须进行以下管理动作：</a:t>
            </a:r>
            <a:endParaRPr lang="en-US" altLang="zh-CN" sz="2400" b="1" dirty="0"/>
          </a:p>
          <a:p>
            <a:pPr marL="0" indent="0">
              <a:buNone/>
              <a:defRPr/>
            </a:pPr>
            <a:r>
              <a:rPr lang="en-US" altLang="zh-CN" sz="2400" b="1" dirty="0"/>
              <a:t>(1)</a:t>
            </a:r>
            <a:r>
              <a:rPr lang="zh-CN" altLang="en-US" sz="2400" b="1" dirty="0"/>
              <a:t>启动过程组： 召开设计阶段动员会，正式任命系统架构师牵头负责。</a:t>
            </a:r>
            <a:endParaRPr lang="en-US" altLang="zh-CN" sz="2400" b="1" dirty="0"/>
          </a:p>
          <a:p>
            <a:pPr marL="0" indent="0">
              <a:buNone/>
              <a:defRPr/>
            </a:pPr>
            <a:r>
              <a:rPr lang="en-US" altLang="zh-CN" sz="2400" b="1" dirty="0"/>
              <a:t>(2)</a:t>
            </a:r>
            <a:r>
              <a:rPr lang="zh-CN" altLang="en-US" sz="2400" b="1" dirty="0"/>
              <a:t>规划过程组： 制定设计阶段的进度表（比如第一周画数据库图，第二周写接口文档）。</a:t>
            </a:r>
            <a:endParaRPr lang="en-US" altLang="zh-CN" sz="2400" b="1" dirty="0"/>
          </a:p>
          <a:p>
            <a:pPr marL="0" indent="0">
              <a:buNone/>
              <a:defRPr/>
            </a:pPr>
            <a:r>
              <a:rPr lang="en-US" altLang="zh-CN" sz="2400" b="1" dirty="0"/>
              <a:t>(3)</a:t>
            </a:r>
            <a:r>
              <a:rPr lang="zh-CN" altLang="en-US" sz="2400" b="1" dirty="0"/>
              <a:t>执行过程组： 架构师和开发人员实际去画原型图、写</a:t>
            </a:r>
            <a:r>
              <a:rPr lang="en-US" altLang="zh-CN" sz="2400" b="1" dirty="0"/>
              <a:t>《</a:t>
            </a:r>
            <a:r>
              <a:rPr lang="zh-CN" altLang="en-US" sz="2400" b="1" dirty="0"/>
              <a:t>概要设计说明书</a:t>
            </a:r>
            <a:r>
              <a:rPr lang="en-US" altLang="zh-CN" sz="2400" b="1" dirty="0"/>
              <a:t>》 </a:t>
            </a:r>
            <a:r>
              <a:rPr lang="zh-CN" altLang="en-US" sz="2400" b="1" dirty="0"/>
              <a:t>；</a:t>
            </a:r>
            <a:endParaRPr lang="en-US" altLang="zh-CN" sz="2400" b="1" dirty="0"/>
          </a:p>
          <a:p>
            <a:pPr marL="0" indent="0">
              <a:buNone/>
              <a:defRPr/>
            </a:pPr>
            <a:r>
              <a:rPr lang="en-US" altLang="zh-CN" sz="2400" b="1" dirty="0"/>
              <a:t>(4)</a:t>
            </a:r>
            <a:r>
              <a:rPr lang="zh-CN" altLang="en-US" sz="2400" b="1" dirty="0"/>
              <a:t>监控过程组： 项目经理检查设计进度有没有延期？设计方案有没有偏离客户的原始需求？</a:t>
            </a:r>
            <a:endParaRPr lang="en-US" altLang="zh-CN" sz="2400" b="1" dirty="0"/>
          </a:p>
          <a:p>
            <a:pPr marL="0" indent="0">
              <a:buNone/>
              <a:defRPr/>
            </a:pPr>
            <a:r>
              <a:rPr lang="en-US" altLang="zh-CN" sz="2400" b="1" dirty="0"/>
              <a:t>(5)</a:t>
            </a:r>
            <a:r>
              <a:rPr lang="zh-CN" altLang="en-US" sz="2400" b="1" dirty="0"/>
              <a:t>收尾过程组： 组织专家对</a:t>
            </a:r>
            <a:r>
              <a:rPr lang="en-US" altLang="zh-CN" sz="2400" b="1" dirty="0"/>
              <a:t>《</a:t>
            </a:r>
            <a:r>
              <a:rPr lang="zh-CN" altLang="en-US" sz="2400" b="1" dirty="0"/>
              <a:t>概要设计说明书</a:t>
            </a:r>
            <a:r>
              <a:rPr lang="en-US" altLang="zh-CN" sz="2400" b="1" dirty="0"/>
              <a:t>》</a:t>
            </a:r>
            <a:r>
              <a:rPr lang="zh-CN" altLang="en-US" sz="2400" b="1" dirty="0"/>
              <a:t>进行评审、签字确认（里程碑达成），然后才能顺利进入下一个生命周期阶段（编码阶段）。</a:t>
            </a:r>
            <a:endParaRPr lang="en-US" altLang="zh-CN" sz="2400" b="1" dirty="0"/>
          </a:p>
        </p:txBody>
      </p:sp>
    </p:spTree>
    <p:extLst>
      <p:ext uri="{BB962C8B-B14F-4D97-AF65-F5344CB8AC3E}">
        <p14:creationId xmlns:p14="http://schemas.microsoft.com/office/powerpoint/2010/main" val="556588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3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3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3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ED4B96C9-12C8-42DF-B49B-48352AF598CE}"/>
              </a:ext>
            </a:extLst>
          </p:cNvPr>
          <p:cNvSpPr>
            <a:spLocks noGrp="1" noChangeArrowheads="1"/>
          </p:cNvSpPr>
          <p:nvPr>
            <p:ph type="title" idx="4294967295"/>
          </p:nvPr>
        </p:nvSpPr>
        <p:spPr>
          <a:xfrm>
            <a:off x="0" y="1500188"/>
            <a:ext cx="8229600" cy="3000375"/>
          </a:xfrm>
        </p:spPr>
        <p:txBody>
          <a:bodyPr/>
          <a:lstStyle/>
          <a:p>
            <a:r>
              <a:rPr lang="en-US" altLang="zh-CN" sz="4800" b="1" dirty="0"/>
              <a:t>1.2 </a:t>
            </a:r>
            <a:r>
              <a:rPr lang="zh-CN" altLang="en-US" sz="4800" b="1" dirty="0"/>
              <a:t>信息系统项目的特点与生命期</a:t>
            </a:r>
          </a:p>
        </p:txBody>
      </p:sp>
      <p:sp>
        <p:nvSpPr>
          <p:cNvPr id="20483" name="Rectangle 6">
            <a:extLst>
              <a:ext uri="{FF2B5EF4-FFF2-40B4-BE49-F238E27FC236}">
                <a16:creationId xmlns:a16="http://schemas.microsoft.com/office/drawing/2014/main" id="{2B39AB98-1337-42AD-85A2-53ACEB08ACB7}"/>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dirty="0">
                <a:solidFill>
                  <a:srgbClr val="0000FF"/>
                </a:solidFill>
              </a:rPr>
              <a:t>十一五规划教材                                          </a:t>
            </a:r>
            <a:r>
              <a:rPr lang="en-US" altLang="zh-CN" sz="2000" dirty="0">
                <a:solidFill>
                  <a:srgbClr val="0000FF"/>
                </a:solidFill>
              </a:rPr>
              <a:t>《</a:t>
            </a:r>
            <a:r>
              <a:rPr lang="zh-CN" altLang="en-US" sz="2000" dirty="0">
                <a:solidFill>
                  <a:srgbClr val="0000FF"/>
                </a:solidFill>
              </a:rPr>
              <a:t>信息系统项目管理</a:t>
            </a:r>
            <a:r>
              <a:rPr lang="en-US" altLang="zh-CN" sz="2000" dirty="0">
                <a:solidFill>
                  <a:srgbClr val="0000FF"/>
                </a:solidFill>
              </a:rPr>
              <a:t>》</a:t>
            </a:r>
            <a:r>
              <a:rPr lang="zh-CN" altLang="en-US" sz="2000" dirty="0">
                <a:solidFill>
                  <a:srgbClr val="0000FF"/>
                </a:solidFill>
              </a:rPr>
              <a:t>讲义</a:t>
            </a:r>
          </a:p>
        </p:txBody>
      </p:sp>
      <p:sp>
        <p:nvSpPr>
          <p:cNvPr id="27652" name="Line 7">
            <a:extLst>
              <a:ext uri="{FF2B5EF4-FFF2-40B4-BE49-F238E27FC236}">
                <a16:creationId xmlns:a16="http://schemas.microsoft.com/office/drawing/2014/main" id="{9CD004A6-28D8-471C-85B0-3CE85666718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a:extLst>
              <a:ext uri="{FF2B5EF4-FFF2-40B4-BE49-F238E27FC236}">
                <a16:creationId xmlns:a16="http://schemas.microsoft.com/office/drawing/2014/main" id="{0212C5E3-0D05-4244-B5A7-E95B84A5B567}"/>
              </a:ext>
            </a:extLst>
          </p:cNvPr>
          <p:cNvSpPr>
            <a:spLocks noGrp="1" noChangeArrowheads="1"/>
          </p:cNvSpPr>
          <p:nvPr>
            <p:ph type="body" idx="4294967295"/>
          </p:nvPr>
        </p:nvSpPr>
        <p:spPr>
          <a:xfrm>
            <a:off x="323528" y="822325"/>
            <a:ext cx="8229600" cy="4946650"/>
          </a:xfrm>
        </p:spPr>
        <p:txBody>
          <a:bodyPr/>
          <a:lstStyle/>
          <a:p>
            <a:r>
              <a:rPr lang="en-US" altLang="zh-CN" sz="4000" dirty="0"/>
              <a:t>1.2.1 </a:t>
            </a:r>
            <a:r>
              <a:rPr lang="zh-CN" altLang="en-US" sz="4000" dirty="0"/>
              <a:t>信息系统项目的特点</a:t>
            </a:r>
            <a:endParaRPr lang="en-US" altLang="zh-CN" sz="4000" dirty="0"/>
          </a:p>
          <a:p>
            <a:pPr marL="971550" lvl="1" indent="-514350">
              <a:buFontTx/>
              <a:buAutoNum type="arabicPeriod"/>
            </a:pPr>
            <a:endParaRPr lang="en-US" altLang="zh-CN" dirty="0"/>
          </a:p>
          <a:p>
            <a:pPr marL="971550" lvl="1" indent="-514350">
              <a:buFontTx/>
              <a:buAutoNum type="arabicPeriod"/>
            </a:pPr>
            <a:r>
              <a:rPr lang="zh-CN" altLang="en-US" dirty="0"/>
              <a:t>信息系统项目的目标是不精确的</a:t>
            </a:r>
            <a:endParaRPr lang="en-US" altLang="zh-CN" dirty="0"/>
          </a:p>
          <a:p>
            <a:pPr marL="971550" lvl="1" indent="-514350">
              <a:buFont typeface="Wingdings" panose="05000000000000000000" pitchFamily="2" charset="2"/>
              <a:buChar char="Ø"/>
            </a:pPr>
            <a:r>
              <a:rPr lang="zh-CN" altLang="en-US" dirty="0"/>
              <a:t>任务的边界是模糊的，质量要求更多是由项目团队来定义的，客户更多的是尽可能地审查</a:t>
            </a:r>
            <a:endParaRPr lang="en-US" altLang="zh-CN" dirty="0"/>
          </a:p>
          <a:p>
            <a:pPr marL="971550" lvl="1" indent="-514350">
              <a:buFont typeface="Wingdings" panose="05000000000000000000" pitchFamily="2" charset="2"/>
              <a:buChar char="Ø"/>
            </a:pPr>
            <a:r>
              <a:rPr lang="zh-CN" altLang="en-US" dirty="0"/>
              <a:t>为了更好地定义或审查信息系统项目的任务范围和质量要求，客户方可以聘请第三方的信息系统监理或咨询方</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a:extLst>
              <a:ext uri="{FF2B5EF4-FFF2-40B4-BE49-F238E27FC236}">
                <a16:creationId xmlns:a16="http://schemas.microsoft.com/office/drawing/2014/main" id="{D7AB8916-8531-40AF-AA26-6256616EB0F4}"/>
              </a:ext>
            </a:extLst>
          </p:cNvPr>
          <p:cNvSpPr>
            <a:spLocks noGrp="1" noChangeArrowheads="1"/>
          </p:cNvSpPr>
          <p:nvPr>
            <p:ph type="body" idx="4294967295"/>
          </p:nvPr>
        </p:nvSpPr>
        <p:spPr>
          <a:xfrm>
            <a:off x="0" y="1028700"/>
            <a:ext cx="8229600" cy="3186113"/>
          </a:xfrm>
        </p:spPr>
        <p:txBody>
          <a:bodyPr>
            <a:normAutofit lnSpcReduction="10000"/>
          </a:bodyPr>
          <a:lstStyle/>
          <a:p>
            <a:pPr>
              <a:defRPr/>
            </a:pPr>
            <a:r>
              <a:rPr lang="en-US" altLang="zh-CN" sz="4000"/>
              <a:t>1.2.1 </a:t>
            </a:r>
            <a:r>
              <a:rPr lang="zh-CN" altLang="en-US" sz="4000"/>
              <a:t>信息系统项目的特点</a:t>
            </a:r>
            <a:endParaRPr lang="en-US" altLang="zh-CN" sz="4000"/>
          </a:p>
          <a:p>
            <a:pPr marL="971550" lvl="1" indent="-514350">
              <a:buFontTx/>
              <a:buAutoNum type="arabicPeriod" startAt="2"/>
              <a:defRPr/>
            </a:pPr>
            <a:endParaRPr lang="en-US" altLang="zh-CN"/>
          </a:p>
          <a:p>
            <a:pPr marL="971550" lvl="1" indent="-514350">
              <a:buFontTx/>
              <a:buAutoNum type="arabicPeriod" startAt="2"/>
              <a:defRPr/>
            </a:pPr>
            <a:r>
              <a:rPr lang="zh-CN" altLang="en-US"/>
              <a:t>信息系统项目的需求变更比较频繁</a:t>
            </a:r>
            <a:endParaRPr lang="en-US" altLang="zh-CN"/>
          </a:p>
          <a:p>
            <a:pPr marL="971550" lvl="1" indent="-514350">
              <a:buFont typeface="Wingdings" panose="05000000000000000000" pitchFamily="2" charset="2"/>
              <a:buChar char="Ø"/>
              <a:defRPr/>
            </a:pPr>
            <a:r>
              <a:rPr lang="zh-CN" altLang="en-US"/>
              <a:t>信息系统项目进行过程中，客户的需求会不断被激发，被不断地明确，可能导致项目的范围、进度、费用等计划不断更改</a:t>
            </a:r>
            <a:endParaRPr lang="en-US" altLang="zh-CN"/>
          </a:p>
          <a:p>
            <a:pPr marL="971550" lvl="1" indent="-514350">
              <a:buFont typeface="Wingdings" panose="05000000000000000000" pitchFamily="2" charset="2"/>
              <a:buChar char="Ø"/>
              <a:defRPr/>
            </a:pPr>
            <a:r>
              <a:rPr lang="zh-CN" altLang="en-US"/>
              <a:t>要求项目经理要不断监控和调整项目的计划执行情况，要有较强的范围变更管理的能力</a:t>
            </a:r>
            <a:endParaRPr lang="en-US" altLang="zh-CN"/>
          </a:p>
        </p:txBody>
      </p:sp>
      <p:sp>
        <p:nvSpPr>
          <p:cNvPr id="22531" name="Rectangle 6">
            <a:extLst>
              <a:ext uri="{FF2B5EF4-FFF2-40B4-BE49-F238E27FC236}">
                <a16:creationId xmlns:a16="http://schemas.microsoft.com/office/drawing/2014/main" id="{9BE376C5-DDA4-45AE-BBED-6593B32D3709}"/>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29700" name="Line 7">
            <a:extLst>
              <a:ext uri="{FF2B5EF4-FFF2-40B4-BE49-F238E27FC236}">
                <a16:creationId xmlns:a16="http://schemas.microsoft.com/office/drawing/2014/main" id="{C5B274C9-DABC-4693-A3E8-1AB43CAA9C5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a:extLst>
              <a:ext uri="{FF2B5EF4-FFF2-40B4-BE49-F238E27FC236}">
                <a16:creationId xmlns:a16="http://schemas.microsoft.com/office/drawing/2014/main" id="{ADBF62B6-3B8D-4071-9759-A267E90FB7DA}"/>
              </a:ext>
            </a:extLst>
          </p:cNvPr>
          <p:cNvSpPr>
            <a:spLocks noGrp="1" noChangeArrowheads="1"/>
          </p:cNvSpPr>
          <p:nvPr>
            <p:ph type="body" idx="4294967295"/>
          </p:nvPr>
        </p:nvSpPr>
        <p:spPr>
          <a:xfrm>
            <a:off x="0" y="857250"/>
            <a:ext cx="8229600" cy="4000500"/>
          </a:xfrm>
        </p:spPr>
        <p:txBody>
          <a:bodyPr>
            <a:normAutofit/>
          </a:bodyPr>
          <a:lstStyle/>
          <a:p>
            <a:pPr>
              <a:defRPr/>
            </a:pPr>
            <a:r>
              <a:rPr lang="en-US" altLang="zh-CN" sz="4000"/>
              <a:t>1.2.1 </a:t>
            </a:r>
            <a:r>
              <a:rPr lang="zh-CN" altLang="en-US" sz="4000"/>
              <a:t>信息系统项目的特点</a:t>
            </a:r>
            <a:endParaRPr lang="en-US" altLang="zh-CN" sz="4000"/>
          </a:p>
          <a:p>
            <a:pPr marL="971550" lvl="1" indent="-514350">
              <a:buFontTx/>
              <a:buAutoNum type="arabicPeriod" startAt="3"/>
              <a:defRPr/>
            </a:pPr>
            <a:endParaRPr lang="en-US" altLang="zh-CN"/>
          </a:p>
          <a:p>
            <a:pPr marL="971550" lvl="1" indent="-514350">
              <a:buFontTx/>
              <a:buAutoNum type="arabicPeriod" startAt="3"/>
              <a:defRPr/>
            </a:pPr>
            <a:r>
              <a:rPr lang="zh-CN" altLang="en-US"/>
              <a:t>信息系统项目受人力资源的影响很大</a:t>
            </a:r>
            <a:endParaRPr lang="en-US" altLang="zh-CN"/>
          </a:p>
          <a:p>
            <a:pPr marL="971550" lvl="1" indent="-514350">
              <a:buFont typeface="Wingdings" panose="05000000000000000000" pitchFamily="2" charset="2"/>
              <a:buChar char="Ø"/>
              <a:defRPr/>
            </a:pPr>
            <a:r>
              <a:rPr lang="zh-CN" altLang="en-US"/>
              <a:t>信息系统项目是智力密集、劳动密集型的项目，项目成员的结构、责任心、能力和稳定性对信息系统项目的质量以及是否成功都有决定性的影响</a:t>
            </a:r>
            <a:endParaRPr lang="en-US" altLang="zh-CN"/>
          </a:p>
          <a:p>
            <a:pPr marL="971550" lvl="1" indent="-514350">
              <a:buFont typeface="Wingdings" panose="05000000000000000000" pitchFamily="2" charset="2"/>
              <a:buChar char="Ø"/>
              <a:defRPr/>
            </a:pPr>
            <a:r>
              <a:rPr lang="zh-CN" altLang="en-US"/>
              <a:t>信息系统建设的核心成果</a:t>
            </a:r>
            <a:r>
              <a:rPr lang="en-US" altLang="zh-CN"/>
              <a:t>——</a:t>
            </a:r>
            <a:r>
              <a:rPr lang="zh-CN" altLang="en-US"/>
              <a:t>开发的应用软件是不可见的逻辑实体，人员流动对于后续开发工作影响巨大</a:t>
            </a:r>
            <a:endParaRPr lang="en-US" altLang="zh-CN"/>
          </a:p>
          <a:p>
            <a:pPr marL="971550" lvl="1" indent="-514350">
              <a:buFont typeface="Wingdings" panose="05000000000000000000" pitchFamily="2" charset="2"/>
              <a:buChar char="Ø"/>
              <a:defRPr/>
            </a:pPr>
            <a:r>
              <a:rPr lang="zh-CN" altLang="en-US"/>
              <a:t>信息系统的建设特别是软件的开发渗透了人的因素，带有较强的个人风格</a:t>
            </a:r>
            <a:endParaRPr lang="en-US" altLang="zh-CN"/>
          </a:p>
          <a:p>
            <a:pPr marL="971550" lvl="1" indent="-514350">
              <a:buFontTx/>
              <a:buAutoNum type="arabicPeriod" startAt="3"/>
              <a:defRPr/>
            </a:pPr>
            <a:endParaRPr lang="zh-CN" altLang="en-US"/>
          </a:p>
        </p:txBody>
      </p:sp>
      <p:sp>
        <p:nvSpPr>
          <p:cNvPr id="23555" name="Rectangle 6">
            <a:extLst>
              <a:ext uri="{FF2B5EF4-FFF2-40B4-BE49-F238E27FC236}">
                <a16:creationId xmlns:a16="http://schemas.microsoft.com/office/drawing/2014/main" id="{790F8FE9-A7CE-42F6-A529-4952C7AEA4FD}"/>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0724" name="Line 7">
            <a:extLst>
              <a:ext uri="{FF2B5EF4-FFF2-40B4-BE49-F238E27FC236}">
                <a16:creationId xmlns:a16="http://schemas.microsoft.com/office/drawing/2014/main" id="{7A963CA4-979F-47A6-AB73-6D9F9885BEB4}"/>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a:extLst>
              <a:ext uri="{FF2B5EF4-FFF2-40B4-BE49-F238E27FC236}">
                <a16:creationId xmlns:a16="http://schemas.microsoft.com/office/drawing/2014/main" id="{DC33DBAF-FF5A-4B57-A4B7-EB4254704936}"/>
              </a:ext>
            </a:extLst>
          </p:cNvPr>
          <p:cNvSpPr>
            <a:spLocks noGrp="1" noChangeArrowheads="1"/>
          </p:cNvSpPr>
          <p:nvPr>
            <p:ph type="body" idx="4294967295"/>
          </p:nvPr>
        </p:nvSpPr>
        <p:spPr>
          <a:xfrm>
            <a:off x="0" y="857250"/>
            <a:ext cx="8229600" cy="4000500"/>
          </a:xfrm>
        </p:spPr>
        <p:txBody>
          <a:bodyPr/>
          <a:lstStyle/>
          <a:p>
            <a:r>
              <a:rPr lang="en-US" altLang="zh-CN" sz="4000"/>
              <a:t>1.2.1 </a:t>
            </a:r>
            <a:r>
              <a:rPr lang="zh-CN" altLang="en-US" sz="4000"/>
              <a:t>信息系统项目的特点</a:t>
            </a:r>
            <a:endParaRPr lang="en-US" altLang="zh-CN" sz="4000"/>
          </a:p>
          <a:p>
            <a:pPr marL="971550" lvl="1" indent="-514350">
              <a:buFontTx/>
              <a:buAutoNum type="arabicPeriod" startAt="4"/>
            </a:pPr>
            <a:r>
              <a:rPr lang="zh-CN" altLang="en-US"/>
              <a:t>其他特点</a:t>
            </a:r>
            <a:endParaRPr lang="en-US" altLang="zh-CN"/>
          </a:p>
          <a:p>
            <a:pPr marL="971550" lvl="1" indent="-514350">
              <a:buFont typeface="Wingdings" panose="05000000000000000000" pitchFamily="2" charset="2"/>
              <a:buChar char="Ø"/>
            </a:pPr>
            <a:r>
              <a:rPr lang="zh-CN" altLang="en-US"/>
              <a:t>典型的信息系统项目还具有如下特点：牵涉的技术人员高度专业化；涉及的设备和软件的供应商比较多；项目生命期通常比较短；通常要采用大量的新技术；使用与维护的要求比较复杂；信息系统应用的行业特性比较强等。</a:t>
            </a:r>
            <a:endParaRPr lang="en-US" altLang="zh-CN"/>
          </a:p>
          <a:p>
            <a:pPr marL="971550" lvl="1" indent="-514350">
              <a:buFont typeface="Wingdings" panose="05000000000000000000" pitchFamily="2" charset="2"/>
              <a:buChar char="Ø"/>
            </a:pPr>
            <a:r>
              <a:rPr lang="zh-CN" altLang="en-US"/>
              <a:t>这些特点要求系统建设人员除了要有</a:t>
            </a:r>
            <a:r>
              <a:rPr lang="en-US" altLang="zh-CN"/>
              <a:t>IT</a:t>
            </a:r>
            <a:r>
              <a:rPr lang="zh-CN" altLang="en-US"/>
              <a:t>方面的技术外，必须还要有较丰富的行业经验</a:t>
            </a:r>
          </a:p>
        </p:txBody>
      </p:sp>
      <p:sp>
        <p:nvSpPr>
          <p:cNvPr id="24579" name="Rectangle 6">
            <a:extLst>
              <a:ext uri="{FF2B5EF4-FFF2-40B4-BE49-F238E27FC236}">
                <a16:creationId xmlns:a16="http://schemas.microsoft.com/office/drawing/2014/main" id="{485CAA83-67D5-43D5-9D71-423111304F74}"/>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1748" name="Line 7">
            <a:extLst>
              <a:ext uri="{FF2B5EF4-FFF2-40B4-BE49-F238E27FC236}">
                <a16:creationId xmlns:a16="http://schemas.microsoft.com/office/drawing/2014/main" id="{048FA255-ED65-436F-9C79-3B414888847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DB4D4562-5F4C-47B3-932B-6D1A3CCE3C28}"/>
              </a:ext>
            </a:extLst>
          </p:cNvPr>
          <p:cNvSpPr>
            <a:spLocks noGrp="1" noChangeArrowheads="1"/>
          </p:cNvSpPr>
          <p:nvPr>
            <p:ph type="body" idx="4294967295"/>
          </p:nvPr>
        </p:nvSpPr>
        <p:spPr>
          <a:xfrm>
            <a:off x="0" y="642938"/>
            <a:ext cx="8229600" cy="4525962"/>
          </a:xfrm>
        </p:spPr>
        <p:txBody>
          <a:bodyPr>
            <a:normAutofit lnSpcReduction="10000"/>
          </a:bodyPr>
          <a:lstStyle/>
          <a:p>
            <a:pPr>
              <a:defRPr/>
            </a:pPr>
            <a:r>
              <a:rPr lang="en-US" altLang="zh-CN" sz="4000"/>
              <a:t>1.2.2 </a:t>
            </a:r>
            <a:r>
              <a:rPr lang="zh-CN" altLang="en-US" sz="4000"/>
              <a:t>信息系统项目的生命期</a:t>
            </a:r>
            <a:endParaRPr lang="en-US" altLang="zh-CN" sz="4000"/>
          </a:p>
          <a:p>
            <a:pPr marL="971550" lvl="1" indent="-514350">
              <a:buFontTx/>
              <a:buAutoNum type="arabicPeriod"/>
              <a:defRPr/>
            </a:pPr>
            <a:endParaRPr lang="en-US" altLang="zh-CN"/>
          </a:p>
          <a:p>
            <a:pPr marL="971550" lvl="1" indent="-514350">
              <a:buFontTx/>
              <a:buAutoNum type="arabicPeriod"/>
              <a:defRPr/>
            </a:pPr>
            <a:r>
              <a:rPr lang="zh-CN" altLang="en-US"/>
              <a:t>信息系统项目的一般生命期：</a:t>
            </a:r>
            <a:endParaRPr lang="en-US" altLang="zh-CN"/>
          </a:p>
          <a:p>
            <a:pPr marL="971550" lvl="1" indent="-514350">
              <a:buFontTx/>
              <a:buNone/>
              <a:defRPr/>
            </a:pPr>
            <a:r>
              <a:rPr lang="zh-CN" altLang="en-US"/>
              <a:t>      以下五阶段构成的生命期称为信息系统项目的一般生命期。</a:t>
            </a:r>
            <a:endParaRPr lang="en-US" altLang="zh-CN"/>
          </a:p>
          <a:p>
            <a:pPr marL="971550" lvl="1" indent="-514350">
              <a:buFontTx/>
              <a:buNone/>
              <a:defRPr/>
            </a:pPr>
            <a:r>
              <a:rPr lang="zh-CN" altLang="en-US"/>
              <a:t>（</a:t>
            </a:r>
            <a:r>
              <a:rPr lang="en-US" altLang="zh-CN"/>
              <a:t>1</a:t>
            </a:r>
            <a:r>
              <a:rPr lang="zh-CN" altLang="en-US"/>
              <a:t>）系统规划阶段</a:t>
            </a:r>
            <a:endParaRPr lang="en-US" altLang="zh-CN"/>
          </a:p>
          <a:p>
            <a:pPr marL="971550" lvl="1" indent="-514350">
              <a:buFont typeface="Wingdings" panose="05000000000000000000" pitchFamily="2" charset="2"/>
              <a:buChar char="Ø"/>
              <a:defRPr/>
            </a:pPr>
            <a:r>
              <a:rPr lang="zh-CN" altLang="en-US"/>
              <a:t>对组织的环境、目标、现行系统的状况进行初步调查，根据组织目标和发展战略，确定信息系统的发展战略，对建设新系统的需求做出分析和预测，同时考虑建设新系统所受的各种约束，研究建设新系统的必要性和可能性，对备选方案进行可行性分析，通过后将新系统建设方案及实施计划编写成系统规划报告。</a:t>
            </a:r>
            <a:endParaRPr lang="en-US" altLang="zh-CN"/>
          </a:p>
        </p:txBody>
      </p:sp>
      <p:sp>
        <p:nvSpPr>
          <p:cNvPr id="25603" name="Rectangle 6">
            <a:extLst>
              <a:ext uri="{FF2B5EF4-FFF2-40B4-BE49-F238E27FC236}">
                <a16:creationId xmlns:a16="http://schemas.microsoft.com/office/drawing/2014/main" id="{85C4BCD4-F77D-47BB-B19A-4C0F72D4B76F}"/>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2772" name="Line 7">
            <a:extLst>
              <a:ext uri="{FF2B5EF4-FFF2-40B4-BE49-F238E27FC236}">
                <a16:creationId xmlns:a16="http://schemas.microsoft.com/office/drawing/2014/main" id="{11C3CA65-10C2-438B-B47B-636180CF233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A8191636-F9FD-4035-A2D2-7D8269FBA178}"/>
              </a:ext>
            </a:extLst>
          </p:cNvPr>
          <p:cNvSpPr>
            <a:spLocks noGrp="1" noChangeArrowheads="1"/>
          </p:cNvSpPr>
          <p:nvPr>
            <p:ph type="body" idx="4294967295"/>
          </p:nvPr>
        </p:nvSpPr>
        <p:spPr>
          <a:xfrm>
            <a:off x="0" y="785813"/>
            <a:ext cx="8229600" cy="4525962"/>
          </a:xfrm>
        </p:spPr>
        <p:txBody>
          <a:bodyPr/>
          <a:lstStyle/>
          <a:p>
            <a:r>
              <a:rPr lang="en-US" altLang="zh-CN" sz="4000"/>
              <a:t>1.2.2 </a:t>
            </a:r>
            <a:r>
              <a:rPr lang="zh-CN" altLang="en-US" sz="4000"/>
              <a:t>信息系统项目的生命期</a:t>
            </a:r>
            <a:endParaRPr lang="en-US" altLang="zh-CN" sz="4000"/>
          </a:p>
          <a:p>
            <a:pPr marL="971550" lvl="1" indent="-514350">
              <a:buFontTx/>
              <a:buNone/>
            </a:pPr>
            <a:endParaRPr lang="en-US" altLang="zh-CN"/>
          </a:p>
          <a:p>
            <a:pPr marL="971550" lvl="1" indent="-514350">
              <a:buFontTx/>
              <a:buNone/>
            </a:pPr>
            <a:r>
              <a:rPr lang="zh-CN" altLang="en-US"/>
              <a:t>（</a:t>
            </a:r>
            <a:r>
              <a:rPr lang="en-US" altLang="zh-CN"/>
              <a:t>2</a:t>
            </a:r>
            <a:r>
              <a:rPr lang="zh-CN" altLang="en-US"/>
              <a:t>）系统分析阶段</a:t>
            </a:r>
            <a:endParaRPr lang="en-US" altLang="zh-CN"/>
          </a:p>
          <a:p>
            <a:pPr marL="971550" lvl="1" indent="-514350">
              <a:buFont typeface="Wingdings" panose="05000000000000000000" pitchFamily="2" charset="2"/>
              <a:buChar char="Ø"/>
            </a:pPr>
            <a:r>
              <a:rPr lang="zh-CN" altLang="en-US"/>
              <a:t>根据系统规划报告所确定范围，对现行系统进行详细调查，描述现行系统的业务流程，指出现行系统局限性和不足之处，确定新系统的基本目标和逻辑功能要求，即提出新系统的逻辑模型。系统分析阶段的工作成果体现在系统分析说明书中</a:t>
            </a:r>
            <a:endParaRPr lang="en-US" altLang="zh-CN"/>
          </a:p>
          <a:p>
            <a:pPr marL="971550" lvl="1" indent="-514350">
              <a:buFont typeface="Wingdings" panose="05000000000000000000" pitchFamily="2" charset="2"/>
              <a:buChar char="Ø"/>
            </a:pPr>
            <a:endParaRPr lang="en-US" altLang="zh-CN"/>
          </a:p>
        </p:txBody>
      </p:sp>
      <p:sp>
        <p:nvSpPr>
          <p:cNvPr id="26627" name="Rectangle 6">
            <a:extLst>
              <a:ext uri="{FF2B5EF4-FFF2-40B4-BE49-F238E27FC236}">
                <a16:creationId xmlns:a16="http://schemas.microsoft.com/office/drawing/2014/main" id="{D44DEB22-3154-47AE-826C-1CA4FBB0D77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3796" name="Line 7">
            <a:extLst>
              <a:ext uri="{FF2B5EF4-FFF2-40B4-BE49-F238E27FC236}">
                <a16:creationId xmlns:a16="http://schemas.microsoft.com/office/drawing/2014/main" id="{5B004CE4-A5B0-4E1B-94F0-4C92152E0C54}"/>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a:extLst>
              <a:ext uri="{FF2B5EF4-FFF2-40B4-BE49-F238E27FC236}">
                <a16:creationId xmlns:a16="http://schemas.microsoft.com/office/drawing/2014/main" id="{8C640399-7FAC-4CDC-A34D-572C6F19A653}"/>
              </a:ext>
            </a:extLst>
          </p:cNvPr>
          <p:cNvSpPr>
            <a:spLocks noGrp="1" noChangeArrowheads="1"/>
          </p:cNvSpPr>
          <p:nvPr>
            <p:ph type="body" idx="4294967295"/>
          </p:nvPr>
        </p:nvSpPr>
        <p:spPr>
          <a:xfrm>
            <a:off x="0" y="903288"/>
            <a:ext cx="8229600" cy="4525962"/>
          </a:xfrm>
        </p:spPr>
        <p:txBody>
          <a:bodyPr/>
          <a:lstStyle/>
          <a:p>
            <a:r>
              <a:rPr lang="en-US" altLang="zh-CN" sz="4000"/>
              <a:t>1.2.2 </a:t>
            </a:r>
            <a:r>
              <a:rPr lang="zh-CN" altLang="en-US" sz="4000"/>
              <a:t>信息系统项目的生命期</a:t>
            </a:r>
            <a:endParaRPr lang="en-US" altLang="zh-CN" sz="4000"/>
          </a:p>
          <a:p>
            <a:pPr marL="971550" lvl="1" indent="-514350">
              <a:buFontTx/>
              <a:buNone/>
            </a:pPr>
            <a:endParaRPr lang="en-US" altLang="zh-CN"/>
          </a:p>
          <a:p>
            <a:pPr marL="971550" lvl="1" indent="-514350">
              <a:buFontTx/>
              <a:buNone/>
            </a:pPr>
            <a:r>
              <a:rPr lang="zh-CN" altLang="en-US"/>
              <a:t>（</a:t>
            </a:r>
            <a:r>
              <a:rPr lang="en-US" altLang="zh-CN"/>
              <a:t>3</a:t>
            </a:r>
            <a:r>
              <a:rPr lang="zh-CN" altLang="en-US"/>
              <a:t>）系统设计阶段</a:t>
            </a:r>
            <a:endParaRPr lang="en-US" altLang="zh-CN"/>
          </a:p>
          <a:p>
            <a:pPr marL="971550" lvl="1" indent="-514350">
              <a:buFont typeface="Wingdings" panose="05000000000000000000" pitchFamily="2" charset="2"/>
              <a:buChar char="Ø"/>
            </a:pPr>
            <a:r>
              <a:rPr lang="zh-CN" altLang="zh-CN"/>
              <a:t>系统设计阶段的任务是根据系统说明书中规定的功能要求，考虑实际条件，具体设计实现逻辑模型的技术方案，也即设计新系统的物理模型。这个阶段的技术文档是系统设计说明书。</a:t>
            </a:r>
          </a:p>
          <a:p>
            <a:pPr marL="971550" lvl="1" indent="-514350">
              <a:buFontTx/>
              <a:buNone/>
            </a:pPr>
            <a:endParaRPr lang="en-US" altLang="zh-CN"/>
          </a:p>
        </p:txBody>
      </p:sp>
      <p:sp>
        <p:nvSpPr>
          <p:cNvPr id="27651" name="Rectangle 6">
            <a:extLst>
              <a:ext uri="{FF2B5EF4-FFF2-40B4-BE49-F238E27FC236}">
                <a16:creationId xmlns:a16="http://schemas.microsoft.com/office/drawing/2014/main" id="{F10FCF0E-F8B7-48E5-A66D-D386AD09366F}"/>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4820" name="Line 7">
            <a:extLst>
              <a:ext uri="{FF2B5EF4-FFF2-40B4-BE49-F238E27FC236}">
                <a16:creationId xmlns:a16="http://schemas.microsoft.com/office/drawing/2014/main" id="{E0430C65-71EE-4EF6-8719-09FE10CF279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a:extLst>
              <a:ext uri="{FF2B5EF4-FFF2-40B4-BE49-F238E27FC236}">
                <a16:creationId xmlns:a16="http://schemas.microsoft.com/office/drawing/2014/main" id="{EABD6354-949E-447C-B72E-3EBD0E904D29}"/>
              </a:ext>
            </a:extLst>
          </p:cNvPr>
          <p:cNvSpPr>
            <a:spLocks noGrp="1" noChangeArrowheads="1"/>
          </p:cNvSpPr>
          <p:nvPr>
            <p:ph type="body" idx="4294967295"/>
          </p:nvPr>
        </p:nvSpPr>
        <p:spPr>
          <a:xfrm>
            <a:off x="0" y="714375"/>
            <a:ext cx="8229600" cy="4757738"/>
          </a:xfrm>
        </p:spPr>
        <p:txBody>
          <a:bodyPr/>
          <a:lstStyle/>
          <a:p>
            <a:r>
              <a:rPr lang="en-US" altLang="zh-CN" sz="4000"/>
              <a:t>1.2.2 </a:t>
            </a:r>
            <a:r>
              <a:rPr lang="zh-CN" altLang="en-US" sz="4000"/>
              <a:t>信息系统项目的生命期</a:t>
            </a:r>
            <a:endParaRPr lang="en-US" altLang="zh-CN" sz="4000"/>
          </a:p>
          <a:p>
            <a:pPr marL="971550" lvl="1" indent="-514350">
              <a:buFontTx/>
              <a:buNone/>
            </a:pPr>
            <a:endParaRPr lang="en-US" altLang="zh-CN"/>
          </a:p>
          <a:p>
            <a:pPr marL="971550" lvl="1" indent="-514350">
              <a:buFontTx/>
              <a:buNone/>
            </a:pPr>
            <a:r>
              <a:rPr lang="zh-CN" altLang="en-US"/>
              <a:t>（</a:t>
            </a:r>
            <a:r>
              <a:rPr lang="en-US" altLang="zh-CN"/>
              <a:t>4</a:t>
            </a:r>
            <a:r>
              <a:rPr lang="zh-CN" altLang="en-US"/>
              <a:t>）系统实施阶段</a:t>
            </a:r>
            <a:endParaRPr lang="en-US" altLang="zh-CN"/>
          </a:p>
          <a:p>
            <a:pPr marL="971550" lvl="1" indent="-514350">
              <a:buFont typeface="Wingdings" panose="05000000000000000000" pitchFamily="2" charset="2"/>
              <a:buChar char="Ø"/>
            </a:pPr>
            <a:r>
              <a:rPr lang="zh-CN" altLang="en-US"/>
              <a:t>按系统设计说明书的要求将系统的设计付诸实施的阶段</a:t>
            </a:r>
            <a:endParaRPr lang="en-US" altLang="zh-CN"/>
          </a:p>
          <a:p>
            <a:pPr marL="971550" lvl="1" indent="-514350">
              <a:buFont typeface="Wingdings" panose="05000000000000000000" pitchFamily="2" charset="2"/>
              <a:buChar char="Ø"/>
            </a:pPr>
            <a:r>
              <a:rPr lang="zh-CN" altLang="en-US"/>
              <a:t>这个阶段的特点是几个互相联系、互相制约的任务同时展开，必须精心安排、合理组织</a:t>
            </a:r>
            <a:endParaRPr lang="en-US" altLang="zh-CN"/>
          </a:p>
          <a:p>
            <a:pPr marL="971550" lvl="1" indent="-514350">
              <a:buFont typeface="Wingdings" panose="05000000000000000000" pitchFamily="2" charset="2"/>
              <a:buChar char="Ø"/>
            </a:pPr>
            <a:r>
              <a:rPr lang="zh-CN" altLang="en-US"/>
              <a:t>系统实施是按实施计划分阶段完成的，每个阶段应写出实施进度报告。系统测试之后写出系统测试分析报告</a:t>
            </a:r>
            <a:endParaRPr lang="en-US" altLang="zh-CN"/>
          </a:p>
        </p:txBody>
      </p:sp>
      <p:sp>
        <p:nvSpPr>
          <p:cNvPr id="28675" name="Rectangle 6">
            <a:extLst>
              <a:ext uri="{FF2B5EF4-FFF2-40B4-BE49-F238E27FC236}">
                <a16:creationId xmlns:a16="http://schemas.microsoft.com/office/drawing/2014/main" id="{8BCFC2B3-B2EC-43C8-B7EC-DD1CD25910D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5844" name="Line 7">
            <a:extLst>
              <a:ext uri="{FF2B5EF4-FFF2-40B4-BE49-F238E27FC236}">
                <a16:creationId xmlns:a16="http://schemas.microsoft.com/office/drawing/2014/main" id="{B3BD003D-7EB1-45B2-8124-F4E523657EBA}"/>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a:extLst>
              <a:ext uri="{FF2B5EF4-FFF2-40B4-BE49-F238E27FC236}">
                <a16:creationId xmlns:a16="http://schemas.microsoft.com/office/drawing/2014/main" id="{14FB682A-89B1-442B-9369-DF2F041EC87A}"/>
              </a:ext>
            </a:extLst>
          </p:cNvPr>
          <p:cNvSpPr>
            <a:spLocks noGrp="1" noChangeArrowheads="1"/>
          </p:cNvSpPr>
          <p:nvPr>
            <p:ph type="body" idx="4294967295"/>
          </p:nvPr>
        </p:nvSpPr>
        <p:spPr>
          <a:xfrm>
            <a:off x="0" y="714375"/>
            <a:ext cx="8229600" cy="4525963"/>
          </a:xfrm>
        </p:spPr>
        <p:txBody>
          <a:bodyPr/>
          <a:lstStyle/>
          <a:p>
            <a:r>
              <a:rPr lang="en-US" altLang="zh-CN" sz="4000"/>
              <a:t>1.2.2 </a:t>
            </a:r>
            <a:r>
              <a:rPr lang="zh-CN" altLang="en-US" sz="4000"/>
              <a:t>信息系统项目的生命期</a:t>
            </a:r>
            <a:endParaRPr lang="en-US" altLang="zh-CN" sz="4000"/>
          </a:p>
          <a:p>
            <a:pPr marL="971550" lvl="1" indent="-514350">
              <a:buFontTx/>
              <a:buNone/>
            </a:pPr>
            <a:endParaRPr lang="en-US" altLang="zh-CN"/>
          </a:p>
          <a:p>
            <a:pPr marL="971550" lvl="1" indent="-514350">
              <a:buFontTx/>
              <a:buNone/>
            </a:pPr>
            <a:r>
              <a:rPr lang="zh-CN" altLang="en-US"/>
              <a:t>（</a:t>
            </a:r>
            <a:r>
              <a:rPr lang="en-US" altLang="zh-CN"/>
              <a:t>5</a:t>
            </a:r>
            <a:r>
              <a:rPr lang="zh-CN" altLang="en-US"/>
              <a:t>）系统运行和维护阶段</a:t>
            </a:r>
            <a:endParaRPr lang="en-US" altLang="zh-CN"/>
          </a:p>
          <a:p>
            <a:pPr marL="971550" lvl="1" indent="-514350">
              <a:buFont typeface="Wingdings" panose="05000000000000000000" pitchFamily="2" charset="2"/>
              <a:buChar char="Ø"/>
            </a:pPr>
            <a:r>
              <a:rPr lang="zh-CN" altLang="en-US"/>
              <a:t>系统投入运行后，需要经常进行维护和评价，记录系统运行的情况，根据一定的规则对系统进行必要的修改，评价系统的工作质量和取得的效益。对于不能修改或难以修改的问题记录在案，定期整理成新需求建议书，为新的信息系统项目规划做准备</a:t>
            </a:r>
            <a:endParaRPr lang="en-US" altLang="zh-CN"/>
          </a:p>
        </p:txBody>
      </p:sp>
      <p:sp>
        <p:nvSpPr>
          <p:cNvPr id="29699" name="Rectangle 6">
            <a:extLst>
              <a:ext uri="{FF2B5EF4-FFF2-40B4-BE49-F238E27FC236}">
                <a16:creationId xmlns:a16="http://schemas.microsoft.com/office/drawing/2014/main" id="{25D980BF-3E52-4F9F-A770-722560F71BD9}"/>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6868" name="Line 7">
            <a:extLst>
              <a:ext uri="{FF2B5EF4-FFF2-40B4-BE49-F238E27FC236}">
                <a16:creationId xmlns:a16="http://schemas.microsoft.com/office/drawing/2014/main" id="{E338C775-E6DA-45BF-BD13-6C6D1E6B3084}"/>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a:extLst>
              <a:ext uri="{FF2B5EF4-FFF2-40B4-BE49-F238E27FC236}">
                <a16:creationId xmlns:a16="http://schemas.microsoft.com/office/drawing/2014/main" id="{579C9D85-999A-42E6-8731-4129F3DCFAAA}"/>
              </a:ext>
            </a:extLst>
          </p:cNvPr>
          <p:cNvSpPr>
            <a:spLocks noGrp="1" noChangeArrowheads="1"/>
          </p:cNvSpPr>
          <p:nvPr>
            <p:ph type="body" idx="4294967295"/>
          </p:nvPr>
        </p:nvSpPr>
        <p:spPr>
          <a:xfrm>
            <a:off x="246348" y="822325"/>
            <a:ext cx="8790148" cy="5211082"/>
          </a:xfrm>
        </p:spPr>
        <p:txBody>
          <a:bodyPr>
            <a:noAutofit/>
          </a:bodyPr>
          <a:lstStyle/>
          <a:p>
            <a:pPr marL="971550" lvl="1" indent="-514350">
              <a:buFontTx/>
              <a:buAutoNum type="arabicPeriod" startAt="2"/>
              <a:defRPr/>
            </a:pPr>
            <a:endParaRPr lang="en-US" altLang="zh-CN" dirty="0"/>
          </a:p>
          <a:p>
            <a:pPr marL="0" lvl="1" indent="0" algn="just">
              <a:lnSpc>
                <a:spcPct val="160000"/>
              </a:lnSpc>
              <a:spcBef>
                <a:spcPts val="0"/>
              </a:spcBef>
              <a:buFontTx/>
              <a:buAutoNum type="arabicPeriod" startAt="2"/>
              <a:defRPr/>
            </a:pPr>
            <a:r>
              <a:rPr lang="zh-CN" altLang="en-US" b="1" dirty="0"/>
              <a:t>企业资源计划</a:t>
            </a:r>
            <a:r>
              <a:rPr lang="en-US" altLang="zh-CN" b="1" dirty="0"/>
              <a:t>(</a:t>
            </a:r>
            <a:r>
              <a:rPr lang="en-US" altLang="zh-CN" b="1" dirty="0" err="1"/>
              <a:t>ERP,Enterprise</a:t>
            </a:r>
            <a:r>
              <a:rPr lang="en-US" altLang="zh-CN" b="1" dirty="0"/>
              <a:t> Resource Planning)</a:t>
            </a:r>
            <a:r>
              <a:rPr lang="zh-CN" altLang="en-US" b="1" dirty="0"/>
              <a:t>项目的生命期</a:t>
            </a:r>
            <a:endParaRPr lang="en-US" altLang="zh-CN" b="1" dirty="0"/>
          </a:p>
          <a:p>
            <a:pPr marL="0" lvl="1" indent="0" algn="just">
              <a:lnSpc>
                <a:spcPct val="160000"/>
              </a:lnSpc>
              <a:spcBef>
                <a:spcPts val="0"/>
              </a:spcBef>
              <a:buNone/>
              <a:defRPr/>
            </a:pPr>
            <a:r>
              <a:rPr lang="zh-CN" altLang="en-US" dirty="0"/>
              <a:t>四阶段划分：这是一种比较能够为用户快速接受的划分方法，分为</a:t>
            </a:r>
            <a:r>
              <a:rPr lang="en-US" altLang="zh-CN" dirty="0"/>
              <a:t>ERP</a:t>
            </a:r>
            <a:r>
              <a:rPr lang="zh-CN" altLang="en-US" dirty="0"/>
              <a:t>选型期、</a:t>
            </a:r>
            <a:r>
              <a:rPr lang="en-US" altLang="zh-CN" dirty="0"/>
              <a:t>ERP</a:t>
            </a:r>
            <a:r>
              <a:rPr lang="zh-CN" altLang="en-US" dirty="0"/>
              <a:t>上线准备期、</a:t>
            </a:r>
            <a:r>
              <a:rPr lang="en-US" altLang="zh-CN" dirty="0"/>
              <a:t>ERP</a:t>
            </a:r>
            <a:r>
              <a:rPr lang="zh-CN" altLang="en-US" dirty="0"/>
              <a:t>上线试运行期和</a:t>
            </a:r>
            <a:r>
              <a:rPr lang="en-US" altLang="zh-CN" dirty="0"/>
              <a:t>ERP</a:t>
            </a:r>
            <a:r>
              <a:rPr lang="zh-CN" altLang="en-US" dirty="0"/>
              <a:t>正式运行期</a:t>
            </a:r>
            <a:endParaRPr lang="en-US" altLang="zh-CN" dirty="0"/>
          </a:p>
        </p:txBody>
      </p:sp>
      <p:sp>
        <p:nvSpPr>
          <p:cNvPr id="37892" name="Rectangle 19">
            <a:extLst>
              <a:ext uri="{FF2B5EF4-FFF2-40B4-BE49-F238E27FC236}">
                <a16:creationId xmlns:a16="http://schemas.microsoft.com/office/drawing/2014/main" id="{8A5FA372-0A07-4845-B476-3B62471E664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0552484F-A4C4-4555-8C0D-6EAA737142FC}"/>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8915" name="Rectangle 19">
            <a:extLst>
              <a:ext uri="{FF2B5EF4-FFF2-40B4-BE49-F238E27FC236}">
                <a16:creationId xmlns:a16="http://schemas.microsoft.com/office/drawing/2014/main" id="{B2724028-8496-467D-8FB6-FCAFF88F5D0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endParaRPr lang="en-US" altLang="zh-CN" sz="1800" b="0"/>
          </a:p>
        </p:txBody>
      </p:sp>
      <p:sp>
        <p:nvSpPr>
          <p:cNvPr id="38916" name="Line 7">
            <a:extLst>
              <a:ext uri="{FF2B5EF4-FFF2-40B4-BE49-F238E27FC236}">
                <a16:creationId xmlns:a16="http://schemas.microsoft.com/office/drawing/2014/main" id="{5BF586CA-435B-4EB4-8BD6-C3EABD1FDF84}"/>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8917" name="Picture 49">
            <a:extLst>
              <a:ext uri="{FF2B5EF4-FFF2-40B4-BE49-F238E27FC236}">
                <a16:creationId xmlns:a16="http://schemas.microsoft.com/office/drawing/2014/main" id="{5C987888-8445-45B6-AD1F-F4B27CB3C3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92150"/>
            <a:ext cx="8929688" cy="604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F270120B-60FF-41DC-BCEE-48487E8A9340}"/>
              </a:ext>
            </a:extLst>
          </p:cNvPr>
          <p:cNvSpPr>
            <a:spLocks noGrp="1" noChangeArrowheads="1"/>
          </p:cNvSpPr>
          <p:nvPr>
            <p:ph type="title" idx="4294967295"/>
          </p:nvPr>
        </p:nvSpPr>
        <p:spPr>
          <a:xfrm>
            <a:off x="0" y="1556792"/>
            <a:ext cx="8229600" cy="3000375"/>
          </a:xfrm>
        </p:spPr>
        <p:txBody>
          <a:bodyPr/>
          <a:lstStyle/>
          <a:p>
            <a:r>
              <a:rPr lang="en-US" altLang="zh-CN" sz="4800" b="1" dirty="0"/>
              <a:t>1.3  </a:t>
            </a:r>
            <a:r>
              <a:rPr lang="zh-CN" altLang="en-US" sz="4800" b="1" dirty="0"/>
              <a:t>组织信息化战略</a:t>
            </a:r>
          </a:p>
        </p:txBody>
      </p:sp>
      <p:sp>
        <p:nvSpPr>
          <p:cNvPr id="32771" name="Rectangle 6">
            <a:extLst>
              <a:ext uri="{FF2B5EF4-FFF2-40B4-BE49-F238E27FC236}">
                <a16:creationId xmlns:a16="http://schemas.microsoft.com/office/drawing/2014/main" id="{3E397591-9192-4987-A080-25EDB23A3D74}"/>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39940" name="Line 7">
            <a:extLst>
              <a:ext uri="{FF2B5EF4-FFF2-40B4-BE49-F238E27FC236}">
                <a16:creationId xmlns:a16="http://schemas.microsoft.com/office/drawing/2014/main" id="{95E9A1CE-FF38-4AF7-9248-D3696D14B49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D51193A9-7423-4D6A-88EF-64DDE6FACA3C}"/>
              </a:ext>
            </a:extLst>
          </p:cNvPr>
          <p:cNvSpPr>
            <a:spLocks noGrp="1" noChangeArrowheads="1"/>
          </p:cNvSpPr>
          <p:nvPr>
            <p:ph type="title" idx="4294967295"/>
          </p:nvPr>
        </p:nvSpPr>
        <p:spPr>
          <a:xfrm>
            <a:off x="0" y="857250"/>
            <a:ext cx="8229600" cy="560388"/>
          </a:xfrm>
        </p:spPr>
        <p:txBody>
          <a:bodyPr>
            <a:normAutofit fontScale="90000"/>
          </a:bodyPr>
          <a:lstStyle/>
          <a:p>
            <a:pPr marL="342900" indent="-342900" algn="l">
              <a:buFontTx/>
              <a:buChar char="•"/>
              <a:defRPr/>
            </a:pPr>
            <a:r>
              <a:rPr lang="en-US" altLang="zh-CN" dirty="0"/>
              <a:t>1.3.1 IT</a:t>
            </a:r>
            <a:r>
              <a:rPr lang="zh-CN" altLang="en-US" dirty="0"/>
              <a:t>治理的含义和框架</a:t>
            </a:r>
            <a:br>
              <a:rPr lang="en-US" altLang="zh-CN" sz="2400" dirty="0"/>
            </a:br>
            <a:endParaRPr lang="zh-CN" altLang="en-US" dirty="0"/>
          </a:p>
        </p:txBody>
      </p:sp>
      <p:sp>
        <p:nvSpPr>
          <p:cNvPr id="31747" name="Rectangle 5">
            <a:extLst>
              <a:ext uri="{FF2B5EF4-FFF2-40B4-BE49-F238E27FC236}">
                <a16:creationId xmlns:a16="http://schemas.microsoft.com/office/drawing/2014/main" id="{797A5709-EDFB-4EF8-BC2E-8E78A88B0B80}"/>
              </a:ext>
            </a:extLst>
          </p:cNvPr>
          <p:cNvSpPr>
            <a:spLocks noGrp="1" noChangeArrowheads="1"/>
          </p:cNvSpPr>
          <p:nvPr>
            <p:ph type="body" idx="4294967295"/>
          </p:nvPr>
        </p:nvSpPr>
        <p:spPr>
          <a:xfrm>
            <a:off x="539552" y="1214438"/>
            <a:ext cx="8352928" cy="4950866"/>
          </a:xfrm>
        </p:spPr>
        <p:txBody>
          <a:bodyPr>
            <a:noAutofit/>
          </a:bodyPr>
          <a:lstStyle/>
          <a:p>
            <a:pPr marL="0" lvl="1" indent="0" algn="just">
              <a:lnSpc>
                <a:spcPct val="150000"/>
              </a:lnSpc>
              <a:spcBef>
                <a:spcPts val="0"/>
              </a:spcBef>
              <a:buFontTx/>
              <a:buAutoNum type="arabicPeriod"/>
              <a:defRPr/>
            </a:pPr>
            <a:r>
              <a:rPr lang="en-US" altLang="zh-CN" sz="2800" dirty="0">
                <a:solidFill>
                  <a:srgbClr val="FF0000"/>
                </a:solidFill>
              </a:rPr>
              <a:t>IT</a:t>
            </a:r>
            <a:r>
              <a:rPr lang="zh-CN" altLang="en-US" sz="2800" dirty="0">
                <a:solidFill>
                  <a:srgbClr val="FF0000"/>
                </a:solidFill>
              </a:rPr>
              <a:t>治理的含义</a:t>
            </a:r>
            <a:endParaRPr lang="en-US" altLang="zh-CN" sz="2800" dirty="0">
              <a:solidFill>
                <a:srgbClr val="FF0000"/>
              </a:solidFill>
            </a:endParaRPr>
          </a:p>
          <a:p>
            <a:pPr marL="0" lvl="1" indent="0" algn="just">
              <a:lnSpc>
                <a:spcPct val="150000"/>
              </a:lnSpc>
              <a:spcBef>
                <a:spcPts val="0"/>
              </a:spcBef>
              <a:buFontTx/>
              <a:buNone/>
              <a:defRPr/>
            </a:pPr>
            <a:r>
              <a:rPr lang="en-US" altLang="zh-CN" sz="2800" dirty="0"/>
              <a:t>       IT</a:t>
            </a:r>
            <a:r>
              <a:rPr lang="zh-CN" altLang="en-US" sz="2800" dirty="0"/>
              <a:t>治理是一个由关系和过程所构成的体制，用于指导和控制企业，通过平衡信息技术与过程的风险、增加价值来确保实现企业的目标。</a:t>
            </a:r>
            <a:endParaRPr lang="en-US" altLang="zh-CN" sz="2800" dirty="0"/>
          </a:p>
          <a:p>
            <a:pPr marL="0" lvl="1" indent="0" algn="just">
              <a:lnSpc>
                <a:spcPct val="150000"/>
              </a:lnSpc>
              <a:spcBef>
                <a:spcPts val="0"/>
              </a:spcBef>
              <a:buFont typeface="Wingdings" panose="05000000000000000000" pitchFamily="2" charset="2"/>
              <a:buChar char="Ø"/>
              <a:defRPr/>
            </a:pPr>
            <a:r>
              <a:rPr lang="en-US" altLang="zh-CN" sz="2800" dirty="0"/>
              <a:t>IT</a:t>
            </a:r>
            <a:r>
              <a:rPr lang="zh-CN" altLang="en-US" sz="2800" dirty="0"/>
              <a:t>治理与</a:t>
            </a:r>
            <a:r>
              <a:rPr lang="en-US" altLang="zh-CN" sz="2800" dirty="0"/>
              <a:t>IT</a:t>
            </a:r>
            <a:r>
              <a:rPr lang="zh-CN" altLang="en-US" sz="2800" dirty="0"/>
              <a:t>管理是不同的：</a:t>
            </a:r>
            <a:r>
              <a:rPr lang="en-US" altLang="zh-CN" sz="2800" dirty="0"/>
              <a:t> IT</a:t>
            </a:r>
            <a:r>
              <a:rPr lang="zh-CN" altLang="en-US" sz="2800" dirty="0"/>
              <a:t>管理更多地是指</a:t>
            </a:r>
            <a:r>
              <a:rPr lang="en-US" altLang="zh-CN" sz="2800" dirty="0"/>
              <a:t>IT</a:t>
            </a:r>
            <a:r>
              <a:rPr lang="zh-CN" altLang="en-US" sz="2800" dirty="0"/>
              <a:t>部门内部事务的管理，</a:t>
            </a:r>
            <a:r>
              <a:rPr lang="en-US" altLang="zh-CN" sz="2800" dirty="0"/>
              <a:t>IT</a:t>
            </a:r>
            <a:r>
              <a:rPr lang="zh-CN" altLang="en-US" sz="2800" dirty="0"/>
              <a:t>治理更多地是指</a:t>
            </a:r>
            <a:r>
              <a:rPr lang="en-US" altLang="zh-CN" sz="2800" dirty="0"/>
              <a:t>IT</a:t>
            </a:r>
            <a:r>
              <a:rPr lang="zh-CN" altLang="en-US" sz="2800" dirty="0"/>
              <a:t>作为一个重要的生产力要素与组织发展之间关系的制度性安排。</a:t>
            </a:r>
            <a:endParaRPr lang="en-US" altLang="zh-CN" sz="2800" dirty="0"/>
          </a:p>
          <a:p>
            <a:pPr marL="914400" lvl="1" indent="-514350">
              <a:buFontTx/>
              <a:buNone/>
              <a:defRPr/>
            </a:pPr>
            <a:endParaRPr lang="zh-CN" altLang="en-US" dirty="0"/>
          </a:p>
        </p:txBody>
      </p:sp>
      <p:sp>
        <p:nvSpPr>
          <p:cNvPr id="33796" name="Rectangle 6">
            <a:extLst>
              <a:ext uri="{FF2B5EF4-FFF2-40B4-BE49-F238E27FC236}">
                <a16:creationId xmlns:a16="http://schemas.microsoft.com/office/drawing/2014/main" id="{058DD79E-0F95-4C90-9A5B-E428D1AFD230}"/>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0965" name="Line 7">
            <a:extLst>
              <a:ext uri="{FF2B5EF4-FFF2-40B4-BE49-F238E27FC236}">
                <a16:creationId xmlns:a16="http://schemas.microsoft.com/office/drawing/2014/main" id="{67B2C927-65EB-464A-9A2F-4373DD1F38F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D51193A9-7423-4D6A-88EF-64DDE6FACA3C}"/>
              </a:ext>
            </a:extLst>
          </p:cNvPr>
          <p:cNvSpPr>
            <a:spLocks noGrp="1" noChangeArrowheads="1"/>
          </p:cNvSpPr>
          <p:nvPr>
            <p:ph type="title" idx="4294967295"/>
          </p:nvPr>
        </p:nvSpPr>
        <p:spPr>
          <a:xfrm>
            <a:off x="0" y="857250"/>
            <a:ext cx="8229600" cy="560388"/>
          </a:xfrm>
        </p:spPr>
        <p:txBody>
          <a:bodyPr>
            <a:normAutofit fontScale="90000"/>
          </a:bodyPr>
          <a:lstStyle/>
          <a:p>
            <a:pPr marL="342900" indent="-342900" algn="l">
              <a:buFontTx/>
              <a:buChar char="•"/>
              <a:defRPr/>
            </a:pPr>
            <a:r>
              <a:rPr lang="en-US" altLang="zh-CN" dirty="0"/>
              <a:t>1.3.1 IT</a:t>
            </a:r>
            <a:r>
              <a:rPr lang="zh-CN" altLang="en-US" dirty="0"/>
              <a:t>治理的含义和框架</a:t>
            </a:r>
            <a:br>
              <a:rPr lang="en-US" altLang="zh-CN" sz="2400" dirty="0"/>
            </a:br>
            <a:endParaRPr lang="zh-CN" altLang="en-US" dirty="0"/>
          </a:p>
        </p:txBody>
      </p:sp>
      <p:sp>
        <p:nvSpPr>
          <p:cNvPr id="31747" name="Rectangle 5">
            <a:extLst>
              <a:ext uri="{FF2B5EF4-FFF2-40B4-BE49-F238E27FC236}">
                <a16:creationId xmlns:a16="http://schemas.microsoft.com/office/drawing/2014/main" id="{797A5709-EDFB-4EF8-BC2E-8E78A88B0B80}"/>
              </a:ext>
            </a:extLst>
          </p:cNvPr>
          <p:cNvSpPr>
            <a:spLocks noGrp="1" noChangeArrowheads="1"/>
          </p:cNvSpPr>
          <p:nvPr>
            <p:ph type="body" idx="4294967295"/>
          </p:nvPr>
        </p:nvSpPr>
        <p:spPr>
          <a:xfrm>
            <a:off x="539552" y="1214438"/>
            <a:ext cx="8352928" cy="4014762"/>
          </a:xfrm>
        </p:spPr>
        <p:txBody>
          <a:bodyPr>
            <a:noAutofit/>
          </a:bodyPr>
          <a:lstStyle/>
          <a:p>
            <a:pPr marL="0" lvl="1" indent="0" algn="just">
              <a:lnSpc>
                <a:spcPct val="150000"/>
              </a:lnSpc>
              <a:spcBef>
                <a:spcPts val="0"/>
              </a:spcBef>
              <a:buFont typeface="Wingdings" panose="05000000000000000000" pitchFamily="2" charset="2"/>
              <a:buChar char="Ø"/>
              <a:defRPr/>
            </a:pPr>
            <a:r>
              <a:rPr lang="en-US" altLang="zh-CN" sz="2800" dirty="0">
                <a:solidFill>
                  <a:srgbClr val="FF0000"/>
                </a:solidFill>
              </a:rPr>
              <a:t>IT</a:t>
            </a:r>
            <a:r>
              <a:rPr lang="zh-CN" altLang="en-US" sz="2800" dirty="0">
                <a:solidFill>
                  <a:srgbClr val="FF0000"/>
                </a:solidFill>
              </a:rPr>
              <a:t>治理的目标</a:t>
            </a:r>
            <a:endParaRPr lang="en-US" altLang="zh-CN" sz="2800" dirty="0">
              <a:solidFill>
                <a:srgbClr val="FF0000"/>
              </a:solidFill>
            </a:endParaRPr>
          </a:p>
          <a:p>
            <a:pPr marL="0" lvl="1" indent="0" algn="just">
              <a:lnSpc>
                <a:spcPct val="150000"/>
              </a:lnSpc>
              <a:spcBef>
                <a:spcPts val="0"/>
              </a:spcBef>
              <a:buNone/>
              <a:defRPr/>
            </a:pPr>
            <a:r>
              <a:rPr lang="zh-CN" altLang="en-US" sz="2800" dirty="0"/>
              <a:t>是帮助管理层建立以组织战略为导向，以外界环境为约束条件，以业务与</a:t>
            </a:r>
            <a:r>
              <a:rPr lang="en-US" altLang="zh-CN" sz="2800" dirty="0"/>
              <a:t>IT</a:t>
            </a:r>
            <a:r>
              <a:rPr lang="zh-CN" altLang="en-US" sz="2800" dirty="0"/>
              <a:t>融合为目标的观念和运行制度，正确定位</a:t>
            </a:r>
            <a:r>
              <a:rPr lang="en-US" altLang="zh-CN" sz="2800" dirty="0"/>
              <a:t>IT</a:t>
            </a:r>
            <a:r>
              <a:rPr lang="zh-CN" altLang="en-US" sz="2800" dirty="0"/>
              <a:t>部门在整个组织中的角色和作用，最终能够针对不同业务发展要求，整合各层次的信息资源，制定并执行推动组织发展的信息化战略。</a:t>
            </a:r>
            <a:endParaRPr lang="en-US" altLang="zh-CN" sz="2800" dirty="0"/>
          </a:p>
        </p:txBody>
      </p:sp>
      <p:sp>
        <p:nvSpPr>
          <p:cNvPr id="33796" name="Rectangle 6">
            <a:extLst>
              <a:ext uri="{FF2B5EF4-FFF2-40B4-BE49-F238E27FC236}">
                <a16:creationId xmlns:a16="http://schemas.microsoft.com/office/drawing/2014/main" id="{058DD79E-0F95-4C90-9A5B-E428D1AFD230}"/>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0965" name="Line 7">
            <a:extLst>
              <a:ext uri="{FF2B5EF4-FFF2-40B4-BE49-F238E27FC236}">
                <a16:creationId xmlns:a16="http://schemas.microsoft.com/office/drawing/2014/main" id="{67B2C927-65EB-464A-9A2F-4373DD1F38F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57534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a:extLst>
              <a:ext uri="{FF2B5EF4-FFF2-40B4-BE49-F238E27FC236}">
                <a16:creationId xmlns:a16="http://schemas.microsoft.com/office/drawing/2014/main" id="{085D95A7-8E74-4EE8-BB67-B83968BD90A1}"/>
              </a:ext>
            </a:extLst>
          </p:cNvPr>
          <p:cNvSpPr>
            <a:spLocks noGrp="1" noChangeArrowheads="1"/>
          </p:cNvSpPr>
          <p:nvPr>
            <p:ph type="body" idx="4294967295"/>
          </p:nvPr>
        </p:nvSpPr>
        <p:spPr>
          <a:xfrm>
            <a:off x="0" y="642938"/>
            <a:ext cx="9036496" cy="6026420"/>
          </a:xfrm>
        </p:spPr>
        <p:txBody>
          <a:bodyPr>
            <a:noAutofit/>
          </a:bodyPr>
          <a:lstStyle/>
          <a:p>
            <a:pPr>
              <a:lnSpc>
                <a:spcPct val="90000"/>
              </a:lnSpc>
            </a:pPr>
            <a:r>
              <a:rPr lang="en-US" altLang="zh-CN" sz="4000" dirty="0"/>
              <a:t>1.3.1 IT</a:t>
            </a:r>
            <a:r>
              <a:rPr lang="zh-CN" altLang="en-US" sz="4000" dirty="0"/>
              <a:t>治理的含义和框架</a:t>
            </a:r>
            <a:endParaRPr lang="en-US" altLang="zh-CN" sz="4000" dirty="0"/>
          </a:p>
          <a:p>
            <a:pPr indent="0" algn="just">
              <a:lnSpc>
                <a:spcPct val="90000"/>
              </a:lnSpc>
              <a:buFontTx/>
              <a:buNone/>
            </a:pPr>
            <a:r>
              <a:rPr lang="zh-CN" altLang="en-US" sz="2600" dirty="0">
                <a:solidFill>
                  <a:srgbClr val="FF0000"/>
                </a:solidFill>
                <a:latin typeface="Times New Roman" panose="02020603050405020304" pitchFamily="18" charset="0"/>
                <a:ea typeface="黑体" panose="02010609060101010101" pitchFamily="49" charset="-122"/>
              </a:rPr>
              <a:t>2.</a:t>
            </a:r>
            <a:r>
              <a:rPr lang="en-US" altLang="zh-CN" sz="2600" dirty="0">
                <a:solidFill>
                  <a:srgbClr val="FF0000"/>
                </a:solidFill>
                <a:latin typeface="Times New Roman" panose="02020603050405020304" pitchFamily="18" charset="0"/>
                <a:ea typeface="黑体" panose="02010609060101010101" pitchFamily="49" charset="-122"/>
              </a:rPr>
              <a:t>IT</a:t>
            </a:r>
            <a:r>
              <a:rPr lang="zh-CN" altLang="en-US" sz="2600" dirty="0">
                <a:solidFill>
                  <a:srgbClr val="FF0000"/>
                </a:solidFill>
                <a:latin typeface="Times New Roman" panose="02020603050405020304" pitchFamily="18" charset="0"/>
                <a:ea typeface="黑体" panose="02010609060101010101" pitchFamily="49" charset="-122"/>
              </a:rPr>
              <a:t>治理的框架：COBIT</a:t>
            </a:r>
            <a:endParaRPr lang="en-US" altLang="zh-CN" sz="2600" dirty="0">
              <a:solidFill>
                <a:srgbClr val="FF0000"/>
              </a:solidFill>
              <a:latin typeface="Times New Roman" panose="02020603050405020304" pitchFamily="18" charset="0"/>
              <a:ea typeface="黑体" panose="02010609060101010101" pitchFamily="49" charset="-122"/>
            </a:endParaRPr>
          </a:p>
          <a:p>
            <a:pPr marL="0" lvl="1" indent="0" algn="just">
              <a:lnSpc>
                <a:spcPct val="150000"/>
              </a:lnSpc>
              <a:buFont typeface="Wingdings" panose="05000000000000000000" pitchFamily="2" charset="2"/>
              <a:buChar char="Ø"/>
            </a:pPr>
            <a:r>
              <a:rPr lang="en-US" altLang="zh-CN" sz="2600" dirty="0">
                <a:latin typeface="Times New Roman" panose="02020603050405020304" pitchFamily="18" charset="0"/>
                <a:ea typeface="黑体" panose="02010609060101010101" pitchFamily="49" charset="-122"/>
              </a:rPr>
              <a:t>ISACA</a:t>
            </a:r>
            <a:r>
              <a:rPr lang="zh-CN" altLang="en-US" sz="2600" dirty="0">
                <a:latin typeface="Times New Roman" panose="02020603050405020304" pitchFamily="18" charset="0"/>
                <a:ea typeface="黑体" panose="02010609060101010101" pitchFamily="49" charset="-122"/>
              </a:rPr>
              <a:t>开发的</a:t>
            </a:r>
            <a:r>
              <a:rPr lang="en-US" altLang="zh-CN" sz="2600" dirty="0">
                <a:latin typeface="Times New Roman" panose="02020603050405020304" pitchFamily="18" charset="0"/>
                <a:ea typeface="黑体" panose="02010609060101010101" pitchFamily="49" charset="-122"/>
              </a:rPr>
              <a:t>COBIT</a:t>
            </a:r>
            <a:r>
              <a:rPr lang="zh-CN" altLang="en-US" sz="2600" dirty="0">
                <a:latin typeface="Times New Roman" panose="02020603050405020304" pitchFamily="18" charset="0"/>
                <a:ea typeface="黑体" panose="02010609060101010101" pitchFamily="49" charset="-122"/>
              </a:rPr>
              <a:t>（</a:t>
            </a:r>
            <a:r>
              <a:rPr lang="en-US" altLang="zh-CN" sz="2600" dirty="0">
                <a:latin typeface="Times New Roman" panose="02020603050405020304" pitchFamily="18" charset="0"/>
                <a:ea typeface="黑体" panose="02010609060101010101" pitchFamily="49" charset="-122"/>
              </a:rPr>
              <a:t>Control Objectives for Information and related Technology</a:t>
            </a:r>
            <a:r>
              <a:rPr lang="zh-CN" altLang="en-US" sz="2600" dirty="0">
                <a:latin typeface="Times New Roman" panose="02020603050405020304" pitchFamily="18" charset="0"/>
                <a:ea typeface="黑体" panose="02010609060101010101" pitchFamily="49" charset="-122"/>
              </a:rPr>
              <a:t>），即信息及相关技术的控制目标，是</a:t>
            </a:r>
            <a:r>
              <a:rPr lang="en-US" altLang="zh-CN" sz="2600" dirty="0">
                <a:latin typeface="Times New Roman" panose="02020603050405020304" pitchFamily="18" charset="0"/>
                <a:ea typeface="黑体" panose="02010609060101010101" pitchFamily="49" charset="-122"/>
              </a:rPr>
              <a:t>IT</a:t>
            </a:r>
            <a:r>
              <a:rPr lang="zh-CN" altLang="en-US" sz="2600" dirty="0">
                <a:latin typeface="Times New Roman" panose="02020603050405020304" pitchFamily="18" charset="0"/>
                <a:ea typeface="黑体" panose="02010609060101010101" pitchFamily="49" charset="-122"/>
              </a:rPr>
              <a:t>治理的一个开放性标准</a:t>
            </a:r>
            <a:endParaRPr lang="en-US" altLang="zh-CN" sz="2600" dirty="0">
              <a:latin typeface="Times New Roman" panose="02020603050405020304" pitchFamily="18" charset="0"/>
              <a:ea typeface="黑体" panose="02010609060101010101" pitchFamily="49" charset="-122"/>
            </a:endParaRPr>
          </a:p>
          <a:p>
            <a:pPr marL="0" lvl="1" indent="0" algn="just">
              <a:lnSpc>
                <a:spcPct val="150000"/>
              </a:lnSpc>
              <a:buFont typeface="Wingdings" panose="05000000000000000000" pitchFamily="2" charset="2"/>
              <a:buChar char="Ø"/>
            </a:pPr>
            <a:r>
              <a:rPr lang="en-US" altLang="zh-CN" sz="2600" dirty="0">
                <a:latin typeface="Times New Roman" panose="02020603050405020304" pitchFamily="18" charset="0"/>
                <a:ea typeface="黑体" panose="02010609060101010101" pitchFamily="49" charset="-122"/>
              </a:rPr>
              <a:t>COBIT</a:t>
            </a:r>
            <a:r>
              <a:rPr lang="zh-CN" altLang="en-US" sz="2600" dirty="0">
                <a:latin typeface="Times New Roman" panose="02020603050405020304" pitchFamily="18" charset="0"/>
                <a:ea typeface="黑体" panose="02010609060101010101" pitchFamily="49" charset="-122"/>
              </a:rPr>
              <a:t>的目标是为组织的管理层和业务流程负责人提供一个</a:t>
            </a:r>
            <a:r>
              <a:rPr lang="en-US" altLang="zh-CN" sz="2600" dirty="0">
                <a:latin typeface="Times New Roman" panose="02020603050405020304" pitchFamily="18" charset="0"/>
                <a:ea typeface="黑体" panose="02010609060101010101" pitchFamily="49" charset="-122"/>
              </a:rPr>
              <a:t>IT</a:t>
            </a:r>
            <a:r>
              <a:rPr lang="zh-CN" altLang="en-US" sz="2600" dirty="0">
                <a:latin typeface="Times New Roman" panose="02020603050405020304" pitchFamily="18" charset="0"/>
                <a:ea typeface="黑体" panose="02010609060101010101" pitchFamily="49" charset="-122"/>
              </a:rPr>
              <a:t>治理模型，以帮助他们深入理解和管理</a:t>
            </a:r>
            <a:r>
              <a:rPr lang="en-US" altLang="zh-CN" sz="2600" dirty="0">
                <a:latin typeface="Times New Roman" panose="02020603050405020304" pitchFamily="18" charset="0"/>
                <a:ea typeface="黑体" panose="02010609060101010101" pitchFamily="49" charset="-122"/>
              </a:rPr>
              <a:t>IT</a:t>
            </a:r>
            <a:r>
              <a:rPr lang="zh-CN" altLang="en-US" sz="2600" dirty="0">
                <a:latin typeface="Times New Roman" panose="02020603050405020304" pitchFamily="18" charset="0"/>
                <a:ea typeface="黑体" panose="02010609060101010101" pitchFamily="49" charset="-122"/>
              </a:rPr>
              <a:t>相关风险。</a:t>
            </a:r>
            <a:endParaRPr lang="en-US" altLang="zh-CN" sz="2600" dirty="0">
              <a:latin typeface="Times New Roman" panose="02020603050405020304" pitchFamily="18" charset="0"/>
              <a:ea typeface="黑体" panose="02010609060101010101" pitchFamily="49" charset="-122"/>
            </a:endParaRPr>
          </a:p>
          <a:p>
            <a:pPr marL="0" lvl="1" indent="0" algn="just">
              <a:lnSpc>
                <a:spcPct val="150000"/>
              </a:lnSpc>
              <a:buFont typeface="Wingdings" panose="05000000000000000000" pitchFamily="2" charset="2"/>
              <a:buChar char="Ø"/>
            </a:pPr>
            <a:r>
              <a:rPr lang="en-US" altLang="zh-CN" sz="2600" dirty="0">
                <a:latin typeface="Times New Roman" panose="02020603050405020304" pitchFamily="18" charset="0"/>
                <a:ea typeface="黑体" panose="02010609060101010101" pitchFamily="49" charset="-122"/>
              </a:rPr>
              <a:t>COBIT</a:t>
            </a:r>
            <a:r>
              <a:rPr lang="zh-CN" altLang="en-US" sz="2600" dirty="0">
                <a:latin typeface="Times New Roman" panose="02020603050405020304" pitchFamily="18" charset="0"/>
                <a:ea typeface="黑体" panose="02010609060101010101" pitchFamily="49" charset="-122"/>
              </a:rPr>
              <a:t>的思想基础是</a:t>
            </a:r>
            <a:r>
              <a:rPr lang="en-US" altLang="zh-CN" sz="2600" dirty="0">
                <a:latin typeface="Times New Roman" panose="02020603050405020304" pitchFamily="18" charset="0"/>
                <a:ea typeface="黑体" panose="02010609060101010101" pitchFamily="49" charset="-122"/>
              </a:rPr>
              <a:t>IT</a:t>
            </a:r>
            <a:r>
              <a:rPr lang="zh-CN" altLang="en-US" sz="2600" dirty="0">
                <a:latin typeface="Times New Roman" panose="02020603050405020304" pitchFamily="18" charset="0"/>
                <a:ea typeface="黑体" panose="02010609060101010101" pitchFamily="49" charset="-122"/>
              </a:rPr>
              <a:t>资源管理需要一系列的流程，以确保组织能够得到为达到其目标所需的可靠信息，并通过平衡</a:t>
            </a:r>
            <a:r>
              <a:rPr lang="en-US" altLang="zh-CN" sz="2600" dirty="0">
                <a:latin typeface="Times New Roman" panose="02020603050405020304" pitchFamily="18" charset="0"/>
                <a:ea typeface="黑体" panose="02010609060101010101" pitchFamily="49" charset="-122"/>
              </a:rPr>
              <a:t>IT</a:t>
            </a:r>
            <a:r>
              <a:rPr lang="zh-CN" altLang="en-US" sz="2600" dirty="0">
                <a:latin typeface="Times New Roman" panose="02020603050405020304" pitchFamily="18" charset="0"/>
                <a:ea typeface="黑体" panose="02010609060101010101" pitchFamily="49" charset="-122"/>
              </a:rPr>
              <a:t>及其过程的风险与回报提高价值，实现组织的战略目标</a:t>
            </a:r>
            <a:r>
              <a:rPr lang="en-US" altLang="zh-CN" sz="2600" dirty="0">
                <a:latin typeface="Times New Roman" panose="02020603050405020304" pitchFamily="18" charset="0"/>
                <a:ea typeface="黑体" panose="02010609060101010101" pitchFamily="49" charset="-122"/>
              </a:rPr>
              <a:t>.</a:t>
            </a:r>
          </a:p>
        </p:txBody>
      </p:sp>
      <p:sp>
        <p:nvSpPr>
          <p:cNvPr id="34819" name="Rectangle 6">
            <a:extLst>
              <a:ext uri="{FF2B5EF4-FFF2-40B4-BE49-F238E27FC236}">
                <a16:creationId xmlns:a16="http://schemas.microsoft.com/office/drawing/2014/main" id="{559C840E-881B-4F7F-A419-F04A639E2CB9}"/>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1988" name="Line 7">
            <a:extLst>
              <a:ext uri="{FF2B5EF4-FFF2-40B4-BE49-F238E27FC236}">
                <a16:creationId xmlns:a16="http://schemas.microsoft.com/office/drawing/2014/main" id="{C776352F-2163-4947-8C41-A4F235A4C75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a:extLst>
              <a:ext uri="{FF2B5EF4-FFF2-40B4-BE49-F238E27FC236}">
                <a16:creationId xmlns:a16="http://schemas.microsoft.com/office/drawing/2014/main" id="{B39E898A-80D9-4810-BD4B-AC76BBA51F13}"/>
              </a:ext>
            </a:extLst>
          </p:cNvPr>
          <p:cNvSpPr>
            <a:spLocks noGrp="1" noChangeArrowheads="1"/>
          </p:cNvSpPr>
          <p:nvPr>
            <p:ph type="body" idx="4294967295"/>
          </p:nvPr>
        </p:nvSpPr>
        <p:spPr>
          <a:xfrm>
            <a:off x="179512" y="742949"/>
            <a:ext cx="8712968" cy="3478137"/>
          </a:xfrm>
        </p:spPr>
        <p:txBody>
          <a:bodyPr>
            <a:noAutofit/>
          </a:bodyPr>
          <a:lstStyle/>
          <a:p>
            <a:pPr>
              <a:defRPr/>
            </a:pPr>
            <a:r>
              <a:rPr lang="en-US" altLang="zh-CN" sz="4000" dirty="0"/>
              <a:t>1.3.1 IT</a:t>
            </a:r>
            <a:r>
              <a:rPr lang="zh-CN" altLang="en-US" sz="4000" dirty="0"/>
              <a:t>治理的含义和框架</a:t>
            </a:r>
            <a:endParaRPr lang="en-US" altLang="zh-CN" sz="4000" dirty="0"/>
          </a:p>
          <a:p>
            <a:pPr marL="0" lvl="1" indent="0" algn="just">
              <a:lnSpc>
                <a:spcPct val="150000"/>
              </a:lnSpc>
              <a:spcBef>
                <a:spcPts val="0"/>
              </a:spcBef>
              <a:buFont typeface="Wingdings" panose="05000000000000000000" pitchFamily="2" charset="2"/>
              <a:buChar char="Ø"/>
              <a:defRPr/>
            </a:pPr>
            <a:r>
              <a:rPr lang="en-US" altLang="zh-CN" dirty="0"/>
              <a:t>COBIT</a:t>
            </a:r>
            <a:r>
              <a:rPr lang="zh-CN" altLang="en-US" dirty="0"/>
              <a:t>控制目标体系从一个简单而实际的假设开始：为了提供组织达到其目标而需要的信息，</a:t>
            </a:r>
            <a:r>
              <a:rPr lang="en-US" altLang="zh-CN" dirty="0"/>
              <a:t> IT</a:t>
            </a:r>
            <a:r>
              <a:rPr lang="zh-CN" altLang="en-US" dirty="0"/>
              <a:t>资源（</a:t>
            </a:r>
            <a:r>
              <a:rPr lang="en-US" altLang="zh-CN" dirty="0"/>
              <a:t>IT Resources</a:t>
            </a:r>
            <a:r>
              <a:rPr lang="zh-CN" altLang="en-US" dirty="0"/>
              <a:t>）需要由一组自然分类的</a:t>
            </a:r>
            <a:r>
              <a:rPr lang="en-US" altLang="zh-CN" dirty="0"/>
              <a:t>IT</a:t>
            </a:r>
            <a:r>
              <a:rPr lang="zh-CN" altLang="en-US" dirty="0"/>
              <a:t>过程（</a:t>
            </a:r>
            <a:r>
              <a:rPr lang="en-US" altLang="zh-CN" dirty="0"/>
              <a:t>IT Processes</a:t>
            </a:r>
            <a:r>
              <a:rPr lang="zh-CN" altLang="en-US" dirty="0"/>
              <a:t>）管理。</a:t>
            </a:r>
            <a:r>
              <a:rPr lang="en-US" altLang="zh-CN" dirty="0"/>
              <a:t>COBIT</a:t>
            </a:r>
            <a:r>
              <a:rPr lang="zh-CN" altLang="en-US" dirty="0"/>
              <a:t>三维体系模型中的三维分别是：</a:t>
            </a:r>
            <a:r>
              <a:rPr lang="en-US" altLang="zh-CN" dirty="0"/>
              <a:t>IT</a:t>
            </a:r>
            <a:r>
              <a:rPr lang="zh-CN" altLang="en-US" dirty="0"/>
              <a:t>资源维，</a:t>
            </a:r>
            <a:r>
              <a:rPr lang="en-US" altLang="zh-CN" dirty="0"/>
              <a:t>IT</a:t>
            </a:r>
            <a:r>
              <a:rPr lang="zh-CN" altLang="en-US" dirty="0"/>
              <a:t>准则维和</a:t>
            </a:r>
            <a:r>
              <a:rPr lang="en-US" altLang="zh-CN" dirty="0"/>
              <a:t>IT</a:t>
            </a:r>
            <a:r>
              <a:rPr lang="zh-CN" altLang="en-US" dirty="0"/>
              <a:t>过程维，</a:t>
            </a:r>
            <a:r>
              <a:rPr lang="en-US" altLang="zh-CN" dirty="0"/>
              <a:t>COBIT</a:t>
            </a:r>
            <a:r>
              <a:rPr lang="zh-CN" altLang="en-US" dirty="0"/>
              <a:t>三维体系模型如下图所示</a:t>
            </a:r>
            <a:endParaRPr lang="en-US" altLang="zh-CN" dirty="0"/>
          </a:p>
        </p:txBody>
      </p:sp>
      <p:sp>
        <p:nvSpPr>
          <p:cNvPr id="35843" name="Rectangle 6">
            <a:extLst>
              <a:ext uri="{FF2B5EF4-FFF2-40B4-BE49-F238E27FC236}">
                <a16:creationId xmlns:a16="http://schemas.microsoft.com/office/drawing/2014/main" id="{A6EAE0AD-FF69-4E89-B94C-A8B660F887C8}"/>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3012" name="Line 7">
            <a:extLst>
              <a:ext uri="{FF2B5EF4-FFF2-40B4-BE49-F238E27FC236}">
                <a16:creationId xmlns:a16="http://schemas.microsoft.com/office/drawing/2014/main" id="{C12ED661-8DFF-4A26-8B75-FEC5A48133C6}"/>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EE2ADE7E-9AE2-4500-AB19-AC9BAF35FDA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4035" name="Line 7">
            <a:extLst>
              <a:ext uri="{FF2B5EF4-FFF2-40B4-BE49-F238E27FC236}">
                <a16:creationId xmlns:a16="http://schemas.microsoft.com/office/drawing/2014/main" id="{BC016771-083D-4361-A497-660341C658C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4036" name="Picture 5" descr="127062494770625000_2">
            <a:extLst>
              <a:ext uri="{FF2B5EF4-FFF2-40B4-BE49-F238E27FC236}">
                <a16:creationId xmlns:a16="http://schemas.microsoft.com/office/drawing/2014/main" id="{CED97C16-B7B5-44D8-B508-D8771F94B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196752"/>
            <a:ext cx="6481340" cy="4746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id="{A4E08D5A-157C-40AE-9ED4-404C912A175E}"/>
              </a:ext>
            </a:extLst>
          </p:cNvPr>
          <p:cNvSpPr>
            <a:spLocks noGrp="1" noChangeArrowheads="1"/>
          </p:cNvSpPr>
          <p:nvPr>
            <p:ph type="body" idx="4294967295"/>
          </p:nvPr>
        </p:nvSpPr>
        <p:spPr>
          <a:xfrm>
            <a:off x="371475" y="692696"/>
            <a:ext cx="8401050" cy="3686794"/>
          </a:xfrm>
        </p:spPr>
        <p:txBody>
          <a:bodyPr>
            <a:noAutofit/>
          </a:bodyPr>
          <a:lstStyle/>
          <a:p>
            <a:pPr indent="0" algn="just">
              <a:defRPr/>
            </a:pPr>
            <a:r>
              <a:rPr lang="en-US" altLang="zh-CN" sz="4000" dirty="0"/>
              <a:t>1.3.2</a:t>
            </a:r>
            <a:r>
              <a:rPr lang="zh-CN" altLang="en-US" sz="4000" dirty="0"/>
              <a:t>信息化成熟度模型</a:t>
            </a:r>
            <a:endParaRPr lang="en-US" altLang="zh-CN" dirty="0"/>
          </a:p>
          <a:p>
            <a:pPr marL="0" lvl="1" indent="0" algn="just">
              <a:lnSpc>
                <a:spcPct val="150000"/>
              </a:lnSpc>
              <a:spcBef>
                <a:spcPts val="0"/>
              </a:spcBef>
              <a:buFont typeface="Wingdings" panose="05000000000000000000" pitchFamily="2" charset="2"/>
              <a:buChar char="Ø"/>
              <a:defRPr/>
            </a:pPr>
            <a:r>
              <a:rPr lang="zh-CN" altLang="en-US" dirty="0"/>
              <a:t>组织信息化成熟度模型</a:t>
            </a:r>
            <a:r>
              <a:rPr lang="en-US" altLang="zh-CN" dirty="0"/>
              <a:t>(Informatization Maturity </a:t>
            </a:r>
            <a:r>
              <a:rPr lang="en-US" altLang="zh-CN" dirty="0" err="1"/>
              <a:t>Model,IMM</a:t>
            </a:r>
            <a:r>
              <a:rPr lang="en-US" altLang="zh-CN" dirty="0"/>
              <a:t>)</a:t>
            </a:r>
            <a:r>
              <a:rPr lang="zh-CN" altLang="en-US" dirty="0"/>
              <a:t>研究的是组织信息化从不成熟到成熟过程中演变的规律。组织信息化是一个发展的问题，同时也存在着一个层次的问题。通用的</a:t>
            </a:r>
            <a:r>
              <a:rPr lang="en-US" altLang="zh-CN" dirty="0"/>
              <a:t>IMM</a:t>
            </a:r>
            <a:r>
              <a:rPr lang="zh-CN" altLang="en-US" dirty="0"/>
              <a:t>模型分为五级，每级关注的内容不同，各包含若干关键状态，具体内容请参见下图。</a:t>
            </a:r>
            <a:endParaRPr lang="en-US" altLang="zh-CN" dirty="0"/>
          </a:p>
          <a:p>
            <a:pPr>
              <a:buFontTx/>
              <a:buNone/>
              <a:defRPr/>
            </a:pPr>
            <a:endParaRPr lang="en-US" altLang="zh-CN" sz="2400" dirty="0"/>
          </a:p>
          <a:p>
            <a:pPr marL="914400" lvl="1" indent="-514350">
              <a:buFontTx/>
              <a:buNone/>
              <a:defRPr/>
            </a:pPr>
            <a:endParaRPr lang="zh-CN" altLang="en-US" dirty="0"/>
          </a:p>
        </p:txBody>
      </p:sp>
      <p:sp>
        <p:nvSpPr>
          <p:cNvPr id="37891" name="Rectangle 6">
            <a:extLst>
              <a:ext uri="{FF2B5EF4-FFF2-40B4-BE49-F238E27FC236}">
                <a16:creationId xmlns:a16="http://schemas.microsoft.com/office/drawing/2014/main" id="{6B6F6551-728E-401C-ADB7-155987006AAE}"/>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5060" name="Line 7">
            <a:extLst>
              <a:ext uri="{FF2B5EF4-FFF2-40B4-BE49-F238E27FC236}">
                <a16:creationId xmlns:a16="http://schemas.microsoft.com/office/drawing/2014/main" id="{BA9CD872-2AB9-4F9A-AFD0-1C8BCCD3849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a:extLst>
              <a:ext uri="{FF2B5EF4-FFF2-40B4-BE49-F238E27FC236}">
                <a16:creationId xmlns:a16="http://schemas.microsoft.com/office/drawing/2014/main" id="{C85475AA-18F7-496A-8D48-22F939329C2B}"/>
              </a:ext>
            </a:extLst>
          </p:cNvPr>
          <p:cNvSpPr>
            <a:spLocks noGrp="1" noChangeArrowheads="1"/>
          </p:cNvSpPr>
          <p:nvPr>
            <p:ph type="body" idx="4294967295"/>
          </p:nvPr>
        </p:nvSpPr>
        <p:spPr>
          <a:xfrm>
            <a:off x="0" y="1357313"/>
            <a:ext cx="3186113" cy="2016125"/>
          </a:xfrm>
        </p:spPr>
        <p:txBody>
          <a:bodyPr/>
          <a:lstStyle/>
          <a:p>
            <a:pPr>
              <a:lnSpc>
                <a:spcPct val="90000"/>
              </a:lnSpc>
            </a:pPr>
            <a:r>
              <a:rPr lang="zh-CN" altLang="en-US" sz="2400"/>
              <a:t>信息化成熟度模型</a:t>
            </a:r>
            <a:endParaRPr lang="en-US" altLang="zh-CN" sz="2400"/>
          </a:p>
          <a:p>
            <a:pPr>
              <a:lnSpc>
                <a:spcPct val="90000"/>
              </a:lnSpc>
              <a:buFontTx/>
              <a:buNone/>
            </a:pPr>
            <a:endParaRPr lang="en-US" altLang="zh-CN" sz="2400"/>
          </a:p>
          <a:p>
            <a:pPr marL="971550" lvl="1" indent="-514350">
              <a:lnSpc>
                <a:spcPct val="90000"/>
              </a:lnSpc>
              <a:buFontTx/>
              <a:buNone/>
            </a:pPr>
            <a:endParaRPr lang="zh-CN" altLang="en-US"/>
          </a:p>
        </p:txBody>
      </p:sp>
      <p:sp>
        <p:nvSpPr>
          <p:cNvPr id="38915" name="Rectangle 6">
            <a:extLst>
              <a:ext uri="{FF2B5EF4-FFF2-40B4-BE49-F238E27FC236}">
                <a16:creationId xmlns:a16="http://schemas.microsoft.com/office/drawing/2014/main" id="{E0005A36-73FB-471B-BBB7-E255EE44D853}"/>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pic>
        <p:nvPicPr>
          <p:cNvPr id="46084" name="Picture 24">
            <a:extLst>
              <a:ext uri="{FF2B5EF4-FFF2-40B4-BE49-F238E27FC236}">
                <a16:creationId xmlns:a16="http://schemas.microsoft.com/office/drawing/2014/main" id="{15586207-F796-4A20-92A9-F42952DCD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482600"/>
            <a:ext cx="5184775"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a:extLst>
              <a:ext uri="{FF2B5EF4-FFF2-40B4-BE49-F238E27FC236}">
                <a16:creationId xmlns:a16="http://schemas.microsoft.com/office/drawing/2014/main" id="{C16AD9F2-9450-4CBD-8755-EAB4B22719A1}"/>
              </a:ext>
            </a:extLst>
          </p:cNvPr>
          <p:cNvSpPr>
            <a:spLocks noGrp="1" noChangeArrowheads="1"/>
          </p:cNvSpPr>
          <p:nvPr>
            <p:ph type="body" idx="4294967295"/>
          </p:nvPr>
        </p:nvSpPr>
        <p:spPr>
          <a:xfrm>
            <a:off x="0" y="814388"/>
            <a:ext cx="8229600" cy="3757612"/>
          </a:xfrm>
        </p:spPr>
        <p:txBody>
          <a:bodyPr>
            <a:noAutofit/>
          </a:bodyPr>
          <a:lstStyle/>
          <a:p>
            <a:pPr>
              <a:defRPr/>
            </a:pPr>
            <a:r>
              <a:rPr lang="en-US" altLang="zh-CN" sz="4000" dirty="0"/>
              <a:t>1.3.3 </a:t>
            </a:r>
            <a:r>
              <a:rPr lang="zh-CN" altLang="en-US" sz="4000" dirty="0"/>
              <a:t>组织的信息化战略</a:t>
            </a:r>
            <a:endParaRPr lang="en-US" altLang="zh-CN" sz="4000" dirty="0"/>
          </a:p>
          <a:p>
            <a:pPr algn="just">
              <a:buFont typeface="Wingdings" panose="05000000000000000000" pitchFamily="2" charset="2"/>
              <a:buChar char="Ø"/>
              <a:defRPr/>
            </a:pPr>
            <a:endParaRPr lang="en-US" altLang="zh-CN" sz="2400" dirty="0"/>
          </a:p>
          <a:p>
            <a:pPr algn="just">
              <a:buFont typeface="Wingdings" panose="05000000000000000000" pitchFamily="2" charset="2"/>
              <a:buChar char="Ø"/>
              <a:defRPr/>
            </a:pPr>
            <a:r>
              <a:rPr lang="zh-CN" altLang="en-US" sz="2400" dirty="0"/>
              <a:t>信息化战略的构成要素包括信息化的</a:t>
            </a:r>
            <a:r>
              <a:rPr lang="zh-CN" altLang="en-US" sz="2400" dirty="0">
                <a:solidFill>
                  <a:srgbClr val="FF0000"/>
                </a:solidFill>
              </a:rPr>
              <a:t>目的、方针和计划</a:t>
            </a:r>
            <a:r>
              <a:rPr lang="zh-CN" altLang="en-US" sz="2400" dirty="0"/>
              <a:t>。它关注组织的信息需求和供应，以及管理者态度。信息战略与组织的整体战略密切相关，它属于职能管理战略之一，同时推动其他职能管理战略的执行</a:t>
            </a:r>
            <a:endParaRPr lang="en-US" altLang="zh-CN" sz="2400" dirty="0"/>
          </a:p>
          <a:p>
            <a:pPr algn="just">
              <a:buFont typeface="Wingdings" panose="05000000000000000000" pitchFamily="2" charset="2"/>
              <a:buChar char="Ø"/>
              <a:defRPr/>
            </a:pPr>
            <a:r>
              <a:rPr lang="zh-CN" altLang="en-US" sz="2400" dirty="0">
                <a:solidFill>
                  <a:srgbClr val="FF0000"/>
                </a:solidFill>
              </a:rPr>
              <a:t>信息化战略过程主要包括制定、实施、控制和评估，称为组织信息化战略的管理。</a:t>
            </a:r>
            <a:r>
              <a:rPr lang="zh-CN" altLang="en-US" sz="2400" dirty="0"/>
              <a:t>信息化战略从内容上具体还可以划分为信息技术战略、信息资源战略、信息机构战略等功能或管理战略。</a:t>
            </a:r>
          </a:p>
        </p:txBody>
      </p:sp>
      <p:sp>
        <p:nvSpPr>
          <p:cNvPr id="39939" name="Rectangle 6">
            <a:extLst>
              <a:ext uri="{FF2B5EF4-FFF2-40B4-BE49-F238E27FC236}">
                <a16:creationId xmlns:a16="http://schemas.microsoft.com/office/drawing/2014/main" id="{AAEDD2AB-592F-4424-8BCA-A9FD1AC1E912}"/>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7108" name="Line 7">
            <a:extLst>
              <a:ext uri="{FF2B5EF4-FFF2-40B4-BE49-F238E27FC236}">
                <a16:creationId xmlns:a16="http://schemas.microsoft.com/office/drawing/2014/main" id="{C127E22B-EA6C-4D4B-9250-DFFD8D397FC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a:extLst>
              <a:ext uri="{FF2B5EF4-FFF2-40B4-BE49-F238E27FC236}">
                <a16:creationId xmlns:a16="http://schemas.microsoft.com/office/drawing/2014/main" id="{33079242-75FF-43AA-8E57-23F34F248E64}"/>
              </a:ext>
            </a:extLst>
          </p:cNvPr>
          <p:cNvSpPr>
            <a:spLocks noGrp="1" noChangeArrowheads="1"/>
          </p:cNvSpPr>
          <p:nvPr>
            <p:ph type="body" idx="4294967295"/>
          </p:nvPr>
        </p:nvSpPr>
        <p:spPr>
          <a:xfrm>
            <a:off x="0" y="785813"/>
            <a:ext cx="8229600" cy="5257800"/>
          </a:xfrm>
        </p:spPr>
        <p:txBody>
          <a:bodyPr>
            <a:normAutofit/>
          </a:bodyPr>
          <a:lstStyle/>
          <a:p>
            <a:pPr>
              <a:defRPr/>
            </a:pPr>
            <a:r>
              <a:rPr lang="en-US" altLang="zh-CN" sz="4000" dirty="0"/>
              <a:t>1.3.3 </a:t>
            </a:r>
            <a:r>
              <a:rPr lang="zh-CN" altLang="en-US" sz="4000" dirty="0"/>
              <a:t>组织的信息化战略</a:t>
            </a:r>
            <a:endParaRPr lang="en-US" altLang="zh-CN" sz="4000" dirty="0"/>
          </a:p>
          <a:p>
            <a:pPr marL="971550" lvl="1" indent="-514350">
              <a:buFontTx/>
              <a:buAutoNum type="arabicPeriod"/>
              <a:defRPr/>
            </a:pPr>
            <a:r>
              <a:rPr lang="zh-CN" altLang="en-US" dirty="0"/>
              <a:t>信息技术战略</a:t>
            </a:r>
            <a:endParaRPr lang="en-US" altLang="zh-CN" dirty="0"/>
          </a:p>
          <a:p>
            <a:pPr marL="971550" lvl="1" indent="-514350">
              <a:buFont typeface="Wingdings" panose="05000000000000000000" pitchFamily="2" charset="2"/>
              <a:buChar char="Ø"/>
              <a:defRPr/>
            </a:pPr>
            <a:r>
              <a:rPr lang="zh-CN" altLang="en-US" dirty="0"/>
              <a:t>信息技术战略关注于组织信息技术发展的总体对策、方向、目标、与信息化整体战略的关系等等。</a:t>
            </a:r>
            <a:endParaRPr lang="en-US" altLang="zh-CN" dirty="0"/>
          </a:p>
          <a:p>
            <a:pPr marL="971550" lvl="1" indent="-514350">
              <a:buFont typeface="Wingdings" panose="05000000000000000000" pitchFamily="2" charset="2"/>
              <a:buChar char="Ø"/>
              <a:defRPr/>
            </a:pPr>
            <a:r>
              <a:rPr lang="zh-CN" altLang="en-US" dirty="0"/>
              <a:t>信息技术战略一般应考虑三方面的内容：</a:t>
            </a:r>
            <a:r>
              <a:rPr lang="zh-CN" altLang="en-US" dirty="0">
                <a:solidFill>
                  <a:srgbClr val="FF0000"/>
                </a:solidFill>
              </a:rPr>
              <a:t>跟踪学习战略、应用开发战略和系统维护战略</a:t>
            </a:r>
            <a:endParaRPr lang="en-US" altLang="zh-CN" dirty="0">
              <a:solidFill>
                <a:srgbClr val="FF0000"/>
              </a:solidFill>
            </a:endParaRPr>
          </a:p>
          <a:p>
            <a:pPr marL="1371600" lvl="2" indent="-514350">
              <a:buFont typeface="Wingdings" panose="05000000000000000000" pitchFamily="2" charset="2"/>
              <a:buChar char="ü"/>
              <a:defRPr/>
            </a:pPr>
            <a:r>
              <a:rPr lang="zh-CN" altLang="en-US" dirty="0"/>
              <a:t>对于跟踪学习战略要制定明确的战略，紧跟技术的革新，在必要的时候付诸实施是最终的目的</a:t>
            </a:r>
            <a:endParaRPr lang="en-US" altLang="zh-CN" dirty="0"/>
          </a:p>
          <a:p>
            <a:pPr marL="1371600" lvl="2" indent="-514350">
              <a:buFont typeface="Wingdings" panose="05000000000000000000" pitchFamily="2" charset="2"/>
              <a:buChar char="ü"/>
              <a:defRPr/>
            </a:pPr>
            <a:r>
              <a:rPr lang="zh-CN" altLang="en-US" dirty="0"/>
              <a:t>应用开发给组织带来的不仅仅是实现自动化和提高效率，更为重要的是它影响到组织的流程</a:t>
            </a:r>
            <a:endParaRPr lang="en-US" altLang="zh-CN" dirty="0"/>
          </a:p>
          <a:p>
            <a:pPr marL="1371600" lvl="2" indent="-514350">
              <a:buFont typeface="Wingdings" panose="05000000000000000000" pitchFamily="2" charset="2"/>
              <a:buChar char="ü"/>
              <a:defRPr/>
            </a:pPr>
            <a:r>
              <a:rPr lang="zh-CN" altLang="en-US" dirty="0"/>
              <a:t>组织对于信息的依赖程度决定了我们要为信息系统的维护制定一套战略，以保证它可用、安全、可靠和低成本。系统维护战略是信息技术的基本战略，在信息系统的建设阶段就要开始制定</a:t>
            </a:r>
            <a:endParaRPr lang="en-US" altLang="zh-CN" dirty="0"/>
          </a:p>
          <a:p>
            <a:pPr marL="1371600" lvl="2" indent="-514350">
              <a:buFontTx/>
              <a:buAutoNum type="arabicPeriod"/>
              <a:defRPr/>
            </a:pPr>
            <a:endParaRPr lang="en-US" altLang="zh-CN" dirty="0"/>
          </a:p>
        </p:txBody>
      </p:sp>
      <p:sp>
        <p:nvSpPr>
          <p:cNvPr id="40963" name="Rectangle 6">
            <a:extLst>
              <a:ext uri="{FF2B5EF4-FFF2-40B4-BE49-F238E27FC236}">
                <a16:creationId xmlns:a16="http://schemas.microsoft.com/office/drawing/2014/main" id="{36770B9A-5DDA-435B-B8BB-CE09F31999B7}"/>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8132" name="Line 7">
            <a:extLst>
              <a:ext uri="{FF2B5EF4-FFF2-40B4-BE49-F238E27FC236}">
                <a16:creationId xmlns:a16="http://schemas.microsoft.com/office/drawing/2014/main" id="{6394723D-D684-47FB-853F-38316A50061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5">
            <a:extLst>
              <a:ext uri="{FF2B5EF4-FFF2-40B4-BE49-F238E27FC236}">
                <a16:creationId xmlns:a16="http://schemas.microsoft.com/office/drawing/2014/main" id="{6B467878-69E8-419C-A8F1-A18BE3F51D42}"/>
              </a:ext>
            </a:extLst>
          </p:cNvPr>
          <p:cNvSpPr>
            <a:spLocks noGrp="1" noChangeArrowheads="1"/>
          </p:cNvSpPr>
          <p:nvPr>
            <p:ph type="body" idx="4294967295"/>
          </p:nvPr>
        </p:nvSpPr>
        <p:spPr>
          <a:xfrm>
            <a:off x="0" y="642938"/>
            <a:ext cx="8229600" cy="4329112"/>
          </a:xfrm>
        </p:spPr>
        <p:txBody>
          <a:bodyPr>
            <a:noAutofit/>
          </a:bodyPr>
          <a:lstStyle/>
          <a:p>
            <a:pPr>
              <a:defRPr/>
            </a:pPr>
            <a:r>
              <a:rPr lang="en-US" altLang="zh-CN" sz="4000" dirty="0"/>
              <a:t>1.3.3 </a:t>
            </a:r>
            <a:r>
              <a:rPr lang="zh-CN" altLang="en-US" sz="4000" dirty="0"/>
              <a:t>组织的信息化战略</a:t>
            </a:r>
            <a:endParaRPr lang="en-US" altLang="zh-CN" sz="4000" dirty="0"/>
          </a:p>
          <a:p>
            <a:pPr marL="971550" lvl="1" indent="-514350">
              <a:buFontTx/>
              <a:buAutoNum type="arabicPeriod" startAt="2"/>
              <a:defRPr/>
            </a:pPr>
            <a:endParaRPr lang="en-US" altLang="zh-CN" dirty="0"/>
          </a:p>
          <a:p>
            <a:pPr marL="971550" lvl="1" indent="-514350">
              <a:buFontTx/>
              <a:buAutoNum type="arabicPeriod" startAt="2"/>
              <a:defRPr/>
            </a:pPr>
            <a:r>
              <a:rPr lang="zh-CN" altLang="en-US" dirty="0"/>
              <a:t>信息资源战略</a:t>
            </a:r>
            <a:endParaRPr lang="en-US" altLang="zh-CN" dirty="0"/>
          </a:p>
          <a:p>
            <a:pPr marL="971550" lvl="1" indent="-514350">
              <a:lnSpc>
                <a:spcPts val="3325"/>
              </a:lnSpc>
              <a:buFont typeface="Wingdings" panose="05000000000000000000" pitchFamily="2" charset="2"/>
              <a:buChar char="Ø"/>
              <a:defRPr/>
            </a:pPr>
            <a:r>
              <a:rPr lang="zh-CN" altLang="en-US" dirty="0"/>
              <a:t>采用有效手段配置信息资源，使信息资源在时间、空间上分布合理，已成为组织信息资源战略的重要内容</a:t>
            </a:r>
            <a:endParaRPr lang="en-US" altLang="zh-CN" dirty="0"/>
          </a:p>
          <a:p>
            <a:pPr marL="971550" lvl="1" indent="-514350">
              <a:lnSpc>
                <a:spcPts val="3325"/>
              </a:lnSpc>
              <a:buFont typeface="Wingdings" panose="05000000000000000000" pitchFamily="2" charset="2"/>
              <a:buChar char="Ø"/>
              <a:defRPr/>
            </a:pPr>
            <a:r>
              <a:rPr lang="zh-CN" altLang="en-US" dirty="0"/>
              <a:t>制定信息资源战略的原则是满足组织运作、管理和决策对信息的需求</a:t>
            </a:r>
            <a:endParaRPr lang="en-US" altLang="zh-CN" dirty="0"/>
          </a:p>
          <a:p>
            <a:pPr marL="971550" lvl="1" indent="-514350">
              <a:lnSpc>
                <a:spcPts val="3325"/>
              </a:lnSpc>
              <a:buFont typeface="Wingdings" panose="05000000000000000000" pitchFamily="2" charset="2"/>
              <a:buChar char="Ø"/>
              <a:defRPr/>
            </a:pPr>
            <a:r>
              <a:rPr lang="zh-CN" altLang="en-US" dirty="0"/>
              <a:t>在具体的信息资源战略中，可以根据职能的侧重不同分为研发信息资源管理战略、市场信息资源管理战略、原料信息资源管理战略、客户信息资源管理战略、产品信息资源管理战略和物流信息资源管理战略等</a:t>
            </a:r>
            <a:endParaRPr lang="en-US" altLang="zh-CN" dirty="0"/>
          </a:p>
        </p:txBody>
      </p:sp>
      <p:sp>
        <p:nvSpPr>
          <p:cNvPr id="41987" name="Rectangle 6">
            <a:extLst>
              <a:ext uri="{FF2B5EF4-FFF2-40B4-BE49-F238E27FC236}">
                <a16:creationId xmlns:a16="http://schemas.microsoft.com/office/drawing/2014/main" id="{0E64DE51-7F47-4889-A27D-BECCB1AB3ACB}"/>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49156" name="Line 7">
            <a:extLst>
              <a:ext uri="{FF2B5EF4-FFF2-40B4-BE49-F238E27FC236}">
                <a16:creationId xmlns:a16="http://schemas.microsoft.com/office/drawing/2014/main" id="{D183E7D8-5723-4C57-922C-DB0E39610ED5}"/>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a:extLst>
              <a:ext uri="{FF2B5EF4-FFF2-40B4-BE49-F238E27FC236}">
                <a16:creationId xmlns:a16="http://schemas.microsoft.com/office/drawing/2014/main" id="{1E12068A-A92C-49A9-AEDB-1B0F7CBB9B6E}"/>
              </a:ext>
            </a:extLst>
          </p:cNvPr>
          <p:cNvSpPr>
            <a:spLocks noGrp="1" noChangeArrowheads="1"/>
          </p:cNvSpPr>
          <p:nvPr>
            <p:ph type="body" idx="4294967295"/>
          </p:nvPr>
        </p:nvSpPr>
        <p:spPr>
          <a:xfrm>
            <a:off x="0" y="428625"/>
            <a:ext cx="8229600" cy="5257800"/>
          </a:xfrm>
        </p:spPr>
        <p:txBody>
          <a:bodyPr>
            <a:noAutofit/>
          </a:bodyPr>
          <a:lstStyle/>
          <a:p>
            <a:r>
              <a:rPr lang="en-US" altLang="zh-CN" sz="4000" dirty="0"/>
              <a:t>1.3.3 </a:t>
            </a:r>
            <a:r>
              <a:rPr lang="zh-CN" altLang="en-US" sz="4000" dirty="0"/>
              <a:t>组织的信息化战略</a:t>
            </a:r>
            <a:endParaRPr lang="en-US" altLang="zh-CN" sz="4000" dirty="0"/>
          </a:p>
          <a:p>
            <a:pPr marL="971550" lvl="1" indent="-514350">
              <a:buFontTx/>
              <a:buAutoNum type="arabicPeriod" startAt="3"/>
            </a:pPr>
            <a:endParaRPr lang="en-US" altLang="zh-CN" dirty="0"/>
          </a:p>
          <a:p>
            <a:pPr marL="971550" lvl="1" indent="-514350">
              <a:buFontTx/>
              <a:buAutoNum type="arabicPeriod" startAt="3"/>
            </a:pPr>
            <a:r>
              <a:rPr lang="zh-CN" altLang="en-US" dirty="0"/>
              <a:t>信息机构战略</a:t>
            </a:r>
            <a:endParaRPr lang="en-US" altLang="zh-CN" dirty="0"/>
          </a:p>
          <a:p>
            <a:pPr marL="971550" lvl="1" indent="-514350">
              <a:buFont typeface="Wingdings" panose="05000000000000000000" pitchFamily="2" charset="2"/>
              <a:buChar char="Ø"/>
            </a:pPr>
            <a:r>
              <a:rPr lang="zh-CN" altLang="en-US" dirty="0"/>
              <a:t>信息化委员会</a:t>
            </a:r>
            <a:endParaRPr lang="en-US" altLang="zh-CN" dirty="0"/>
          </a:p>
          <a:p>
            <a:pPr marL="1371600" lvl="2" indent="-514350">
              <a:buFont typeface="Wingdings" panose="05000000000000000000" pitchFamily="2" charset="2"/>
              <a:buChar char="ü"/>
            </a:pPr>
            <a:r>
              <a:rPr lang="zh-CN" altLang="en-US" dirty="0"/>
              <a:t>信息化委员会，专门负责制定信息化过程中的重大决策，为信息化的成败承担最终责任</a:t>
            </a:r>
            <a:endParaRPr lang="en-US" altLang="zh-CN" dirty="0"/>
          </a:p>
          <a:p>
            <a:pPr marL="971550" lvl="1" indent="-514350">
              <a:buFont typeface="Wingdings" panose="05000000000000000000" pitchFamily="2" charset="2"/>
              <a:buChar char="Ø"/>
            </a:pPr>
            <a:r>
              <a:rPr lang="zh-CN" altLang="en-US" dirty="0"/>
              <a:t>设置</a:t>
            </a:r>
            <a:r>
              <a:rPr lang="en-US" altLang="zh-CN" dirty="0"/>
              <a:t>CIO</a:t>
            </a:r>
            <a:r>
              <a:rPr lang="zh-CN" altLang="en-US" dirty="0"/>
              <a:t>岗位</a:t>
            </a:r>
            <a:endParaRPr lang="en-US" altLang="zh-CN" dirty="0"/>
          </a:p>
          <a:p>
            <a:pPr marL="1371600" lvl="2" indent="-514350">
              <a:buFont typeface="Wingdings" panose="05000000000000000000" pitchFamily="2" charset="2"/>
              <a:buChar char="ü"/>
            </a:pPr>
            <a:r>
              <a:rPr lang="en-US" altLang="zh-CN" dirty="0"/>
              <a:t>CIO</a:t>
            </a:r>
            <a:r>
              <a:rPr lang="zh-CN" altLang="en-US" dirty="0"/>
              <a:t>，负责信息化的领导工作，包括信息战略的制定、信息机构的发展、信息资源的管理、资金的投入规划，以及</a:t>
            </a:r>
            <a:r>
              <a:rPr lang="en-US" altLang="zh-CN" dirty="0"/>
              <a:t>IT</a:t>
            </a:r>
            <a:r>
              <a:rPr lang="zh-CN" altLang="en-US" dirty="0"/>
              <a:t>部门与其他部门的工作协调</a:t>
            </a:r>
            <a:endParaRPr lang="en-US" altLang="zh-CN" dirty="0"/>
          </a:p>
          <a:p>
            <a:pPr marL="971550" lvl="1" indent="-514350">
              <a:buFont typeface="Wingdings" panose="05000000000000000000" pitchFamily="2" charset="2"/>
              <a:buChar char="Ø"/>
            </a:pPr>
            <a:r>
              <a:rPr lang="zh-CN" altLang="en-US" dirty="0"/>
              <a:t>成立信息系统部门</a:t>
            </a:r>
            <a:endParaRPr lang="en-US" altLang="zh-CN" dirty="0"/>
          </a:p>
          <a:p>
            <a:pPr marL="1371600" lvl="2" indent="-514350">
              <a:buFont typeface="Wingdings" panose="05000000000000000000" pitchFamily="2" charset="2"/>
              <a:buChar char="ü"/>
            </a:pPr>
            <a:r>
              <a:rPr lang="zh-CN" altLang="en-US" dirty="0"/>
              <a:t>信息系统部门负责信息系统的运行、管理，解决员工有关的信息技术问题，从事实际推进信息化的工作</a:t>
            </a:r>
            <a:endParaRPr lang="en-US" altLang="zh-CN" dirty="0"/>
          </a:p>
        </p:txBody>
      </p:sp>
      <p:sp>
        <p:nvSpPr>
          <p:cNvPr id="43011" name="Rectangle 6">
            <a:extLst>
              <a:ext uri="{FF2B5EF4-FFF2-40B4-BE49-F238E27FC236}">
                <a16:creationId xmlns:a16="http://schemas.microsoft.com/office/drawing/2014/main" id="{8A1EFD9F-9435-4805-A83A-FEEEA082D08D}"/>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dirty="0">
                <a:solidFill>
                  <a:srgbClr val="0000FF"/>
                </a:solidFill>
              </a:rPr>
              <a:t>十一五规划教材                                          </a:t>
            </a:r>
            <a:r>
              <a:rPr lang="en-US" altLang="zh-CN" sz="2000" dirty="0">
                <a:solidFill>
                  <a:srgbClr val="0000FF"/>
                </a:solidFill>
              </a:rPr>
              <a:t>《</a:t>
            </a:r>
            <a:r>
              <a:rPr lang="zh-CN" altLang="en-US" sz="2000" dirty="0">
                <a:solidFill>
                  <a:srgbClr val="0000FF"/>
                </a:solidFill>
              </a:rPr>
              <a:t>信息系统项目管理</a:t>
            </a:r>
            <a:r>
              <a:rPr lang="en-US" altLang="zh-CN" sz="2000" dirty="0">
                <a:solidFill>
                  <a:srgbClr val="0000FF"/>
                </a:solidFill>
              </a:rPr>
              <a:t>》</a:t>
            </a:r>
            <a:r>
              <a:rPr lang="zh-CN" altLang="en-US" sz="2000" dirty="0">
                <a:solidFill>
                  <a:srgbClr val="0000FF"/>
                </a:solidFill>
              </a:rPr>
              <a:t>讲义</a:t>
            </a:r>
          </a:p>
        </p:txBody>
      </p:sp>
      <p:sp>
        <p:nvSpPr>
          <p:cNvPr id="50180" name="Line 7">
            <a:extLst>
              <a:ext uri="{FF2B5EF4-FFF2-40B4-BE49-F238E27FC236}">
                <a16:creationId xmlns:a16="http://schemas.microsoft.com/office/drawing/2014/main" id="{185E90C4-8DD7-4FEC-B18E-D5F28B14D73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2ED16342-1087-40D3-966B-9E0A1F75CEE0}"/>
              </a:ext>
            </a:extLst>
          </p:cNvPr>
          <p:cNvSpPr>
            <a:spLocks noGrp="1" noChangeArrowheads="1"/>
          </p:cNvSpPr>
          <p:nvPr>
            <p:ph type="title" idx="4294967295"/>
          </p:nvPr>
        </p:nvSpPr>
        <p:spPr>
          <a:xfrm>
            <a:off x="0" y="1500188"/>
            <a:ext cx="8229600" cy="3000375"/>
          </a:xfrm>
        </p:spPr>
        <p:txBody>
          <a:bodyPr/>
          <a:lstStyle/>
          <a:p>
            <a:r>
              <a:rPr lang="en-US" altLang="zh-CN" sz="4800"/>
              <a:t>1.4 </a:t>
            </a:r>
            <a:r>
              <a:rPr lang="zh-CN" altLang="en-US" sz="4800"/>
              <a:t>组织信息化项目规划方法</a:t>
            </a:r>
          </a:p>
        </p:txBody>
      </p:sp>
      <p:sp>
        <p:nvSpPr>
          <p:cNvPr id="44035" name="Rectangle 6">
            <a:extLst>
              <a:ext uri="{FF2B5EF4-FFF2-40B4-BE49-F238E27FC236}">
                <a16:creationId xmlns:a16="http://schemas.microsoft.com/office/drawing/2014/main" id="{64523032-A98E-467B-82F8-18CB5706327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1204" name="Line 7">
            <a:extLst>
              <a:ext uri="{FF2B5EF4-FFF2-40B4-BE49-F238E27FC236}">
                <a16:creationId xmlns:a16="http://schemas.microsoft.com/office/drawing/2014/main" id="{7EE59672-50E3-40D2-A562-2CD7432BDC81}"/>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a:extLst>
              <a:ext uri="{FF2B5EF4-FFF2-40B4-BE49-F238E27FC236}">
                <a16:creationId xmlns:a16="http://schemas.microsoft.com/office/drawing/2014/main" id="{57482D9E-21EF-4BD1-808E-39EBB588C509}"/>
              </a:ext>
            </a:extLst>
          </p:cNvPr>
          <p:cNvSpPr>
            <a:spLocks noGrp="1" noChangeArrowheads="1"/>
          </p:cNvSpPr>
          <p:nvPr>
            <p:ph type="body" idx="4294967295"/>
          </p:nvPr>
        </p:nvSpPr>
        <p:spPr>
          <a:xfrm>
            <a:off x="0" y="617538"/>
            <a:ext cx="8229600" cy="4525962"/>
          </a:xfrm>
        </p:spPr>
        <p:txBody>
          <a:bodyPr>
            <a:normAutofit lnSpcReduction="10000"/>
          </a:bodyPr>
          <a:lstStyle/>
          <a:p>
            <a:pPr>
              <a:defRPr/>
            </a:pPr>
            <a:r>
              <a:rPr lang="en-US" altLang="zh-CN" sz="4000" dirty="0"/>
              <a:t>1.4.1 </a:t>
            </a:r>
            <a:r>
              <a:rPr lang="zh-CN" altLang="en-US" sz="4000" dirty="0"/>
              <a:t>信息化项目规划的步骤</a:t>
            </a:r>
          </a:p>
          <a:p>
            <a:pPr marL="971550" lvl="1" indent="-514350">
              <a:buFontTx/>
              <a:buAutoNum type="arabicPeriod"/>
              <a:defRPr/>
            </a:pPr>
            <a:endParaRPr lang="en-US" altLang="zh-CN" dirty="0"/>
          </a:p>
          <a:p>
            <a:pPr marL="971550" lvl="1" indent="-514350">
              <a:buFontTx/>
              <a:buAutoNum type="arabicPeriod"/>
              <a:defRPr/>
            </a:pPr>
            <a:r>
              <a:rPr lang="zh-CN" altLang="en-US" dirty="0"/>
              <a:t>了解组织当前信息系统以及管理状况</a:t>
            </a:r>
            <a:endParaRPr lang="en-US" altLang="zh-CN" dirty="0"/>
          </a:p>
          <a:p>
            <a:pPr marL="971550" lvl="1" indent="-514350">
              <a:buFontTx/>
              <a:buAutoNum type="arabicPeriod"/>
              <a:defRPr/>
            </a:pPr>
            <a:endParaRPr lang="en-US" altLang="zh-CN" dirty="0"/>
          </a:p>
          <a:p>
            <a:pPr marL="971550" lvl="1" indent="-514350">
              <a:buFontTx/>
              <a:buAutoNum type="arabicPeriod"/>
              <a:defRPr/>
            </a:pPr>
            <a:r>
              <a:rPr lang="zh-CN" altLang="en-US" dirty="0"/>
              <a:t>对相关信息技术发展进行预测</a:t>
            </a:r>
            <a:endParaRPr lang="en-US" altLang="zh-CN" dirty="0"/>
          </a:p>
          <a:p>
            <a:pPr marL="971550" lvl="1" indent="-514350">
              <a:buFontTx/>
              <a:buAutoNum type="arabicPeriod"/>
              <a:defRPr/>
            </a:pPr>
            <a:endParaRPr lang="en-US" altLang="zh-CN" dirty="0"/>
          </a:p>
          <a:p>
            <a:pPr marL="971550" lvl="1" indent="-514350">
              <a:buFontTx/>
              <a:buAutoNum type="arabicPeriod"/>
              <a:defRPr/>
            </a:pPr>
            <a:r>
              <a:rPr lang="zh-CN" altLang="en-US" dirty="0"/>
              <a:t>制定信息系统的总目标和阶段性目标</a:t>
            </a:r>
            <a:endParaRPr lang="en-US" altLang="zh-CN" dirty="0"/>
          </a:p>
          <a:p>
            <a:pPr marL="971550" lvl="1" indent="-514350">
              <a:buFontTx/>
              <a:buAutoNum type="arabicPeriod"/>
              <a:defRPr/>
            </a:pPr>
            <a:endParaRPr lang="en-US" altLang="zh-CN" dirty="0"/>
          </a:p>
          <a:p>
            <a:pPr marL="971550" lvl="1" indent="-514350">
              <a:buFontTx/>
              <a:buAutoNum type="arabicPeriod"/>
              <a:defRPr/>
            </a:pPr>
            <a:r>
              <a:rPr lang="zh-CN" altLang="en-US" dirty="0"/>
              <a:t>列出带有优先权的信息化项目的建设清单</a:t>
            </a:r>
            <a:endParaRPr lang="en-US" altLang="zh-CN" dirty="0"/>
          </a:p>
          <a:p>
            <a:pPr marL="971550" lvl="1" indent="-514350">
              <a:buFontTx/>
              <a:buAutoNum type="arabicPeriod"/>
              <a:defRPr/>
            </a:pPr>
            <a:endParaRPr lang="en-US" altLang="zh-CN" dirty="0"/>
          </a:p>
          <a:p>
            <a:pPr marL="971550" lvl="1" indent="-514350">
              <a:buFontTx/>
              <a:buAutoNum type="arabicPeriod"/>
              <a:defRPr/>
            </a:pPr>
            <a:r>
              <a:rPr lang="zh-CN" altLang="en-US" dirty="0"/>
              <a:t>撰写并审批信息化项目规划报告</a:t>
            </a:r>
          </a:p>
        </p:txBody>
      </p:sp>
      <p:sp>
        <p:nvSpPr>
          <p:cNvPr id="45059" name="Rectangle 6">
            <a:extLst>
              <a:ext uri="{FF2B5EF4-FFF2-40B4-BE49-F238E27FC236}">
                <a16:creationId xmlns:a16="http://schemas.microsoft.com/office/drawing/2014/main" id="{CA5E7C12-2BA6-4D9A-8CCB-70469683522E}"/>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2228" name="Line 7">
            <a:extLst>
              <a:ext uri="{FF2B5EF4-FFF2-40B4-BE49-F238E27FC236}">
                <a16:creationId xmlns:a16="http://schemas.microsoft.com/office/drawing/2014/main" id="{16DCB688-6840-4480-B8C9-FCC05220EC48}"/>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a:extLst>
              <a:ext uri="{FF2B5EF4-FFF2-40B4-BE49-F238E27FC236}">
                <a16:creationId xmlns:a16="http://schemas.microsoft.com/office/drawing/2014/main" id="{EBC95350-CB67-4BE2-8F32-DDBBFD17B108}"/>
              </a:ext>
            </a:extLst>
          </p:cNvPr>
          <p:cNvSpPr>
            <a:spLocks noGrp="1" noChangeArrowheads="1"/>
          </p:cNvSpPr>
          <p:nvPr>
            <p:ph type="body" idx="4294967295"/>
          </p:nvPr>
        </p:nvSpPr>
        <p:spPr>
          <a:xfrm>
            <a:off x="0" y="428625"/>
            <a:ext cx="8229600" cy="5043488"/>
          </a:xfrm>
        </p:spPr>
        <p:txBody>
          <a:bodyPr>
            <a:normAutofit/>
          </a:bodyPr>
          <a:lstStyle/>
          <a:p>
            <a:pPr>
              <a:defRPr/>
            </a:pPr>
            <a:r>
              <a:rPr lang="en-US" altLang="zh-CN" sz="4000" dirty="0"/>
              <a:t>1.4.2 </a:t>
            </a:r>
            <a:r>
              <a:rPr lang="zh-CN" altLang="en-US" sz="4000" dirty="0"/>
              <a:t>信息化项目规划的内容</a:t>
            </a:r>
          </a:p>
          <a:p>
            <a:pPr marL="971550" lvl="1" indent="-514350">
              <a:buFontTx/>
              <a:buAutoNum type="arabicPeriod"/>
              <a:defRPr/>
            </a:pPr>
            <a:endParaRPr lang="en-US" altLang="zh-CN" dirty="0"/>
          </a:p>
          <a:p>
            <a:pPr marL="971550" lvl="1" indent="-514350">
              <a:buFontTx/>
              <a:buAutoNum type="arabicPeriod"/>
              <a:defRPr/>
            </a:pPr>
            <a:r>
              <a:rPr lang="zh-CN" altLang="en-US" dirty="0"/>
              <a:t>主要包括三个方面的内容</a:t>
            </a:r>
            <a:endParaRPr lang="en-US" altLang="zh-CN" dirty="0"/>
          </a:p>
          <a:p>
            <a:pPr marL="1371600" lvl="2" indent="-514350">
              <a:buFont typeface="Wingdings" panose="05000000000000000000" pitchFamily="2" charset="2"/>
              <a:buChar char="Ø"/>
              <a:defRPr/>
            </a:pPr>
            <a:r>
              <a:rPr lang="zh-CN" altLang="en-US" dirty="0"/>
              <a:t>带有优先权的项目清单的设计</a:t>
            </a:r>
            <a:endParaRPr lang="en-US" altLang="zh-CN" dirty="0"/>
          </a:p>
          <a:p>
            <a:pPr marL="1828800" lvl="3" indent="-514350">
              <a:lnSpc>
                <a:spcPts val="2863"/>
              </a:lnSpc>
              <a:buFont typeface="Wingdings" panose="05000000000000000000" pitchFamily="2" charset="2"/>
              <a:buChar char="ü"/>
              <a:defRPr/>
            </a:pPr>
            <a:r>
              <a:rPr lang="zh-CN" altLang="en-US" dirty="0"/>
              <a:t>体现为各阶段需要实现的功能是什么，需要通过什么应用来具体实现，突破口如何选择等问题；</a:t>
            </a:r>
            <a:endParaRPr lang="en-US" altLang="zh-CN" dirty="0"/>
          </a:p>
          <a:p>
            <a:pPr marL="1371600" lvl="2" indent="-514350">
              <a:buFont typeface="Wingdings" panose="05000000000000000000" pitchFamily="2" charset="2"/>
              <a:buChar char="Ø"/>
              <a:defRPr/>
            </a:pPr>
            <a:r>
              <a:rPr lang="zh-CN" altLang="en-US" dirty="0"/>
              <a:t>信息系统项目建设方式的考虑</a:t>
            </a:r>
            <a:endParaRPr lang="en-US" altLang="zh-CN" dirty="0"/>
          </a:p>
          <a:p>
            <a:pPr marL="1828800" lvl="3" indent="-514350">
              <a:lnSpc>
                <a:spcPts val="2863"/>
              </a:lnSpc>
              <a:buFont typeface="Wingdings" panose="05000000000000000000" pitchFamily="2" charset="2"/>
              <a:buChar char="ü"/>
              <a:defRPr/>
            </a:pPr>
            <a:r>
              <a:rPr lang="zh-CN" altLang="en-US" dirty="0"/>
              <a:t>比如是自行建设还是外包，是采取一步到位的策略还是分步实施的策略等问题</a:t>
            </a:r>
            <a:endParaRPr lang="en-US" altLang="zh-CN" dirty="0"/>
          </a:p>
          <a:p>
            <a:pPr marL="1371600" lvl="2" indent="-514350">
              <a:buFont typeface="Wingdings" panose="05000000000000000000" pitchFamily="2" charset="2"/>
              <a:buChar char="Ø"/>
              <a:defRPr/>
            </a:pPr>
            <a:r>
              <a:rPr lang="zh-CN" altLang="en-US" dirty="0"/>
              <a:t>业务和技术标准的设计</a:t>
            </a:r>
            <a:endParaRPr lang="en-US" altLang="zh-CN" dirty="0"/>
          </a:p>
          <a:p>
            <a:pPr marL="1828800" lvl="3" indent="-514350">
              <a:buFont typeface="Wingdings" panose="05000000000000000000" pitchFamily="2" charset="2"/>
              <a:buChar char="ü"/>
              <a:defRPr/>
            </a:pPr>
            <a:r>
              <a:rPr lang="zh-CN" altLang="en-US" dirty="0"/>
              <a:t>采用什么样的业务流程优化原则、采用什么样的信息资源整合的标准和原则、采用什么样的开发框架、协议和标准等问题</a:t>
            </a:r>
            <a:endParaRPr lang="en-US" altLang="zh-CN" dirty="0"/>
          </a:p>
          <a:p>
            <a:pPr marL="1371600" lvl="2" indent="-514350">
              <a:buFont typeface="Wingdings" panose="05000000000000000000" pitchFamily="2" charset="2"/>
              <a:buChar char="Ø"/>
              <a:defRPr/>
            </a:pPr>
            <a:endParaRPr lang="en-US" altLang="zh-CN" dirty="0"/>
          </a:p>
          <a:p>
            <a:pPr marL="1371600" lvl="2" indent="-514350">
              <a:buFont typeface="Wingdings" panose="05000000000000000000" pitchFamily="2" charset="2"/>
              <a:buChar char="Ø"/>
              <a:defRPr/>
            </a:pPr>
            <a:endParaRPr lang="en-US" altLang="zh-CN" dirty="0"/>
          </a:p>
        </p:txBody>
      </p:sp>
      <p:sp>
        <p:nvSpPr>
          <p:cNvPr id="46083" name="Rectangle 6">
            <a:extLst>
              <a:ext uri="{FF2B5EF4-FFF2-40B4-BE49-F238E27FC236}">
                <a16:creationId xmlns:a16="http://schemas.microsoft.com/office/drawing/2014/main" id="{01B861AD-AB75-4C04-BC3D-6B55D79FF65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3252" name="Line 7">
            <a:extLst>
              <a:ext uri="{FF2B5EF4-FFF2-40B4-BE49-F238E27FC236}">
                <a16:creationId xmlns:a16="http://schemas.microsoft.com/office/drawing/2014/main" id="{EA3A90D6-A268-43BF-A221-8CB2ED16510D}"/>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a:extLst>
              <a:ext uri="{FF2B5EF4-FFF2-40B4-BE49-F238E27FC236}">
                <a16:creationId xmlns:a16="http://schemas.microsoft.com/office/drawing/2014/main" id="{934A8848-1A69-41D6-90A2-1FD859A97569}"/>
              </a:ext>
            </a:extLst>
          </p:cNvPr>
          <p:cNvSpPr>
            <a:spLocks noGrp="1" noChangeArrowheads="1"/>
          </p:cNvSpPr>
          <p:nvPr>
            <p:ph type="body" idx="4294967295"/>
          </p:nvPr>
        </p:nvSpPr>
        <p:spPr>
          <a:xfrm>
            <a:off x="0" y="571500"/>
            <a:ext cx="8229600" cy="5786438"/>
          </a:xfrm>
        </p:spPr>
        <p:txBody>
          <a:bodyPr/>
          <a:lstStyle/>
          <a:p>
            <a:r>
              <a:rPr lang="en-US" altLang="zh-CN" sz="4000"/>
              <a:t>1.4.2 </a:t>
            </a:r>
            <a:r>
              <a:rPr lang="zh-CN" altLang="en-US" sz="4000"/>
              <a:t>信息化项目规划的内容</a:t>
            </a:r>
          </a:p>
          <a:p>
            <a:pPr marL="971550" lvl="1" indent="-514350">
              <a:buFontTx/>
              <a:buAutoNum type="arabicPeriod" startAt="2"/>
            </a:pPr>
            <a:r>
              <a:rPr lang="zh-CN" altLang="en-US"/>
              <a:t>信息化的层次与突破口的选择</a:t>
            </a:r>
            <a:endParaRPr lang="en-US" altLang="zh-CN"/>
          </a:p>
          <a:p>
            <a:pPr marL="1371600" lvl="2" indent="-514350">
              <a:lnSpc>
                <a:spcPts val="3163"/>
              </a:lnSpc>
              <a:buFont typeface="Wingdings" panose="05000000000000000000" pitchFamily="2" charset="2"/>
              <a:buChar char="Ø"/>
            </a:pPr>
            <a:r>
              <a:rPr lang="zh-CN" altLang="en-US"/>
              <a:t>组织信息化一般包含四个层次：一线运作层信息化、管理办公层信息化、战略决策层信息化和外部协作层信息化</a:t>
            </a:r>
            <a:endParaRPr lang="en-US" altLang="zh-CN"/>
          </a:p>
          <a:p>
            <a:pPr marL="1371600" lvl="2" indent="-514350">
              <a:lnSpc>
                <a:spcPts val="3163"/>
              </a:lnSpc>
              <a:buFont typeface="Wingdings" panose="05000000000000000000" pitchFamily="2" charset="2"/>
              <a:buChar char="Ø"/>
            </a:pPr>
            <a:r>
              <a:rPr lang="zh-CN" altLang="en-US"/>
              <a:t>原则上讲，信息化应该自下而上，由内而外，但因为组织发展是不平衡的，通常先解决的是组织的瓶颈问题</a:t>
            </a:r>
            <a:endParaRPr lang="en-US" altLang="zh-CN"/>
          </a:p>
          <a:p>
            <a:pPr marL="1371600" lvl="2" indent="-514350">
              <a:lnSpc>
                <a:spcPts val="3163"/>
              </a:lnSpc>
              <a:buFont typeface="Wingdings" panose="05000000000000000000" pitchFamily="2" charset="2"/>
              <a:buChar char="Ø"/>
            </a:pPr>
            <a:r>
              <a:rPr lang="zh-CN" altLang="en-US"/>
              <a:t>对于单位内部的总体信息素质不够高的企业，应该选择容易入手的、业务比较规范的、人员素质相对较高的部分</a:t>
            </a:r>
            <a:endParaRPr lang="en-US" altLang="zh-CN"/>
          </a:p>
          <a:p>
            <a:pPr marL="1371600" lvl="2" indent="-514350">
              <a:lnSpc>
                <a:spcPts val="3163"/>
              </a:lnSpc>
              <a:buFont typeface="Wingdings" panose="05000000000000000000" pitchFamily="2" charset="2"/>
              <a:buChar char="Ø"/>
            </a:pPr>
            <a:r>
              <a:rPr lang="zh-CN" altLang="en-US"/>
              <a:t>对信息技术的作用认识不够深的企业，应选择办公自动化和电子商务为突破口</a:t>
            </a:r>
            <a:endParaRPr lang="en-US" altLang="zh-CN"/>
          </a:p>
        </p:txBody>
      </p:sp>
      <p:sp>
        <p:nvSpPr>
          <p:cNvPr id="47107" name="Rectangle 6">
            <a:extLst>
              <a:ext uri="{FF2B5EF4-FFF2-40B4-BE49-F238E27FC236}">
                <a16:creationId xmlns:a16="http://schemas.microsoft.com/office/drawing/2014/main" id="{D17E53C2-8E94-48AB-A36B-71573B6358C2}"/>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4276" name="Line 7">
            <a:extLst>
              <a:ext uri="{FF2B5EF4-FFF2-40B4-BE49-F238E27FC236}">
                <a16:creationId xmlns:a16="http://schemas.microsoft.com/office/drawing/2014/main" id="{E521726D-5263-4F58-9BD4-99B524CDECE9}"/>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a:extLst>
              <a:ext uri="{FF2B5EF4-FFF2-40B4-BE49-F238E27FC236}">
                <a16:creationId xmlns:a16="http://schemas.microsoft.com/office/drawing/2014/main" id="{B58F2714-3ACB-429F-9055-28E63811FE3B}"/>
              </a:ext>
            </a:extLst>
          </p:cNvPr>
          <p:cNvSpPr>
            <a:spLocks noGrp="1" noChangeArrowheads="1"/>
          </p:cNvSpPr>
          <p:nvPr>
            <p:ph type="body" idx="4294967295"/>
          </p:nvPr>
        </p:nvSpPr>
        <p:spPr>
          <a:xfrm>
            <a:off x="0" y="600075"/>
            <a:ext cx="8229600" cy="5900738"/>
          </a:xfrm>
        </p:spPr>
        <p:txBody>
          <a:bodyPr/>
          <a:lstStyle/>
          <a:p>
            <a:r>
              <a:rPr lang="en-US" altLang="zh-CN" sz="4000"/>
              <a:t>1.4.2 </a:t>
            </a:r>
            <a:r>
              <a:rPr lang="zh-CN" altLang="en-US" sz="4000"/>
              <a:t>信息化项目规划的内容</a:t>
            </a:r>
          </a:p>
          <a:p>
            <a:pPr marL="971550" lvl="1" indent="-514350">
              <a:buFontTx/>
              <a:buAutoNum type="arabicPeriod" startAt="3"/>
            </a:pPr>
            <a:endParaRPr lang="en-US" altLang="zh-CN"/>
          </a:p>
          <a:p>
            <a:pPr marL="971550" lvl="1" indent="-514350">
              <a:buFontTx/>
              <a:buAutoNum type="arabicPeriod" startAt="3"/>
            </a:pPr>
            <a:r>
              <a:rPr lang="zh-CN" altLang="en-US"/>
              <a:t>信息化的模式选择：</a:t>
            </a:r>
            <a:endParaRPr lang="en-US" altLang="zh-CN"/>
          </a:p>
          <a:p>
            <a:pPr marL="971550" lvl="1" indent="-514350">
              <a:buFont typeface="Wingdings" panose="05000000000000000000" pitchFamily="2" charset="2"/>
              <a:buChar char="Ø"/>
            </a:pPr>
            <a:r>
              <a:rPr lang="zh-CN" altLang="en-US"/>
              <a:t>行业互动模式</a:t>
            </a:r>
            <a:endParaRPr lang="en-US" altLang="zh-CN"/>
          </a:p>
          <a:p>
            <a:pPr marL="1371600" lvl="2" indent="-514350">
              <a:buFont typeface="Wingdings" panose="05000000000000000000" pitchFamily="2" charset="2"/>
              <a:buChar char="ü"/>
            </a:pPr>
            <a:r>
              <a:rPr lang="zh-CN" altLang="en-US"/>
              <a:t>组织信息化建设与其所在行业的信息化之间普遍存在着相互促进和约束的互动关系，我们将组织的信息化建设与行业信息化之间相互影响而出现的信息化建设模式称为行业互动模式。行业互动模式适合于一般单位的信息化建设</a:t>
            </a:r>
            <a:endParaRPr lang="en-US" altLang="zh-CN"/>
          </a:p>
          <a:p>
            <a:pPr marL="971550" lvl="1" indent="-514350">
              <a:buFont typeface="Wingdings" panose="05000000000000000000" pitchFamily="2" charset="2"/>
              <a:buChar char="Ø"/>
            </a:pPr>
            <a:r>
              <a:rPr lang="zh-CN" altLang="en-US"/>
              <a:t>挑战</a:t>
            </a:r>
            <a:r>
              <a:rPr lang="en-US" altLang="zh-CN"/>
              <a:t>——</a:t>
            </a:r>
            <a:r>
              <a:rPr lang="zh-CN" altLang="en-US"/>
              <a:t>反应模式</a:t>
            </a:r>
            <a:endParaRPr lang="en-US" altLang="zh-CN"/>
          </a:p>
          <a:p>
            <a:pPr marL="1371600" lvl="2" indent="-514350">
              <a:buFont typeface="Wingdings" panose="05000000000000000000" pitchFamily="2" charset="2"/>
              <a:buChar char="ü"/>
            </a:pPr>
            <a:r>
              <a:rPr lang="zh-CN" altLang="en-US"/>
              <a:t>组织为了面对现实的挑战或未来的挑战而采取积极的对应措施，其更适于行业中领头羊单位的信息化的建设</a:t>
            </a:r>
            <a:endParaRPr lang="en-US" altLang="zh-CN"/>
          </a:p>
        </p:txBody>
      </p:sp>
      <p:sp>
        <p:nvSpPr>
          <p:cNvPr id="48131" name="Rectangle 6">
            <a:extLst>
              <a:ext uri="{FF2B5EF4-FFF2-40B4-BE49-F238E27FC236}">
                <a16:creationId xmlns:a16="http://schemas.microsoft.com/office/drawing/2014/main" id="{A49B98CB-698E-4351-8363-36957C7F7325}"/>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5300" name="Line 7">
            <a:extLst>
              <a:ext uri="{FF2B5EF4-FFF2-40B4-BE49-F238E27FC236}">
                <a16:creationId xmlns:a16="http://schemas.microsoft.com/office/drawing/2014/main" id="{94082CEB-34BF-4A2F-AD6A-C82031505ABF}"/>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a:extLst>
              <a:ext uri="{FF2B5EF4-FFF2-40B4-BE49-F238E27FC236}">
                <a16:creationId xmlns:a16="http://schemas.microsoft.com/office/drawing/2014/main" id="{84F415A1-42B0-4482-966A-253FE506414A}"/>
              </a:ext>
            </a:extLst>
          </p:cNvPr>
          <p:cNvSpPr>
            <a:spLocks noGrp="1" noChangeArrowheads="1"/>
          </p:cNvSpPr>
          <p:nvPr>
            <p:ph type="body" idx="4294967295"/>
          </p:nvPr>
        </p:nvSpPr>
        <p:spPr>
          <a:xfrm>
            <a:off x="0" y="571500"/>
            <a:ext cx="8229600" cy="5043488"/>
          </a:xfrm>
        </p:spPr>
        <p:txBody>
          <a:bodyPr/>
          <a:lstStyle/>
          <a:p>
            <a:r>
              <a:rPr lang="en-US" altLang="zh-CN" sz="4000"/>
              <a:t>1.4.2 </a:t>
            </a:r>
            <a:r>
              <a:rPr lang="zh-CN" altLang="en-US" sz="4000"/>
              <a:t>信息化项目规划的内容</a:t>
            </a:r>
          </a:p>
          <a:p>
            <a:pPr marL="971550" lvl="1" indent="-514350">
              <a:buFontTx/>
              <a:buAutoNum type="arabicPeriod" startAt="3"/>
            </a:pPr>
            <a:endParaRPr lang="en-US" altLang="zh-CN"/>
          </a:p>
          <a:p>
            <a:pPr marL="971550" lvl="1" indent="-514350">
              <a:buFontTx/>
              <a:buAutoNum type="arabicPeriod" startAt="3"/>
            </a:pPr>
            <a:r>
              <a:rPr lang="zh-CN" altLang="en-US"/>
              <a:t>信息化的模式选择：</a:t>
            </a:r>
            <a:endParaRPr lang="en-US" altLang="zh-CN"/>
          </a:p>
          <a:p>
            <a:pPr marL="971550" lvl="1" indent="-514350">
              <a:buFont typeface="Wingdings" panose="05000000000000000000" pitchFamily="2" charset="2"/>
              <a:buChar char="Ø"/>
            </a:pPr>
            <a:r>
              <a:rPr lang="zh-CN" altLang="en-US"/>
              <a:t>雁行模式</a:t>
            </a:r>
            <a:endParaRPr lang="en-US" altLang="zh-CN"/>
          </a:p>
          <a:p>
            <a:pPr marL="1371600" lvl="2" indent="-514350">
              <a:buFont typeface="Wingdings" panose="05000000000000000000" pitchFamily="2" charset="2"/>
              <a:buChar char="ü"/>
            </a:pPr>
            <a:r>
              <a:rPr lang="zh-CN" altLang="en-US"/>
              <a:t>由于不同组织实施信息化的时间不同或起点不同，行业内不同单位之间形成了技术和管理水平上的差距系列，犹如大雁飞行状发展的模式，常见于行业内的跟随者。</a:t>
            </a:r>
            <a:endParaRPr lang="en-US" altLang="zh-CN"/>
          </a:p>
          <a:p>
            <a:pPr marL="971550" lvl="1" indent="-514350">
              <a:buFont typeface="Wingdings" panose="05000000000000000000" pitchFamily="2" charset="2"/>
              <a:buChar char="Ø"/>
            </a:pPr>
            <a:r>
              <a:rPr lang="zh-CN" altLang="en-US"/>
              <a:t>地域互动模式</a:t>
            </a:r>
            <a:endParaRPr lang="en-US" altLang="zh-CN"/>
          </a:p>
          <a:p>
            <a:pPr marL="1371600" lvl="2" indent="-514350">
              <a:buFont typeface="Wingdings" panose="05000000000000000000" pitchFamily="2" charset="2"/>
              <a:buChar char="ü"/>
            </a:pPr>
            <a:r>
              <a:rPr lang="zh-CN" altLang="en-US"/>
              <a:t>总而言之，由于地域因素影响投资信息化而形成的信息化建设模式，称为地域互动模式</a:t>
            </a:r>
            <a:endParaRPr lang="en-US" altLang="zh-CN"/>
          </a:p>
        </p:txBody>
      </p:sp>
      <p:sp>
        <p:nvSpPr>
          <p:cNvPr id="49155" name="Rectangle 6">
            <a:extLst>
              <a:ext uri="{FF2B5EF4-FFF2-40B4-BE49-F238E27FC236}">
                <a16:creationId xmlns:a16="http://schemas.microsoft.com/office/drawing/2014/main" id="{2A11706D-092F-4A61-9742-AD6067C318E6}"/>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6324" name="Line 7">
            <a:extLst>
              <a:ext uri="{FF2B5EF4-FFF2-40B4-BE49-F238E27FC236}">
                <a16:creationId xmlns:a16="http://schemas.microsoft.com/office/drawing/2014/main" id="{F2B1FC50-3744-42D1-B113-07322830B48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a:extLst>
              <a:ext uri="{FF2B5EF4-FFF2-40B4-BE49-F238E27FC236}">
                <a16:creationId xmlns:a16="http://schemas.microsoft.com/office/drawing/2014/main" id="{8A649EBF-06E5-4302-81F3-1CD2B5941DD1}"/>
              </a:ext>
            </a:extLst>
          </p:cNvPr>
          <p:cNvSpPr>
            <a:spLocks noGrp="1" noChangeArrowheads="1"/>
          </p:cNvSpPr>
          <p:nvPr>
            <p:ph type="body" idx="4294967295"/>
          </p:nvPr>
        </p:nvSpPr>
        <p:spPr>
          <a:xfrm>
            <a:off x="0" y="476250"/>
            <a:ext cx="8229600" cy="1185863"/>
          </a:xfrm>
        </p:spPr>
        <p:txBody>
          <a:bodyPr/>
          <a:lstStyle/>
          <a:p>
            <a:r>
              <a:rPr lang="en-US" altLang="zh-CN" sz="4000"/>
              <a:t>1.4.2 </a:t>
            </a:r>
            <a:r>
              <a:rPr lang="zh-CN" altLang="en-US" sz="4000"/>
              <a:t>信息化项目规划的内容</a:t>
            </a:r>
          </a:p>
          <a:p>
            <a:pPr marL="971550" lvl="1" indent="-514350">
              <a:buFontTx/>
              <a:buAutoNum type="arabicPeriod" startAt="4"/>
            </a:pPr>
            <a:r>
              <a:rPr lang="zh-CN" altLang="en-US"/>
              <a:t>某企业信息化项目规划实例</a:t>
            </a:r>
            <a:endParaRPr lang="en-US" altLang="zh-CN"/>
          </a:p>
        </p:txBody>
      </p:sp>
      <p:sp>
        <p:nvSpPr>
          <p:cNvPr id="50179" name="Rectangle 6">
            <a:extLst>
              <a:ext uri="{FF2B5EF4-FFF2-40B4-BE49-F238E27FC236}">
                <a16:creationId xmlns:a16="http://schemas.microsoft.com/office/drawing/2014/main" id="{F988B85D-3896-4C8D-B38B-60C1F167698E}"/>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7348" name="Line 7">
            <a:extLst>
              <a:ext uri="{FF2B5EF4-FFF2-40B4-BE49-F238E27FC236}">
                <a16:creationId xmlns:a16="http://schemas.microsoft.com/office/drawing/2014/main" id="{F4CF6343-7D35-4F74-88F6-08E81A7BF553}"/>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7349" name="Picture 7">
            <a:extLst>
              <a:ext uri="{FF2B5EF4-FFF2-40B4-BE49-F238E27FC236}">
                <a16:creationId xmlns:a16="http://schemas.microsoft.com/office/drawing/2014/main" id="{5B2AC7DE-ED40-415F-825C-A7760BF63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26" b="5255"/>
          <a:stretch>
            <a:fillRect/>
          </a:stretch>
        </p:blipFill>
        <p:spPr bwMode="auto">
          <a:xfrm>
            <a:off x="592138" y="1739900"/>
            <a:ext cx="8012112" cy="48498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a:extLst>
              <a:ext uri="{FF2B5EF4-FFF2-40B4-BE49-F238E27FC236}">
                <a16:creationId xmlns:a16="http://schemas.microsoft.com/office/drawing/2014/main" id="{BF7ACD44-1089-4D3D-8E8B-056871954A7D}"/>
              </a:ext>
            </a:extLst>
          </p:cNvPr>
          <p:cNvSpPr>
            <a:spLocks noGrp="1" noChangeArrowheads="1"/>
          </p:cNvSpPr>
          <p:nvPr>
            <p:ph type="body" idx="4294967295"/>
          </p:nvPr>
        </p:nvSpPr>
        <p:spPr>
          <a:xfrm>
            <a:off x="0" y="500063"/>
            <a:ext cx="8643938" cy="6215062"/>
          </a:xfrm>
        </p:spPr>
        <p:txBody>
          <a:bodyPr/>
          <a:lstStyle/>
          <a:p>
            <a:pPr>
              <a:buFontTx/>
              <a:buNone/>
            </a:pPr>
            <a:r>
              <a:rPr lang="en-US" altLang="zh-CN" sz="4000"/>
              <a:t>1.4.3 </a:t>
            </a:r>
            <a:r>
              <a:rPr lang="zh-CN" altLang="en-US" sz="4000"/>
              <a:t>关键成功因素法与价值链分析法</a:t>
            </a:r>
          </a:p>
          <a:p>
            <a:pPr marL="971550" lvl="1" indent="-514350">
              <a:buFontTx/>
              <a:buAutoNum type="arabicPeriod"/>
            </a:pPr>
            <a:endParaRPr lang="en-US" altLang="zh-CN"/>
          </a:p>
          <a:p>
            <a:pPr marL="971550" lvl="1" indent="-514350">
              <a:buFontTx/>
              <a:buAutoNum type="arabicPeriod"/>
            </a:pPr>
            <a:r>
              <a:rPr lang="zh-CN" altLang="en-US"/>
              <a:t>关键成功因素法</a:t>
            </a:r>
            <a:r>
              <a:rPr lang="en-US" altLang="zh-CN"/>
              <a:t>(CSF)</a:t>
            </a:r>
            <a:r>
              <a:rPr lang="zh-CN" altLang="en-US"/>
              <a:t>：</a:t>
            </a:r>
            <a:endParaRPr lang="en-US" altLang="zh-CN"/>
          </a:p>
          <a:p>
            <a:pPr marL="1371600" lvl="2" indent="-514350">
              <a:buFontTx/>
              <a:buNone/>
            </a:pPr>
            <a:r>
              <a:rPr lang="zh-CN" altLang="en-US"/>
              <a:t>（</a:t>
            </a:r>
            <a:r>
              <a:rPr lang="en-US" altLang="zh-CN"/>
              <a:t>1</a:t>
            </a:r>
            <a:r>
              <a:rPr lang="zh-CN" altLang="en-US"/>
              <a:t>）以关键成功因素为依据来确定系统信息需求的一种信息系统规划常用方法</a:t>
            </a:r>
            <a:endParaRPr lang="en-US" altLang="zh-CN"/>
          </a:p>
          <a:p>
            <a:pPr marL="1371600" lvl="2" indent="-514350">
              <a:buFontTx/>
              <a:buNone/>
            </a:pPr>
            <a:r>
              <a:rPr lang="zh-CN" altLang="en-US"/>
              <a:t>（</a:t>
            </a:r>
            <a:r>
              <a:rPr lang="en-US" altLang="zh-CN"/>
              <a:t>2</a:t>
            </a:r>
            <a:r>
              <a:rPr lang="zh-CN" altLang="en-US"/>
              <a:t>）关键成功因素：</a:t>
            </a:r>
            <a:endParaRPr lang="en-US" altLang="zh-CN"/>
          </a:p>
          <a:p>
            <a:pPr marL="1828800" lvl="3" indent="-514350">
              <a:buFont typeface="Wingdings" panose="05000000000000000000" pitchFamily="2" charset="2"/>
              <a:buChar char="ü"/>
            </a:pPr>
            <a:r>
              <a:rPr lang="zh-CN" altLang="en-US"/>
              <a:t>现行系统中，总存在着多个变量影响系统目标的实现，其中若干个因素是关键的和主要的（即成功因素），这些因素我们称之为关键成功因素。通过分析找出实现目标所需的关键信息集合，然后再围绕这些关键因素来确定系统的需求，从而确定系统或项目建设的优先次序</a:t>
            </a:r>
            <a:endParaRPr lang="en-US" altLang="zh-CN"/>
          </a:p>
        </p:txBody>
      </p:sp>
      <p:sp>
        <p:nvSpPr>
          <p:cNvPr id="51203" name="Rectangle 6">
            <a:extLst>
              <a:ext uri="{FF2B5EF4-FFF2-40B4-BE49-F238E27FC236}">
                <a16:creationId xmlns:a16="http://schemas.microsoft.com/office/drawing/2014/main" id="{A6320226-628E-49AC-98FA-0F40A33E76F0}"/>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8372" name="Line 7">
            <a:extLst>
              <a:ext uri="{FF2B5EF4-FFF2-40B4-BE49-F238E27FC236}">
                <a16:creationId xmlns:a16="http://schemas.microsoft.com/office/drawing/2014/main" id="{0412620D-9378-41EA-B7B0-75ED518D869E}"/>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a:extLst>
              <a:ext uri="{FF2B5EF4-FFF2-40B4-BE49-F238E27FC236}">
                <a16:creationId xmlns:a16="http://schemas.microsoft.com/office/drawing/2014/main" id="{5DB29583-1EB1-4972-82AD-17ECC8FA5F1B}"/>
              </a:ext>
            </a:extLst>
          </p:cNvPr>
          <p:cNvSpPr>
            <a:spLocks noGrp="1" noChangeArrowheads="1"/>
          </p:cNvSpPr>
          <p:nvPr>
            <p:ph type="body" idx="4294967295"/>
          </p:nvPr>
        </p:nvSpPr>
        <p:spPr>
          <a:xfrm>
            <a:off x="357188" y="974725"/>
            <a:ext cx="8786812" cy="4525963"/>
          </a:xfrm>
        </p:spPr>
        <p:txBody>
          <a:bodyPr>
            <a:normAutofit/>
          </a:bodyPr>
          <a:lstStyle/>
          <a:p>
            <a:pPr>
              <a:buFontTx/>
              <a:buNone/>
              <a:defRPr/>
            </a:pPr>
            <a:r>
              <a:rPr lang="en-US" altLang="zh-CN" sz="4000" dirty="0"/>
              <a:t>1.4.3 </a:t>
            </a:r>
            <a:r>
              <a:rPr lang="zh-CN" altLang="en-US" sz="4000" dirty="0"/>
              <a:t>关键成功因素法与价值链分析法</a:t>
            </a:r>
          </a:p>
          <a:p>
            <a:pPr marL="971550" lvl="1" indent="-514350">
              <a:buFontTx/>
              <a:buAutoNum type="arabicPeriod"/>
              <a:defRPr/>
            </a:pPr>
            <a:endParaRPr lang="en-US" altLang="zh-CN" dirty="0"/>
          </a:p>
          <a:p>
            <a:pPr marL="971550" lvl="1" indent="-514350">
              <a:buFontTx/>
              <a:buAutoNum type="arabicPeriod"/>
              <a:defRPr/>
            </a:pPr>
            <a:r>
              <a:rPr lang="zh-CN" altLang="en-US" dirty="0"/>
              <a:t>关键成功因素法</a:t>
            </a:r>
            <a:r>
              <a:rPr lang="en-US" altLang="zh-CN" dirty="0"/>
              <a:t>(CSF)</a:t>
            </a:r>
            <a:r>
              <a:rPr lang="zh-CN" altLang="en-US" dirty="0"/>
              <a:t>：</a:t>
            </a:r>
            <a:endParaRPr lang="en-US" altLang="zh-CN" dirty="0"/>
          </a:p>
          <a:p>
            <a:pPr marL="1371600" lvl="2" indent="-514350">
              <a:buFontTx/>
              <a:buNone/>
              <a:defRPr/>
            </a:pPr>
            <a:r>
              <a:rPr lang="zh-CN" altLang="en-US" dirty="0"/>
              <a:t>（</a:t>
            </a:r>
            <a:r>
              <a:rPr lang="en-US" altLang="zh-CN" dirty="0"/>
              <a:t>3</a:t>
            </a:r>
            <a:r>
              <a:rPr lang="zh-CN" altLang="en-US" dirty="0"/>
              <a:t>）关键成功因素的四个步骤：</a:t>
            </a:r>
            <a:endParaRPr lang="en-US" altLang="zh-CN" dirty="0"/>
          </a:p>
          <a:p>
            <a:pPr marL="1714500" lvl="3" indent="-342900">
              <a:buFont typeface="Wingdings" pitchFamily="2" charset="2"/>
              <a:buChar char="Ø"/>
              <a:defRPr/>
            </a:pPr>
            <a:r>
              <a:rPr lang="zh-CN" altLang="en-US" sz="2400" dirty="0"/>
              <a:t>了解组织的目标；</a:t>
            </a:r>
            <a:endParaRPr lang="en-US" altLang="zh-CN" sz="2400" dirty="0"/>
          </a:p>
          <a:p>
            <a:pPr marL="1714500" lvl="3" indent="-342900">
              <a:buFont typeface="Wingdings" pitchFamily="2" charset="2"/>
              <a:buChar char="Ø"/>
              <a:defRPr/>
            </a:pPr>
            <a:r>
              <a:rPr lang="zh-CN" altLang="en-US" sz="2400" dirty="0"/>
              <a:t>识别关键成功因素；</a:t>
            </a:r>
            <a:endParaRPr lang="en-US" altLang="zh-CN" sz="2400" dirty="0"/>
          </a:p>
          <a:p>
            <a:pPr marL="1714500" lvl="3" indent="-342900">
              <a:buFont typeface="Wingdings" pitchFamily="2" charset="2"/>
              <a:buChar char="Ø"/>
              <a:defRPr/>
            </a:pPr>
            <a:r>
              <a:rPr lang="zh-CN" altLang="en-US" sz="2400" dirty="0"/>
              <a:t>识别性能的指标和标准；</a:t>
            </a:r>
            <a:endParaRPr lang="en-US" altLang="zh-CN" sz="2400" dirty="0"/>
          </a:p>
          <a:p>
            <a:pPr marL="1714500" lvl="3" indent="-342900">
              <a:buFont typeface="Wingdings" pitchFamily="2" charset="2"/>
              <a:buChar char="Ø"/>
              <a:defRPr/>
            </a:pPr>
            <a:r>
              <a:rPr lang="zh-CN" altLang="en-US" sz="2400" dirty="0"/>
              <a:t>识别测量性能的数据</a:t>
            </a:r>
            <a:endParaRPr lang="en-US" altLang="zh-CN" sz="2400" dirty="0"/>
          </a:p>
          <a:p>
            <a:pPr marL="1371600" lvl="3" indent="0">
              <a:buFontTx/>
              <a:buNone/>
              <a:defRPr/>
            </a:pPr>
            <a:r>
              <a:rPr lang="zh-CN" altLang="en-US" sz="2400" dirty="0"/>
              <a:t>关键成功因素法在高层应用一般效果比较好 </a:t>
            </a:r>
          </a:p>
        </p:txBody>
      </p:sp>
      <p:sp>
        <p:nvSpPr>
          <p:cNvPr id="52227" name="Rectangle 6">
            <a:extLst>
              <a:ext uri="{FF2B5EF4-FFF2-40B4-BE49-F238E27FC236}">
                <a16:creationId xmlns:a16="http://schemas.microsoft.com/office/drawing/2014/main" id="{BD3E27C1-4AF5-4F37-8BDA-BA1106A44454}"/>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59396" name="Line 7">
            <a:extLst>
              <a:ext uri="{FF2B5EF4-FFF2-40B4-BE49-F238E27FC236}">
                <a16:creationId xmlns:a16="http://schemas.microsoft.com/office/drawing/2014/main" id="{026CFDEC-AF51-4690-B704-CE6FCE74C110}"/>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a:extLst>
              <a:ext uri="{FF2B5EF4-FFF2-40B4-BE49-F238E27FC236}">
                <a16:creationId xmlns:a16="http://schemas.microsoft.com/office/drawing/2014/main" id="{B26CB52B-C487-423F-B83A-91E8EB6B197C}"/>
              </a:ext>
            </a:extLst>
          </p:cNvPr>
          <p:cNvSpPr>
            <a:spLocks noGrp="1" noChangeArrowheads="1"/>
          </p:cNvSpPr>
          <p:nvPr>
            <p:ph type="body" idx="4294967295"/>
          </p:nvPr>
        </p:nvSpPr>
        <p:spPr>
          <a:xfrm>
            <a:off x="0" y="571500"/>
            <a:ext cx="8229600" cy="3757613"/>
          </a:xfrm>
        </p:spPr>
        <p:txBody>
          <a:bodyPr>
            <a:normAutofit fontScale="70000" lnSpcReduction="20000"/>
          </a:bodyPr>
          <a:lstStyle/>
          <a:p>
            <a:pPr marL="609600" indent="-609600">
              <a:buFontTx/>
              <a:buNone/>
              <a:defRPr/>
            </a:pPr>
            <a:r>
              <a:rPr lang="en-US" altLang="zh-CN" sz="3600"/>
              <a:t>1.4.3 </a:t>
            </a:r>
            <a:r>
              <a:rPr lang="zh-CN" altLang="en-US" sz="3600"/>
              <a:t>关键成功因素法与价值链分析法</a:t>
            </a:r>
          </a:p>
          <a:p>
            <a:pPr marL="990600" lvl="1" indent="-533400">
              <a:buFontTx/>
              <a:buAutoNum type="arabicPeriod" startAt="2"/>
              <a:defRPr/>
            </a:pPr>
            <a:endParaRPr lang="en-US" altLang="zh-CN"/>
          </a:p>
          <a:p>
            <a:pPr marL="990600" lvl="1" indent="-533400">
              <a:buFontTx/>
              <a:buAutoNum type="arabicPeriod" startAt="2"/>
              <a:defRPr/>
            </a:pPr>
            <a:r>
              <a:rPr lang="zh-CN" altLang="en-US"/>
              <a:t>价值链分析法：</a:t>
            </a:r>
            <a:endParaRPr lang="en-US" altLang="zh-CN"/>
          </a:p>
          <a:p>
            <a:pPr marL="1371600" lvl="2" indent="-514350">
              <a:lnSpc>
                <a:spcPts val="3063"/>
              </a:lnSpc>
              <a:buFontTx/>
              <a:buNone/>
              <a:defRPr/>
            </a:pPr>
            <a:r>
              <a:rPr lang="zh-CN" altLang="en-US"/>
              <a:t>（</a:t>
            </a:r>
            <a:r>
              <a:rPr lang="en-US" altLang="zh-CN"/>
              <a:t>1</a:t>
            </a:r>
            <a:r>
              <a:rPr lang="zh-CN" altLang="en-US"/>
              <a:t>）它将一个组织视为一系列的输入、转换与输出的活动的集合，每一个活动都有可能相对于最终服务或产品产生增值的行为，为增强企业的竞争地位做出贡献；利用信息技术，在价值链中识别并设置“信息增强器”，使得整个价值链在总体上得以增值，从而提高组织的竞争优势</a:t>
            </a:r>
          </a:p>
          <a:p>
            <a:pPr marL="1752600" lvl="3" indent="-381000">
              <a:lnSpc>
                <a:spcPts val="2863"/>
              </a:lnSpc>
              <a:buFont typeface="Wingdings" panose="05000000000000000000" pitchFamily="2" charset="2"/>
              <a:buChar char="Ø"/>
              <a:defRPr/>
            </a:pPr>
            <a:r>
              <a:rPr lang="zh-CN" altLang="en-US" sz="2400"/>
              <a:t>价值链分析的思想认为企业的价值增值过程，可以分为既相互独立又相互联系的多个价值活动，这些价值活动形成一个独特的价值链 </a:t>
            </a:r>
            <a:endParaRPr lang="en-US" altLang="zh-CN" sz="2400"/>
          </a:p>
          <a:p>
            <a:pPr marL="1371600" lvl="2" indent="-514350">
              <a:buFontTx/>
              <a:buNone/>
              <a:defRPr/>
            </a:pPr>
            <a:r>
              <a:rPr lang="zh-CN" altLang="en-US"/>
              <a:t>（</a:t>
            </a:r>
            <a:r>
              <a:rPr lang="en-US" altLang="zh-CN"/>
              <a:t>2</a:t>
            </a:r>
            <a:r>
              <a:rPr lang="zh-CN" altLang="en-US"/>
              <a:t>）企业价值链分析</a:t>
            </a:r>
            <a:endParaRPr lang="en-US" altLang="zh-CN"/>
          </a:p>
          <a:p>
            <a:pPr marL="1371600" lvl="2" indent="-514350">
              <a:buFontTx/>
              <a:buNone/>
              <a:defRPr/>
            </a:pPr>
            <a:endParaRPr lang="en-US" altLang="zh-CN"/>
          </a:p>
          <a:p>
            <a:pPr marL="990600" lvl="1" indent="-533400">
              <a:buFontTx/>
              <a:buNone/>
              <a:defRPr/>
            </a:pPr>
            <a:endParaRPr lang="zh-CN" altLang="en-US"/>
          </a:p>
        </p:txBody>
      </p:sp>
      <p:sp>
        <p:nvSpPr>
          <p:cNvPr id="53251" name="Rectangle 6">
            <a:extLst>
              <a:ext uri="{FF2B5EF4-FFF2-40B4-BE49-F238E27FC236}">
                <a16:creationId xmlns:a16="http://schemas.microsoft.com/office/drawing/2014/main" id="{F6B1A37D-68EC-4028-B3AC-6C93D38122BB}"/>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60420" name="Line 7">
            <a:extLst>
              <a:ext uri="{FF2B5EF4-FFF2-40B4-BE49-F238E27FC236}">
                <a16:creationId xmlns:a16="http://schemas.microsoft.com/office/drawing/2014/main" id="{75D42C47-51CD-471C-A975-C5005EA549BC}"/>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a:extLst>
              <a:ext uri="{FF2B5EF4-FFF2-40B4-BE49-F238E27FC236}">
                <a16:creationId xmlns:a16="http://schemas.microsoft.com/office/drawing/2014/main" id="{3B965F6E-5FA5-40D3-9FDC-F0BC75C8A95D}"/>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61443" name="Line 7">
            <a:extLst>
              <a:ext uri="{FF2B5EF4-FFF2-40B4-BE49-F238E27FC236}">
                <a16:creationId xmlns:a16="http://schemas.microsoft.com/office/drawing/2014/main" id="{A3A9316F-ABB6-41D5-B042-3E75CA12BAFB}"/>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4" name="Text Box 36">
            <a:extLst>
              <a:ext uri="{FF2B5EF4-FFF2-40B4-BE49-F238E27FC236}">
                <a16:creationId xmlns:a16="http://schemas.microsoft.com/office/drawing/2014/main" id="{1F087906-4AB4-46F7-87F3-8480F515812E}"/>
              </a:ext>
            </a:extLst>
          </p:cNvPr>
          <p:cNvSpPr txBox="1">
            <a:spLocks noChangeArrowheads="1"/>
          </p:cNvSpPr>
          <p:nvPr/>
        </p:nvSpPr>
        <p:spPr bwMode="auto">
          <a:xfrm>
            <a:off x="5075238" y="3508375"/>
            <a:ext cx="3603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zh-CN" sz="1800" b="0"/>
              <a:t>利润</a:t>
            </a:r>
          </a:p>
        </p:txBody>
      </p:sp>
      <p:grpSp>
        <p:nvGrpSpPr>
          <p:cNvPr id="61445" name="Group 37">
            <a:extLst>
              <a:ext uri="{FF2B5EF4-FFF2-40B4-BE49-F238E27FC236}">
                <a16:creationId xmlns:a16="http://schemas.microsoft.com/office/drawing/2014/main" id="{8D3CD872-4005-49BD-9ED0-AB1714E3B636}"/>
              </a:ext>
            </a:extLst>
          </p:cNvPr>
          <p:cNvGrpSpPr>
            <a:grpSpLocks/>
          </p:cNvGrpSpPr>
          <p:nvPr/>
        </p:nvGrpSpPr>
        <p:grpSpPr bwMode="auto">
          <a:xfrm>
            <a:off x="571500" y="785813"/>
            <a:ext cx="8286750" cy="5500687"/>
            <a:chOff x="0" y="0"/>
            <a:chExt cx="3420" cy="3135"/>
          </a:xfrm>
        </p:grpSpPr>
        <p:sp>
          <p:nvSpPr>
            <p:cNvPr id="61449" name="Rectangle 38">
              <a:extLst>
                <a:ext uri="{FF2B5EF4-FFF2-40B4-BE49-F238E27FC236}">
                  <a16:creationId xmlns:a16="http://schemas.microsoft.com/office/drawing/2014/main" id="{0EB31E64-1578-49DE-9C52-60AB76ED02B4}"/>
                </a:ext>
              </a:extLst>
            </p:cNvPr>
            <p:cNvSpPr>
              <a:spLocks noChangeArrowheads="1"/>
            </p:cNvSpPr>
            <p:nvPr/>
          </p:nvSpPr>
          <p:spPr bwMode="auto">
            <a:xfrm>
              <a:off x="0" y="15"/>
              <a:ext cx="2700" cy="469"/>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b="0">
                  <a:latin typeface="Times New Roman" panose="02020603050405020304" pitchFamily="18" charset="0"/>
                </a:rPr>
                <a:t>企业基础设施</a:t>
              </a:r>
              <a:endParaRPr lang="zh-CN" altLang="zh-CN" sz="3600" b="0"/>
            </a:p>
          </p:txBody>
        </p:sp>
        <p:sp>
          <p:nvSpPr>
            <p:cNvPr id="61450" name="Rectangle 39">
              <a:extLst>
                <a:ext uri="{FF2B5EF4-FFF2-40B4-BE49-F238E27FC236}">
                  <a16:creationId xmlns:a16="http://schemas.microsoft.com/office/drawing/2014/main" id="{1B098E6E-734C-4D62-9169-A662A444C603}"/>
                </a:ext>
              </a:extLst>
            </p:cNvPr>
            <p:cNvSpPr>
              <a:spLocks noChangeArrowheads="1"/>
            </p:cNvSpPr>
            <p:nvPr/>
          </p:nvSpPr>
          <p:spPr bwMode="auto">
            <a:xfrm>
              <a:off x="0" y="483"/>
              <a:ext cx="2700" cy="778"/>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1800" b="0">
                  <a:latin typeface="Times New Roman" panose="02020603050405020304" pitchFamily="18" charset="0"/>
                </a:rPr>
                <a:t>                             </a:t>
              </a:r>
              <a:r>
                <a:rPr lang="zh-CN" altLang="zh-CN" sz="3600" b="0">
                  <a:latin typeface="Times New Roman" panose="02020603050405020304" pitchFamily="18" charset="0"/>
                </a:rPr>
                <a:t>人力 资 源 管理</a:t>
              </a:r>
              <a:endParaRPr lang="zh-CN" altLang="zh-CN" sz="3600" b="0"/>
            </a:p>
          </p:txBody>
        </p:sp>
        <p:sp>
          <p:nvSpPr>
            <p:cNvPr id="61451" name="Rectangle 40">
              <a:extLst>
                <a:ext uri="{FF2B5EF4-FFF2-40B4-BE49-F238E27FC236}">
                  <a16:creationId xmlns:a16="http://schemas.microsoft.com/office/drawing/2014/main" id="{01B48521-A49D-44EF-8361-576EAE0B6C96}"/>
                </a:ext>
              </a:extLst>
            </p:cNvPr>
            <p:cNvSpPr>
              <a:spLocks noChangeArrowheads="1"/>
            </p:cNvSpPr>
            <p:nvPr/>
          </p:nvSpPr>
          <p:spPr bwMode="auto">
            <a:xfrm>
              <a:off x="0" y="1248"/>
              <a:ext cx="2700" cy="469"/>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Tx/>
                <a:buNone/>
              </a:pPr>
              <a:r>
                <a:rPr lang="zh-CN" altLang="zh-CN" sz="3600" b="0">
                  <a:latin typeface="Times New Roman" panose="02020603050405020304" pitchFamily="18" charset="0"/>
                </a:rPr>
                <a:t>采购</a:t>
              </a:r>
              <a:endParaRPr lang="zh-CN" altLang="zh-CN" sz="3600" b="0"/>
            </a:p>
          </p:txBody>
        </p:sp>
        <p:sp>
          <p:nvSpPr>
            <p:cNvPr id="61452" name="Rectangle 41">
              <a:extLst>
                <a:ext uri="{FF2B5EF4-FFF2-40B4-BE49-F238E27FC236}">
                  <a16:creationId xmlns:a16="http://schemas.microsoft.com/office/drawing/2014/main" id="{C663600A-E2F6-4497-953A-9087639212DF}"/>
                </a:ext>
              </a:extLst>
            </p:cNvPr>
            <p:cNvSpPr>
              <a:spLocks noChangeArrowheads="1"/>
            </p:cNvSpPr>
            <p:nvPr/>
          </p:nvSpPr>
          <p:spPr bwMode="auto">
            <a:xfrm>
              <a:off x="0" y="1716"/>
              <a:ext cx="540" cy="1404"/>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3600" b="0">
                  <a:latin typeface="Times New Roman" panose="02020603050405020304" pitchFamily="18" charset="0"/>
                </a:rPr>
                <a:t>内</a:t>
              </a:r>
            </a:p>
            <a:p>
              <a:pPr algn="just" eaLnBrk="1" hangingPunct="1">
                <a:spcBef>
                  <a:spcPct val="0"/>
                </a:spcBef>
                <a:buSzTx/>
                <a:buFontTx/>
                <a:buNone/>
              </a:pPr>
              <a:r>
                <a:rPr lang="zh-CN" altLang="zh-CN" sz="3600" b="0">
                  <a:latin typeface="Times New Roman" panose="02020603050405020304" pitchFamily="18" charset="0"/>
                </a:rPr>
                <a:t>部</a:t>
              </a:r>
            </a:p>
            <a:p>
              <a:pPr algn="just" eaLnBrk="1" hangingPunct="1">
                <a:spcBef>
                  <a:spcPct val="0"/>
                </a:spcBef>
                <a:buSzTx/>
                <a:buFontTx/>
                <a:buNone/>
              </a:pPr>
              <a:r>
                <a:rPr lang="zh-CN" altLang="zh-CN" sz="3600" b="0">
                  <a:latin typeface="Times New Roman" panose="02020603050405020304" pitchFamily="18" charset="0"/>
                </a:rPr>
                <a:t>后</a:t>
              </a:r>
            </a:p>
            <a:p>
              <a:pPr algn="just" eaLnBrk="1" hangingPunct="1">
                <a:spcBef>
                  <a:spcPct val="0"/>
                </a:spcBef>
                <a:buSzTx/>
                <a:buFontTx/>
                <a:buNone/>
              </a:pPr>
              <a:r>
                <a:rPr lang="zh-CN" altLang="zh-CN" sz="3600" b="0">
                  <a:latin typeface="Times New Roman" panose="02020603050405020304" pitchFamily="18" charset="0"/>
                </a:rPr>
                <a:t>勤</a:t>
              </a:r>
              <a:endParaRPr lang="zh-CN" altLang="zh-CN" sz="3600" b="0"/>
            </a:p>
          </p:txBody>
        </p:sp>
        <p:sp>
          <p:nvSpPr>
            <p:cNvPr id="61453" name="Rectangle 42">
              <a:extLst>
                <a:ext uri="{FF2B5EF4-FFF2-40B4-BE49-F238E27FC236}">
                  <a16:creationId xmlns:a16="http://schemas.microsoft.com/office/drawing/2014/main" id="{C6550D6A-A873-4CFE-B795-4F549EA96390}"/>
                </a:ext>
              </a:extLst>
            </p:cNvPr>
            <p:cNvSpPr>
              <a:spLocks noChangeArrowheads="1"/>
            </p:cNvSpPr>
            <p:nvPr/>
          </p:nvSpPr>
          <p:spPr bwMode="auto">
            <a:xfrm>
              <a:off x="540" y="1716"/>
              <a:ext cx="540" cy="1404"/>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3600" b="0">
                  <a:latin typeface="Times New Roman" panose="02020603050405020304" pitchFamily="18" charset="0"/>
                </a:rPr>
                <a:t>生</a:t>
              </a:r>
            </a:p>
            <a:p>
              <a:pPr algn="just" eaLnBrk="1" hangingPunct="1">
                <a:spcBef>
                  <a:spcPct val="0"/>
                </a:spcBef>
                <a:buSzTx/>
                <a:buFontTx/>
                <a:buNone/>
              </a:pPr>
              <a:r>
                <a:rPr lang="zh-CN" altLang="zh-CN" sz="3600" b="0">
                  <a:latin typeface="Times New Roman" panose="02020603050405020304" pitchFamily="18" charset="0"/>
                </a:rPr>
                <a:t>产</a:t>
              </a:r>
            </a:p>
            <a:p>
              <a:pPr algn="just" eaLnBrk="1" hangingPunct="1">
                <a:spcBef>
                  <a:spcPct val="0"/>
                </a:spcBef>
                <a:buSzTx/>
                <a:buFontTx/>
                <a:buNone/>
              </a:pPr>
              <a:r>
                <a:rPr lang="zh-CN" altLang="zh-CN" sz="3600" b="0">
                  <a:latin typeface="Times New Roman" panose="02020603050405020304" pitchFamily="18" charset="0"/>
                </a:rPr>
                <a:t>经</a:t>
              </a:r>
            </a:p>
            <a:p>
              <a:pPr algn="just" eaLnBrk="1" hangingPunct="1">
                <a:spcBef>
                  <a:spcPct val="0"/>
                </a:spcBef>
                <a:buSzTx/>
                <a:buFontTx/>
                <a:buNone/>
              </a:pPr>
              <a:r>
                <a:rPr lang="zh-CN" altLang="zh-CN" sz="3600" b="0">
                  <a:latin typeface="Times New Roman" panose="02020603050405020304" pitchFamily="18" charset="0"/>
                </a:rPr>
                <a:t>营</a:t>
              </a:r>
            </a:p>
          </p:txBody>
        </p:sp>
        <p:sp>
          <p:nvSpPr>
            <p:cNvPr id="61454" name="Rectangle 43">
              <a:extLst>
                <a:ext uri="{FF2B5EF4-FFF2-40B4-BE49-F238E27FC236}">
                  <a16:creationId xmlns:a16="http://schemas.microsoft.com/office/drawing/2014/main" id="{4C20B1F6-01CD-4F50-8B3C-009D9EB85AAA}"/>
                </a:ext>
              </a:extLst>
            </p:cNvPr>
            <p:cNvSpPr>
              <a:spLocks noChangeArrowheads="1"/>
            </p:cNvSpPr>
            <p:nvPr/>
          </p:nvSpPr>
          <p:spPr bwMode="auto">
            <a:xfrm>
              <a:off x="1080" y="1716"/>
              <a:ext cx="540" cy="1404"/>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3600" b="0">
                  <a:latin typeface="Times New Roman" panose="02020603050405020304" pitchFamily="18" charset="0"/>
                </a:rPr>
                <a:t>外</a:t>
              </a:r>
            </a:p>
            <a:p>
              <a:pPr algn="just" eaLnBrk="1" hangingPunct="1">
                <a:spcBef>
                  <a:spcPct val="0"/>
                </a:spcBef>
                <a:buSzTx/>
                <a:buFontTx/>
                <a:buNone/>
              </a:pPr>
              <a:r>
                <a:rPr lang="zh-CN" altLang="zh-CN" sz="3600" b="0">
                  <a:latin typeface="Times New Roman" panose="02020603050405020304" pitchFamily="18" charset="0"/>
                </a:rPr>
                <a:t>部</a:t>
              </a:r>
            </a:p>
            <a:p>
              <a:pPr algn="just" eaLnBrk="1" hangingPunct="1">
                <a:spcBef>
                  <a:spcPct val="0"/>
                </a:spcBef>
                <a:buSzTx/>
                <a:buFontTx/>
                <a:buNone/>
              </a:pPr>
              <a:r>
                <a:rPr lang="zh-CN" altLang="zh-CN" sz="3600" b="0">
                  <a:latin typeface="Times New Roman" panose="02020603050405020304" pitchFamily="18" charset="0"/>
                </a:rPr>
                <a:t>后</a:t>
              </a:r>
            </a:p>
            <a:p>
              <a:pPr algn="just" eaLnBrk="1" hangingPunct="1">
                <a:spcBef>
                  <a:spcPct val="0"/>
                </a:spcBef>
                <a:buSzTx/>
                <a:buFontTx/>
                <a:buNone/>
              </a:pPr>
              <a:r>
                <a:rPr lang="zh-CN" altLang="zh-CN" sz="3600" b="0">
                  <a:latin typeface="Times New Roman" panose="02020603050405020304" pitchFamily="18" charset="0"/>
                </a:rPr>
                <a:t>勤</a:t>
              </a:r>
            </a:p>
          </p:txBody>
        </p:sp>
        <p:sp>
          <p:nvSpPr>
            <p:cNvPr id="61455" name="Rectangle 44">
              <a:extLst>
                <a:ext uri="{FF2B5EF4-FFF2-40B4-BE49-F238E27FC236}">
                  <a16:creationId xmlns:a16="http://schemas.microsoft.com/office/drawing/2014/main" id="{0858CFE1-307E-4EFC-91EE-00EBE3A0F614}"/>
                </a:ext>
              </a:extLst>
            </p:cNvPr>
            <p:cNvSpPr>
              <a:spLocks noChangeArrowheads="1"/>
            </p:cNvSpPr>
            <p:nvPr/>
          </p:nvSpPr>
          <p:spPr bwMode="auto">
            <a:xfrm>
              <a:off x="2160" y="1716"/>
              <a:ext cx="540" cy="1404"/>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3600" b="0">
                  <a:latin typeface="Times New Roman" panose="02020603050405020304" pitchFamily="18" charset="0"/>
                </a:rPr>
                <a:t>服</a:t>
              </a:r>
            </a:p>
            <a:p>
              <a:pPr algn="just" eaLnBrk="1" hangingPunct="1">
                <a:spcBef>
                  <a:spcPct val="0"/>
                </a:spcBef>
                <a:buSzTx/>
                <a:buFontTx/>
                <a:buNone/>
              </a:pPr>
              <a:endParaRPr lang="zh-CN" altLang="zh-CN" sz="3600" b="0">
                <a:latin typeface="Times New Roman" panose="02020603050405020304" pitchFamily="18" charset="0"/>
              </a:endParaRPr>
            </a:p>
            <a:p>
              <a:pPr algn="just" eaLnBrk="1" hangingPunct="1">
                <a:spcBef>
                  <a:spcPct val="0"/>
                </a:spcBef>
                <a:buSzTx/>
                <a:buFontTx/>
                <a:buNone/>
              </a:pPr>
              <a:endParaRPr lang="zh-CN" altLang="zh-CN" sz="3600" b="0">
                <a:latin typeface="Times New Roman" panose="02020603050405020304" pitchFamily="18" charset="0"/>
              </a:endParaRPr>
            </a:p>
            <a:p>
              <a:pPr algn="just" eaLnBrk="1" hangingPunct="1">
                <a:spcBef>
                  <a:spcPct val="0"/>
                </a:spcBef>
                <a:buSzTx/>
                <a:buFontTx/>
                <a:buNone/>
              </a:pPr>
              <a:r>
                <a:rPr lang="zh-CN" altLang="zh-CN" sz="3600" b="0">
                  <a:latin typeface="Times New Roman" panose="02020603050405020304" pitchFamily="18" charset="0"/>
                </a:rPr>
                <a:t>务</a:t>
              </a:r>
            </a:p>
          </p:txBody>
        </p:sp>
        <p:sp>
          <p:nvSpPr>
            <p:cNvPr id="61456" name="AutoShape 45">
              <a:extLst>
                <a:ext uri="{FF2B5EF4-FFF2-40B4-BE49-F238E27FC236}">
                  <a16:creationId xmlns:a16="http://schemas.microsoft.com/office/drawing/2014/main" id="{ECA67AB9-38EB-4B0C-8F6F-F56CAE01F379}"/>
                </a:ext>
              </a:extLst>
            </p:cNvPr>
            <p:cNvSpPr>
              <a:spLocks noChangeArrowheads="1"/>
            </p:cNvSpPr>
            <p:nvPr/>
          </p:nvSpPr>
          <p:spPr bwMode="auto">
            <a:xfrm rot="-5400000">
              <a:off x="1491" y="1208"/>
              <a:ext cx="3135" cy="720"/>
            </a:xfrm>
            <a:prstGeom prst="flowChartMerge">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endParaRPr lang="zh-CN" altLang="zh-CN" sz="3600" b="0">
                <a:latin typeface="Times New Roman" panose="02020603050405020304" pitchFamily="18" charset="0"/>
              </a:endParaRPr>
            </a:p>
          </p:txBody>
        </p:sp>
        <p:sp>
          <p:nvSpPr>
            <p:cNvPr id="61457" name="Line 46">
              <a:extLst>
                <a:ext uri="{FF2B5EF4-FFF2-40B4-BE49-F238E27FC236}">
                  <a16:creationId xmlns:a16="http://schemas.microsoft.com/office/drawing/2014/main" id="{FD16CDF7-7F4C-4134-B386-E116DDEE7066}"/>
                </a:ext>
              </a:extLst>
            </p:cNvPr>
            <p:cNvSpPr>
              <a:spLocks noChangeShapeType="1"/>
            </p:cNvSpPr>
            <p:nvPr/>
          </p:nvSpPr>
          <p:spPr bwMode="auto">
            <a:xfrm flipV="1">
              <a:off x="540" y="468"/>
              <a:ext cx="1" cy="12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8" name="Line 47">
              <a:extLst>
                <a:ext uri="{FF2B5EF4-FFF2-40B4-BE49-F238E27FC236}">
                  <a16:creationId xmlns:a16="http://schemas.microsoft.com/office/drawing/2014/main" id="{0D2995D0-62C0-44DB-AFCA-F05C8F57731E}"/>
                </a:ext>
              </a:extLst>
            </p:cNvPr>
            <p:cNvSpPr>
              <a:spLocks noChangeShapeType="1"/>
            </p:cNvSpPr>
            <p:nvPr/>
          </p:nvSpPr>
          <p:spPr bwMode="auto">
            <a:xfrm flipV="1">
              <a:off x="1620" y="468"/>
              <a:ext cx="1" cy="12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59" name="Line 48">
              <a:extLst>
                <a:ext uri="{FF2B5EF4-FFF2-40B4-BE49-F238E27FC236}">
                  <a16:creationId xmlns:a16="http://schemas.microsoft.com/office/drawing/2014/main" id="{5962C93D-BF35-498E-BED4-4F7F1BDF834E}"/>
                </a:ext>
              </a:extLst>
            </p:cNvPr>
            <p:cNvSpPr>
              <a:spLocks noChangeShapeType="1"/>
            </p:cNvSpPr>
            <p:nvPr/>
          </p:nvSpPr>
          <p:spPr bwMode="auto">
            <a:xfrm flipV="1">
              <a:off x="2160" y="468"/>
              <a:ext cx="1" cy="12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60" name="Rectangle 49">
              <a:extLst>
                <a:ext uri="{FF2B5EF4-FFF2-40B4-BE49-F238E27FC236}">
                  <a16:creationId xmlns:a16="http://schemas.microsoft.com/office/drawing/2014/main" id="{37D793D9-6A9F-4A8C-9D28-2108565D6960}"/>
                </a:ext>
              </a:extLst>
            </p:cNvPr>
            <p:cNvSpPr>
              <a:spLocks noChangeArrowheads="1"/>
            </p:cNvSpPr>
            <p:nvPr/>
          </p:nvSpPr>
          <p:spPr bwMode="auto">
            <a:xfrm>
              <a:off x="1620" y="1716"/>
              <a:ext cx="540" cy="1404"/>
            </a:xfrm>
            <a:prstGeom prst="rect">
              <a:avLst/>
            </a:prstGeom>
            <a:solidFill>
              <a:srgbClr val="FFFFFF"/>
            </a:solidFill>
            <a:ln w="9525">
              <a:solidFill>
                <a:srgbClr val="000000"/>
              </a:solidFill>
              <a:miter lim="800000"/>
              <a:headEnd/>
              <a:tailE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SzTx/>
                <a:buFontTx/>
                <a:buNone/>
              </a:pPr>
              <a:r>
                <a:rPr lang="zh-CN" altLang="zh-CN" sz="3600" b="0">
                  <a:latin typeface="Times New Roman" panose="02020603050405020304" pitchFamily="18" charset="0"/>
                </a:rPr>
                <a:t>市</a:t>
              </a:r>
            </a:p>
            <a:p>
              <a:pPr algn="just" eaLnBrk="1" hangingPunct="1">
                <a:spcBef>
                  <a:spcPct val="0"/>
                </a:spcBef>
                <a:buSzTx/>
                <a:buFontTx/>
                <a:buNone/>
              </a:pPr>
              <a:r>
                <a:rPr lang="zh-CN" altLang="zh-CN" sz="3600" b="0">
                  <a:latin typeface="Times New Roman" panose="02020603050405020304" pitchFamily="18" charset="0"/>
                </a:rPr>
                <a:t>场</a:t>
              </a:r>
            </a:p>
            <a:p>
              <a:pPr algn="just" eaLnBrk="1" hangingPunct="1">
                <a:spcBef>
                  <a:spcPct val="0"/>
                </a:spcBef>
                <a:buSzTx/>
                <a:buFontTx/>
                <a:buNone/>
              </a:pPr>
              <a:r>
                <a:rPr lang="zh-CN" altLang="zh-CN" sz="3600" b="0">
                  <a:latin typeface="Times New Roman" panose="02020603050405020304" pitchFamily="18" charset="0"/>
                </a:rPr>
                <a:t>营</a:t>
              </a:r>
            </a:p>
            <a:p>
              <a:pPr algn="just" eaLnBrk="1" hangingPunct="1">
                <a:spcBef>
                  <a:spcPct val="0"/>
                </a:spcBef>
                <a:buSzTx/>
                <a:buFontTx/>
                <a:buNone/>
              </a:pPr>
              <a:r>
                <a:rPr lang="zh-CN" altLang="zh-CN" sz="3600" b="0">
                  <a:latin typeface="Times New Roman" panose="02020603050405020304" pitchFamily="18" charset="0"/>
                </a:rPr>
                <a:t>销</a:t>
              </a:r>
            </a:p>
          </p:txBody>
        </p:sp>
        <p:sp>
          <p:nvSpPr>
            <p:cNvPr id="61461" name="Line 50">
              <a:extLst>
                <a:ext uri="{FF2B5EF4-FFF2-40B4-BE49-F238E27FC236}">
                  <a16:creationId xmlns:a16="http://schemas.microsoft.com/office/drawing/2014/main" id="{05787F06-8237-42DE-A91C-B147785D5C6F}"/>
                </a:ext>
              </a:extLst>
            </p:cNvPr>
            <p:cNvSpPr>
              <a:spLocks noChangeShapeType="1"/>
            </p:cNvSpPr>
            <p:nvPr/>
          </p:nvSpPr>
          <p:spPr bwMode="auto">
            <a:xfrm flipV="1">
              <a:off x="1080" y="468"/>
              <a:ext cx="1" cy="124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446" name="Line 52">
            <a:extLst>
              <a:ext uri="{FF2B5EF4-FFF2-40B4-BE49-F238E27FC236}">
                <a16:creationId xmlns:a16="http://schemas.microsoft.com/office/drawing/2014/main" id="{80E2FC2F-2657-4FA1-BB03-CF81DD988FEC}"/>
              </a:ext>
            </a:extLst>
          </p:cNvPr>
          <p:cNvSpPr>
            <a:spLocks noChangeShapeType="1"/>
          </p:cNvSpPr>
          <p:nvPr/>
        </p:nvSpPr>
        <p:spPr bwMode="auto">
          <a:xfrm>
            <a:off x="571500" y="2286000"/>
            <a:ext cx="65008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47" name="Text Box 54">
            <a:extLst>
              <a:ext uri="{FF2B5EF4-FFF2-40B4-BE49-F238E27FC236}">
                <a16:creationId xmlns:a16="http://schemas.microsoft.com/office/drawing/2014/main" id="{F8D03797-8822-4649-A196-253D0040E0A1}"/>
              </a:ext>
            </a:extLst>
          </p:cNvPr>
          <p:cNvSpPr txBox="1">
            <a:spLocks noChangeArrowheads="1"/>
          </p:cNvSpPr>
          <p:nvPr/>
        </p:nvSpPr>
        <p:spPr bwMode="auto">
          <a:xfrm>
            <a:off x="2857500" y="2357438"/>
            <a:ext cx="3000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zh-CN" sz="3600" b="0"/>
              <a:t>技术开发</a:t>
            </a:r>
          </a:p>
        </p:txBody>
      </p:sp>
      <p:sp>
        <p:nvSpPr>
          <p:cNvPr id="61448" name="Text Box 56">
            <a:extLst>
              <a:ext uri="{FF2B5EF4-FFF2-40B4-BE49-F238E27FC236}">
                <a16:creationId xmlns:a16="http://schemas.microsoft.com/office/drawing/2014/main" id="{FFF42ED2-F8DD-41A0-A647-74B7BE0099BE}"/>
              </a:ext>
            </a:extLst>
          </p:cNvPr>
          <p:cNvSpPr txBox="1">
            <a:spLocks noChangeArrowheads="1"/>
          </p:cNvSpPr>
          <p:nvPr/>
        </p:nvSpPr>
        <p:spPr bwMode="auto">
          <a:xfrm>
            <a:off x="7286625" y="2000250"/>
            <a:ext cx="719138"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SzTx/>
              <a:buFontTx/>
              <a:buNone/>
            </a:pPr>
            <a:r>
              <a:rPr lang="zh-CN" altLang="zh-CN" sz="3200" b="0"/>
              <a:t>利</a:t>
            </a:r>
          </a:p>
          <a:p>
            <a:pPr eaLnBrk="1" hangingPunct="1">
              <a:spcBef>
                <a:spcPct val="50000"/>
              </a:spcBef>
              <a:buSzTx/>
              <a:buFontTx/>
              <a:buNone/>
            </a:pPr>
            <a:endParaRPr lang="zh-CN" altLang="zh-CN" sz="3200" b="0"/>
          </a:p>
          <a:p>
            <a:pPr eaLnBrk="1" hangingPunct="1">
              <a:spcBef>
                <a:spcPct val="50000"/>
              </a:spcBef>
              <a:buSzTx/>
              <a:buFontTx/>
              <a:buNone/>
            </a:pPr>
            <a:endParaRPr lang="zh-CN" altLang="zh-CN" sz="3200" b="0"/>
          </a:p>
          <a:p>
            <a:pPr eaLnBrk="1" hangingPunct="1">
              <a:spcBef>
                <a:spcPct val="50000"/>
              </a:spcBef>
              <a:buSzTx/>
              <a:buFontTx/>
              <a:buNone/>
            </a:pPr>
            <a:r>
              <a:rPr lang="zh-CN" altLang="zh-CN" sz="3200" b="0"/>
              <a:t>润</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8C9C5938-1729-4EFF-A583-7447D92E3596}"/>
              </a:ext>
            </a:extLst>
          </p:cNvPr>
          <p:cNvSpPr>
            <a:spLocks noGrp="1" noChangeArrowheads="1"/>
          </p:cNvSpPr>
          <p:nvPr>
            <p:ph type="title" idx="4294967295"/>
          </p:nvPr>
        </p:nvSpPr>
        <p:spPr>
          <a:xfrm>
            <a:off x="0" y="274638"/>
            <a:ext cx="8229600" cy="1143000"/>
          </a:xfrm>
        </p:spPr>
        <p:txBody>
          <a:bodyPr/>
          <a:lstStyle/>
          <a:p>
            <a:pPr algn="l"/>
            <a:r>
              <a:rPr lang="en-US" altLang="zh-CN"/>
              <a:t>1.4.4 </a:t>
            </a:r>
            <a:r>
              <a:rPr lang="zh-CN" altLang="en-US"/>
              <a:t>其他规划方法</a:t>
            </a:r>
          </a:p>
        </p:txBody>
      </p:sp>
      <p:sp>
        <p:nvSpPr>
          <p:cNvPr id="55299" name="Rectangle 6">
            <a:extLst>
              <a:ext uri="{FF2B5EF4-FFF2-40B4-BE49-F238E27FC236}">
                <a16:creationId xmlns:a16="http://schemas.microsoft.com/office/drawing/2014/main" id="{4CC7F19A-C0C1-4304-9099-CE7830BDF901}"/>
              </a:ext>
            </a:extLst>
          </p:cNvPr>
          <p:cNvSpPr>
            <a:spLocks noGrp="1" noChangeArrowheads="1"/>
          </p:cNvSpPr>
          <p:nvPr>
            <p:ph type="title" idx="4294967295"/>
          </p:nvPr>
        </p:nvSpPr>
        <p:spPr>
          <a:xfrm>
            <a:off x="914400" y="130175"/>
            <a:ext cx="8229600" cy="346075"/>
          </a:xfrm>
        </p:spPr>
        <p:txBody>
          <a:bodyPr>
            <a:normAutofit fontScale="90000"/>
          </a:bodyPr>
          <a:lstStyle/>
          <a:p>
            <a:pPr>
              <a:defRPr/>
            </a:pPr>
            <a:r>
              <a:rPr lang="zh-CN" altLang="en-US" sz="2000">
                <a:solidFill>
                  <a:srgbClr val="0000FF"/>
                </a:solidFill>
              </a:rPr>
              <a:t>十一五规划教材                                          </a:t>
            </a:r>
            <a:r>
              <a:rPr lang="en-US" altLang="zh-CN" sz="2000">
                <a:solidFill>
                  <a:srgbClr val="0000FF"/>
                </a:solidFill>
              </a:rPr>
              <a:t>《</a:t>
            </a:r>
            <a:r>
              <a:rPr lang="zh-CN" altLang="en-US" sz="2000">
                <a:solidFill>
                  <a:srgbClr val="0000FF"/>
                </a:solidFill>
              </a:rPr>
              <a:t>信息系统项目管理</a:t>
            </a:r>
            <a:r>
              <a:rPr lang="en-US" altLang="zh-CN" sz="2000">
                <a:solidFill>
                  <a:srgbClr val="0000FF"/>
                </a:solidFill>
              </a:rPr>
              <a:t>》</a:t>
            </a:r>
            <a:r>
              <a:rPr lang="zh-CN" altLang="en-US" sz="2000">
                <a:solidFill>
                  <a:srgbClr val="0000FF"/>
                </a:solidFill>
              </a:rPr>
              <a:t>讲义</a:t>
            </a:r>
          </a:p>
        </p:txBody>
      </p:sp>
      <p:sp>
        <p:nvSpPr>
          <p:cNvPr id="62468" name="Line 7">
            <a:extLst>
              <a:ext uri="{FF2B5EF4-FFF2-40B4-BE49-F238E27FC236}">
                <a16:creationId xmlns:a16="http://schemas.microsoft.com/office/drawing/2014/main" id="{F1A9B4B5-4B63-4DB4-BEB6-DB09B7F51C52}"/>
              </a:ext>
            </a:extLst>
          </p:cNvPr>
          <p:cNvSpPr>
            <a:spLocks noChangeShapeType="1"/>
          </p:cNvSpPr>
          <p:nvPr/>
        </p:nvSpPr>
        <p:spPr bwMode="auto">
          <a:xfrm>
            <a:off x="0" y="476250"/>
            <a:ext cx="9144000" cy="0"/>
          </a:xfrm>
          <a:prstGeom prst="line">
            <a:avLst/>
          </a:prstGeom>
          <a:noFill/>
          <a:ln w="9525">
            <a:solidFill>
              <a:srgbClr val="9900CC"/>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 name="表格 1">
            <a:extLst>
              <a:ext uri="{FF2B5EF4-FFF2-40B4-BE49-F238E27FC236}">
                <a16:creationId xmlns:a16="http://schemas.microsoft.com/office/drawing/2014/main" id="{D06031EE-5CEC-477F-A6E6-9DA47B5DD698}"/>
              </a:ext>
            </a:extLst>
          </p:cNvPr>
          <p:cNvGraphicFramePr>
            <a:graphicFrameLocks noGrp="1"/>
          </p:cNvGraphicFramePr>
          <p:nvPr/>
        </p:nvGraphicFramePr>
        <p:xfrm>
          <a:off x="179388" y="1268413"/>
          <a:ext cx="8820150" cy="5400677"/>
        </p:xfrm>
        <a:graphic>
          <a:graphicData uri="http://schemas.openxmlformats.org/drawingml/2006/table">
            <a:tbl>
              <a:tblPr/>
              <a:tblGrid>
                <a:gridCol w="2520950">
                  <a:extLst>
                    <a:ext uri="{9D8B030D-6E8A-4147-A177-3AD203B41FA5}">
                      <a16:colId xmlns:a16="http://schemas.microsoft.com/office/drawing/2014/main" val="20000"/>
                    </a:ext>
                  </a:extLst>
                </a:gridCol>
                <a:gridCol w="3149600">
                  <a:extLst>
                    <a:ext uri="{9D8B030D-6E8A-4147-A177-3AD203B41FA5}">
                      <a16:colId xmlns:a16="http://schemas.microsoft.com/office/drawing/2014/main" val="20001"/>
                    </a:ext>
                  </a:extLst>
                </a:gridCol>
                <a:gridCol w="3149600">
                  <a:extLst>
                    <a:ext uri="{9D8B030D-6E8A-4147-A177-3AD203B41FA5}">
                      <a16:colId xmlns:a16="http://schemas.microsoft.com/office/drawing/2014/main" val="20002"/>
                    </a:ext>
                  </a:extLst>
                </a:gridCol>
              </a:tblGrid>
              <a:tr h="247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时期</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名称</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产生及目标</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6125">
                <a:tc rowSpan="3">
                  <a:txBody>
                    <a:bodyPr/>
                    <a:lstStyle/>
                    <a:p>
                      <a:pPr marL="71438"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电子数据处理时期</a:t>
                      </a:r>
                    </a:p>
                  </a:txBody>
                  <a:tcPr marL="67852" marR="67852"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业务系统规划法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Business Systems Planning, BSP</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IBM</a:t>
                      </a:r>
                      <a:r>
                        <a:rPr kumimoji="0" lang="zh-CN" sz="1100" b="1" i="0" u="none" strike="noStrike" cap="none" normalizeH="0" baseline="0">
                          <a:ln>
                            <a:noFill/>
                          </a:ln>
                          <a:solidFill>
                            <a:schemeClr val="tx1"/>
                          </a:solidFill>
                          <a:effectLst/>
                          <a:latin typeface="Times New Roman" pitchFamily="18" charset="0"/>
                          <a:ea typeface="宋体" pitchFamily="2" charset="-122"/>
                        </a:rPr>
                        <a:t>公司</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20</a:t>
                      </a:r>
                      <a:r>
                        <a:rPr kumimoji="0" lang="zh-CN" sz="1100" b="1" i="0" u="none" strike="noStrike" cap="none" normalizeH="0" baseline="0">
                          <a:ln>
                            <a:noFill/>
                          </a:ln>
                          <a:solidFill>
                            <a:schemeClr val="tx1"/>
                          </a:solidFill>
                          <a:effectLst/>
                          <a:latin typeface="Times New Roman" pitchFamily="18" charset="0"/>
                          <a:ea typeface="宋体" pitchFamily="2" charset="-122"/>
                        </a:rPr>
                        <a:t>世纪</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70</a:t>
                      </a:r>
                      <a:r>
                        <a:rPr kumimoji="0" lang="zh-CN" sz="1100" b="1" i="0" u="none" strike="noStrike" cap="none" normalizeH="0" baseline="0">
                          <a:ln>
                            <a:noFill/>
                          </a:ln>
                          <a:solidFill>
                            <a:schemeClr val="tx1"/>
                          </a:solidFill>
                          <a:effectLst/>
                          <a:latin typeface="Times New Roman" pitchFamily="18" charset="0"/>
                          <a:ea typeface="宋体" pitchFamily="2" charset="-122"/>
                        </a:rPr>
                        <a:t>年代初发明的内部系统开发的方法，目标是将企业目标转化为信息系统战略。</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782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战略目标集转化法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Strategy Set Transformation, SST</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William R. King</a:t>
                      </a:r>
                      <a:r>
                        <a:rPr kumimoji="0" lang="zh-CN" sz="1100" b="1" i="0" u="none" strike="noStrike" cap="none" normalizeH="0" baseline="0">
                          <a:ln>
                            <a:noFill/>
                          </a:ln>
                          <a:solidFill>
                            <a:schemeClr val="tx1"/>
                          </a:solidFill>
                          <a:effectLst/>
                          <a:latin typeface="Times New Roman" pitchFamily="18" charset="0"/>
                          <a:ea typeface="宋体" pitchFamily="2" charset="-122"/>
                        </a:rPr>
                        <a:t>于</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1978</a:t>
                      </a:r>
                      <a:r>
                        <a:rPr kumimoji="0" lang="zh-CN" sz="1100" b="1" i="0" u="none" strike="noStrike" cap="none" normalizeH="0" baseline="0">
                          <a:ln>
                            <a:noFill/>
                          </a:ln>
                          <a:solidFill>
                            <a:schemeClr val="tx1"/>
                          </a:solidFill>
                          <a:effectLst/>
                          <a:latin typeface="Times New Roman" pitchFamily="18" charset="0"/>
                          <a:ea typeface="宋体" pitchFamily="2" charset="-122"/>
                        </a:rPr>
                        <a:t>年提出，提供一种将信息系统战略集与组织战略集关联的方法。</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228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关键成功因素法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Critical Success Factors, CSF</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MIT</a:t>
                      </a:r>
                      <a:r>
                        <a:rPr kumimoji="0" lang="zh-CN" sz="1100" b="1" i="0" u="none" strike="noStrike" cap="none" normalizeH="0" baseline="0">
                          <a:ln>
                            <a:noFill/>
                          </a:ln>
                          <a:solidFill>
                            <a:schemeClr val="tx1"/>
                          </a:solidFill>
                          <a:effectLst/>
                          <a:latin typeface="Times New Roman" pitchFamily="18" charset="0"/>
                          <a:ea typeface="宋体" pitchFamily="2" charset="-122"/>
                        </a:rPr>
                        <a:t>教授</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John Rockart</a:t>
                      </a:r>
                      <a:r>
                        <a:rPr kumimoji="0" lang="zh-CN" sz="1100" b="1" i="0" u="none" strike="noStrike" cap="none" normalizeH="0" baseline="0">
                          <a:ln>
                            <a:noFill/>
                          </a:ln>
                          <a:solidFill>
                            <a:schemeClr val="tx1"/>
                          </a:solidFill>
                          <a:effectLst/>
                          <a:latin typeface="Times New Roman" pitchFamily="18" charset="0"/>
                          <a:ea typeface="宋体" pitchFamily="2" charset="-122"/>
                        </a:rPr>
                        <a:t>提出，根据企业关键成功因素来定义信息资源分配的优先级别。</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5650">
                <a:tc rowSpan="3">
                  <a:txBody>
                    <a:bodyPr/>
                    <a:lstStyle/>
                    <a:p>
                      <a:pPr marL="71438"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管理信息系统</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a:t>
                      </a:r>
                      <a:r>
                        <a:rPr kumimoji="0" lang="zh-CN" sz="1100" b="1" i="0" u="none" strike="noStrike" cap="none" normalizeH="0" baseline="0">
                          <a:ln>
                            <a:noFill/>
                          </a:ln>
                          <a:solidFill>
                            <a:schemeClr val="tx1"/>
                          </a:solidFill>
                          <a:effectLst/>
                          <a:latin typeface="Times New Roman" pitchFamily="18" charset="0"/>
                          <a:ea typeface="宋体" pitchFamily="2" charset="-122"/>
                        </a:rPr>
                        <a:t>决策支持系统时期</a:t>
                      </a:r>
                    </a:p>
                  </a:txBody>
                  <a:tcPr marL="67852" marR="67852"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信息工程法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Information Engineering, IE</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James Martin</a:t>
                      </a:r>
                      <a:r>
                        <a:rPr kumimoji="0" lang="zh-CN" sz="1100" b="1" i="0" u="none" strike="noStrike" cap="none" normalizeH="0" baseline="0">
                          <a:ln>
                            <a:noFill/>
                          </a:ln>
                          <a:solidFill>
                            <a:schemeClr val="tx1"/>
                          </a:solidFill>
                          <a:effectLst/>
                          <a:latin typeface="Times New Roman" pitchFamily="18" charset="0"/>
                          <a:ea typeface="宋体" pitchFamily="2" charset="-122"/>
                        </a:rPr>
                        <a:t>于</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20</a:t>
                      </a:r>
                      <a:r>
                        <a:rPr kumimoji="0" lang="zh-CN" sz="1100" b="1" i="0" u="none" strike="noStrike" cap="none" normalizeH="0" baseline="0">
                          <a:ln>
                            <a:noFill/>
                          </a:ln>
                          <a:solidFill>
                            <a:schemeClr val="tx1"/>
                          </a:solidFill>
                          <a:effectLst/>
                          <a:latin typeface="Times New Roman" pitchFamily="18" charset="0"/>
                          <a:ea typeface="宋体" pitchFamily="2" charset="-122"/>
                        </a:rPr>
                        <a:t>世纪</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80</a:t>
                      </a:r>
                      <a:r>
                        <a:rPr kumimoji="0" lang="zh-CN" sz="1100" b="1" i="0" u="none" strike="noStrike" cap="none" normalizeH="0" baseline="0">
                          <a:ln>
                            <a:noFill/>
                          </a:ln>
                          <a:solidFill>
                            <a:schemeClr val="tx1"/>
                          </a:solidFill>
                          <a:effectLst/>
                          <a:latin typeface="Times New Roman" pitchFamily="18" charset="0"/>
                          <a:ea typeface="宋体" pitchFamily="2" charset="-122"/>
                        </a:rPr>
                        <a:t>年代初提出的一种面向技术的方法。提供了建立企业模型、数据模型、流程模型的技术手段，其核心为战略数据规划。</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673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战略系统规划法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Strategy System Planning</a:t>
                      </a: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,SSP</a:t>
                      </a:r>
                      <a:endParaRPr kumimoji="0" lang="zh-CN" altLang="zh-CN" sz="1100" b="1" i="0" u="none" strike="noStrike" cap="none" normalizeH="0" baseline="0">
                        <a:ln>
                          <a:noFill/>
                        </a:ln>
                        <a:solidFill>
                          <a:schemeClr val="tx1"/>
                        </a:solidFill>
                        <a:effectLst/>
                        <a:latin typeface="Times New Roman" pitchFamily="18" charset="0"/>
                        <a:ea typeface="宋体" pitchFamily="2" charset="-122"/>
                      </a:endParaRP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Holland</a:t>
                      </a:r>
                      <a:r>
                        <a:rPr kumimoji="0" lang="zh-CN" sz="1100" b="1" i="0" u="none" strike="noStrike" cap="none" normalizeH="0" baseline="0">
                          <a:ln>
                            <a:noFill/>
                          </a:ln>
                          <a:solidFill>
                            <a:schemeClr val="tx1"/>
                          </a:solidFill>
                          <a:effectLst/>
                          <a:latin typeface="Times New Roman" pitchFamily="18" charset="0"/>
                          <a:ea typeface="宋体" pitchFamily="2" charset="-122"/>
                        </a:rPr>
                        <a:t>公司</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20</a:t>
                      </a:r>
                      <a:r>
                        <a:rPr kumimoji="0" lang="zh-CN" sz="1100" b="1" i="0" u="none" strike="noStrike" cap="none" normalizeH="0" baseline="0">
                          <a:ln>
                            <a:noFill/>
                          </a:ln>
                          <a:solidFill>
                            <a:schemeClr val="tx1"/>
                          </a:solidFill>
                          <a:effectLst/>
                          <a:latin typeface="Times New Roman" pitchFamily="18" charset="0"/>
                          <a:ea typeface="宋体" pitchFamily="2" charset="-122"/>
                        </a:rPr>
                        <a:t>世纪</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80</a:t>
                      </a:r>
                      <a:r>
                        <a:rPr kumimoji="0" lang="zh-CN" sz="1100" b="1" i="0" u="none" strike="noStrike" cap="none" normalizeH="0" baseline="0">
                          <a:ln>
                            <a:noFill/>
                          </a:ln>
                          <a:solidFill>
                            <a:schemeClr val="tx1"/>
                          </a:solidFill>
                          <a:effectLst/>
                          <a:latin typeface="Times New Roman" pitchFamily="18" charset="0"/>
                          <a:ea typeface="宋体" pitchFamily="2" charset="-122"/>
                        </a:rPr>
                        <a:t>年代中期提出的一种信息化项目规划方法。在具体步骤上，与</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BSP</a:t>
                      </a:r>
                      <a:r>
                        <a:rPr kumimoji="0" lang="zh-CN" sz="1100" b="1" i="0" u="none" strike="noStrike" cap="none" normalizeH="0" baseline="0">
                          <a:ln>
                            <a:noFill/>
                          </a:ln>
                          <a:solidFill>
                            <a:schemeClr val="tx1"/>
                          </a:solidFill>
                          <a:effectLst/>
                          <a:latin typeface="Times New Roman" pitchFamily="18" charset="0"/>
                          <a:ea typeface="宋体" pitchFamily="2" charset="-122"/>
                        </a:rPr>
                        <a:t>有许多相似之处。</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3026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战略栅格法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Strategic Grid, SG</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McFarlan</a:t>
                      </a:r>
                      <a:r>
                        <a:rPr kumimoji="0" lang="zh-CN" sz="1100" b="1" i="0" u="none" strike="noStrike" cap="none" normalizeH="0" baseline="0">
                          <a:ln>
                            <a:noFill/>
                          </a:ln>
                          <a:solidFill>
                            <a:schemeClr val="tx1"/>
                          </a:solidFill>
                          <a:effectLst/>
                          <a:latin typeface="Times New Roman" pitchFamily="18" charset="0"/>
                          <a:ea typeface="宋体" pitchFamily="2" charset="-122"/>
                        </a:rPr>
                        <a:t>等学者</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20</a:t>
                      </a:r>
                      <a:r>
                        <a:rPr kumimoji="0" lang="zh-CN" sz="1100" b="1" i="0" u="none" strike="noStrike" cap="none" normalizeH="0" baseline="0">
                          <a:ln>
                            <a:noFill/>
                          </a:ln>
                          <a:solidFill>
                            <a:schemeClr val="tx1"/>
                          </a:solidFill>
                          <a:effectLst/>
                          <a:latin typeface="Times New Roman" pitchFamily="18" charset="0"/>
                          <a:ea typeface="宋体" pitchFamily="2" charset="-122"/>
                        </a:rPr>
                        <a:t>世纪</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80</a:t>
                      </a:r>
                      <a:r>
                        <a:rPr kumimoji="0" lang="zh-CN" sz="1100" b="1" i="0" u="none" strike="noStrike" cap="none" normalizeH="0" baseline="0">
                          <a:ln>
                            <a:noFill/>
                          </a:ln>
                          <a:solidFill>
                            <a:schemeClr val="tx1"/>
                          </a:solidFill>
                          <a:effectLst/>
                          <a:latin typeface="Times New Roman" pitchFamily="18" charset="0"/>
                          <a:ea typeface="宋体" pitchFamily="2" charset="-122"/>
                        </a:rPr>
                        <a:t>年代中期提出的方法，利用栅格表，辅助用作信息系统作用诊断的工具。</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66738">
                <a:tc rowSpan="2">
                  <a:txBody>
                    <a:bodyPr/>
                    <a:lstStyle/>
                    <a:p>
                      <a:pPr marL="71438"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战略信息系统时期</a:t>
                      </a:r>
                    </a:p>
                  </a:txBody>
                  <a:tcPr marL="67852" marR="67852" marT="0" marB="0" vert="eaVert"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价值链分析法</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Value Chain Analysis, VCA</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Port</a:t>
                      </a:r>
                      <a:r>
                        <a:rPr kumimoji="0" lang="zh-CN" sz="1100" b="1" i="0" u="none" strike="noStrike" cap="none" normalizeH="0" baseline="0">
                          <a:ln>
                            <a:noFill/>
                          </a:ln>
                          <a:solidFill>
                            <a:schemeClr val="tx1"/>
                          </a:solidFill>
                          <a:effectLst/>
                          <a:latin typeface="Times New Roman" pitchFamily="18" charset="0"/>
                          <a:ea typeface="宋体" pitchFamily="2" charset="-122"/>
                        </a:rPr>
                        <a:t>于</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20</a:t>
                      </a:r>
                      <a:r>
                        <a:rPr kumimoji="0" lang="zh-CN" sz="1100" b="1" i="0" u="none" strike="noStrike" cap="none" normalizeH="0" baseline="0">
                          <a:ln>
                            <a:noFill/>
                          </a:ln>
                          <a:solidFill>
                            <a:schemeClr val="tx1"/>
                          </a:solidFill>
                          <a:effectLst/>
                          <a:latin typeface="Times New Roman" pitchFamily="18" charset="0"/>
                          <a:ea typeface="宋体" pitchFamily="2" charset="-122"/>
                        </a:rPr>
                        <a:t>世纪</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80</a:t>
                      </a:r>
                      <a:r>
                        <a:rPr kumimoji="0" lang="zh-CN" sz="1100" b="1" i="0" u="none" strike="noStrike" cap="none" normalizeH="0" baseline="0">
                          <a:ln>
                            <a:noFill/>
                          </a:ln>
                          <a:solidFill>
                            <a:schemeClr val="tx1"/>
                          </a:solidFill>
                          <a:effectLst/>
                          <a:latin typeface="Times New Roman" pitchFamily="18" charset="0"/>
                          <a:ea typeface="宋体" pitchFamily="2" charset="-122"/>
                        </a:rPr>
                        <a:t>年代中期提出的，通过对组织的每一个活动的优化，使得整个价值链增值，提高竞争优势。</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7874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战略一致性模型</a:t>
                      </a: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100" b="1" i="0" u="none" strike="noStrike" cap="none" normalizeH="0" baseline="0">
                          <a:ln>
                            <a:noFill/>
                          </a:ln>
                          <a:solidFill>
                            <a:schemeClr val="tx1"/>
                          </a:solidFill>
                          <a:effectLst/>
                          <a:latin typeface="Times New Roman" pitchFamily="18" charset="0"/>
                          <a:ea typeface="宋体" pitchFamily="2" charset="-122"/>
                        </a:rPr>
                        <a:t>（</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Strategy Alignment Model, SAM</a:t>
                      </a:r>
                      <a:r>
                        <a:rPr kumimoji="0" lang="zh-CN" sz="1100" b="1" i="0" u="none" strike="noStrike" cap="none" normalizeH="0" baseline="0">
                          <a:ln>
                            <a:noFill/>
                          </a:ln>
                          <a:solidFill>
                            <a:schemeClr val="tx1"/>
                          </a:solidFill>
                          <a:effectLst/>
                          <a:latin typeface="Times New Roman" pitchFamily="18" charset="0"/>
                          <a:ea typeface="宋体" pitchFamily="2" charset="-122"/>
                        </a:rPr>
                        <a:t>）</a:t>
                      </a:r>
                    </a:p>
                  </a:txBody>
                  <a:tcPr marL="67852" marR="67852"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a:ln>
                            <a:noFill/>
                          </a:ln>
                          <a:solidFill>
                            <a:schemeClr val="tx1"/>
                          </a:solidFill>
                          <a:effectLst/>
                          <a:latin typeface="Times New Roman" pitchFamily="18" charset="0"/>
                          <a:ea typeface="宋体" pitchFamily="2" charset="-122"/>
                        </a:rPr>
                        <a:t>John Handerson</a:t>
                      </a:r>
                      <a:r>
                        <a:rPr kumimoji="0" lang="zh-CN" sz="1100" b="1" i="0" u="none" strike="noStrike" cap="none" normalizeH="0" baseline="0">
                          <a:ln>
                            <a:noFill/>
                          </a:ln>
                          <a:solidFill>
                            <a:schemeClr val="tx1"/>
                          </a:solidFill>
                          <a:effectLst/>
                          <a:latin typeface="Times New Roman" pitchFamily="18" charset="0"/>
                          <a:ea typeface="宋体" pitchFamily="2" charset="-122"/>
                        </a:rPr>
                        <a:t>在</a:t>
                      </a:r>
                      <a:r>
                        <a:rPr kumimoji="0" lang="en-US" altLang="zh-CN" sz="1100" b="1" i="0" u="none" strike="noStrike" cap="none" normalizeH="0" baseline="0">
                          <a:ln>
                            <a:noFill/>
                          </a:ln>
                          <a:solidFill>
                            <a:schemeClr val="tx1"/>
                          </a:solidFill>
                          <a:effectLst/>
                          <a:latin typeface="Times New Roman" pitchFamily="18" charset="0"/>
                          <a:ea typeface="宋体" pitchFamily="2" charset="-122"/>
                        </a:rPr>
                        <a:t>1994</a:t>
                      </a:r>
                      <a:r>
                        <a:rPr kumimoji="0" lang="zh-CN" sz="1100" b="1" i="0" u="none" strike="noStrike" cap="none" normalizeH="0" baseline="0">
                          <a:ln>
                            <a:noFill/>
                          </a:ln>
                          <a:solidFill>
                            <a:schemeClr val="tx1"/>
                          </a:solidFill>
                          <a:effectLst/>
                          <a:latin typeface="Times New Roman" pitchFamily="18" charset="0"/>
                          <a:ea typeface="宋体" pitchFamily="2" charset="-122"/>
                        </a:rPr>
                        <a:t>年哈佛商学院提出的一套思考架构，目的在于帮助企业如何检查经营战略和信息架构的一致性。</a:t>
                      </a:r>
                    </a:p>
                  </a:txBody>
                  <a:tcPr marL="67852" marR="6785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WordArt 4">
            <a:extLst>
              <a:ext uri="{FF2B5EF4-FFF2-40B4-BE49-F238E27FC236}">
                <a16:creationId xmlns:a16="http://schemas.microsoft.com/office/drawing/2014/main" id="{468DBDB4-64EE-4DA6-9DB9-CFA00C644C45}"/>
              </a:ext>
            </a:extLst>
          </p:cNvPr>
          <p:cNvSpPr>
            <a:spLocks noChangeArrowheads="1" noChangeShapeType="1" noTextEdit="1"/>
          </p:cNvSpPr>
          <p:nvPr/>
        </p:nvSpPr>
        <p:spPr bwMode="auto">
          <a:xfrm>
            <a:off x="3205163" y="2997200"/>
            <a:ext cx="2879725" cy="1163638"/>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zh-CN" altLang="en-US" sz="3600" kern="10">
                <a:gradFill rotWithShape="1">
                  <a:gsLst>
                    <a:gs pos="0">
                      <a:srgbClr val="FFFF00"/>
                    </a:gs>
                    <a:gs pos="100000">
                      <a:srgbClr val="FF9933"/>
                    </a:gs>
                  </a:gsLst>
                  <a:path path="rect">
                    <a:fillToRect l="50000" t="50000" r="50000" b="50000"/>
                  </a:path>
                </a:gradFill>
                <a:effectLst>
                  <a:outerShdw dist="35921" dir="2700000" algn="ctr" rotWithShape="0">
                    <a:srgbClr val="C0C0C0">
                      <a:alpha val="79999"/>
                    </a:srgbClr>
                  </a:outerShdw>
                </a:effectLst>
                <a:latin typeface="宋体" panose="02010600030101010101" pitchFamily="2" charset="-122"/>
              </a:rPr>
              <a:t>谢谢！</a:t>
            </a:r>
          </a:p>
        </p:txBody>
      </p:sp>
      <p:sp>
        <p:nvSpPr>
          <p:cNvPr id="63491" name="Rectangle 5">
            <a:extLst>
              <a:ext uri="{FF2B5EF4-FFF2-40B4-BE49-F238E27FC236}">
                <a16:creationId xmlns:a16="http://schemas.microsoft.com/office/drawing/2014/main" id="{A2DA4A2D-B60A-4394-B773-28B036890A8A}"/>
              </a:ext>
            </a:extLst>
          </p:cNvPr>
          <p:cNvSpPr>
            <a:spLocks noGrp="1" noChangeArrowheads="1"/>
          </p:cNvSpPr>
          <p:nvPr>
            <p:ph type="title"/>
          </p:nvPr>
        </p:nvSpPr>
        <p:spPr>
          <a:xfrm>
            <a:off x="611188" y="836613"/>
            <a:ext cx="7772400" cy="1143000"/>
          </a:xfrm>
        </p:spPr>
        <p:txBody>
          <a:bodyPr/>
          <a:lstStyle/>
          <a:p>
            <a:pPr algn="l"/>
            <a:r>
              <a:rPr lang="zh-CN" altLang="en-US">
                <a:solidFill>
                  <a:srgbClr val="FF0000"/>
                </a:solidFill>
              </a:rPr>
              <a:t>欢迎讨论</a:t>
            </a:r>
            <a:r>
              <a:rPr lang="en-US" altLang="zh-CN" sz="4600">
                <a:solidFill>
                  <a:srgbClr val="FF0000"/>
                </a:solidFill>
                <a:ea typeface="楷体_GB2312" pitchFamily="49" charset="-122"/>
              </a:rPr>
              <a:t>……</a:t>
            </a:r>
          </a:p>
        </p:txBody>
      </p:sp>
    </p:spTree>
  </p:cSld>
  <p:clrMapOvr>
    <a:masterClrMapping/>
  </p:clrMapOvr>
  <p:transition spd="slow" advTm="5748"/>
</p:sld>
</file>

<file path=ppt/theme/theme1.xml><?xml version="1.0" encoding="utf-8"?>
<a:theme xmlns:a="http://schemas.openxmlformats.org/drawingml/2006/main" name="主题1">
  <a:themeElements>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E45FD93A-D851-4092-8313-A2F3C1A6975F}" vid="{8887F17A-4E7C-4909-8207-90CE29ECEE50}"/>
    </a:ext>
  </a:extLst>
</a:theme>
</file>

<file path=ppt/theme/theme2.xml><?xml version="1.0" encoding="utf-8"?>
<a:theme xmlns:a="http://schemas.openxmlformats.org/drawingml/2006/main" name="Office Theme">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562</TotalTime>
  <Pages>0</Pages>
  <Words>4729</Words>
  <Characters>0</Characters>
  <Application>Microsoft Office PowerPoint</Application>
  <DocSecurity>0</DocSecurity>
  <PresentationFormat>全屏显示(4:3)</PresentationFormat>
  <Lines>0</Lines>
  <Paragraphs>380</Paragraphs>
  <Slides>61</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61</vt:i4>
      </vt:variant>
    </vt:vector>
  </HeadingPairs>
  <TitlesOfParts>
    <vt:vector size="70" baseType="lpstr">
      <vt:lpstr>宋体</vt:lpstr>
      <vt:lpstr>Arial</vt:lpstr>
      <vt:lpstr>Calibri</vt:lpstr>
      <vt:lpstr>Calibri Light</vt:lpstr>
      <vt:lpstr>Courier New</vt:lpstr>
      <vt:lpstr>Times New Roman</vt:lpstr>
      <vt:lpstr>Wingdings</vt:lpstr>
      <vt:lpstr>主题1</vt:lpstr>
      <vt:lpstr>Office Theme</vt:lpstr>
      <vt:lpstr>PowerPoint 演示文稿</vt:lpstr>
      <vt:lpstr>PowerPoint 演示文稿</vt:lpstr>
      <vt:lpstr>PowerPoint 演示文稿</vt:lpstr>
      <vt:lpstr>PowerPoint 演示文稿</vt:lpstr>
      <vt:lpstr>第1章   信息系统项目的特点与规划</vt:lpstr>
      <vt:lpstr>1.1   项目管理的基本内容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1.2 信息系统项目的特点与生命期</vt:lpstr>
      <vt:lpstr>PowerPoint 演示文稿</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PowerPoint 演示文稿</vt:lpstr>
      <vt:lpstr>十一五规划教材                                          《信息系统项目管理》讲义</vt:lpstr>
      <vt:lpstr>1.3  组织信息化战略</vt:lpstr>
      <vt:lpstr>1.3.1 IT治理的含义和框架 </vt:lpstr>
      <vt:lpstr>1.3.1 IT治理的含义和框架 </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1.4 组织信息化项目规划方法</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十一五规划教材                                          《信息系统项目管理》讲义</vt:lpstr>
      <vt:lpstr>1.4.4 其他规划方法</vt:lpstr>
      <vt:lpstr>欢迎讨论……</vt:lpstr>
    </vt:vector>
  </TitlesOfParts>
  <Manager/>
  <Company>RUC</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十一五规划教材                                          《信息系统项目管理》讲义</dc:title>
  <dc:subject/>
  <dc:creator>Meiyun Zuo</dc:creator>
  <cp:keywords/>
  <dc:description/>
  <cp:lastModifiedBy>hui yang</cp:lastModifiedBy>
  <cp:revision>264</cp:revision>
  <dcterms:created xsi:type="dcterms:W3CDTF">2008-05-12T14:48:35Z</dcterms:created>
  <dcterms:modified xsi:type="dcterms:W3CDTF">2026-03-01T15:01:01Z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