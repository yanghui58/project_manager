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6" r:id="rId2"/>
  </p:sldMasterIdLst>
  <p:notesMasterIdLst>
    <p:notesMasterId r:id="rId61"/>
  </p:notesMasterIdLst>
  <p:sldIdLst>
    <p:sldId id="327" r:id="rId3"/>
    <p:sldId id="256" r:id="rId4"/>
    <p:sldId id="258" r:id="rId5"/>
    <p:sldId id="259" r:id="rId6"/>
    <p:sldId id="287" r:id="rId7"/>
    <p:sldId id="260" r:id="rId8"/>
    <p:sldId id="288" r:id="rId9"/>
    <p:sldId id="261" r:id="rId10"/>
    <p:sldId id="262" r:id="rId11"/>
    <p:sldId id="289" r:id="rId12"/>
    <p:sldId id="290" r:id="rId13"/>
    <p:sldId id="291" r:id="rId14"/>
    <p:sldId id="263" r:id="rId15"/>
    <p:sldId id="328" r:id="rId16"/>
    <p:sldId id="329" r:id="rId17"/>
    <p:sldId id="264" r:id="rId18"/>
    <p:sldId id="292" r:id="rId19"/>
    <p:sldId id="293" r:id="rId20"/>
    <p:sldId id="294" r:id="rId21"/>
    <p:sldId id="295" r:id="rId22"/>
    <p:sldId id="296" r:id="rId23"/>
    <p:sldId id="297" r:id="rId24"/>
    <p:sldId id="330" r:id="rId25"/>
    <p:sldId id="298" r:id="rId26"/>
    <p:sldId id="331" r:id="rId27"/>
    <p:sldId id="332" r:id="rId28"/>
    <p:sldId id="334" r:id="rId29"/>
    <p:sldId id="335" r:id="rId30"/>
    <p:sldId id="333" r:id="rId31"/>
    <p:sldId id="336" r:id="rId32"/>
    <p:sldId id="337" r:id="rId33"/>
    <p:sldId id="338" r:id="rId34"/>
    <p:sldId id="339" r:id="rId35"/>
    <p:sldId id="340" r:id="rId36"/>
    <p:sldId id="341" r:id="rId37"/>
    <p:sldId id="342" r:id="rId38"/>
    <p:sldId id="265" r:id="rId39"/>
    <p:sldId id="299" r:id="rId40"/>
    <p:sldId id="300" r:id="rId41"/>
    <p:sldId id="343" r:id="rId42"/>
    <p:sldId id="346" r:id="rId43"/>
    <p:sldId id="301" r:id="rId44"/>
    <p:sldId id="347" r:id="rId45"/>
    <p:sldId id="302" r:id="rId46"/>
    <p:sldId id="303" r:id="rId47"/>
    <p:sldId id="304" r:id="rId48"/>
    <p:sldId id="266" r:id="rId49"/>
    <p:sldId id="267" r:id="rId50"/>
    <p:sldId id="268" r:id="rId51"/>
    <p:sldId id="348" r:id="rId52"/>
    <p:sldId id="349" r:id="rId53"/>
    <p:sldId id="350" r:id="rId54"/>
    <p:sldId id="352" r:id="rId55"/>
    <p:sldId id="351" r:id="rId56"/>
    <p:sldId id="353" r:id="rId57"/>
    <p:sldId id="354" r:id="rId58"/>
    <p:sldId id="269" r:id="rId59"/>
    <p:sldId id="307" r:id="rId6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CC"/>
    <a:srgbClr val="FF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438" y="102"/>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72C8192-9780-4B0C-BBA2-783C69673700}"/>
              </a:ext>
            </a:extLst>
          </p:cNvPr>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4099" name="Rectangle 3">
            <a:extLst>
              <a:ext uri="{FF2B5EF4-FFF2-40B4-BE49-F238E27FC236}">
                <a16:creationId xmlns:a16="http://schemas.microsoft.com/office/drawing/2014/main" id="{05F141FD-6D47-447F-87FE-BEF28AB79F57}"/>
              </a:ext>
            </a:extLst>
          </p:cNvPr>
          <p:cNvSpPr>
            <a:spLocks noGrp="1" noChangeArrowheads="1"/>
          </p:cNvSpPr>
          <p:nvPr>
            <p:ph type="dt" idx="1"/>
          </p:nvPr>
        </p:nvSpPr>
        <p:spPr bwMode="auto">
          <a:xfrm>
            <a:off x="3884613"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2052" name="Rectangle 4">
            <a:extLst>
              <a:ext uri="{FF2B5EF4-FFF2-40B4-BE49-F238E27FC236}">
                <a16:creationId xmlns:a16="http://schemas.microsoft.com/office/drawing/2014/main" id="{74145FFA-ED34-4485-B081-A1CBDDA284C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28151641-73AE-485A-B21E-A74C8C1D11CF}"/>
              </a:ext>
            </a:extLst>
          </p:cNvPr>
          <p:cNvSpPr>
            <a:spLocks noGrp="1" noChangeArrowheads="1"/>
          </p:cNvSpPr>
          <p:nvPr>
            <p:ph type="body" sz="quarter" idx="3"/>
          </p:nvPr>
        </p:nvSpPr>
        <p:spPr bwMode="auto">
          <a:xfrm>
            <a:off x="685800" y="4343400"/>
            <a:ext cx="54864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a:extLst>
              <a:ext uri="{FF2B5EF4-FFF2-40B4-BE49-F238E27FC236}">
                <a16:creationId xmlns:a16="http://schemas.microsoft.com/office/drawing/2014/main" id="{2C21C12E-30AA-4287-BE7C-EDB5F309D393}"/>
              </a:ext>
            </a:extLst>
          </p:cNvPr>
          <p:cNvSpPr>
            <a:spLocks noGrp="1" noChangeArrowheads="1"/>
          </p:cNvSpPr>
          <p:nvPr>
            <p:ph type="ftr" sz="quarter" idx="4"/>
          </p:nvPr>
        </p:nvSpPr>
        <p:spPr bwMode="auto">
          <a:xfrm>
            <a:off x="0"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4103" name="Rectangle 7">
            <a:extLst>
              <a:ext uri="{FF2B5EF4-FFF2-40B4-BE49-F238E27FC236}">
                <a16:creationId xmlns:a16="http://schemas.microsoft.com/office/drawing/2014/main" id="{6F089BB0-B5D4-4557-A625-8FBD6B208A41}"/>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AFF42E29-7A25-4039-84F6-BEC667321DC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239931-8914-4212-89B8-EC58A188476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85347DD-DED9-416C-B24F-F582CE8A82B1}" type="slidenum">
              <a:rPr lang="en-US" altLang="zh-CN"/>
              <a:pPr>
                <a:spcBef>
                  <a:spcPct val="0"/>
                </a:spcBef>
              </a:pPr>
              <a:t>2</a:t>
            </a:fld>
            <a:endParaRPr lang="en-US" altLang="zh-CN"/>
          </a:p>
        </p:txBody>
      </p:sp>
      <p:sp>
        <p:nvSpPr>
          <p:cNvPr id="6147" name="Rectangle 2">
            <a:extLst>
              <a:ext uri="{FF2B5EF4-FFF2-40B4-BE49-F238E27FC236}">
                <a16:creationId xmlns:a16="http://schemas.microsoft.com/office/drawing/2014/main" id="{A8D82FF5-4500-4CA3-BD9A-EE5F2CE61969}"/>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A830DCC9-80E1-4D6C-A306-9C72A3D03C3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04E9B318-9F47-4934-9483-A6729D15844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6476C37-A5AB-4D84-8F9A-43466FCC8065}" type="slidenum">
              <a:rPr lang="en-US" altLang="zh-CN"/>
              <a:pPr>
                <a:spcBef>
                  <a:spcPct val="0"/>
                </a:spcBef>
              </a:pPr>
              <a:t>3</a:t>
            </a:fld>
            <a:endParaRPr lang="en-US" altLang="zh-CN"/>
          </a:p>
        </p:txBody>
      </p:sp>
      <p:sp>
        <p:nvSpPr>
          <p:cNvPr id="8195" name="Rectangle 2">
            <a:extLst>
              <a:ext uri="{FF2B5EF4-FFF2-40B4-BE49-F238E27FC236}">
                <a16:creationId xmlns:a16="http://schemas.microsoft.com/office/drawing/2014/main" id="{33F0948D-9103-4C90-8C03-3D44C4D4A634}"/>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7A9E33B2-1879-45DB-87A9-ADA69FE221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343E2C4-99A7-4D8A-9C3B-0E7017174BA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35A8B26-405B-4B17-8503-A581C66E5FB9}" type="slidenum">
              <a:rPr lang="en-US" altLang="zh-CN"/>
              <a:pPr>
                <a:spcBef>
                  <a:spcPct val="0"/>
                </a:spcBef>
              </a:pPr>
              <a:t>4</a:t>
            </a:fld>
            <a:endParaRPr lang="en-US" altLang="zh-CN"/>
          </a:p>
        </p:txBody>
      </p:sp>
      <p:sp>
        <p:nvSpPr>
          <p:cNvPr id="10243" name="Rectangle 2">
            <a:extLst>
              <a:ext uri="{FF2B5EF4-FFF2-40B4-BE49-F238E27FC236}">
                <a16:creationId xmlns:a16="http://schemas.microsoft.com/office/drawing/2014/main" id="{3B9113BD-4E0B-44BC-8953-2D34346898E0}"/>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3768D190-527F-4A4B-875C-42E2F309DEC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8C2F67EE-9F8E-4A7C-9F69-6B2956C186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00E2AB1-50CE-4880-B491-DA60661069A9}" type="slidenum">
              <a:rPr lang="en-US" altLang="zh-CN"/>
              <a:pPr>
                <a:spcBef>
                  <a:spcPct val="0"/>
                </a:spcBef>
              </a:pPr>
              <a:t>5</a:t>
            </a:fld>
            <a:endParaRPr lang="en-US" altLang="zh-CN"/>
          </a:p>
        </p:txBody>
      </p:sp>
      <p:sp>
        <p:nvSpPr>
          <p:cNvPr id="12291" name="Rectangle 2">
            <a:extLst>
              <a:ext uri="{FF2B5EF4-FFF2-40B4-BE49-F238E27FC236}">
                <a16:creationId xmlns:a16="http://schemas.microsoft.com/office/drawing/2014/main" id="{08A3299D-D3C1-405C-8B89-4D31F4E81428}"/>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56A0E8BD-B7AB-4254-9111-286EDB4CC18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9664372F-56AF-4141-8C37-3524CC6A358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BF9DA7B-BFA0-45D8-8099-A19C14BA2117}" type="slidenum">
              <a:rPr lang="en-US" altLang="zh-CN"/>
              <a:pPr>
                <a:spcBef>
                  <a:spcPct val="0"/>
                </a:spcBef>
              </a:pPr>
              <a:t>6</a:t>
            </a:fld>
            <a:endParaRPr lang="en-US" altLang="zh-CN"/>
          </a:p>
        </p:txBody>
      </p:sp>
      <p:sp>
        <p:nvSpPr>
          <p:cNvPr id="14339" name="Rectangle 2">
            <a:extLst>
              <a:ext uri="{FF2B5EF4-FFF2-40B4-BE49-F238E27FC236}">
                <a16:creationId xmlns:a16="http://schemas.microsoft.com/office/drawing/2014/main" id="{5242A544-65DF-447C-B510-D47E1ADCDE97}"/>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2AE19618-0FDC-4A65-A300-0B24D5A26E2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8ADBF046-4F9A-4928-B3A5-CD901F0BE7B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998E19C-EE59-44E2-8B34-BF647165D0B7}" type="slidenum">
              <a:rPr lang="en-US" altLang="zh-CN"/>
              <a:pPr>
                <a:spcBef>
                  <a:spcPct val="0"/>
                </a:spcBef>
              </a:pPr>
              <a:t>7</a:t>
            </a:fld>
            <a:endParaRPr lang="en-US" altLang="zh-CN"/>
          </a:p>
        </p:txBody>
      </p:sp>
      <p:sp>
        <p:nvSpPr>
          <p:cNvPr id="16387" name="Rectangle 2">
            <a:extLst>
              <a:ext uri="{FF2B5EF4-FFF2-40B4-BE49-F238E27FC236}">
                <a16:creationId xmlns:a16="http://schemas.microsoft.com/office/drawing/2014/main" id="{71BF5330-15FD-4E31-95E3-A5D87BDA7CC9}"/>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2F2284F3-D7B5-4F29-B8C1-E2DEB42E3F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25074478-BDEC-4A4F-B702-915F440649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62D4ED-8BD6-4564-A893-815700610C2B}" type="slidenum">
              <a:rPr lang="en-US" altLang="zh-CN"/>
              <a:pPr>
                <a:spcBef>
                  <a:spcPct val="0"/>
                </a:spcBef>
              </a:pPr>
              <a:t>8</a:t>
            </a:fld>
            <a:endParaRPr lang="en-US" altLang="zh-CN"/>
          </a:p>
        </p:txBody>
      </p:sp>
      <p:sp>
        <p:nvSpPr>
          <p:cNvPr id="18435" name="Rectangle 2">
            <a:extLst>
              <a:ext uri="{FF2B5EF4-FFF2-40B4-BE49-F238E27FC236}">
                <a16:creationId xmlns:a16="http://schemas.microsoft.com/office/drawing/2014/main" id="{224E75B3-601C-4DBD-930C-637CD849D151}"/>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05231A27-D9FE-4579-A620-50A55ECC24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30EBCF2A-E174-4816-A291-0887242856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E6321A8-D7B5-4E16-BA8B-9F660B0F7028}" type="slidenum">
              <a:rPr lang="en-US" altLang="zh-CN"/>
              <a:pPr>
                <a:spcBef>
                  <a:spcPct val="0"/>
                </a:spcBef>
              </a:pPr>
              <a:t>9</a:t>
            </a:fld>
            <a:endParaRPr lang="en-US" altLang="zh-CN"/>
          </a:p>
        </p:txBody>
      </p:sp>
      <p:sp>
        <p:nvSpPr>
          <p:cNvPr id="20483" name="Rectangle 2">
            <a:extLst>
              <a:ext uri="{FF2B5EF4-FFF2-40B4-BE49-F238E27FC236}">
                <a16:creationId xmlns:a16="http://schemas.microsoft.com/office/drawing/2014/main" id="{529CF50E-10EE-4861-A6DE-49CE24FB9260}"/>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4E160BFC-2649-4B73-B59E-C176F4E984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E27A7242-A790-4A01-BF20-F01B462572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60CB2C7-4AD8-4F5E-9D50-33452F67413D}" type="slidenum">
              <a:rPr lang="en-US" altLang="zh-CN"/>
              <a:pPr>
                <a:spcBef>
                  <a:spcPct val="0"/>
                </a:spcBef>
              </a:pPr>
              <a:t>10</a:t>
            </a:fld>
            <a:endParaRPr lang="en-US" altLang="zh-CN"/>
          </a:p>
        </p:txBody>
      </p:sp>
      <p:sp>
        <p:nvSpPr>
          <p:cNvPr id="22531" name="Rectangle 2">
            <a:extLst>
              <a:ext uri="{FF2B5EF4-FFF2-40B4-BE49-F238E27FC236}">
                <a16:creationId xmlns:a16="http://schemas.microsoft.com/office/drawing/2014/main" id="{1F8DA639-F30B-4D51-9F8B-4A66FE4E96E2}"/>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C970E9DA-4DD8-4CC0-9114-07E86ED2E9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13E3F714-913D-4592-8BF3-605F803A4A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0914AF-0E18-461C-B310-47A9EA72AF6D}" type="slidenum">
              <a:rPr lang="en-US" altLang="zh-CN"/>
              <a:pPr>
                <a:spcBef>
                  <a:spcPct val="0"/>
                </a:spcBef>
              </a:pPr>
              <a:t>11</a:t>
            </a:fld>
            <a:endParaRPr lang="en-US" altLang="zh-CN"/>
          </a:p>
        </p:txBody>
      </p:sp>
      <p:sp>
        <p:nvSpPr>
          <p:cNvPr id="24579" name="Rectangle 2">
            <a:extLst>
              <a:ext uri="{FF2B5EF4-FFF2-40B4-BE49-F238E27FC236}">
                <a16:creationId xmlns:a16="http://schemas.microsoft.com/office/drawing/2014/main" id="{44CAEB88-A670-4E2A-8F57-52532068D9AC}"/>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7F641C31-E17E-4BF5-A6C2-EAEFA2FB42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F4F53F6C-B470-442B-8915-BA1BD152E3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724EAE6-B79C-4EFE-B4E5-01E258C78ADB}" type="slidenum">
              <a:rPr lang="en-US" altLang="zh-CN"/>
              <a:pPr>
                <a:spcBef>
                  <a:spcPct val="0"/>
                </a:spcBef>
              </a:pPr>
              <a:t>12</a:t>
            </a:fld>
            <a:endParaRPr lang="en-US" altLang="zh-CN"/>
          </a:p>
        </p:txBody>
      </p:sp>
      <p:sp>
        <p:nvSpPr>
          <p:cNvPr id="26627" name="Rectangle 2">
            <a:extLst>
              <a:ext uri="{FF2B5EF4-FFF2-40B4-BE49-F238E27FC236}">
                <a16:creationId xmlns:a16="http://schemas.microsoft.com/office/drawing/2014/main" id="{5D626D5A-E115-4531-9051-AA2F92E4BEDF}"/>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81632602-E337-4181-A00B-ED557769B7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B54500AE-4DE5-46B0-BBB7-81B41337CD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E194CAB-BEEF-491A-8583-3C7E5E06A650}" type="slidenum">
              <a:rPr lang="en-US" altLang="zh-CN"/>
              <a:pPr>
                <a:spcBef>
                  <a:spcPct val="0"/>
                </a:spcBef>
              </a:pPr>
              <a:t>13</a:t>
            </a:fld>
            <a:endParaRPr lang="en-US" altLang="zh-CN"/>
          </a:p>
        </p:txBody>
      </p:sp>
      <p:sp>
        <p:nvSpPr>
          <p:cNvPr id="28675" name="Rectangle 2">
            <a:extLst>
              <a:ext uri="{FF2B5EF4-FFF2-40B4-BE49-F238E27FC236}">
                <a16:creationId xmlns:a16="http://schemas.microsoft.com/office/drawing/2014/main" id="{0067287D-2509-4E97-8FDC-960CEFE5E342}"/>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D8B38471-5CC7-470E-89FC-A4D1DC295F1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13E3F714-913D-4592-8BF3-605F803A4A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0914AF-0E18-461C-B310-47A9EA72AF6D}" type="slidenum">
              <a:rPr lang="en-US" altLang="zh-CN"/>
              <a:pPr>
                <a:spcBef>
                  <a:spcPct val="0"/>
                </a:spcBef>
              </a:pPr>
              <a:t>14</a:t>
            </a:fld>
            <a:endParaRPr lang="en-US" altLang="zh-CN"/>
          </a:p>
        </p:txBody>
      </p:sp>
      <p:sp>
        <p:nvSpPr>
          <p:cNvPr id="24579" name="Rectangle 2">
            <a:extLst>
              <a:ext uri="{FF2B5EF4-FFF2-40B4-BE49-F238E27FC236}">
                <a16:creationId xmlns:a16="http://schemas.microsoft.com/office/drawing/2014/main" id="{44CAEB88-A670-4E2A-8F57-52532068D9AC}"/>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7F641C31-E17E-4BF5-A6C2-EAEFA2FB42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499474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13E3F714-913D-4592-8BF3-605F803A4A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0914AF-0E18-461C-B310-47A9EA72AF6D}" type="slidenum">
              <a:rPr lang="en-US" altLang="zh-CN"/>
              <a:pPr>
                <a:spcBef>
                  <a:spcPct val="0"/>
                </a:spcBef>
              </a:pPr>
              <a:t>15</a:t>
            </a:fld>
            <a:endParaRPr lang="en-US" altLang="zh-CN"/>
          </a:p>
        </p:txBody>
      </p:sp>
      <p:sp>
        <p:nvSpPr>
          <p:cNvPr id="24579" name="Rectangle 2">
            <a:extLst>
              <a:ext uri="{FF2B5EF4-FFF2-40B4-BE49-F238E27FC236}">
                <a16:creationId xmlns:a16="http://schemas.microsoft.com/office/drawing/2014/main" id="{44CAEB88-A670-4E2A-8F57-52532068D9AC}"/>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7F641C31-E17E-4BF5-A6C2-EAEFA2FB42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277050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D27FC408-A087-4AD7-9B4C-D4D27CA74F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50FE82E-D6D5-42BB-B91B-852364B3A635}" type="slidenum">
              <a:rPr lang="en-US" altLang="zh-CN"/>
              <a:pPr>
                <a:spcBef>
                  <a:spcPct val="0"/>
                </a:spcBef>
              </a:pPr>
              <a:t>16</a:t>
            </a:fld>
            <a:endParaRPr lang="en-US" altLang="zh-CN"/>
          </a:p>
        </p:txBody>
      </p:sp>
      <p:sp>
        <p:nvSpPr>
          <p:cNvPr id="30723" name="Rectangle 2">
            <a:extLst>
              <a:ext uri="{FF2B5EF4-FFF2-40B4-BE49-F238E27FC236}">
                <a16:creationId xmlns:a16="http://schemas.microsoft.com/office/drawing/2014/main" id="{D6F58128-1C4F-4565-97B9-91155F239071}"/>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62A1FFB8-FDA3-4EB6-9991-470A77BDD5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025D6C39-21A1-4C69-90F0-8DB439782D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4A4A37E-9540-471E-A4C5-238FE6E19FFE}" type="slidenum">
              <a:rPr lang="en-US" altLang="zh-CN"/>
              <a:pPr>
                <a:spcBef>
                  <a:spcPct val="0"/>
                </a:spcBef>
              </a:pPr>
              <a:t>17</a:t>
            </a:fld>
            <a:endParaRPr lang="en-US" altLang="zh-CN"/>
          </a:p>
        </p:txBody>
      </p:sp>
      <p:sp>
        <p:nvSpPr>
          <p:cNvPr id="32771" name="Rectangle 2">
            <a:extLst>
              <a:ext uri="{FF2B5EF4-FFF2-40B4-BE49-F238E27FC236}">
                <a16:creationId xmlns:a16="http://schemas.microsoft.com/office/drawing/2014/main" id="{B0B60B89-72B9-45A7-932C-DA25FED93D16}"/>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4BDF9070-9556-480D-88F5-D55AAC2C83F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100BA979-B8D1-4D53-92A9-3B9D3A4E00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8C85E6D-49D0-4BE4-9AA3-CA1D5A5A46E0}" type="slidenum">
              <a:rPr lang="en-US" altLang="zh-CN"/>
              <a:pPr>
                <a:spcBef>
                  <a:spcPct val="0"/>
                </a:spcBef>
              </a:pPr>
              <a:t>18</a:t>
            </a:fld>
            <a:endParaRPr lang="en-US" altLang="zh-CN"/>
          </a:p>
        </p:txBody>
      </p:sp>
      <p:sp>
        <p:nvSpPr>
          <p:cNvPr id="34819" name="Rectangle 2">
            <a:extLst>
              <a:ext uri="{FF2B5EF4-FFF2-40B4-BE49-F238E27FC236}">
                <a16:creationId xmlns:a16="http://schemas.microsoft.com/office/drawing/2014/main" id="{CF007D3D-680A-442D-BF6D-21477ABEA4EB}"/>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F6C33C99-9A28-4323-9C53-FC71330643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32834FF4-5357-413F-A012-A48383B99D3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0CA4FA3-D79E-444C-BD2B-3B74C596B992}" type="slidenum">
              <a:rPr lang="en-US" altLang="zh-CN"/>
              <a:pPr>
                <a:spcBef>
                  <a:spcPct val="0"/>
                </a:spcBef>
              </a:pPr>
              <a:t>19</a:t>
            </a:fld>
            <a:endParaRPr lang="en-US" altLang="zh-CN"/>
          </a:p>
        </p:txBody>
      </p:sp>
      <p:sp>
        <p:nvSpPr>
          <p:cNvPr id="36867" name="Rectangle 2">
            <a:extLst>
              <a:ext uri="{FF2B5EF4-FFF2-40B4-BE49-F238E27FC236}">
                <a16:creationId xmlns:a16="http://schemas.microsoft.com/office/drawing/2014/main" id="{4450EBF9-A2BD-4979-8CC6-3FB1B6A336FC}"/>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77B54CDE-DF1D-4002-9A71-0303D69636C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1792FF94-0CE7-4F6B-8630-B9134B0D4DB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14183A2-C810-4FFF-98C6-8507E29B6C84}" type="slidenum">
              <a:rPr lang="en-US" altLang="zh-CN"/>
              <a:pPr>
                <a:spcBef>
                  <a:spcPct val="0"/>
                </a:spcBef>
              </a:pPr>
              <a:t>20</a:t>
            </a:fld>
            <a:endParaRPr lang="en-US" altLang="zh-CN"/>
          </a:p>
        </p:txBody>
      </p:sp>
      <p:sp>
        <p:nvSpPr>
          <p:cNvPr id="38915" name="Rectangle 2">
            <a:extLst>
              <a:ext uri="{FF2B5EF4-FFF2-40B4-BE49-F238E27FC236}">
                <a16:creationId xmlns:a16="http://schemas.microsoft.com/office/drawing/2014/main" id="{5511D71B-73CE-40EF-AFDF-CB1227557B90}"/>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84E34D1E-17FE-4223-BDDB-A763F375DCC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3733B74E-21E8-4720-993A-74C9B2E1CA7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38D00B3-39ED-43AA-AA88-AA567E17EB41}" type="slidenum">
              <a:rPr lang="en-US" altLang="zh-CN"/>
              <a:pPr>
                <a:spcBef>
                  <a:spcPct val="0"/>
                </a:spcBef>
              </a:pPr>
              <a:t>21</a:t>
            </a:fld>
            <a:endParaRPr lang="en-US" altLang="zh-CN"/>
          </a:p>
        </p:txBody>
      </p:sp>
      <p:sp>
        <p:nvSpPr>
          <p:cNvPr id="40963" name="Rectangle 2">
            <a:extLst>
              <a:ext uri="{FF2B5EF4-FFF2-40B4-BE49-F238E27FC236}">
                <a16:creationId xmlns:a16="http://schemas.microsoft.com/office/drawing/2014/main" id="{87C69A41-714E-4986-B7AE-4D250718AD3F}"/>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82C2215E-B53A-4133-A199-9101138C98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CDE8905-115E-4E6E-B583-F5852C6D7A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7E78C40-C986-44A2-9C6F-E86019F5C98A}" type="slidenum">
              <a:rPr lang="en-US" altLang="zh-CN"/>
              <a:pPr>
                <a:spcBef>
                  <a:spcPct val="0"/>
                </a:spcBef>
              </a:pPr>
              <a:t>22</a:t>
            </a:fld>
            <a:endParaRPr lang="en-US" altLang="zh-CN"/>
          </a:p>
        </p:txBody>
      </p:sp>
      <p:sp>
        <p:nvSpPr>
          <p:cNvPr id="43011" name="Rectangle 2">
            <a:extLst>
              <a:ext uri="{FF2B5EF4-FFF2-40B4-BE49-F238E27FC236}">
                <a16:creationId xmlns:a16="http://schemas.microsoft.com/office/drawing/2014/main" id="{35AC05F7-F9DC-40C4-A185-7DB1E036D1A5}"/>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81703F5D-C580-4D33-A9F5-9646B25ACB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CDE8905-115E-4E6E-B583-F5852C6D7A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7E78C40-C986-44A2-9C6F-E86019F5C98A}" type="slidenum">
              <a:rPr lang="en-US" altLang="zh-CN"/>
              <a:pPr>
                <a:spcBef>
                  <a:spcPct val="0"/>
                </a:spcBef>
              </a:pPr>
              <a:t>23</a:t>
            </a:fld>
            <a:endParaRPr lang="en-US" altLang="zh-CN"/>
          </a:p>
        </p:txBody>
      </p:sp>
      <p:sp>
        <p:nvSpPr>
          <p:cNvPr id="43011" name="Rectangle 2">
            <a:extLst>
              <a:ext uri="{FF2B5EF4-FFF2-40B4-BE49-F238E27FC236}">
                <a16:creationId xmlns:a16="http://schemas.microsoft.com/office/drawing/2014/main" id="{35AC05F7-F9DC-40C4-A185-7DB1E036D1A5}"/>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81703F5D-C580-4D33-A9F5-9646B25ACB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702246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7466230C-CB55-499E-BE74-26A7BBFE0B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5942179-A850-499A-846F-D075FDB79C63}" type="slidenum">
              <a:rPr lang="en-US" altLang="zh-CN"/>
              <a:pPr>
                <a:spcBef>
                  <a:spcPct val="0"/>
                </a:spcBef>
              </a:pPr>
              <a:t>24</a:t>
            </a:fld>
            <a:endParaRPr lang="en-US" altLang="zh-CN"/>
          </a:p>
        </p:txBody>
      </p:sp>
      <p:sp>
        <p:nvSpPr>
          <p:cNvPr id="45059" name="Rectangle 2">
            <a:extLst>
              <a:ext uri="{FF2B5EF4-FFF2-40B4-BE49-F238E27FC236}">
                <a16:creationId xmlns:a16="http://schemas.microsoft.com/office/drawing/2014/main" id="{5BCCACB4-500C-4E4E-802D-56F6A1CB6CBC}"/>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D4A62B74-E474-4F1B-8126-46A6416A256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25</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372647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26</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9712377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27</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1515633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28</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4975754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29</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5358479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30</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87736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31</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3528512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32</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42768718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33</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4618840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34</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2841539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35</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1641434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36</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1336943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37</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AD086DF-CED5-4D49-9DEA-9EC77E949B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45E7628-0ECA-4480-A216-B61EB9A398CF}" type="slidenum">
              <a:rPr lang="en-US" altLang="zh-CN"/>
              <a:pPr>
                <a:spcBef>
                  <a:spcPct val="0"/>
                </a:spcBef>
              </a:pPr>
              <a:t>38</a:t>
            </a:fld>
            <a:endParaRPr lang="en-US" altLang="zh-CN"/>
          </a:p>
        </p:txBody>
      </p:sp>
      <p:sp>
        <p:nvSpPr>
          <p:cNvPr id="49155" name="Rectangle 2">
            <a:extLst>
              <a:ext uri="{FF2B5EF4-FFF2-40B4-BE49-F238E27FC236}">
                <a16:creationId xmlns:a16="http://schemas.microsoft.com/office/drawing/2014/main" id="{AC2AF9CB-BBF6-458B-8BD5-2C0755FE622A}"/>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9A6A09F1-1570-4C06-A713-9BE692629F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C0E3D40-F7E0-4FD0-88B4-5DFF5F0FF69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97F3A6-EB12-4A20-9F42-55EDF4BA5E80}" type="slidenum">
              <a:rPr lang="en-US" altLang="zh-CN"/>
              <a:pPr>
                <a:spcBef>
                  <a:spcPct val="0"/>
                </a:spcBef>
              </a:pPr>
              <a:t>39</a:t>
            </a:fld>
            <a:endParaRPr lang="en-US" altLang="zh-CN"/>
          </a:p>
        </p:txBody>
      </p:sp>
      <p:sp>
        <p:nvSpPr>
          <p:cNvPr id="51203" name="Rectangle 2">
            <a:extLst>
              <a:ext uri="{FF2B5EF4-FFF2-40B4-BE49-F238E27FC236}">
                <a16:creationId xmlns:a16="http://schemas.microsoft.com/office/drawing/2014/main" id="{82EBFD5A-5168-4BDE-B0E4-C0EF3BF2AACE}"/>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CECCEFA0-E2FD-40FC-B699-B2EF2D25E0A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182DC711-2467-48FA-B6AE-455F39C71D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C59417-292E-4B7E-88A3-03E51BE3D657}" type="slidenum">
              <a:rPr lang="en-US" altLang="zh-CN"/>
              <a:pPr>
                <a:spcBef>
                  <a:spcPct val="0"/>
                </a:spcBef>
              </a:pPr>
              <a:t>40</a:t>
            </a:fld>
            <a:endParaRPr lang="en-US" altLang="zh-CN"/>
          </a:p>
        </p:txBody>
      </p:sp>
      <p:sp>
        <p:nvSpPr>
          <p:cNvPr id="53251" name="Rectangle 2">
            <a:extLst>
              <a:ext uri="{FF2B5EF4-FFF2-40B4-BE49-F238E27FC236}">
                <a16:creationId xmlns:a16="http://schemas.microsoft.com/office/drawing/2014/main" id="{BA147971-2E9F-4BEB-A978-6B18F0DFEEF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3007AFF-8646-4149-A92E-A9DA3F8DAA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1085218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182DC711-2467-48FA-B6AE-455F39C71D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C59417-292E-4B7E-88A3-03E51BE3D657}" type="slidenum">
              <a:rPr lang="en-US" altLang="zh-CN"/>
              <a:pPr>
                <a:spcBef>
                  <a:spcPct val="0"/>
                </a:spcBef>
              </a:pPr>
              <a:t>41</a:t>
            </a:fld>
            <a:endParaRPr lang="en-US" altLang="zh-CN"/>
          </a:p>
        </p:txBody>
      </p:sp>
      <p:sp>
        <p:nvSpPr>
          <p:cNvPr id="53251" name="Rectangle 2">
            <a:extLst>
              <a:ext uri="{FF2B5EF4-FFF2-40B4-BE49-F238E27FC236}">
                <a16:creationId xmlns:a16="http://schemas.microsoft.com/office/drawing/2014/main" id="{BA147971-2E9F-4BEB-A978-6B18F0DFEEF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3007AFF-8646-4149-A92E-A9DA3F8DAA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2829837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182DC711-2467-48FA-B6AE-455F39C71D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C59417-292E-4B7E-88A3-03E51BE3D657}" type="slidenum">
              <a:rPr lang="en-US" altLang="zh-CN"/>
              <a:pPr>
                <a:spcBef>
                  <a:spcPct val="0"/>
                </a:spcBef>
              </a:pPr>
              <a:t>42</a:t>
            </a:fld>
            <a:endParaRPr lang="en-US" altLang="zh-CN"/>
          </a:p>
        </p:txBody>
      </p:sp>
      <p:sp>
        <p:nvSpPr>
          <p:cNvPr id="53251" name="Rectangle 2">
            <a:extLst>
              <a:ext uri="{FF2B5EF4-FFF2-40B4-BE49-F238E27FC236}">
                <a16:creationId xmlns:a16="http://schemas.microsoft.com/office/drawing/2014/main" id="{BA147971-2E9F-4BEB-A978-6B18F0DFEEF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3007AFF-8646-4149-A92E-A9DA3F8DAA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182DC711-2467-48FA-B6AE-455F39C71D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C59417-292E-4B7E-88A3-03E51BE3D657}" type="slidenum">
              <a:rPr lang="en-US" altLang="zh-CN"/>
              <a:pPr>
                <a:spcBef>
                  <a:spcPct val="0"/>
                </a:spcBef>
              </a:pPr>
              <a:t>43</a:t>
            </a:fld>
            <a:endParaRPr lang="en-US" altLang="zh-CN"/>
          </a:p>
        </p:txBody>
      </p:sp>
      <p:sp>
        <p:nvSpPr>
          <p:cNvPr id="53251" name="Rectangle 2">
            <a:extLst>
              <a:ext uri="{FF2B5EF4-FFF2-40B4-BE49-F238E27FC236}">
                <a16:creationId xmlns:a16="http://schemas.microsoft.com/office/drawing/2014/main" id="{BA147971-2E9F-4BEB-A978-6B18F0DFEEF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3007AFF-8646-4149-A92E-A9DA3F8DAA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4081852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BDFFDCFC-B6C6-46C5-8343-B8DE77D9D7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1028BE7-F79A-496E-BB19-E1BBB2F25DBD}" type="slidenum">
              <a:rPr lang="en-US" altLang="zh-CN"/>
              <a:pPr>
                <a:spcBef>
                  <a:spcPct val="0"/>
                </a:spcBef>
              </a:pPr>
              <a:t>44</a:t>
            </a:fld>
            <a:endParaRPr lang="en-US" altLang="zh-CN"/>
          </a:p>
        </p:txBody>
      </p:sp>
      <p:sp>
        <p:nvSpPr>
          <p:cNvPr id="55299" name="Rectangle 2">
            <a:extLst>
              <a:ext uri="{FF2B5EF4-FFF2-40B4-BE49-F238E27FC236}">
                <a16:creationId xmlns:a16="http://schemas.microsoft.com/office/drawing/2014/main" id="{B7BA24D9-1A89-4920-9585-4DEBE6E2698B}"/>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4CDE87DE-0C5A-4B2A-B7FF-4EA5815C36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D83159C7-7676-4E8F-B3CA-1632E86D82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06BED29-2A2B-4498-B11C-C3FBDC8A608C}" type="slidenum">
              <a:rPr lang="en-US" altLang="zh-CN"/>
              <a:pPr>
                <a:spcBef>
                  <a:spcPct val="0"/>
                </a:spcBef>
              </a:pPr>
              <a:t>45</a:t>
            </a:fld>
            <a:endParaRPr lang="en-US" altLang="zh-CN"/>
          </a:p>
        </p:txBody>
      </p:sp>
      <p:sp>
        <p:nvSpPr>
          <p:cNvPr id="57347" name="Rectangle 2">
            <a:extLst>
              <a:ext uri="{FF2B5EF4-FFF2-40B4-BE49-F238E27FC236}">
                <a16:creationId xmlns:a16="http://schemas.microsoft.com/office/drawing/2014/main" id="{B67E0923-ACE7-488C-9CF5-734F91ACD7E8}"/>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9BF55C40-EE9E-4098-B711-2CF6D1EDBEA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F7D63352-CB7F-4F94-A63A-A74578B73A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74BA92D-9CF8-4E14-8D2B-7E54D5AC6BE6}" type="slidenum">
              <a:rPr lang="en-US" altLang="zh-CN"/>
              <a:pPr>
                <a:spcBef>
                  <a:spcPct val="0"/>
                </a:spcBef>
              </a:pPr>
              <a:t>46</a:t>
            </a:fld>
            <a:endParaRPr lang="en-US" altLang="zh-CN"/>
          </a:p>
        </p:txBody>
      </p:sp>
      <p:sp>
        <p:nvSpPr>
          <p:cNvPr id="59395" name="Rectangle 2">
            <a:extLst>
              <a:ext uri="{FF2B5EF4-FFF2-40B4-BE49-F238E27FC236}">
                <a16:creationId xmlns:a16="http://schemas.microsoft.com/office/drawing/2014/main" id="{AFAB9EF8-E4E6-4081-B2B2-AD5E6B7BAD99}"/>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8F5CC8DA-988D-49E3-85EC-A60EFBBBBC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A009FA9F-3E3B-4741-9491-EE788A2FD40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E44E0-FE35-4AD2-8BDD-5E3A890C24DF}" type="slidenum">
              <a:rPr lang="en-US" altLang="zh-CN"/>
              <a:pPr>
                <a:spcBef>
                  <a:spcPct val="0"/>
                </a:spcBef>
              </a:pPr>
              <a:t>47</a:t>
            </a:fld>
            <a:endParaRPr lang="en-US" altLang="zh-CN"/>
          </a:p>
        </p:txBody>
      </p:sp>
      <p:sp>
        <p:nvSpPr>
          <p:cNvPr id="61443" name="Rectangle 2">
            <a:extLst>
              <a:ext uri="{FF2B5EF4-FFF2-40B4-BE49-F238E27FC236}">
                <a16:creationId xmlns:a16="http://schemas.microsoft.com/office/drawing/2014/main" id="{2F317574-DC82-4834-B332-38590B206ED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7BEB3107-BC00-4C5D-96E2-843F8FC3F2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65821A39-B47F-4EBF-8BAE-86AE30D0A0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AD0970D-F889-4E3B-AEEB-85F69DDE94E2}" type="slidenum">
              <a:rPr lang="en-US" altLang="zh-CN"/>
              <a:pPr>
                <a:spcBef>
                  <a:spcPct val="0"/>
                </a:spcBef>
              </a:pPr>
              <a:t>48</a:t>
            </a:fld>
            <a:endParaRPr lang="en-US" altLang="zh-CN"/>
          </a:p>
        </p:txBody>
      </p:sp>
      <p:sp>
        <p:nvSpPr>
          <p:cNvPr id="63491" name="Rectangle 2">
            <a:extLst>
              <a:ext uri="{FF2B5EF4-FFF2-40B4-BE49-F238E27FC236}">
                <a16:creationId xmlns:a16="http://schemas.microsoft.com/office/drawing/2014/main" id="{5AD1129B-C6DF-44F5-86AC-CCED667DC6F4}"/>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51AE1ABD-5910-49AB-B3D8-ED83DB7FFD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49</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50</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42075069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52</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5227181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53</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9248597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54</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7217352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55</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3779231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56</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2366150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C3416AB8-FE7C-448F-B3FB-3B09CEC98CF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CF1D127-6EB4-47AD-8A7D-E6B0ADC3D512}" type="slidenum">
              <a:rPr lang="en-US" altLang="zh-CN"/>
              <a:pPr>
                <a:spcBef>
                  <a:spcPct val="0"/>
                </a:spcBef>
              </a:pPr>
              <a:t>57</a:t>
            </a:fld>
            <a:endParaRPr lang="en-US" altLang="zh-CN"/>
          </a:p>
        </p:txBody>
      </p:sp>
      <p:sp>
        <p:nvSpPr>
          <p:cNvPr id="67587" name="Rectangle 2">
            <a:extLst>
              <a:ext uri="{FF2B5EF4-FFF2-40B4-BE49-F238E27FC236}">
                <a16:creationId xmlns:a16="http://schemas.microsoft.com/office/drawing/2014/main" id="{D641FF14-1514-4082-A14F-41B970A9A422}"/>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61AD62ED-4F3B-43C0-87C2-FC10A2DC9A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946867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688623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编辑母版文本样式</a:t>
            </a:r>
          </a:p>
        </p:txBody>
      </p:sp>
    </p:spTree>
    <p:extLst>
      <p:ext uri="{BB962C8B-B14F-4D97-AF65-F5344CB8AC3E}">
        <p14:creationId xmlns:p14="http://schemas.microsoft.com/office/powerpoint/2010/main" val="3350403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9850"/>
            <a:ext cx="40386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9850"/>
            <a:ext cx="40386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27633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13997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713112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971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Tree>
    <p:extLst>
      <p:ext uri="{BB962C8B-B14F-4D97-AF65-F5344CB8AC3E}">
        <p14:creationId xmlns:p14="http://schemas.microsoft.com/office/powerpoint/2010/main" val="3508652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Tree>
    <p:extLst>
      <p:ext uri="{BB962C8B-B14F-4D97-AF65-F5344CB8AC3E}">
        <p14:creationId xmlns:p14="http://schemas.microsoft.com/office/powerpoint/2010/main" val="1297828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44783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9688"/>
            <a:ext cx="2057400" cy="62341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9688"/>
            <a:ext cx="6019800" cy="623411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04689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SmartArt 占位符 2"/>
          <p:cNvSpPr>
            <a:spLocks noGrp="1"/>
          </p:cNvSpPr>
          <p:nvPr>
            <p:ph type="dgm" idx="1"/>
          </p:nvPr>
        </p:nvSpPr>
        <p:spPr>
          <a:xfrm>
            <a:off x="457200" y="1828800"/>
            <a:ext cx="8229600" cy="4495800"/>
          </a:xfrm>
        </p:spPr>
        <p:txBody>
          <a:bodyPr/>
          <a:lstStyle/>
          <a:p>
            <a:pPr lvl="0"/>
            <a:r>
              <a:rPr lang="zh-CN" altLang="en-US" noProof="0"/>
              <a:t>单击图标添加 </a:t>
            </a:r>
            <a:r>
              <a:rPr lang="en-US" altLang="zh-CN" noProof="0"/>
              <a:t>SmartArt </a:t>
            </a:r>
            <a:r>
              <a:rPr lang="zh-CN" altLang="en-US" noProof="0"/>
              <a:t>图形</a:t>
            </a:r>
          </a:p>
        </p:txBody>
      </p:sp>
      <p:sp>
        <p:nvSpPr>
          <p:cNvPr id="4" name="Rectangle 15">
            <a:extLst>
              <a:ext uri="{FF2B5EF4-FFF2-40B4-BE49-F238E27FC236}">
                <a16:creationId xmlns:a16="http://schemas.microsoft.com/office/drawing/2014/main" id="{2A062542-C827-4387-AA72-576220F56AB5}"/>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5" name="Rectangle 16">
            <a:extLst>
              <a:ext uri="{FF2B5EF4-FFF2-40B4-BE49-F238E27FC236}">
                <a16:creationId xmlns:a16="http://schemas.microsoft.com/office/drawing/2014/main" id="{C8242291-A2CE-4383-8E5B-097A9DF963A4}"/>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2164127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a:extLst>
              <a:ext uri="{FF2B5EF4-FFF2-40B4-BE49-F238E27FC236}">
                <a16:creationId xmlns:a16="http://schemas.microsoft.com/office/drawing/2014/main" id="{C1FBFBFA-4E9E-49BF-B92E-1196B431084A}"/>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6" name="Rectangle 16">
            <a:extLst>
              <a:ext uri="{FF2B5EF4-FFF2-40B4-BE49-F238E27FC236}">
                <a16:creationId xmlns:a16="http://schemas.microsoft.com/office/drawing/2014/main" id="{982D6929-372B-4445-B124-76532DD554D7}"/>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748543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内容占位符 2"/>
          <p:cNvSpPr>
            <a:spLocks noGrp="1"/>
          </p:cNvSpPr>
          <p:nvPr>
            <p:ph sz="half" idx="1"/>
          </p:nvPr>
        </p:nvSpPr>
        <p:spPr>
          <a:xfrm>
            <a:off x="457200" y="18288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8288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529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a:extLst>
              <a:ext uri="{FF2B5EF4-FFF2-40B4-BE49-F238E27FC236}">
                <a16:creationId xmlns:a16="http://schemas.microsoft.com/office/drawing/2014/main" id="{9587DFB2-535A-452F-9B96-A3902934FD54}"/>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7" name="Rectangle 16">
            <a:extLst>
              <a:ext uri="{FF2B5EF4-FFF2-40B4-BE49-F238E27FC236}">
                <a16:creationId xmlns:a16="http://schemas.microsoft.com/office/drawing/2014/main" id="{6CF14C2C-C7C5-4736-A980-8BAE2B283F6A}"/>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2659544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828800"/>
            <a:ext cx="8229600" cy="4495800"/>
          </a:xfrm>
        </p:spPr>
        <p:txBody>
          <a:bodyPr/>
          <a:lstStyle/>
          <a:p>
            <a:pPr lvl="0"/>
            <a:r>
              <a:rPr lang="zh-CN" altLang="en-US" noProof="0"/>
              <a:t>单击图标添加表格</a:t>
            </a:r>
          </a:p>
        </p:txBody>
      </p:sp>
      <p:sp>
        <p:nvSpPr>
          <p:cNvPr id="4" name="Rectangle 15">
            <a:extLst>
              <a:ext uri="{FF2B5EF4-FFF2-40B4-BE49-F238E27FC236}">
                <a16:creationId xmlns:a16="http://schemas.microsoft.com/office/drawing/2014/main" id="{D5878556-03B2-4F1F-A2EA-E019466B1266}"/>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5" name="Rectangle 16">
            <a:extLst>
              <a:ext uri="{FF2B5EF4-FFF2-40B4-BE49-F238E27FC236}">
                <a16:creationId xmlns:a16="http://schemas.microsoft.com/office/drawing/2014/main" id="{4171ECEE-B3A4-4671-9A2F-B37ED1461481}"/>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3295894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263679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781474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smtClean="0"/>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853000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627551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76138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414431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603084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114730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884704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27347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77817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3.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未命名_副本">
            <a:extLst>
              <a:ext uri="{FF2B5EF4-FFF2-40B4-BE49-F238E27FC236}">
                <a16:creationId xmlns:a16="http://schemas.microsoft.com/office/drawing/2014/main" id="{003513D6-3AA0-4F5E-9956-150BCDF6F5C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l="1405" t="12910" r="2878" b="10757"/>
          <a:stretch>
            <a:fillRect/>
          </a:stretch>
        </p:blipFill>
        <p:spPr bwMode="auto">
          <a:xfrm>
            <a:off x="-22225" y="838200"/>
            <a:ext cx="9161463" cy="578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图片2">
            <a:extLst>
              <a:ext uri="{FF2B5EF4-FFF2-40B4-BE49-F238E27FC236}">
                <a16:creationId xmlns:a16="http://schemas.microsoft.com/office/drawing/2014/main" id="{FB9CC00C-B49E-400F-B453-8426FB0AA2B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225" y="6453188"/>
            <a:ext cx="91662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图片2">
            <a:extLst>
              <a:ext uri="{FF2B5EF4-FFF2-40B4-BE49-F238E27FC236}">
                <a16:creationId xmlns:a16="http://schemas.microsoft.com/office/drawing/2014/main" id="{2DE6063B-AD03-46E8-B27E-B11E27627B1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225" y="-28575"/>
            <a:ext cx="91662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Rectangle 2">
            <a:extLst>
              <a:ext uri="{FF2B5EF4-FFF2-40B4-BE49-F238E27FC236}">
                <a16:creationId xmlns:a16="http://schemas.microsoft.com/office/drawing/2014/main" id="{9EC3A238-F7D2-4926-B1AA-6EB0D797E75E}"/>
              </a:ext>
            </a:extLst>
          </p:cNvPr>
          <p:cNvSpPr>
            <a:spLocks noGrp="1" noChangeArrowheads="1"/>
          </p:cNvSpPr>
          <p:nvPr>
            <p:ph type="title"/>
          </p:nvPr>
        </p:nvSpPr>
        <p:spPr bwMode="auto">
          <a:xfrm>
            <a:off x="457200" y="-39688"/>
            <a:ext cx="82296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D5BCE9F0-265F-419E-931E-A3D2DF4869AF}"/>
              </a:ext>
            </a:extLst>
          </p:cNvPr>
          <p:cNvSpPr>
            <a:spLocks noGrp="1" noChangeArrowheads="1"/>
          </p:cNvSpPr>
          <p:nvPr>
            <p:ph type="body" idx="1"/>
          </p:nvPr>
        </p:nvSpPr>
        <p:spPr bwMode="auto">
          <a:xfrm>
            <a:off x="457200" y="1339850"/>
            <a:ext cx="82296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1" name="Text Box 7">
            <a:extLst>
              <a:ext uri="{FF2B5EF4-FFF2-40B4-BE49-F238E27FC236}">
                <a16:creationId xmlns:a16="http://schemas.microsoft.com/office/drawing/2014/main" id="{1B82E9A2-3B7A-4435-8F7F-E645F2C1C2F2}"/>
              </a:ext>
            </a:extLst>
          </p:cNvPr>
          <p:cNvSpPr txBox="1">
            <a:spLocks noChangeArrowheads="1"/>
          </p:cNvSpPr>
          <p:nvPr/>
        </p:nvSpPr>
        <p:spPr bwMode="auto">
          <a:xfrm>
            <a:off x="5510213" y="6454775"/>
            <a:ext cx="4103687" cy="334963"/>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Font typeface="Arial" panose="020B0604020202020204" pitchFamily="34" charset="0"/>
              <a:buNone/>
              <a:defRPr/>
            </a:pPr>
            <a:r>
              <a:rPr lang="en-US" altLang="zh-CN" sz="1600" b="1">
                <a:solidFill>
                  <a:schemeClr val="bg1"/>
                </a:solidFill>
              </a:rPr>
              <a:t>An Introduction to Database System</a:t>
            </a:r>
          </a:p>
        </p:txBody>
      </p:sp>
    </p:spTree>
    <p:extLst>
      <p:ext uri="{BB962C8B-B14F-4D97-AF65-F5344CB8AC3E}">
        <p14:creationId xmlns:p14="http://schemas.microsoft.com/office/powerpoint/2010/main" val="25950100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ctr" rtl="0" eaLnBrk="1" fontAlgn="base" hangingPunct="1">
        <a:spcBef>
          <a:spcPct val="0"/>
        </a:spcBef>
        <a:spcAft>
          <a:spcPct val="0"/>
        </a:spcAft>
        <a:defRPr sz="4000" b="1">
          <a:solidFill>
            <a:schemeClr val="bg1"/>
          </a:solidFill>
          <a:latin typeface="+mj-lt"/>
          <a:ea typeface="+mj-ea"/>
          <a:cs typeface="+mj-cs"/>
        </a:defRPr>
      </a:lvl1pPr>
      <a:lvl2pPr algn="ctr" rtl="0" eaLnBrk="1" fontAlgn="base" hangingPunct="1">
        <a:spcBef>
          <a:spcPct val="0"/>
        </a:spcBef>
        <a:spcAft>
          <a:spcPct val="0"/>
        </a:spcAft>
        <a:defRPr sz="4000" b="1">
          <a:solidFill>
            <a:schemeClr val="bg1"/>
          </a:solidFill>
          <a:latin typeface="Arial" pitchFamily="34" charset="0"/>
          <a:ea typeface="宋体" pitchFamily="2" charset="-122"/>
        </a:defRPr>
      </a:lvl2pPr>
      <a:lvl3pPr algn="ctr" rtl="0" eaLnBrk="1" fontAlgn="base" hangingPunct="1">
        <a:spcBef>
          <a:spcPct val="0"/>
        </a:spcBef>
        <a:spcAft>
          <a:spcPct val="0"/>
        </a:spcAft>
        <a:defRPr sz="4000" b="1">
          <a:solidFill>
            <a:schemeClr val="bg1"/>
          </a:solidFill>
          <a:latin typeface="Arial" pitchFamily="34" charset="0"/>
          <a:ea typeface="宋体" pitchFamily="2" charset="-122"/>
        </a:defRPr>
      </a:lvl3pPr>
      <a:lvl4pPr algn="ctr" rtl="0" eaLnBrk="1" fontAlgn="base" hangingPunct="1">
        <a:spcBef>
          <a:spcPct val="0"/>
        </a:spcBef>
        <a:spcAft>
          <a:spcPct val="0"/>
        </a:spcAft>
        <a:defRPr sz="4000" b="1">
          <a:solidFill>
            <a:schemeClr val="bg1"/>
          </a:solidFill>
          <a:latin typeface="Arial" pitchFamily="34" charset="0"/>
          <a:ea typeface="宋体" pitchFamily="2" charset="-122"/>
        </a:defRPr>
      </a:lvl4pPr>
      <a:lvl5pPr algn="ctr" rtl="0" eaLnBrk="1" fontAlgn="base" hangingPunct="1">
        <a:spcBef>
          <a:spcPct val="0"/>
        </a:spcBef>
        <a:spcAft>
          <a:spcPct val="0"/>
        </a:spcAft>
        <a:defRPr sz="4000" b="1">
          <a:solidFill>
            <a:schemeClr val="bg1"/>
          </a:solidFill>
          <a:latin typeface="Arial" pitchFamily="34" charset="0"/>
          <a:ea typeface="宋体" pitchFamily="2" charset="-122"/>
        </a:defRPr>
      </a:lvl5pPr>
      <a:lvl6pPr marL="457200" algn="ctr" rtl="0" eaLnBrk="1" fontAlgn="base" hangingPunct="1">
        <a:spcBef>
          <a:spcPct val="0"/>
        </a:spcBef>
        <a:spcAft>
          <a:spcPct val="0"/>
        </a:spcAft>
        <a:defRPr sz="4000" b="1">
          <a:solidFill>
            <a:schemeClr val="bg1"/>
          </a:solidFill>
          <a:latin typeface="Arial" pitchFamily="34" charset="0"/>
          <a:ea typeface="宋体" pitchFamily="2" charset="-122"/>
        </a:defRPr>
      </a:lvl6pPr>
      <a:lvl7pPr marL="914400" algn="ctr" rtl="0" eaLnBrk="1" fontAlgn="base" hangingPunct="1">
        <a:spcBef>
          <a:spcPct val="0"/>
        </a:spcBef>
        <a:spcAft>
          <a:spcPct val="0"/>
        </a:spcAft>
        <a:defRPr sz="4000" b="1">
          <a:solidFill>
            <a:schemeClr val="bg1"/>
          </a:solidFill>
          <a:latin typeface="Arial" pitchFamily="34" charset="0"/>
          <a:ea typeface="宋体" pitchFamily="2" charset="-122"/>
        </a:defRPr>
      </a:lvl7pPr>
      <a:lvl8pPr marL="1371600" algn="ctr" rtl="0" eaLnBrk="1" fontAlgn="base" hangingPunct="1">
        <a:spcBef>
          <a:spcPct val="0"/>
        </a:spcBef>
        <a:spcAft>
          <a:spcPct val="0"/>
        </a:spcAft>
        <a:defRPr sz="4000" b="1">
          <a:solidFill>
            <a:schemeClr val="bg1"/>
          </a:solidFill>
          <a:latin typeface="Arial" pitchFamily="34" charset="0"/>
          <a:ea typeface="宋体" pitchFamily="2" charset="-122"/>
        </a:defRPr>
      </a:lvl8pPr>
      <a:lvl9pPr marL="1828800" algn="ctr" rtl="0" eaLnBrk="1" fontAlgn="base" hangingPunct="1">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1" fontAlgn="base" hangingPunct="1">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1" fontAlgn="base" hangingPunct="1">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1" fontAlgn="base" hangingPunct="1">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1" fontAlgn="base" hangingPunct="1">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1" fontAlgn="base" hangingPunct="1">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6pPr>
      <a:lvl7pPr marL="29718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7pPr>
      <a:lvl8pPr marL="34290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8pPr>
      <a:lvl9pPr marL="38862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3/4/2026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838550153"/>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a:extLst>
              <a:ext uri="{FF2B5EF4-FFF2-40B4-BE49-F238E27FC236}">
                <a16:creationId xmlns:a16="http://schemas.microsoft.com/office/drawing/2014/main" id="{85CB5423-4420-41D0-A5B9-3E57472EDDC3}"/>
              </a:ext>
            </a:extLst>
          </p:cNvPr>
          <p:cNvSpPr txBox="1">
            <a:spLocks noChangeArrowheads="1"/>
          </p:cNvSpPr>
          <p:nvPr/>
        </p:nvSpPr>
        <p:spPr bwMode="auto">
          <a:xfrm>
            <a:off x="539750" y="1557338"/>
            <a:ext cx="81534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5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信息系统项目管理</a:t>
            </a:r>
            <a:endParaRPr kumimoji="1" lang="en-US" altLang="zh-CN" sz="5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7171" name="Text Box 3">
            <a:extLst>
              <a:ext uri="{FF2B5EF4-FFF2-40B4-BE49-F238E27FC236}">
                <a16:creationId xmlns:a16="http://schemas.microsoft.com/office/drawing/2014/main" id="{ABF8D103-822F-4E9C-B15F-47CD76C477FD}"/>
              </a:ext>
            </a:extLst>
          </p:cNvPr>
          <p:cNvSpPr txBox="1">
            <a:spLocks noChangeArrowheads="1"/>
          </p:cNvSpPr>
          <p:nvPr/>
        </p:nvSpPr>
        <p:spPr bwMode="auto">
          <a:xfrm>
            <a:off x="1187450" y="3068638"/>
            <a:ext cx="68580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杨辉</a:t>
            </a:r>
            <a:endPar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邮箱：</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mn-cs"/>
              </a:rPr>
              <a:t>yanghui58@xupt.edu.cn</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p>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电话：</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13325473501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E788DD26-B8E4-4435-88F2-301BE44E28A8}"/>
              </a:ext>
            </a:extLst>
          </p:cNvPr>
          <p:cNvSpPr>
            <a:spLocks noGrp="1" noChangeArrowheads="1"/>
          </p:cNvSpPr>
          <p:nvPr>
            <p:ph type="title"/>
          </p:nvPr>
        </p:nvSpPr>
        <p:spPr/>
        <p:txBody>
          <a:bodyPr/>
          <a:lstStyle/>
          <a:p>
            <a:pPr eaLnBrk="1" hangingPunct="1"/>
            <a:r>
              <a:rPr lang="zh-CN" altLang="en-US" sz="4000" b="1"/>
              <a:t>第</a:t>
            </a:r>
            <a:r>
              <a:rPr lang="en-US" altLang="zh-CN" sz="4000" b="1"/>
              <a:t>2</a:t>
            </a:r>
            <a:r>
              <a:rPr lang="zh-CN" altLang="en-US" sz="4000" b="1"/>
              <a:t>章  信息系统项目的立项与评价</a:t>
            </a:r>
            <a:r>
              <a:rPr lang="zh-CN" altLang="en-US" sz="4000"/>
              <a:t> </a:t>
            </a:r>
          </a:p>
        </p:txBody>
      </p:sp>
      <p:sp>
        <p:nvSpPr>
          <p:cNvPr id="5123" name="Rectangle 5">
            <a:extLst>
              <a:ext uri="{FF2B5EF4-FFF2-40B4-BE49-F238E27FC236}">
                <a16:creationId xmlns:a16="http://schemas.microsoft.com/office/drawing/2014/main" id="{94047534-961F-4C49-BAFF-5ABE6BC3A9B6}"/>
              </a:ext>
            </a:extLst>
          </p:cNvPr>
          <p:cNvSpPr>
            <a:spLocks noGrp="1" noChangeArrowheads="1"/>
          </p:cNvSpPr>
          <p:nvPr>
            <p:ph idx="1"/>
          </p:nvPr>
        </p:nvSpPr>
        <p:spPr/>
        <p:txBody>
          <a:bodyPr/>
          <a:lstStyle/>
          <a:p>
            <a:pPr algn="just" eaLnBrk="1" hangingPunct="1"/>
            <a:r>
              <a:rPr lang="en-US" altLang="zh-CN" b="1"/>
              <a:t>2.1 CIO</a:t>
            </a:r>
            <a:r>
              <a:rPr lang="zh-CN" altLang="en-US" b="1"/>
              <a:t>与信息系统项目</a:t>
            </a:r>
            <a:endParaRPr lang="en-US" altLang="zh-CN" b="1"/>
          </a:p>
          <a:p>
            <a:pPr algn="just" eaLnBrk="1" hangingPunct="1"/>
            <a:endParaRPr lang="zh-CN" altLang="en-US" b="1"/>
          </a:p>
          <a:p>
            <a:pPr algn="just" eaLnBrk="1" hangingPunct="1"/>
            <a:r>
              <a:rPr lang="en-US" altLang="zh-CN" b="1"/>
              <a:t>2.2 </a:t>
            </a:r>
            <a:r>
              <a:rPr lang="zh-CN" altLang="en-US" b="1"/>
              <a:t>信息系统项目的可行性研究</a:t>
            </a:r>
            <a:endParaRPr lang="en-US" altLang="zh-CN" b="1"/>
          </a:p>
          <a:p>
            <a:pPr algn="just" eaLnBrk="1" hangingPunct="1"/>
            <a:endParaRPr lang="zh-CN" altLang="en-US" b="1"/>
          </a:p>
          <a:p>
            <a:pPr algn="just" eaLnBrk="1" hangingPunct="1"/>
            <a:r>
              <a:rPr lang="en-US" altLang="zh-CN" b="1"/>
              <a:t>2.3 </a:t>
            </a:r>
            <a:r>
              <a:rPr lang="zh-CN" altLang="en-US" b="1"/>
              <a:t>信息系统项目的招标与评价</a:t>
            </a:r>
            <a:endParaRPr lang="en-US" altLang="zh-CN" b="1"/>
          </a:p>
          <a:p>
            <a:pPr algn="just" eaLnBrk="1" hangingPunct="1"/>
            <a:endParaRPr lang="zh-CN" altLang="en-US" b="1"/>
          </a:p>
          <a:p>
            <a:pPr algn="just" eaLnBrk="1" hangingPunct="1"/>
            <a:r>
              <a:rPr lang="en-US" altLang="zh-CN" b="1"/>
              <a:t>2.4 </a:t>
            </a:r>
            <a:r>
              <a:rPr lang="zh-CN" altLang="en-US" b="1"/>
              <a:t>信息系统项目的合同</a:t>
            </a:r>
          </a:p>
          <a:p>
            <a:pPr eaLnBrk="1" hangingPunct="1">
              <a:buFontTx/>
              <a:buNone/>
            </a:pPr>
            <a:endParaRPr lang="en-US" altLang="zh-CN" b="1"/>
          </a:p>
        </p:txBody>
      </p:sp>
      <p:sp>
        <p:nvSpPr>
          <p:cNvPr id="5124" name="Rectangle 6">
            <a:extLst>
              <a:ext uri="{FF2B5EF4-FFF2-40B4-BE49-F238E27FC236}">
                <a16:creationId xmlns:a16="http://schemas.microsoft.com/office/drawing/2014/main" id="{01CE2F51-8433-453A-9F7E-4FA59E130CA4}"/>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125" name="Line 7">
            <a:extLst>
              <a:ext uri="{FF2B5EF4-FFF2-40B4-BE49-F238E27FC236}">
                <a16:creationId xmlns:a16="http://schemas.microsoft.com/office/drawing/2014/main" id="{0AA18F81-1890-4472-BCE5-41E678CDD2C6}"/>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44789C7-85D5-4769-B8FE-8A57B0BED003}"/>
              </a:ext>
            </a:extLst>
          </p:cNvPr>
          <p:cNvSpPr>
            <a:spLocks noGrp="1" noChangeArrowheads="1"/>
          </p:cNvSpPr>
          <p:nvPr>
            <p:ph type="title"/>
          </p:nvPr>
        </p:nvSpPr>
        <p:spPr/>
        <p:txBody>
          <a:bodyPr/>
          <a:lstStyle/>
          <a:p>
            <a:pPr algn="l" eaLnBrk="1" hangingPunct="1"/>
            <a:r>
              <a:rPr lang="en-US" altLang="zh-CN" b="1"/>
              <a:t>2.1 CIO</a:t>
            </a:r>
            <a:r>
              <a:rPr lang="zh-CN" altLang="en-US" b="1"/>
              <a:t>与信息系统项目</a:t>
            </a:r>
          </a:p>
        </p:txBody>
      </p:sp>
      <p:sp>
        <p:nvSpPr>
          <p:cNvPr id="7171" name="Rectangle 3">
            <a:extLst>
              <a:ext uri="{FF2B5EF4-FFF2-40B4-BE49-F238E27FC236}">
                <a16:creationId xmlns:a16="http://schemas.microsoft.com/office/drawing/2014/main" id="{F6D2EC8C-5039-4F7B-8314-3EF627D72F21}"/>
              </a:ext>
            </a:extLst>
          </p:cNvPr>
          <p:cNvSpPr>
            <a:spLocks noGrp="1" noChangeArrowheads="1"/>
          </p:cNvSpPr>
          <p:nvPr>
            <p:ph idx="1"/>
          </p:nvPr>
        </p:nvSpPr>
        <p:spPr/>
        <p:txBody>
          <a:bodyPr/>
          <a:lstStyle/>
          <a:p>
            <a:pPr algn="just" eaLnBrk="1" hangingPunct="1"/>
            <a:endParaRPr lang="en-US" altLang="zh-CN" b="1"/>
          </a:p>
          <a:p>
            <a:pPr algn="just" eaLnBrk="1" hangingPunct="1"/>
            <a:r>
              <a:rPr lang="en-US" altLang="zh-CN" b="1"/>
              <a:t>2.1.1  CIO</a:t>
            </a:r>
            <a:r>
              <a:rPr lang="zh-CN" altLang="en-US" b="1"/>
              <a:t>的概念及职责</a:t>
            </a:r>
            <a:endParaRPr lang="en-US" altLang="zh-CN" b="1"/>
          </a:p>
          <a:p>
            <a:pPr algn="just" eaLnBrk="1" hangingPunct="1"/>
            <a:endParaRPr lang="zh-CN" altLang="en-US" b="1"/>
          </a:p>
          <a:p>
            <a:pPr algn="just" eaLnBrk="1" hangingPunct="1"/>
            <a:r>
              <a:rPr lang="en-US" altLang="zh-CN" b="1"/>
              <a:t>2.1.2  CIO</a:t>
            </a:r>
            <a:r>
              <a:rPr lang="zh-CN" altLang="en-US" b="1"/>
              <a:t>的角色与信息系统项目</a:t>
            </a:r>
          </a:p>
        </p:txBody>
      </p:sp>
      <p:sp>
        <p:nvSpPr>
          <p:cNvPr id="7172" name="Rectangle 4">
            <a:extLst>
              <a:ext uri="{FF2B5EF4-FFF2-40B4-BE49-F238E27FC236}">
                <a16:creationId xmlns:a16="http://schemas.microsoft.com/office/drawing/2014/main" id="{F9987FD0-430C-45BE-86E8-40DB498B36C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7173" name="Line 5">
            <a:extLst>
              <a:ext uri="{FF2B5EF4-FFF2-40B4-BE49-F238E27FC236}">
                <a16:creationId xmlns:a16="http://schemas.microsoft.com/office/drawing/2014/main" id="{58F3F3BB-55A9-4564-977B-DCB43833AB0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4D484E0-665E-4228-B6F6-372522FDD326}"/>
              </a:ext>
            </a:extLst>
          </p:cNvPr>
          <p:cNvSpPr>
            <a:spLocks noGrp="1" noChangeArrowheads="1"/>
          </p:cNvSpPr>
          <p:nvPr>
            <p:ph type="title"/>
          </p:nvPr>
        </p:nvSpPr>
        <p:spPr/>
        <p:txBody>
          <a:bodyPr/>
          <a:lstStyle/>
          <a:p>
            <a:pPr algn="l" eaLnBrk="1" hangingPunct="1"/>
            <a:r>
              <a:rPr lang="en-US" altLang="zh-CN" sz="4000" b="1"/>
              <a:t>2.1.1  CIO</a:t>
            </a:r>
            <a:r>
              <a:rPr lang="zh-CN" altLang="en-US" sz="4000" b="1"/>
              <a:t>的概念及职责</a:t>
            </a:r>
          </a:p>
        </p:txBody>
      </p:sp>
      <p:sp>
        <p:nvSpPr>
          <p:cNvPr id="9219" name="Rectangle 3">
            <a:extLst>
              <a:ext uri="{FF2B5EF4-FFF2-40B4-BE49-F238E27FC236}">
                <a16:creationId xmlns:a16="http://schemas.microsoft.com/office/drawing/2014/main" id="{F3160BE2-3FF0-4BA2-B32D-43E98E16E3B4}"/>
              </a:ext>
            </a:extLst>
          </p:cNvPr>
          <p:cNvSpPr>
            <a:spLocks noGrp="1" noChangeArrowheads="1"/>
          </p:cNvSpPr>
          <p:nvPr>
            <p:ph idx="1"/>
          </p:nvPr>
        </p:nvSpPr>
        <p:spPr/>
        <p:txBody>
          <a:bodyPr/>
          <a:lstStyle/>
          <a:p>
            <a:pPr eaLnBrk="1" hangingPunct="1"/>
            <a:r>
              <a:rPr lang="en-US" altLang="zh-CN" sz="2400" dirty="0"/>
              <a:t>CIO</a:t>
            </a:r>
            <a:r>
              <a:rPr lang="zh-CN" altLang="en-US" sz="2400" dirty="0"/>
              <a:t>是</a:t>
            </a:r>
            <a:r>
              <a:rPr lang="en-US" altLang="zh-CN" sz="2400" dirty="0"/>
              <a:t>Chief Information Officer</a:t>
            </a:r>
            <a:r>
              <a:rPr lang="zh-CN" altLang="en-US" sz="2400" dirty="0"/>
              <a:t>的缩写，直译为首席信息官。从组织性质上，</a:t>
            </a:r>
            <a:r>
              <a:rPr lang="en-US" altLang="zh-CN" sz="2400" dirty="0"/>
              <a:t>CIO</a:t>
            </a:r>
            <a:r>
              <a:rPr lang="zh-CN" altLang="en-US" sz="2400" dirty="0"/>
              <a:t>可以大体分为政府</a:t>
            </a:r>
            <a:r>
              <a:rPr lang="en-US" altLang="zh-CN" sz="2400" dirty="0"/>
              <a:t>CIO</a:t>
            </a:r>
            <a:r>
              <a:rPr lang="zh-CN" altLang="en-US" sz="2400" dirty="0"/>
              <a:t>和企业</a:t>
            </a:r>
            <a:r>
              <a:rPr lang="en-US" altLang="zh-CN" sz="2400" dirty="0"/>
              <a:t>CIO</a:t>
            </a:r>
            <a:r>
              <a:rPr lang="zh-CN" altLang="en-US" sz="2400" dirty="0"/>
              <a:t>。 </a:t>
            </a:r>
          </a:p>
          <a:p>
            <a:pPr eaLnBrk="1" hangingPunct="1"/>
            <a:r>
              <a:rPr lang="en-US" altLang="zh-CN" sz="2400" dirty="0"/>
              <a:t>CIO</a:t>
            </a:r>
            <a:r>
              <a:rPr lang="zh-CN" altLang="en-US" sz="2400" dirty="0"/>
              <a:t>起源于</a:t>
            </a:r>
            <a:r>
              <a:rPr lang="en-US" altLang="zh-CN" sz="2400" dirty="0"/>
              <a:t>20</a:t>
            </a:r>
            <a:r>
              <a:rPr lang="zh-CN" altLang="en-US" sz="2400" dirty="0"/>
              <a:t>世纪</a:t>
            </a:r>
            <a:r>
              <a:rPr lang="en-US" altLang="zh-CN" sz="2400" dirty="0"/>
              <a:t>80</a:t>
            </a:r>
            <a:r>
              <a:rPr lang="zh-CN" altLang="en-US" sz="2400" dirty="0"/>
              <a:t>年代初的美国。</a:t>
            </a:r>
          </a:p>
          <a:p>
            <a:pPr eaLnBrk="1" hangingPunct="1"/>
            <a:r>
              <a:rPr lang="zh-CN" altLang="en-US" sz="2400" dirty="0"/>
              <a:t>“结构真空”  </a:t>
            </a:r>
          </a:p>
          <a:p>
            <a:r>
              <a:rPr lang="zh-CN" altLang="en-US" sz="2400" dirty="0"/>
              <a:t>美国企业管理协会对</a:t>
            </a:r>
            <a:r>
              <a:rPr lang="en-US" altLang="zh-CN" sz="2400" dirty="0"/>
              <a:t>CIO</a:t>
            </a:r>
            <a:r>
              <a:rPr lang="zh-CN" altLang="en-US" sz="2400" dirty="0"/>
              <a:t>的定义为：负责一个公司或者组织信息技术和系统领域的高级官员</a:t>
            </a:r>
            <a:endParaRPr lang="en-US" altLang="zh-CN" sz="2400" dirty="0"/>
          </a:p>
          <a:p>
            <a:r>
              <a:rPr lang="en-US" altLang="zh-CN" sz="2400" dirty="0"/>
              <a:t>CIO</a:t>
            </a:r>
            <a:r>
              <a:rPr lang="zh-CN" altLang="en-US" sz="2400" dirty="0"/>
              <a:t>既要负责组织的</a:t>
            </a:r>
            <a:r>
              <a:rPr lang="en-US" altLang="zh-CN" sz="2400" dirty="0"/>
              <a:t>IT</a:t>
            </a:r>
            <a:r>
              <a:rPr lang="zh-CN" altLang="en-US" sz="2400" dirty="0"/>
              <a:t>需求，又要负责组织的</a:t>
            </a:r>
            <a:r>
              <a:rPr lang="en-US" altLang="zh-CN" sz="2400" dirty="0"/>
              <a:t>IT</a:t>
            </a:r>
            <a:r>
              <a:rPr lang="zh-CN" altLang="en-US" sz="2400" dirty="0"/>
              <a:t>供给 </a:t>
            </a:r>
          </a:p>
          <a:p>
            <a:pPr eaLnBrk="1" hangingPunct="1"/>
            <a:endParaRPr lang="zh-CN" altLang="en-US" sz="2400" dirty="0"/>
          </a:p>
        </p:txBody>
      </p:sp>
      <p:sp>
        <p:nvSpPr>
          <p:cNvPr id="9220" name="Rectangle 4">
            <a:extLst>
              <a:ext uri="{FF2B5EF4-FFF2-40B4-BE49-F238E27FC236}">
                <a16:creationId xmlns:a16="http://schemas.microsoft.com/office/drawing/2014/main" id="{4631E193-EF0D-429C-9063-9887DAF28C2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9221" name="Line 5">
            <a:extLst>
              <a:ext uri="{FF2B5EF4-FFF2-40B4-BE49-F238E27FC236}">
                <a16:creationId xmlns:a16="http://schemas.microsoft.com/office/drawing/2014/main" id="{724C6B69-DA47-4D97-9A28-A3A5EF7424B1}"/>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180A082-575D-4F22-A0B5-FBD957B9EFA7}"/>
              </a:ext>
            </a:extLst>
          </p:cNvPr>
          <p:cNvSpPr>
            <a:spLocks noGrp="1" noChangeArrowheads="1"/>
          </p:cNvSpPr>
          <p:nvPr>
            <p:ph type="title"/>
          </p:nvPr>
        </p:nvSpPr>
        <p:spPr/>
        <p:txBody>
          <a:bodyPr/>
          <a:lstStyle/>
          <a:p>
            <a:pPr algn="l" eaLnBrk="1" hangingPunct="1"/>
            <a:r>
              <a:rPr lang="en-US" altLang="zh-CN" b="1"/>
              <a:t>2.1.1  CIO</a:t>
            </a:r>
            <a:r>
              <a:rPr lang="zh-CN" altLang="en-US" b="1"/>
              <a:t>的概念及职责</a:t>
            </a:r>
          </a:p>
        </p:txBody>
      </p:sp>
      <p:sp>
        <p:nvSpPr>
          <p:cNvPr id="11267" name="Rectangle 3">
            <a:extLst>
              <a:ext uri="{FF2B5EF4-FFF2-40B4-BE49-F238E27FC236}">
                <a16:creationId xmlns:a16="http://schemas.microsoft.com/office/drawing/2014/main" id="{B508B2DD-DC53-4A37-ADF4-7DF1D695356D}"/>
              </a:ext>
            </a:extLst>
          </p:cNvPr>
          <p:cNvSpPr>
            <a:spLocks noGrp="1" noChangeArrowheads="1"/>
          </p:cNvSpPr>
          <p:nvPr>
            <p:ph idx="1"/>
          </p:nvPr>
        </p:nvSpPr>
        <p:spPr>
          <a:xfrm>
            <a:off x="323850" y="1268413"/>
            <a:ext cx="8820150" cy="4857750"/>
          </a:xfrm>
        </p:spPr>
        <p:txBody>
          <a:bodyPr>
            <a:normAutofit lnSpcReduction="10000"/>
          </a:bodyPr>
          <a:lstStyle/>
          <a:p>
            <a:pPr marL="609600" indent="-609600" eaLnBrk="1" hangingPunct="1">
              <a:lnSpc>
                <a:spcPct val="80000"/>
              </a:lnSpc>
            </a:pPr>
            <a:r>
              <a:rPr lang="en-US" altLang="zh-CN" sz="2400"/>
              <a:t>CIO</a:t>
            </a:r>
            <a:r>
              <a:rPr lang="zh-CN" altLang="en-US" sz="2400"/>
              <a:t>的主要职责包括以下十个方面：</a:t>
            </a:r>
          </a:p>
          <a:p>
            <a:pPr marL="609600" indent="-609600" eaLnBrk="1" hangingPunct="1">
              <a:lnSpc>
                <a:spcPct val="80000"/>
              </a:lnSpc>
              <a:buFontTx/>
              <a:buAutoNum type="circleNumDbPlain"/>
            </a:pPr>
            <a:r>
              <a:rPr lang="zh-CN" altLang="en-US" sz="2400"/>
              <a:t>参与制定组织发展战略，领导组织信息战略的制定；</a:t>
            </a:r>
          </a:p>
          <a:p>
            <a:pPr marL="609600" indent="-609600" eaLnBrk="1" hangingPunct="1">
              <a:lnSpc>
                <a:spcPct val="80000"/>
              </a:lnSpc>
              <a:buFontTx/>
              <a:buAutoNum type="circleNumDbPlain"/>
            </a:pPr>
            <a:r>
              <a:rPr lang="zh-CN" altLang="en-US" sz="2400"/>
              <a:t>确立信息处理和利用及其所需设备方面的政策、标准和程序，制定组织信息制度和信息政策；</a:t>
            </a:r>
          </a:p>
          <a:p>
            <a:pPr marL="609600" indent="-609600" eaLnBrk="1" hangingPunct="1">
              <a:lnSpc>
                <a:spcPct val="80000"/>
              </a:lnSpc>
              <a:buFontTx/>
              <a:buAutoNum type="circleNumDbPlain"/>
            </a:pPr>
            <a:r>
              <a:rPr lang="zh-CN" altLang="en-US" sz="2400"/>
              <a:t>培育良好的信息文化；</a:t>
            </a:r>
          </a:p>
          <a:p>
            <a:pPr marL="609600" indent="-609600" eaLnBrk="1" hangingPunct="1">
              <a:lnSpc>
                <a:spcPct val="80000"/>
              </a:lnSpc>
              <a:buFontTx/>
              <a:buAutoNum type="circleNumDbPlain"/>
            </a:pPr>
            <a:r>
              <a:rPr lang="zh-CN" altLang="en-US" sz="2400"/>
              <a:t>提升组织和员工的信息素质、信息能力；</a:t>
            </a:r>
          </a:p>
          <a:p>
            <a:pPr marL="609600" indent="-609600" eaLnBrk="1" hangingPunct="1">
              <a:lnSpc>
                <a:spcPct val="80000"/>
              </a:lnSpc>
              <a:buFontTx/>
              <a:buAutoNum type="circleNumDbPlain"/>
            </a:pPr>
            <a:r>
              <a:rPr lang="zh-CN" altLang="en-US" sz="2400"/>
              <a:t>为高层管理者提供决策所需的信息支持和信息能力支持；</a:t>
            </a:r>
          </a:p>
          <a:p>
            <a:pPr marL="609600" indent="-609600" eaLnBrk="1" hangingPunct="1">
              <a:lnSpc>
                <a:spcPct val="80000"/>
              </a:lnSpc>
              <a:buFontTx/>
              <a:buAutoNum type="circleNumDbPlain"/>
            </a:pPr>
            <a:r>
              <a:rPr lang="zh-CN" altLang="en-US" sz="2400"/>
              <a:t>进行信息化项目规划，领导重要信息化项目的实施；</a:t>
            </a:r>
          </a:p>
          <a:p>
            <a:pPr marL="609600" indent="-609600" eaLnBrk="1" hangingPunct="1">
              <a:lnSpc>
                <a:spcPct val="80000"/>
              </a:lnSpc>
              <a:buFontTx/>
              <a:buAutoNum type="circleNumDbPlain"/>
            </a:pPr>
            <a:r>
              <a:rPr lang="zh-CN" altLang="en-US" sz="2400"/>
              <a:t>监控所有信息化项目的实施，监控现有信息系统的运行；</a:t>
            </a:r>
          </a:p>
          <a:p>
            <a:pPr marL="609600" indent="-609600" eaLnBrk="1" hangingPunct="1">
              <a:lnSpc>
                <a:spcPct val="80000"/>
              </a:lnSpc>
              <a:buFontTx/>
              <a:buAutoNum type="circleNumDbPlain"/>
            </a:pPr>
            <a:r>
              <a:rPr lang="zh-CN" altLang="en-US" sz="2400"/>
              <a:t>领导组织内所有信息部门为操作部门和业务功能提供咨询或服务；</a:t>
            </a:r>
          </a:p>
          <a:p>
            <a:pPr marL="609600" indent="-609600" eaLnBrk="1" hangingPunct="1">
              <a:lnSpc>
                <a:spcPct val="80000"/>
              </a:lnSpc>
              <a:buFontTx/>
              <a:buAutoNum type="circleNumDbPlain"/>
            </a:pPr>
            <a:r>
              <a:rPr lang="zh-CN" altLang="en-US" sz="2400"/>
              <a:t>与业务部门一道，考虑如何使信息和知识为产品或服务增值；</a:t>
            </a:r>
          </a:p>
          <a:p>
            <a:pPr marL="609600" indent="-609600" eaLnBrk="1" hangingPunct="1">
              <a:lnSpc>
                <a:spcPct val="80000"/>
              </a:lnSpc>
              <a:buFontTx/>
              <a:buAutoNum type="circleNumDbPlain"/>
            </a:pPr>
            <a:r>
              <a:rPr lang="zh-CN" altLang="en-US" sz="2400"/>
              <a:t>将自己的经验和教训知识贡献给行业协会和社会。 </a:t>
            </a:r>
          </a:p>
        </p:txBody>
      </p:sp>
      <p:sp>
        <p:nvSpPr>
          <p:cNvPr id="11268" name="Rectangle 4">
            <a:extLst>
              <a:ext uri="{FF2B5EF4-FFF2-40B4-BE49-F238E27FC236}">
                <a16:creationId xmlns:a16="http://schemas.microsoft.com/office/drawing/2014/main" id="{3690D7B0-D441-4484-955B-C3CBE790F1E9}"/>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11269" name="Line 5">
            <a:extLst>
              <a:ext uri="{FF2B5EF4-FFF2-40B4-BE49-F238E27FC236}">
                <a16:creationId xmlns:a16="http://schemas.microsoft.com/office/drawing/2014/main" id="{7C9A13E5-C424-4246-B80F-F0D56A1D98AB}"/>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CF5866D-1E6A-4C29-8FF3-73C57E918680}"/>
              </a:ext>
            </a:extLst>
          </p:cNvPr>
          <p:cNvSpPr>
            <a:spLocks noGrp="1" noChangeArrowheads="1"/>
          </p:cNvSpPr>
          <p:nvPr>
            <p:ph type="title"/>
          </p:nvPr>
        </p:nvSpPr>
        <p:spPr/>
        <p:txBody>
          <a:bodyPr/>
          <a:lstStyle/>
          <a:p>
            <a:pPr algn="l" eaLnBrk="1" hangingPunct="1"/>
            <a:r>
              <a:rPr lang="en-US" altLang="zh-CN" sz="4000" b="1"/>
              <a:t>2.1.2  CIO</a:t>
            </a:r>
            <a:r>
              <a:rPr lang="zh-CN" altLang="en-US" sz="4000" b="1"/>
              <a:t>的角色与信息系统项目</a:t>
            </a:r>
          </a:p>
        </p:txBody>
      </p:sp>
      <p:sp>
        <p:nvSpPr>
          <p:cNvPr id="13315" name="Rectangle 3">
            <a:extLst>
              <a:ext uri="{FF2B5EF4-FFF2-40B4-BE49-F238E27FC236}">
                <a16:creationId xmlns:a16="http://schemas.microsoft.com/office/drawing/2014/main" id="{EC295DC7-CDAD-4A6A-BA94-0024DB52A720}"/>
              </a:ext>
            </a:extLst>
          </p:cNvPr>
          <p:cNvSpPr>
            <a:spLocks noGrp="1" noChangeArrowheads="1"/>
          </p:cNvSpPr>
          <p:nvPr>
            <p:ph idx="1"/>
          </p:nvPr>
        </p:nvSpPr>
        <p:spPr/>
        <p:txBody>
          <a:bodyPr/>
          <a:lstStyle/>
          <a:p>
            <a:pPr eaLnBrk="1" hangingPunct="1"/>
            <a:endParaRPr lang="en-US" altLang="zh-CN" sz="2400"/>
          </a:p>
          <a:p>
            <a:pPr eaLnBrk="1" hangingPunct="1"/>
            <a:r>
              <a:rPr lang="en-US" altLang="zh-CN" sz="2400"/>
              <a:t>CIO</a:t>
            </a:r>
            <a:r>
              <a:rPr lang="zh-CN" altLang="en-US" sz="2400"/>
              <a:t>既要负责领导信息系统项目的发起、可行性分析、决策制定、信息系统项目的规划和组织监督。</a:t>
            </a:r>
          </a:p>
          <a:p>
            <a:pPr eaLnBrk="1" hangingPunct="1"/>
            <a:endParaRPr lang="en-US" altLang="zh-CN" sz="2400"/>
          </a:p>
          <a:p>
            <a:pPr eaLnBrk="1" hangingPunct="1"/>
            <a:r>
              <a:rPr lang="zh-CN" altLang="en-US" sz="2400"/>
              <a:t>又要负责信息系统的稳定可靠经济运行，</a:t>
            </a:r>
            <a:r>
              <a:rPr lang="en-US" altLang="zh-CN" sz="2400"/>
              <a:t>CIO</a:t>
            </a:r>
            <a:r>
              <a:rPr lang="zh-CN" altLang="en-US" sz="2400"/>
              <a:t>是信息系统正常可靠运行的管理者和保障者。 </a:t>
            </a:r>
          </a:p>
        </p:txBody>
      </p:sp>
      <p:sp>
        <p:nvSpPr>
          <p:cNvPr id="13316" name="Rectangle 4">
            <a:extLst>
              <a:ext uri="{FF2B5EF4-FFF2-40B4-BE49-F238E27FC236}">
                <a16:creationId xmlns:a16="http://schemas.microsoft.com/office/drawing/2014/main" id="{E9429D4A-B59A-425C-BEEC-331BBFD095C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13317" name="Line 5">
            <a:extLst>
              <a:ext uri="{FF2B5EF4-FFF2-40B4-BE49-F238E27FC236}">
                <a16:creationId xmlns:a16="http://schemas.microsoft.com/office/drawing/2014/main" id="{09FA7011-33E4-4B79-B0F9-B308F3D0BE16}"/>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D0526E3-2F12-446B-8069-8B2B47686901}"/>
              </a:ext>
            </a:extLst>
          </p:cNvPr>
          <p:cNvSpPr>
            <a:spLocks noGrp="1" noChangeArrowheads="1"/>
          </p:cNvSpPr>
          <p:nvPr>
            <p:ph type="title"/>
          </p:nvPr>
        </p:nvSpPr>
        <p:spPr/>
        <p:txBody>
          <a:bodyPr/>
          <a:lstStyle/>
          <a:p>
            <a:pPr algn="l" eaLnBrk="1" hangingPunct="1"/>
            <a:r>
              <a:rPr lang="en-US" altLang="zh-CN" sz="4000" b="1"/>
              <a:t>2.1.2  CIO</a:t>
            </a:r>
            <a:r>
              <a:rPr lang="zh-CN" altLang="en-US" sz="4000" b="1"/>
              <a:t>的角色与信息系统项目</a:t>
            </a:r>
          </a:p>
        </p:txBody>
      </p:sp>
      <p:sp>
        <p:nvSpPr>
          <p:cNvPr id="15363" name="Rectangle 3">
            <a:extLst>
              <a:ext uri="{FF2B5EF4-FFF2-40B4-BE49-F238E27FC236}">
                <a16:creationId xmlns:a16="http://schemas.microsoft.com/office/drawing/2014/main" id="{8D69A9A5-E557-438D-98B1-C8E35473FA04}"/>
              </a:ext>
            </a:extLst>
          </p:cNvPr>
          <p:cNvSpPr>
            <a:spLocks noGrp="1" noChangeArrowheads="1"/>
          </p:cNvSpPr>
          <p:nvPr>
            <p:ph idx="1"/>
          </p:nvPr>
        </p:nvSpPr>
        <p:spPr/>
        <p:txBody>
          <a:bodyPr/>
          <a:lstStyle/>
          <a:p>
            <a:pPr eaLnBrk="1" hangingPunct="1"/>
            <a:r>
              <a:rPr lang="en-US" altLang="zh-CN" sz="2400"/>
              <a:t>1</a:t>
            </a:r>
            <a:r>
              <a:rPr lang="zh-CN" altLang="en-US" sz="2400"/>
              <a:t>．</a:t>
            </a:r>
            <a:r>
              <a:rPr lang="en-US" altLang="zh-CN" sz="2400"/>
              <a:t>CIO</a:t>
            </a:r>
            <a:r>
              <a:rPr lang="zh-CN" altLang="en-US" sz="2400"/>
              <a:t>是组织信息化的鼓动者</a:t>
            </a:r>
            <a:endParaRPr lang="en-US" altLang="zh-CN" sz="2400"/>
          </a:p>
          <a:p>
            <a:pPr eaLnBrk="1" hangingPunct="1"/>
            <a:endParaRPr lang="zh-CN" altLang="en-US" sz="2400"/>
          </a:p>
          <a:p>
            <a:pPr eaLnBrk="1" hangingPunct="1"/>
            <a:r>
              <a:rPr lang="en-US" altLang="zh-CN" sz="2400"/>
              <a:t>2</a:t>
            </a:r>
            <a:r>
              <a:rPr lang="zh-CN" altLang="en-US" sz="2400"/>
              <a:t>．</a:t>
            </a:r>
            <a:r>
              <a:rPr lang="en-US" altLang="zh-CN" sz="2400"/>
              <a:t>CIO</a:t>
            </a:r>
            <a:r>
              <a:rPr lang="zh-CN" altLang="en-US" sz="2400"/>
              <a:t>是组织信息化战略的制定者</a:t>
            </a:r>
            <a:endParaRPr lang="en-US" altLang="zh-CN" sz="2400"/>
          </a:p>
          <a:p>
            <a:pPr eaLnBrk="1" hangingPunct="1"/>
            <a:endParaRPr lang="zh-CN" altLang="en-US" sz="2400"/>
          </a:p>
          <a:p>
            <a:pPr eaLnBrk="1" hangingPunct="1"/>
            <a:r>
              <a:rPr lang="en-US" altLang="zh-CN" sz="2400"/>
              <a:t>3.  CIO</a:t>
            </a:r>
            <a:r>
              <a:rPr lang="zh-CN" altLang="en-US" sz="2400"/>
              <a:t>是重大信息化项目实施的发起者、决策参与者</a:t>
            </a:r>
            <a:endParaRPr lang="en-US" altLang="zh-CN" sz="2400"/>
          </a:p>
          <a:p>
            <a:pPr eaLnBrk="1" hangingPunct="1"/>
            <a:endParaRPr lang="zh-CN" altLang="en-US" sz="2400"/>
          </a:p>
          <a:p>
            <a:pPr eaLnBrk="1" hangingPunct="1"/>
            <a:r>
              <a:rPr lang="en-US" altLang="zh-CN" sz="2400"/>
              <a:t>4</a:t>
            </a:r>
            <a:r>
              <a:rPr lang="zh-CN" altLang="en-US" sz="2400"/>
              <a:t>．</a:t>
            </a:r>
            <a:r>
              <a:rPr lang="en-US" altLang="zh-CN" sz="2400"/>
              <a:t>CIO</a:t>
            </a:r>
            <a:r>
              <a:rPr lang="zh-CN" altLang="en-US" sz="2400"/>
              <a:t>是重大信息化项目实施的组织者 </a:t>
            </a:r>
            <a:endParaRPr lang="en-US" altLang="zh-CN" sz="2400"/>
          </a:p>
          <a:p>
            <a:pPr eaLnBrk="1" hangingPunct="1"/>
            <a:endParaRPr lang="zh-CN" altLang="en-US" sz="2400"/>
          </a:p>
          <a:p>
            <a:pPr eaLnBrk="1" hangingPunct="1"/>
            <a:r>
              <a:rPr lang="en-US" altLang="zh-CN" sz="2400"/>
              <a:t>5</a:t>
            </a:r>
            <a:r>
              <a:rPr lang="zh-CN" altLang="en-US" sz="2400"/>
              <a:t>．</a:t>
            </a:r>
            <a:r>
              <a:rPr lang="en-US" altLang="zh-CN" sz="2400"/>
              <a:t>CIO</a:t>
            </a:r>
            <a:r>
              <a:rPr lang="zh-CN" altLang="en-US" sz="2400"/>
              <a:t>是信息系统正常可靠运行的保障者 </a:t>
            </a:r>
          </a:p>
        </p:txBody>
      </p:sp>
      <p:sp>
        <p:nvSpPr>
          <p:cNvPr id="15364" name="Rectangle 4">
            <a:extLst>
              <a:ext uri="{FF2B5EF4-FFF2-40B4-BE49-F238E27FC236}">
                <a16:creationId xmlns:a16="http://schemas.microsoft.com/office/drawing/2014/main" id="{406AE7FE-4A1D-4FE8-B2A2-1037C50BDB39}"/>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15365" name="Line 5">
            <a:extLst>
              <a:ext uri="{FF2B5EF4-FFF2-40B4-BE49-F238E27FC236}">
                <a16:creationId xmlns:a16="http://schemas.microsoft.com/office/drawing/2014/main" id="{231CE24B-52CE-495C-8FF6-5EDD38C493E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29C6586-9513-4D89-B92A-C50AEF2FF258}"/>
              </a:ext>
            </a:extLst>
          </p:cNvPr>
          <p:cNvSpPr>
            <a:spLocks noGrp="1" noChangeArrowheads="1"/>
          </p:cNvSpPr>
          <p:nvPr>
            <p:ph type="title"/>
          </p:nvPr>
        </p:nvSpPr>
        <p:spPr/>
        <p:txBody>
          <a:bodyPr/>
          <a:lstStyle/>
          <a:p>
            <a:pPr eaLnBrk="1" hangingPunct="1"/>
            <a:r>
              <a:rPr lang="en-US" altLang="zh-CN" b="1"/>
              <a:t>2.2 </a:t>
            </a:r>
            <a:r>
              <a:rPr lang="zh-CN" altLang="en-US" b="1"/>
              <a:t>信息系统项目的可行性研究</a:t>
            </a:r>
          </a:p>
        </p:txBody>
      </p:sp>
      <p:sp>
        <p:nvSpPr>
          <p:cNvPr id="17411" name="Rectangle 3">
            <a:extLst>
              <a:ext uri="{FF2B5EF4-FFF2-40B4-BE49-F238E27FC236}">
                <a16:creationId xmlns:a16="http://schemas.microsoft.com/office/drawing/2014/main" id="{7E60E346-7FC4-47AB-8B24-575BCD0C78DC}"/>
              </a:ext>
            </a:extLst>
          </p:cNvPr>
          <p:cNvSpPr>
            <a:spLocks noGrp="1" noChangeArrowheads="1"/>
          </p:cNvSpPr>
          <p:nvPr>
            <p:ph idx="1"/>
          </p:nvPr>
        </p:nvSpPr>
        <p:spPr/>
        <p:txBody>
          <a:bodyPr/>
          <a:lstStyle/>
          <a:p>
            <a:pPr marL="609600" indent="-609600" algn="just" eaLnBrk="1" hangingPunct="1"/>
            <a:r>
              <a:rPr lang="en-US" altLang="zh-CN" b="1"/>
              <a:t>2.2.1  </a:t>
            </a:r>
            <a:r>
              <a:rPr lang="zh-CN" altLang="en-US" b="1"/>
              <a:t>可行性研究的内容与方法</a:t>
            </a:r>
            <a:endParaRPr lang="en-US" altLang="zh-CN" b="1"/>
          </a:p>
          <a:p>
            <a:pPr marL="609600" indent="-609600" algn="just" eaLnBrk="1" hangingPunct="1"/>
            <a:endParaRPr lang="zh-CN" altLang="en-US" b="1"/>
          </a:p>
          <a:p>
            <a:pPr marL="609600" indent="-609600" algn="just" eaLnBrk="1" hangingPunct="1"/>
            <a:r>
              <a:rPr lang="en-US" altLang="zh-CN" b="1"/>
              <a:t>2.2.2  </a:t>
            </a:r>
            <a:r>
              <a:rPr lang="zh-CN" altLang="en-US" b="1"/>
              <a:t>需求调研的内容与方法</a:t>
            </a:r>
            <a:endParaRPr lang="en-US" altLang="zh-CN" b="1"/>
          </a:p>
          <a:p>
            <a:pPr marL="609600" indent="-609600" algn="just" eaLnBrk="1" hangingPunct="1"/>
            <a:endParaRPr lang="zh-CN" altLang="en-US" b="1"/>
          </a:p>
          <a:p>
            <a:pPr marL="609600" indent="-609600" algn="just" eaLnBrk="1" hangingPunct="1"/>
            <a:r>
              <a:rPr lang="en-US" altLang="zh-CN" b="1"/>
              <a:t>2.2.3  </a:t>
            </a:r>
            <a:r>
              <a:rPr lang="zh-CN" altLang="en-US" b="1"/>
              <a:t>信息系统项目的建设方式</a:t>
            </a:r>
            <a:endParaRPr lang="en-US" altLang="zh-CN" b="1"/>
          </a:p>
          <a:p>
            <a:pPr marL="609600" indent="-609600" algn="just" eaLnBrk="1" hangingPunct="1"/>
            <a:endParaRPr lang="zh-CN" altLang="en-US" b="1"/>
          </a:p>
          <a:p>
            <a:pPr marL="609600" indent="-609600" algn="just" eaLnBrk="1" hangingPunct="1"/>
            <a:r>
              <a:rPr lang="en-US" altLang="zh-CN" b="1"/>
              <a:t>2.2.4</a:t>
            </a:r>
            <a:r>
              <a:rPr lang="en-US" altLang="zh-CN"/>
              <a:t> </a:t>
            </a:r>
            <a:r>
              <a:rPr lang="zh-CN" altLang="en-US" b="1"/>
              <a:t>可行性研究报告的撰写</a:t>
            </a:r>
          </a:p>
          <a:p>
            <a:pPr marL="609600" indent="-609600" algn="just" eaLnBrk="1" hangingPunct="1"/>
            <a:endParaRPr lang="en-US" altLang="zh-CN" b="1"/>
          </a:p>
        </p:txBody>
      </p:sp>
      <p:sp>
        <p:nvSpPr>
          <p:cNvPr id="17412" name="Rectangle 4">
            <a:extLst>
              <a:ext uri="{FF2B5EF4-FFF2-40B4-BE49-F238E27FC236}">
                <a16:creationId xmlns:a16="http://schemas.microsoft.com/office/drawing/2014/main" id="{9F713EDD-3264-48C4-8B1E-6135709C717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17413" name="Line 5">
            <a:extLst>
              <a:ext uri="{FF2B5EF4-FFF2-40B4-BE49-F238E27FC236}">
                <a16:creationId xmlns:a16="http://schemas.microsoft.com/office/drawing/2014/main" id="{F96E4708-4755-499F-9C27-FE73DC80CDEE}"/>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1DB408E-70B3-4DC8-9021-D1A4664DE846}"/>
              </a:ext>
            </a:extLst>
          </p:cNvPr>
          <p:cNvSpPr>
            <a:spLocks noGrp="1" noChangeArrowheads="1"/>
          </p:cNvSpPr>
          <p:nvPr>
            <p:ph type="title"/>
          </p:nvPr>
        </p:nvSpPr>
        <p:spPr/>
        <p:txBody>
          <a:bodyPr/>
          <a:lstStyle/>
          <a:p>
            <a:pPr algn="l" eaLnBrk="1" hangingPunct="1"/>
            <a:r>
              <a:rPr lang="en-US" altLang="zh-CN" sz="4000" b="1"/>
              <a:t>2.2.1  </a:t>
            </a:r>
            <a:r>
              <a:rPr lang="zh-CN" altLang="en-US" sz="4000" b="1"/>
              <a:t>可行性研究的内容与方法</a:t>
            </a:r>
          </a:p>
        </p:txBody>
      </p:sp>
      <p:sp>
        <p:nvSpPr>
          <p:cNvPr id="19459" name="Rectangle 3">
            <a:extLst>
              <a:ext uri="{FF2B5EF4-FFF2-40B4-BE49-F238E27FC236}">
                <a16:creationId xmlns:a16="http://schemas.microsoft.com/office/drawing/2014/main" id="{E12CE45C-AD56-45BF-BBA9-5DDC4F2D0BAC}"/>
              </a:ext>
            </a:extLst>
          </p:cNvPr>
          <p:cNvSpPr>
            <a:spLocks noGrp="1" noChangeArrowheads="1"/>
          </p:cNvSpPr>
          <p:nvPr>
            <p:ph idx="1"/>
          </p:nvPr>
        </p:nvSpPr>
        <p:spPr>
          <a:xfrm>
            <a:off x="604977" y="1484784"/>
            <a:ext cx="7886700" cy="4351338"/>
          </a:xfrm>
        </p:spPr>
        <p:txBody>
          <a:bodyPr/>
          <a:lstStyle/>
          <a:p>
            <a:pPr algn="just" eaLnBrk="1" hangingPunct="1"/>
            <a:endParaRPr lang="en-US" altLang="zh-CN" sz="2400" dirty="0"/>
          </a:p>
          <a:p>
            <a:pPr algn="just" eaLnBrk="1" hangingPunct="1"/>
            <a:r>
              <a:rPr lang="zh-CN" altLang="en-US" sz="2400" dirty="0">
                <a:solidFill>
                  <a:srgbClr val="FF0000"/>
                </a:solidFill>
              </a:rPr>
              <a:t>可行性研究的主要任务</a:t>
            </a:r>
            <a:r>
              <a:rPr lang="zh-CN" altLang="en-US" sz="2400" dirty="0"/>
              <a:t>：了解用户的需求与现实需求，从技术、经济和社会因素三个方面分析并论证信息系统项目的可行性，编写可行性研究报告，制定初步的项目开发方案。</a:t>
            </a:r>
            <a:endParaRPr lang="en-US" altLang="zh-CN" sz="2400" dirty="0"/>
          </a:p>
          <a:p>
            <a:pPr algn="just" eaLnBrk="1" hangingPunct="1"/>
            <a:r>
              <a:rPr lang="zh-CN" altLang="en-US" sz="2400" dirty="0">
                <a:solidFill>
                  <a:srgbClr val="FF0000"/>
                </a:solidFill>
              </a:rPr>
              <a:t>可行性研究的目的：</a:t>
            </a:r>
            <a:r>
              <a:rPr lang="zh-CN" altLang="en-US" sz="2400" dirty="0"/>
              <a:t>在开发系统立项之前，对所要开发的系统进行必要性、可能性及可能采取的方案进行分析和评价，为组织领导层决策提供科学的依据。</a:t>
            </a:r>
          </a:p>
          <a:p>
            <a:pPr algn="just" eaLnBrk="1" hangingPunct="1"/>
            <a:endParaRPr lang="en-US" altLang="zh-CN" sz="2400" dirty="0"/>
          </a:p>
          <a:p>
            <a:pPr algn="just" eaLnBrk="1" hangingPunct="1"/>
            <a:r>
              <a:rPr lang="zh-CN" altLang="en-US" sz="2400" dirty="0"/>
              <a:t>统计显示</a:t>
            </a:r>
            <a:r>
              <a:rPr lang="en-US" altLang="zh-CN" sz="2400" dirty="0"/>
              <a:t>70% </a:t>
            </a:r>
            <a:r>
              <a:rPr lang="zh-CN" altLang="en-US" sz="2400" dirty="0"/>
              <a:t>以上的信息系统项目都失败了，事实表明很多的项目在立项阶段就应该终止。</a:t>
            </a:r>
          </a:p>
        </p:txBody>
      </p:sp>
      <p:sp>
        <p:nvSpPr>
          <p:cNvPr id="19460" name="Rectangle 4">
            <a:extLst>
              <a:ext uri="{FF2B5EF4-FFF2-40B4-BE49-F238E27FC236}">
                <a16:creationId xmlns:a16="http://schemas.microsoft.com/office/drawing/2014/main" id="{D6AEFBDB-6B1E-4DE1-9A71-26593BB475DC}"/>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19461" name="Line 5">
            <a:extLst>
              <a:ext uri="{FF2B5EF4-FFF2-40B4-BE49-F238E27FC236}">
                <a16:creationId xmlns:a16="http://schemas.microsoft.com/office/drawing/2014/main" id="{59C6A014-907F-4FE3-9F22-77680C55D21E}"/>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414D6FD-B20E-450D-B526-2098A9BB25E3}"/>
              </a:ext>
            </a:extLst>
          </p:cNvPr>
          <p:cNvSpPr>
            <a:spLocks noGrp="1" noChangeArrowheads="1"/>
          </p:cNvSpPr>
          <p:nvPr>
            <p:ph type="title"/>
          </p:nvPr>
        </p:nvSpPr>
        <p:spPr/>
        <p:txBody>
          <a:bodyPr/>
          <a:lstStyle/>
          <a:p>
            <a:pPr algn="l" eaLnBrk="1" hangingPunct="1"/>
            <a:r>
              <a:rPr lang="en-US" altLang="zh-CN" sz="4000" b="1"/>
              <a:t>2.2.1  </a:t>
            </a:r>
            <a:r>
              <a:rPr lang="zh-CN" altLang="en-US" sz="4000" b="1"/>
              <a:t>可行性研究的内容与方法</a:t>
            </a:r>
          </a:p>
        </p:txBody>
      </p:sp>
      <p:sp>
        <p:nvSpPr>
          <p:cNvPr id="21507" name="Rectangle 3">
            <a:extLst>
              <a:ext uri="{FF2B5EF4-FFF2-40B4-BE49-F238E27FC236}">
                <a16:creationId xmlns:a16="http://schemas.microsoft.com/office/drawing/2014/main" id="{C0960D89-9976-479E-9FDE-1F910CDE211F}"/>
              </a:ext>
            </a:extLst>
          </p:cNvPr>
          <p:cNvSpPr>
            <a:spLocks noGrp="1" noChangeArrowheads="1"/>
          </p:cNvSpPr>
          <p:nvPr>
            <p:ph idx="1"/>
          </p:nvPr>
        </p:nvSpPr>
        <p:spPr>
          <a:xfrm>
            <a:off x="457200" y="1600200"/>
            <a:ext cx="8229600" cy="4997450"/>
          </a:xfrm>
        </p:spPr>
        <p:txBody>
          <a:bodyPr/>
          <a:lstStyle/>
          <a:p>
            <a:pPr algn="just" eaLnBrk="1" hangingPunct="1"/>
            <a:r>
              <a:rPr lang="en-US" altLang="zh-CN" sz="2400" b="1" dirty="0"/>
              <a:t>1</a:t>
            </a:r>
            <a:r>
              <a:rPr lang="zh-CN" altLang="en-US" sz="2400" b="1" dirty="0"/>
              <a:t>．</a:t>
            </a:r>
            <a:r>
              <a:rPr lang="zh-CN" altLang="en-US" sz="2400" dirty="0"/>
              <a:t>可行性研究的内容</a:t>
            </a:r>
            <a:endParaRPr lang="en-US" altLang="zh-CN" sz="2400" dirty="0"/>
          </a:p>
          <a:p>
            <a:pPr marL="0" indent="0" algn="just" eaLnBrk="1" hangingPunct="1">
              <a:buNone/>
            </a:pPr>
            <a:r>
              <a:rPr lang="zh-CN" altLang="en-US" sz="2400" dirty="0"/>
              <a:t>可行性研究包括必要性和可行性两个方面内容。一般来讲，经过组织信息化项目规划后提出的项目需求一般都是必要的，所里下面主要讨论可行性。可行性需要从三个方面进行分析：</a:t>
            </a:r>
          </a:p>
          <a:p>
            <a:pPr lvl="1" algn="just" eaLnBrk="1" hangingPunct="1">
              <a:buFontTx/>
              <a:buNone/>
            </a:pPr>
            <a:r>
              <a:rPr lang="zh-CN" altLang="en-US" sz="2400" dirty="0"/>
              <a:t>（</a:t>
            </a:r>
            <a:r>
              <a:rPr lang="en-US" altLang="zh-CN" sz="2400" dirty="0"/>
              <a:t>1</a:t>
            </a:r>
            <a:r>
              <a:rPr lang="zh-CN" altLang="en-US" sz="2400" dirty="0"/>
              <a:t>）技术上的可行性</a:t>
            </a:r>
            <a:endParaRPr lang="en-US" altLang="zh-CN" sz="2400" dirty="0"/>
          </a:p>
          <a:p>
            <a:pPr lvl="1" algn="just" eaLnBrk="1" hangingPunct="1">
              <a:buFontTx/>
              <a:buNone/>
            </a:pPr>
            <a:r>
              <a:rPr lang="en-US" altLang="zh-CN" dirty="0"/>
              <a:t>		    (a) </a:t>
            </a:r>
            <a:r>
              <a:rPr lang="zh-CN" altLang="en-US" dirty="0"/>
              <a:t>所提出的要求在现有技术条件下是否可能实现；</a:t>
            </a:r>
            <a:endParaRPr lang="en-US" altLang="zh-CN" dirty="0"/>
          </a:p>
          <a:p>
            <a:pPr lvl="1" algn="just">
              <a:buNone/>
            </a:pPr>
            <a:r>
              <a:rPr lang="en-US" altLang="zh-CN" dirty="0"/>
              <a:t>		    (b) </a:t>
            </a:r>
            <a:r>
              <a:rPr lang="zh-CN" altLang="en-US" dirty="0"/>
              <a:t>组织是否具有相应的人力资源和技术能力；</a:t>
            </a:r>
            <a:endParaRPr lang="zh-CN" altLang="en-US" sz="2400" dirty="0"/>
          </a:p>
          <a:p>
            <a:pPr lvl="1" algn="just" eaLnBrk="1" hangingPunct="1">
              <a:buFontTx/>
              <a:buNone/>
            </a:pPr>
            <a:r>
              <a:rPr lang="zh-CN" altLang="en-US" sz="2400" dirty="0"/>
              <a:t>（</a:t>
            </a:r>
            <a:r>
              <a:rPr lang="en-US" altLang="zh-CN" sz="2400" dirty="0"/>
              <a:t>2</a:t>
            </a:r>
            <a:r>
              <a:rPr lang="zh-CN" altLang="en-US" sz="2400" dirty="0"/>
              <a:t>）经济上的可行性</a:t>
            </a:r>
            <a:endParaRPr lang="en-US" altLang="zh-CN" sz="2400" dirty="0"/>
          </a:p>
          <a:p>
            <a:pPr lvl="1" algn="just" eaLnBrk="1" hangingPunct="1">
              <a:buFontTx/>
              <a:buNone/>
            </a:pPr>
            <a:r>
              <a:rPr lang="en-US" altLang="zh-CN" dirty="0"/>
              <a:t>		    (a) </a:t>
            </a:r>
            <a:r>
              <a:rPr lang="zh-CN" altLang="en-US" dirty="0"/>
              <a:t>项目所需费用的估算</a:t>
            </a:r>
            <a:endParaRPr lang="en-US" altLang="zh-CN" dirty="0"/>
          </a:p>
          <a:p>
            <a:pPr lvl="1" algn="just" eaLnBrk="1" hangingPunct="1">
              <a:buFontTx/>
              <a:buNone/>
            </a:pPr>
            <a:r>
              <a:rPr lang="en-US" altLang="zh-CN" sz="2400" dirty="0"/>
              <a:t>           (b) </a:t>
            </a:r>
            <a:r>
              <a:rPr lang="zh-CN" altLang="en-US" sz="2400" dirty="0"/>
              <a:t>项目预期收益的估算</a:t>
            </a:r>
          </a:p>
          <a:p>
            <a:pPr lvl="1" algn="just" eaLnBrk="1" hangingPunct="1">
              <a:buFontTx/>
              <a:buNone/>
            </a:pPr>
            <a:r>
              <a:rPr lang="zh-CN" altLang="en-US" sz="2400" dirty="0"/>
              <a:t>（</a:t>
            </a:r>
            <a:r>
              <a:rPr lang="en-US" altLang="zh-CN" sz="2400" dirty="0"/>
              <a:t>3</a:t>
            </a:r>
            <a:r>
              <a:rPr lang="zh-CN" altLang="en-US" sz="2400" dirty="0"/>
              <a:t>）组织或社会环境的可行性 </a:t>
            </a:r>
          </a:p>
          <a:p>
            <a:pPr algn="just" eaLnBrk="1" hangingPunct="1"/>
            <a:endParaRPr lang="en-US" altLang="zh-CN" sz="2400" dirty="0"/>
          </a:p>
        </p:txBody>
      </p:sp>
      <p:sp>
        <p:nvSpPr>
          <p:cNvPr id="21508" name="Rectangle 4">
            <a:extLst>
              <a:ext uri="{FF2B5EF4-FFF2-40B4-BE49-F238E27FC236}">
                <a16:creationId xmlns:a16="http://schemas.microsoft.com/office/drawing/2014/main" id="{9BFA2CEC-5002-4C0B-A7FA-2E016F61E9F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1509" name="Line 5">
            <a:extLst>
              <a:ext uri="{FF2B5EF4-FFF2-40B4-BE49-F238E27FC236}">
                <a16:creationId xmlns:a16="http://schemas.microsoft.com/office/drawing/2014/main" id="{DCF185C1-E2F1-486F-B2B9-385DF991244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50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50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5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5B39AAE-04FC-40FC-A23D-65378986E9A7}"/>
              </a:ext>
            </a:extLst>
          </p:cNvPr>
          <p:cNvSpPr>
            <a:spLocks noGrp="1" noChangeArrowheads="1"/>
          </p:cNvSpPr>
          <p:nvPr>
            <p:ph type="title"/>
          </p:nvPr>
        </p:nvSpPr>
        <p:spPr/>
        <p:txBody>
          <a:bodyPr/>
          <a:lstStyle/>
          <a:p>
            <a:pPr algn="l" eaLnBrk="1" hangingPunct="1"/>
            <a:r>
              <a:rPr lang="en-US" altLang="zh-CN" sz="4000" b="1"/>
              <a:t>2.2.1  </a:t>
            </a:r>
            <a:r>
              <a:rPr lang="zh-CN" altLang="en-US" sz="4000" b="1"/>
              <a:t>可行性研究的内容与方法</a:t>
            </a:r>
          </a:p>
        </p:txBody>
      </p:sp>
      <p:sp>
        <p:nvSpPr>
          <p:cNvPr id="23555" name="Rectangle 3">
            <a:extLst>
              <a:ext uri="{FF2B5EF4-FFF2-40B4-BE49-F238E27FC236}">
                <a16:creationId xmlns:a16="http://schemas.microsoft.com/office/drawing/2014/main" id="{18B23A89-376F-4572-A151-A9C1921A6ACB}"/>
              </a:ext>
            </a:extLst>
          </p:cNvPr>
          <p:cNvSpPr>
            <a:spLocks noGrp="1" noChangeArrowheads="1"/>
          </p:cNvSpPr>
          <p:nvPr>
            <p:ph idx="1"/>
          </p:nvPr>
        </p:nvSpPr>
        <p:spPr>
          <a:xfrm>
            <a:off x="250825" y="1600200"/>
            <a:ext cx="8569325" cy="4997450"/>
          </a:xfrm>
        </p:spPr>
        <p:txBody>
          <a:bodyPr/>
          <a:lstStyle/>
          <a:p>
            <a:pPr algn="just" eaLnBrk="1" hangingPunct="1"/>
            <a:r>
              <a:rPr lang="en-US" altLang="zh-CN" sz="2400" dirty="0"/>
              <a:t>2</a:t>
            </a:r>
            <a:r>
              <a:rPr lang="zh-CN" altLang="en-US" sz="2400" dirty="0"/>
              <a:t>．可行性研究的一种方法：要素加权分析法</a:t>
            </a:r>
          </a:p>
          <a:p>
            <a:pPr algn="just" eaLnBrk="1" hangingPunct="1"/>
            <a:r>
              <a:rPr lang="zh-CN" altLang="en-US" sz="2400" dirty="0"/>
              <a:t>要素加权分析法又叫指标加权分析法，首先是根据信息系统项目的目标设置一系列的评价指标或要素，并对这些评价指标或要素赋予一定的权值，然后对要评价的项目或方案进行打分，综合分值达到一定分值的项目为可行项目，低于一定分值的项目为淘汰的项目。 </a:t>
            </a:r>
          </a:p>
          <a:p>
            <a:pPr algn="just" eaLnBrk="1" hangingPunct="1"/>
            <a:r>
              <a:rPr lang="zh-CN" altLang="en-US" sz="2400" dirty="0"/>
              <a:t>这种方法既可以用来对项目进行可行性分析，也可以在项目确定以后，对项目的实施方案进行评选 </a:t>
            </a:r>
          </a:p>
        </p:txBody>
      </p:sp>
      <p:sp>
        <p:nvSpPr>
          <p:cNvPr id="23556" name="Rectangle 4">
            <a:extLst>
              <a:ext uri="{FF2B5EF4-FFF2-40B4-BE49-F238E27FC236}">
                <a16:creationId xmlns:a16="http://schemas.microsoft.com/office/drawing/2014/main" id="{17328EF0-744A-46BF-8329-C65D690DF1AE}"/>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3557" name="Line 5">
            <a:extLst>
              <a:ext uri="{FF2B5EF4-FFF2-40B4-BE49-F238E27FC236}">
                <a16:creationId xmlns:a16="http://schemas.microsoft.com/office/drawing/2014/main" id="{F388401E-F14D-4E17-BDBA-026DFF771ED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EA8336E-E701-45F0-B842-17765486A4CA}"/>
              </a:ext>
            </a:extLst>
          </p:cNvPr>
          <p:cNvSpPr>
            <a:spLocks noGrp="1" noChangeArrowheads="1"/>
          </p:cNvSpPr>
          <p:nvPr>
            <p:ph type="title"/>
          </p:nvPr>
        </p:nvSpPr>
        <p:spPr/>
        <p:txBody>
          <a:bodyPr/>
          <a:lstStyle/>
          <a:p>
            <a:pPr algn="l" eaLnBrk="1" hangingPunct="1"/>
            <a:r>
              <a:rPr lang="en-US" altLang="zh-CN" sz="4000" b="1"/>
              <a:t>2.2.1  </a:t>
            </a:r>
            <a:r>
              <a:rPr lang="zh-CN" altLang="en-US" sz="4000" b="1"/>
              <a:t>可行性研究的内容与方法</a:t>
            </a:r>
          </a:p>
        </p:txBody>
      </p:sp>
      <p:pic>
        <p:nvPicPr>
          <p:cNvPr id="25603" name="Picture 3">
            <a:extLst>
              <a:ext uri="{FF2B5EF4-FFF2-40B4-BE49-F238E27FC236}">
                <a16:creationId xmlns:a16="http://schemas.microsoft.com/office/drawing/2014/main" id="{EF3CC3E7-9FF2-448D-A309-BDC59656A27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827584" y="1674169"/>
            <a:ext cx="6901236" cy="3816421"/>
          </a:xfrm>
        </p:spPr>
      </p:pic>
      <p:sp>
        <p:nvSpPr>
          <p:cNvPr id="25604" name="Rectangle 4">
            <a:extLst>
              <a:ext uri="{FF2B5EF4-FFF2-40B4-BE49-F238E27FC236}">
                <a16:creationId xmlns:a16="http://schemas.microsoft.com/office/drawing/2014/main" id="{D9B14585-D2A9-4BCA-9C75-50F4E5E0E1EE}"/>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5605" name="Line 5">
            <a:extLst>
              <a:ext uri="{FF2B5EF4-FFF2-40B4-BE49-F238E27FC236}">
                <a16:creationId xmlns:a16="http://schemas.microsoft.com/office/drawing/2014/main" id="{BC1A7B95-9660-4AA0-BA95-0A9BC176D07B}"/>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Text Box 6">
            <a:extLst>
              <a:ext uri="{FF2B5EF4-FFF2-40B4-BE49-F238E27FC236}">
                <a16:creationId xmlns:a16="http://schemas.microsoft.com/office/drawing/2014/main" id="{2CA0CE5C-79D6-45E0-A488-2418D23C230C}"/>
              </a:ext>
            </a:extLst>
          </p:cNvPr>
          <p:cNvSpPr txBox="1">
            <a:spLocks noChangeArrowheads="1"/>
          </p:cNvSpPr>
          <p:nvPr/>
        </p:nvSpPr>
        <p:spPr bwMode="auto">
          <a:xfrm>
            <a:off x="2123728" y="5661248"/>
            <a:ext cx="4536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dirty="0"/>
              <a:t>图</a:t>
            </a:r>
            <a:r>
              <a:rPr lang="en-US" altLang="zh-CN" sz="2800" b="1" dirty="0"/>
              <a:t>2.1 </a:t>
            </a:r>
            <a:r>
              <a:rPr lang="zh-CN" altLang="en-US" sz="2800" b="1" dirty="0"/>
              <a:t>要素加权分析法图示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50A30B-1CF8-49CB-9BF0-7E8D407F5CAE}"/>
              </a:ext>
            </a:extLst>
          </p:cNvPr>
          <p:cNvSpPr>
            <a:spLocks noGrp="1" noChangeArrowheads="1"/>
          </p:cNvSpPr>
          <p:nvPr>
            <p:ph type="title"/>
          </p:nvPr>
        </p:nvSpPr>
        <p:spPr/>
        <p:txBody>
          <a:bodyPr/>
          <a:lstStyle/>
          <a:p>
            <a:pPr algn="l" eaLnBrk="1" hangingPunct="1"/>
            <a:r>
              <a:rPr lang="en-US" altLang="zh-CN" sz="4000" b="1"/>
              <a:t>2.2.1  </a:t>
            </a:r>
            <a:r>
              <a:rPr lang="zh-CN" altLang="en-US" sz="4000" b="1"/>
              <a:t>可行性研究的内容与方法</a:t>
            </a:r>
          </a:p>
        </p:txBody>
      </p:sp>
      <p:sp>
        <p:nvSpPr>
          <p:cNvPr id="27651" name="Rectangle 3">
            <a:extLst>
              <a:ext uri="{FF2B5EF4-FFF2-40B4-BE49-F238E27FC236}">
                <a16:creationId xmlns:a16="http://schemas.microsoft.com/office/drawing/2014/main" id="{8F9B1CF9-3356-4DF7-9351-E36AE131E061}"/>
              </a:ext>
            </a:extLst>
          </p:cNvPr>
          <p:cNvSpPr>
            <a:spLocks noGrp="1" noChangeArrowheads="1"/>
          </p:cNvSpPr>
          <p:nvPr>
            <p:ph idx="1"/>
          </p:nvPr>
        </p:nvSpPr>
        <p:spPr>
          <a:xfrm>
            <a:off x="457200" y="1412876"/>
            <a:ext cx="8229600" cy="5079998"/>
          </a:xfrm>
        </p:spPr>
        <p:txBody>
          <a:bodyPr/>
          <a:lstStyle/>
          <a:p>
            <a:pPr eaLnBrk="1" hangingPunct="1">
              <a:lnSpc>
                <a:spcPct val="90000"/>
              </a:lnSpc>
            </a:pPr>
            <a:r>
              <a:rPr lang="zh-CN" altLang="en-US" sz="2400" dirty="0"/>
              <a:t>要素加权分析方法包括如下步骤：</a:t>
            </a:r>
          </a:p>
          <a:p>
            <a:pPr lvl="1" eaLnBrk="1" hangingPunct="1">
              <a:lnSpc>
                <a:spcPct val="90000"/>
              </a:lnSpc>
            </a:pPr>
            <a:r>
              <a:rPr lang="zh-CN" altLang="en-US" sz="2400" dirty="0"/>
              <a:t>首先，确定所要考虑和比较的项目或项目方案；</a:t>
            </a:r>
          </a:p>
          <a:p>
            <a:pPr lvl="1" eaLnBrk="1" hangingPunct="1">
              <a:lnSpc>
                <a:spcPct val="90000"/>
              </a:lnSpc>
            </a:pPr>
            <a:r>
              <a:rPr lang="zh-CN" altLang="en-US" sz="2400" dirty="0"/>
              <a:t>第二，挑出在选择项目或选择方案时最重要的因素，并将所有要素（指标）按其重要性大小降序排列；</a:t>
            </a:r>
          </a:p>
          <a:p>
            <a:pPr lvl="1" eaLnBrk="1" hangingPunct="1">
              <a:lnSpc>
                <a:spcPct val="90000"/>
              </a:lnSpc>
            </a:pPr>
            <a:r>
              <a:rPr lang="zh-CN" altLang="en-US" sz="2400" dirty="0"/>
              <a:t>第三，赋予每项要素一个权重数值，以便采用该数值后使各指标能进行互相比较；</a:t>
            </a:r>
          </a:p>
          <a:p>
            <a:pPr lvl="1" eaLnBrk="1" hangingPunct="1">
              <a:lnSpc>
                <a:spcPct val="90000"/>
              </a:lnSpc>
            </a:pPr>
            <a:r>
              <a:rPr lang="zh-CN" altLang="en-US" sz="2400" dirty="0"/>
              <a:t>第四，暂时先不考虑权重因素，仅对单个指标进行打分；</a:t>
            </a:r>
          </a:p>
          <a:p>
            <a:pPr lvl="1" eaLnBrk="1" hangingPunct="1">
              <a:lnSpc>
                <a:spcPct val="90000"/>
              </a:lnSpc>
            </a:pPr>
            <a:r>
              <a:rPr lang="zh-CN" altLang="en-US" sz="2400" dirty="0"/>
              <a:t>第五，将每一个单个指标得分与权重数值相乘，所得结果填入加权得分栏，</a:t>
            </a:r>
          </a:p>
          <a:p>
            <a:pPr lvl="1" eaLnBrk="1" hangingPunct="1">
              <a:lnSpc>
                <a:spcPct val="90000"/>
              </a:lnSpc>
            </a:pPr>
            <a:r>
              <a:rPr lang="zh-CN" altLang="en-US" sz="2400" dirty="0"/>
              <a:t>第六，把所有的加权得分分别相加，得出备选项目的总加权得分；</a:t>
            </a:r>
          </a:p>
          <a:p>
            <a:pPr lvl="1" eaLnBrk="1" hangingPunct="1">
              <a:lnSpc>
                <a:spcPct val="90000"/>
              </a:lnSpc>
            </a:pPr>
            <a:r>
              <a:rPr lang="zh-CN" altLang="en-US" sz="2400" dirty="0"/>
              <a:t>最后，对项目的总加权与设定的分值进行比较，决定项目是否可行。 </a:t>
            </a:r>
          </a:p>
        </p:txBody>
      </p:sp>
      <p:sp>
        <p:nvSpPr>
          <p:cNvPr id="27652" name="Rectangle 4">
            <a:extLst>
              <a:ext uri="{FF2B5EF4-FFF2-40B4-BE49-F238E27FC236}">
                <a16:creationId xmlns:a16="http://schemas.microsoft.com/office/drawing/2014/main" id="{39580002-29A8-4E61-ADCB-8D1F2EB8BCD7}"/>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7653" name="Line 5">
            <a:extLst>
              <a:ext uri="{FF2B5EF4-FFF2-40B4-BE49-F238E27FC236}">
                <a16:creationId xmlns:a16="http://schemas.microsoft.com/office/drawing/2014/main" id="{C2EFDFAC-2FED-4906-A063-9507233B6AC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5B39AAE-04FC-40FC-A23D-65378986E9A7}"/>
              </a:ext>
            </a:extLst>
          </p:cNvPr>
          <p:cNvSpPr>
            <a:spLocks noGrp="1" noChangeArrowheads="1"/>
          </p:cNvSpPr>
          <p:nvPr>
            <p:ph type="title"/>
          </p:nvPr>
        </p:nvSpPr>
        <p:spPr/>
        <p:txBody>
          <a:bodyPr/>
          <a:lstStyle/>
          <a:p>
            <a:pPr algn="l" eaLnBrk="1" hangingPunct="1"/>
            <a:r>
              <a:rPr lang="en-US" altLang="zh-CN" sz="4000" b="1" dirty="0"/>
              <a:t>2.2.1  </a:t>
            </a:r>
            <a:r>
              <a:rPr lang="zh-CN" altLang="en-US" sz="4000" b="1" dirty="0"/>
              <a:t>可行性研究的内容与方法</a:t>
            </a:r>
          </a:p>
        </p:txBody>
      </p:sp>
      <p:sp>
        <p:nvSpPr>
          <p:cNvPr id="23555" name="Rectangle 3">
            <a:extLst>
              <a:ext uri="{FF2B5EF4-FFF2-40B4-BE49-F238E27FC236}">
                <a16:creationId xmlns:a16="http://schemas.microsoft.com/office/drawing/2014/main" id="{18B23A89-376F-4572-A151-A9C1921A6ACB}"/>
              </a:ext>
            </a:extLst>
          </p:cNvPr>
          <p:cNvSpPr>
            <a:spLocks noGrp="1" noChangeArrowheads="1"/>
          </p:cNvSpPr>
          <p:nvPr>
            <p:ph idx="1"/>
          </p:nvPr>
        </p:nvSpPr>
        <p:spPr>
          <a:xfrm>
            <a:off x="250825" y="1600200"/>
            <a:ext cx="8569325" cy="3917028"/>
          </a:xfrm>
        </p:spPr>
        <p:txBody>
          <a:bodyPr/>
          <a:lstStyle/>
          <a:p>
            <a:pPr algn="just" eaLnBrk="1" hangingPunct="1"/>
            <a:r>
              <a:rPr lang="en-US" altLang="zh-CN" sz="2400" dirty="0"/>
              <a:t>2</a:t>
            </a:r>
            <a:r>
              <a:rPr lang="zh-CN" altLang="en-US" sz="2400" dirty="0"/>
              <a:t>．可行性研究的方法：</a:t>
            </a:r>
            <a:r>
              <a:rPr lang="zh-CN" altLang="en-US" sz="2400" dirty="0">
                <a:solidFill>
                  <a:srgbClr val="FF0000"/>
                </a:solidFill>
              </a:rPr>
              <a:t>增量净效益法</a:t>
            </a:r>
            <a:r>
              <a:rPr lang="en-US" altLang="zh-CN" sz="2400" dirty="0">
                <a:solidFill>
                  <a:srgbClr val="FF0000"/>
                </a:solidFill>
              </a:rPr>
              <a:t>(</a:t>
            </a:r>
            <a:r>
              <a:rPr lang="zh-CN" altLang="en-US" sz="2400" dirty="0">
                <a:solidFill>
                  <a:srgbClr val="FF0000"/>
                </a:solidFill>
              </a:rPr>
              <a:t>有无对比法</a:t>
            </a:r>
            <a:r>
              <a:rPr lang="en-US" altLang="zh-CN" sz="2400" dirty="0">
                <a:solidFill>
                  <a:srgbClr val="FF0000"/>
                </a:solidFill>
              </a:rPr>
              <a:t>)</a:t>
            </a:r>
          </a:p>
          <a:p>
            <a:pPr algn="just" eaLnBrk="1" hangingPunct="1"/>
            <a:r>
              <a:rPr lang="zh-CN" altLang="en-US" sz="2400" dirty="0"/>
              <a:t>将有项目时的成本</a:t>
            </a:r>
            <a:r>
              <a:rPr lang="en-US" altLang="zh-CN" sz="2400" dirty="0"/>
              <a:t>(</a:t>
            </a:r>
            <a:r>
              <a:rPr lang="zh-CN" altLang="en-US" sz="2400" dirty="0"/>
              <a:t>效益</a:t>
            </a:r>
            <a:r>
              <a:rPr lang="en-US" altLang="zh-CN" sz="2400" dirty="0"/>
              <a:t>)</a:t>
            </a:r>
            <a:r>
              <a:rPr lang="zh-CN" altLang="en-US" sz="2400" dirty="0"/>
              <a:t>与无项目时的成本</a:t>
            </a:r>
            <a:r>
              <a:rPr lang="en-US" altLang="zh-CN" sz="2400" dirty="0"/>
              <a:t>(</a:t>
            </a:r>
            <a:r>
              <a:rPr lang="zh-CN" altLang="en-US" sz="2400" dirty="0"/>
              <a:t>效益</a:t>
            </a:r>
            <a:r>
              <a:rPr lang="en-US" altLang="zh-CN" sz="2400" dirty="0"/>
              <a:t>)</a:t>
            </a:r>
            <a:r>
              <a:rPr lang="zh-CN" altLang="en-US" sz="2400" dirty="0"/>
              <a:t>进行比较，求得两者差额即为增量成本</a:t>
            </a:r>
            <a:r>
              <a:rPr lang="en-US" altLang="zh-CN" sz="2400" dirty="0"/>
              <a:t>(</a:t>
            </a:r>
            <a:r>
              <a:rPr lang="zh-CN" altLang="en-US" sz="2400" dirty="0"/>
              <a:t>效益</a:t>
            </a:r>
            <a:r>
              <a:rPr lang="en-US" altLang="zh-CN" sz="2400" dirty="0"/>
              <a:t>)</a:t>
            </a:r>
            <a:r>
              <a:rPr lang="zh-CN" altLang="en-US" sz="2400" dirty="0"/>
              <a:t>。</a:t>
            </a:r>
            <a:endParaRPr lang="en-US" altLang="zh-CN" sz="2400" dirty="0"/>
          </a:p>
          <a:p>
            <a:pPr algn="just"/>
            <a:r>
              <a:rPr lang="zh-CN" altLang="en-US" sz="2400" dirty="0">
                <a:solidFill>
                  <a:srgbClr val="FF0000"/>
                </a:solidFill>
              </a:rPr>
              <a:t>前后对比法</a:t>
            </a:r>
            <a:r>
              <a:rPr lang="zh-CN" altLang="en-US" sz="2400" dirty="0"/>
              <a:t>：是比较项目引入前的成本</a:t>
            </a:r>
            <a:r>
              <a:rPr lang="en-US" altLang="zh-CN" sz="2400" dirty="0"/>
              <a:t>(</a:t>
            </a:r>
            <a:r>
              <a:rPr lang="zh-CN" altLang="en-US" sz="2400" dirty="0"/>
              <a:t>效益</a:t>
            </a:r>
            <a:r>
              <a:rPr lang="en-US" altLang="zh-CN" sz="2400" dirty="0"/>
              <a:t>)</a:t>
            </a:r>
            <a:r>
              <a:rPr lang="zh-CN" altLang="en-US" sz="2400" dirty="0"/>
              <a:t>与项目引入后时的成本</a:t>
            </a:r>
            <a:r>
              <a:rPr lang="en-US" altLang="zh-CN" sz="2400" dirty="0"/>
              <a:t>(</a:t>
            </a:r>
            <a:r>
              <a:rPr lang="zh-CN" altLang="en-US" sz="2400" dirty="0"/>
              <a:t>效益</a:t>
            </a:r>
            <a:r>
              <a:rPr lang="en-US" altLang="zh-CN" sz="2400" dirty="0"/>
              <a:t>)</a:t>
            </a:r>
            <a:r>
              <a:rPr lang="zh-CN" altLang="en-US" sz="2400" dirty="0"/>
              <a:t>。该方法不考虑不上项目时的项目变化趋势，会人为夸大或者低估项目的效益；求得两者差额即为增量成本</a:t>
            </a:r>
            <a:r>
              <a:rPr lang="en-US" altLang="zh-CN" sz="2400" dirty="0"/>
              <a:t>(</a:t>
            </a:r>
            <a:r>
              <a:rPr lang="zh-CN" altLang="en-US" sz="2400" dirty="0"/>
              <a:t>效益</a:t>
            </a:r>
            <a:r>
              <a:rPr lang="en-US" altLang="zh-CN" sz="2400" dirty="0"/>
              <a:t>)</a:t>
            </a:r>
            <a:r>
              <a:rPr lang="zh-CN" altLang="en-US" sz="2400" dirty="0"/>
              <a:t>。</a:t>
            </a:r>
            <a:endParaRPr lang="en-US" altLang="zh-CN" sz="2400" dirty="0"/>
          </a:p>
          <a:p>
            <a:pPr algn="just"/>
            <a:r>
              <a:rPr lang="zh-CN" altLang="en-US" sz="2400" dirty="0"/>
              <a:t>因此，</a:t>
            </a:r>
            <a:r>
              <a:rPr lang="zh-CN" altLang="en-US" sz="2400" dirty="0">
                <a:solidFill>
                  <a:srgbClr val="FF0000"/>
                </a:solidFill>
              </a:rPr>
              <a:t>有无对比法</a:t>
            </a:r>
            <a:r>
              <a:rPr lang="zh-CN" altLang="en-US" sz="2400" dirty="0"/>
              <a:t>得出的结论更加科学、更合理。</a:t>
            </a:r>
          </a:p>
        </p:txBody>
      </p:sp>
      <p:sp>
        <p:nvSpPr>
          <p:cNvPr id="23556" name="Rectangle 4">
            <a:extLst>
              <a:ext uri="{FF2B5EF4-FFF2-40B4-BE49-F238E27FC236}">
                <a16:creationId xmlns:a16="http://schemas.microsoft.com/office/drawing/2014/main" id="{17328EF0-744A-46BF-8329-C65D690DF1AE}"/>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3557" name="Line 5">
            <a:extLst>
              <a:ext uri="{FF2B5EF4-FFF2-40B4-BE49-F238E27FC236}">
                <a16:creationId xmlns:a16="http://schemas.microsoft.com/office/drawing/2014/main" id="{F388401E-F14D-4E17-BDBA-026DFF771ED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4133828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内容占位符 1">
            <a:extLst>
              <a:ext uri="{FF2B5EF4-FFF2-40B4-BE49-F238E27FC236}">
                <a16:creationId xmlns:a16="http://schemas.microsoft.com/office/drawing/2014/main" id="{1874879A-2F8E-4484-BE5D-11FFBD2F9F6C}"/>
              </a:ext>
            </a:extLst>
          </p:cNvPr>
          <p:cNvGraphicFramePr>
            <a:graphicFrameLocks noGrp="1"/>
          </p:cNvGraphicFramePr>
          <p:nvPr>
            <p:ph idx="1"/>
            <p:extLst>
              <p:ext uri="{D42A27DB-BD31-4B8C-83A1-F6EECF244321}">
                <p14:modId xmlns:p14="http://schemas.microsoft.com/office/powerpoint/2010/main" val="2058286217"/>
              </p:ext>
            </p:extLst>
          </p:nvPr>
        </p:nvGraphicFramePr>
        <p:xfrm>
          <a:off x="1757131" y="2502237"/>
          <a:ext cx="5125680" cy="1181790"/>
        </p:xfrm>
        <a:graphic>
          <a:graphicData uri="http://schemas.openxmlformats.org/drawingml/2006/table">
            <a:tbl>
              <a:tblPr>
                <a:tableStyleId>{5C22544A-7EE6-4342-B048-85BDC9FD1C3A}</a:tableStyleId>
              </a:tblPr>
              <a:tblGrid>
                <a:gridCol w="822325">
                  <a:extLst>
                    <a:ext uri="{9D8B030D-6E8A-4147-A177-3AD203B41FA5}">
                      <a16:colId xmlns:a16="http://schemas.microsoft.com/office/drawing/2014/main" val="3296022368"/>
                    </a:ext>
                  </a:extLst>
                </a:gridCol>
                <a:gridCol w="1270999">
                  <a:extLst>
                    <a:ext uri="{9D8B030D-6E8A-4147-A177-3AD203B41FA5}">
                      <a16:colId xmlns:a16="http://schemas.microsoft.com/office/drawing/2014/main" val="3368181510"/>
                    </a:ext>
                  </a:extLst>
                </a:gridCol>
                <a:gridCol w="1484198">
                  <a:extLst>
                    <a:ext uri="{9D8B030D-6E8A-4147-A177-3AD203B41FA5}">
                      <a16:colId xmlns:a16="http://schemas.microsoft.com/office/drawing/2014/main" val="2079319027"/>
                    </a:ext>
                  </a:extLst>
                </a:gridCol>
                <a:gridCol w="1548158">
                  <a:extLst>
                    <a:ext uri="{9D8B030D-6E8A-4147-A177-3AD203B41FA5}">
                      <a16:colId xmlns:a16="http://schemas.microsoft.com/office/drawing/2014/main" val="2206713604"/>
                    </a:ext>
                  </a:extLst>
                </a:gridCol>
              </a:tblGrid>
              <a:tr h="382084">
                <a:tc>
                  <a:txBody>
                    <a:bodyPr/>
                    <a:lstStyle/>
                    <a:p>
                      <a:pPr algn="ctr">
                        <a:spcAft>
                          <a:spcPts val="0"/>
                        </a:spcAft>
                      </a:pPr>
                      <a:r>
                        <a:rPr lang="zh-CN" sz="1000">
                          <a:effectLst/>
                        </a:rPr>
                        <a:t>指标</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a:effectLst/>
                        </a:rPr>
                        <a:t>项目前</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a:effectLst/>
                        </a:rPr>
                        <a:t>项目后</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a:effectLst/>
                        </a:rPr>
                        <a:t>变化</a:t>
                      </a:r>
                      <a:endParaRPr lang="zh-CN" sz="120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2249897285"/>
                  </a:ext>
                </a:extLst>
              </a:tr>
              <a:tr h="382084">
                <a:tc>
                  <a:txBody>
                    <a:bodyPr/>
                    <a:lstStyle/>
                    <a:p>
                      <a:pPr algn="ctr">
                        <a:spcAft>
                          <a:spcPts val="0"/>
                        </a:spcAft>
                      </a:pPr>
                      <a:r>
                        <a:rPr lang="zh-CN" sz="1000">
                          <a:effectLst/>
                        </a:rPr>
                        <a:t>年粮食产量</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a:effectLst/>
                        </a:rPr>
                        <a:t>500</a:t>
                      </a:r>
                      <a:r>
                        <a:rPr lang="zh-CN" sz="1000">
                          <a:effectLst/>
                        </a:rPr>
                        <a:t>吨</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a:effectLst/>
                        </a:rPr>
                        <a:t>650</a:t>
                      </a:r>
                      <a:r>
                        <a:rPr lang="zh-CN" sz="1000">
                          <a:effectLst/>
                        </a:rPr>
                        <a:t>吨</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+150</a:t>
                      </a:r>
                      <a:r>
                        <a:rPr lang="zh-CN" sz="1000" dirty="0">
                          <a:effectLst/>
                        </a:rPr>
                        <a:t>吨</a:t>
                      </a:r>
                      <a:endParaRPr lang="zh-CN" sz="1200" dirty="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3858933131"/>
                  </a:ext>
                </a:extLst>
              </a:tr>
              <a:tr h="417622">
                <a:tc>
                  <a:txBody>
                    <a:bodyPr/>
                    <a:lstStyle/>
                    <a:p>
                      <a:pPr algn="ctr">
                        <a:spcAft>
                          <a:spcPts val="0"/>
                        </a:spcAft>
                      </a:pPr>
                      <a:r>
                        <a:rPr lang="zh-CN" sz="1000">
                          <a:effectLst/>
                        </a:rPr>
                        <a:t>灌溉用水量</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100</a:t>
                      </a:r>
                      <a:r>
                        <a:rPr lang="zh-CN" sz="1000" dirty="0">
                          <a:effectLst/>
                        </a:rPr>
                        <a:t>万</a:t>
                      </a:r>
                      <a:r>
                        <a:rPr lang="en-US" sz="1000" dirty="0">
                          <a:effectLst/>
                        </a:rPr>
                        <a:t>m³</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a:effectLst/>
                        </a:rPr>
                        <a:t>60</a:t>
                      </a:r>
                      <a:r>
                        <a:rPr lang="zh-CN" sz="1000">
                          <a:effectLst/>
                        </a:rPr>
                        <a:t>万</a:t>
                      </a:r>
                      <a:r>
                        <a:rPr lang="en-US" sz="1000">
                          <a:effectLst/>
                        </a:rPr>
                        <a:t>m³</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-40</a:t>
                      </a:r>
                      <a:r>
                        <a:rPr lang="zh-CN" sz="1000" dirty="0">
                          <a:effectLst/>
                        </a:rPr>
                        <a:t>万</a:t>
                      </a:r>
                      <a:r>
                        <a:rPr lang="en-US" sz="1000" dirty="0">
                          <a:effectLst/>
                        </a:rPr>
                        <a:t>m³</a:t>
                      </a:r>
                      <a:endParaRPr lang="zh-CN" sz="1200" dirty="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1497951832"/>
                  </a:ext>
                </a:extLst>
              </a:tr>
            </a:tbl>
          </a:graphicData>
        </a:graphic>
      </p:graphicFrame>
      <p:sp>
        <p:nvSpPr>
          <p:cNvPr id="23556" name="Rectangle 4">
            <a:extLst>
              <a:ext uri="{FF2B5EF4-FFF2-40B4-BE49-F238E27FC236}">
                <a16:creationId xmlns:a16="http://schemas.microsoft.com/office/drawing/2014/main" id="{17328EF0-744A-46BF-8329-C65D690DF1AE}"/>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23557" name="Line 5">
            <a:extLst>
              <a:ext uri="{FF2B5EF4-FFF2-40B4-BE49-F238E27FC236}">
                <a16:creationId xmlns:a16="http://schemas.microsoft.com/office/drawing/2014/main" id="{F388401E-F14D-4E17-BDBA-026DFF771ED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 name="Rectangle 1">
            <a:extLst>
              <a:ext uri="{FF2B5EF4-FFF2-40B4-BE49-F238E27FC236}">
                <a16:creationId xmlns:a16="http://schemas.microsoft.com/office/drawing/2014/main" id="{C4AA3F5E-5601-497C-B21C-8ABB6454D0A9}"/>
              </a:ext>
            </a:extLst>
          </p:cNvPr>
          <p:cNvSpPr>
            <a:spLocks noChangeArrowheads="1"/>
          </p:cNvSpPr>
          <p:nvPr/>
        </p:nvSpPr>
        <p:spPr bwMode="auto">
          <a:xfrm>
            <a:off x="-36513" y="822325"/>
            <a:ext cx="8640961" cy="1513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101568" numCol="1"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u="none" strike="noStrike" cap="none" normalizeH="0" dirty="0">
                <a:ln>
                  <a:noFill/>
                </a:ln>
                <a:effectLst/>
                <a:latin typeface="Times New Roman" panose="02020603050405020304" pitchFamily="18" charset="0"/>
                <a:ea typeface="黑体" panose="02010609060101010101" pitchFamily="49" charset="-122"/>
              </a:rPr>
              <a:t>例子：</a:t>
            </a:r>
            <a:r>
              <a:rPr kumimoji="0" lang="zh-CN" altLang="zh-CN" sz="2000" u="none" strike="noStrike" cap="none" normalizeH="0" dirty="0">
                <a:ln>
                  <a:noFill/>
                </a:ln>
                <a:effectLst/>
                <a:latin typeface="Times New Roman" panose="02020603050405020304" pitchFamily="18" charset="0"/>
                <a:ea typeface="黑体" panose="02010609060101010101" pitchFamily="49" charset="-122"/>
              </a:rPr>
              <a:t>某农村地区现有旧灌溉系统，已老化且效率低下，计划投资建设新型节水灌溉系统。</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dirty="0">
                <a:ln>
                  <a:noFill/>
                </a:ln>
                <a:solidFill>
                  <a:srgbClr val="FF0000"/>
                </a:solidFill>
                <a:effectLst/>
                <a:latin typeface="Times New Roman" panose="02020603050405020304" pitchFamily="18" charset="0"/>
                <a:ea typeface="黑体" panose="02010609060101010101" pitchFamily="49" charset="-122"/>
              </a:rPr>
              <a:t>前后对比法</a:t>
            </a:r>
            <a:endParaRPr kumimoji="0" lang="zh-CN" altLang="en-US" sz="2000" u="none" strike="noStrike" cap="none" normalizeH="0" dirty="0">
              <a:ln>
                <a:noFill/>
              </a:ln>
              <a:solidFill>
                <a:srgbClr val="FF0000"/>
              </a:solidFill>
              <a:effectLst/>
              <a:latin typeface="Times New Roman" panose="02020603050405020304" pitchFamily="18"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u="none" strike="noStrike" cap="none" normalizeH="0" dirty="0">
                <a:ln>
                  <a:noFill/>
                </a:ln>
                <a:solidFill>
                  <a:schemeClr val="tx1"/>
                </a:solidFill>
                <a:effectLst/>
                <a:latin typeface="Times New Roman" panose="02020603050405020304" pitchFamily="18" charset="0"/>
                <a:ea typeface="黑体" panose="02010609060101010101" pitchFamily="49" charset="-122"/>
              </a:rPr>
              <a:t>直接比较项目实施前后的指标变化：</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u="none" strike="noStrike" cap="none" normalizeH="0" dirty="0">
                <a:ln>
                  <a:noFill/>
                </a:ln>
                <a:solidFill>
                  <a:schemeClr val="tx1"/>
                </a:solidFill>
                <a:effectLst/>
                <a:latin typeface="Times New Roman" panose="02020603050405020304" pitchFamily="18" charset="0"/>
                <a:ea typeface="黑体" panose="02010609060101010101" pitchFamily="49" charset="-122"/>
              </a:rPr>
              <a:t>得出结论：项目带来了</a:t>
            </a:r>
            <a:r>
              <a:rPr kumimoji="0" lang="en-US" altLang="zh-CN" sz="2000" u="none" strike="noStrike" cap="none" normalizeH="0" dirty="0">
                <a:ln>
                  <a:noFill/>
                </a:ln>
                <a:solidFill>
                  <a:schemeClr val="tx1"/>
                </a:solidFill>
                <a:effectLst/>
                <a:latin typeface="Times New Roman" panose="02020603050405020304" pitchFamily="18" charset="0"/>
                <a:ea typeface="黑体" panose="02010609060101010101" pitchFamily="49" charset="-122"/>
              </a:rPr>
              <a:t>150</a:t>
            </a:r>
            <a:r>
              <a:rPr kumimoji="0" lang="zh-CN" altLang="en-US" sz="2000" u="none" strike="noStrike" cap="none" normalizeH="0" dirty="0">
                <a:ln>
                  <a:noFill/>
                </a:ln>
                <a:solidFill>
                  <a:schemeClr val="tx1"/>
                </a:solidFill>
                <a:effectLst/>
                <a:latin typeface="Times New Roman" panose="02020603050405020304" pitchFamily="18" charset="0"/>
                <a:ea typeface="黑体" panose="02010609060101010101" pitchFamily="49" charset="-122"/>
              </a:rPr>
              <a:t>吨的增产效益。</a:t>
            </a:r>
          </a:p>
        </p:txBody>
      </p:sp>
      <p:graphicFrame>
        <p:nvGraphicFramePr>
          <p:cNvPr id="4" name="表格 3">
            <a:extLst>
              <a:ext uri="{FF2B5EF4-FFF2-40B4-BE49-F238E27FC236}">
                <a16:creationId xmlns:a16="http://schemas.microsoft.com/office/drawing/2014/main" id="{41AE8D02-ADBA-45FC-BC19-6B57234F4125}"/>
              </a:ext>
            </a:extLst>
          </p:cNvPr>
          <p:cNvGraphicFramePr>
            <a:graphicFrameLocks noGrp="1"/>
          </p:cNvGraphicFramePr>
          <p:nvPr>
            <p:extLst>
              <p:ext uri="{D42A27DB-BD31-4B8C-83A1-F6EECF244321}">
                <p14:modId xmlns:p14="http://schemas.microsoft.com/office/powerpoint/2010/main" val="682259459"/>
              </p:ext>
            </p:extLst>
          </p:nvPr>
        </p:nvGraphicFramePr>
        <p:xfrm>
          <a:off x="1547664" y="5317478"/>
          <a:ext cx="5335148" cy="1207866"/>
        </p:xfrm>
        <a:graphic>
          <a:graphicData uri="http://schemas.openxmlformats.org/drawingml/2006/table">
            <a:tbl>
              <a:tblPr>
                <a:tableStyleId>{5C22544A-7EE6-4342-B048-85BDC9FD1C3A}</a:tableStyleId>
              </a:tblPr>
              <a:tblGrid>
                <a:gridCol w="1092268">
                  <a:extLst>
                    <a:ext uri="{9D8B030D-6E8A-4147-A177-3AD203B41FA5}">
                      <a16:colId xmlns:a16="http://schemas.microsoft.com/office/drawing/2014/main" val="2600408771"/>
                    </a:ext>
                  </a:extLst>
                </a:gridCol>
                <a:gridCol w="1634568">
                  <a:extLst>
                    <a:ext uri="{9D8B030D-6E8A-4147-A177-3AD203B41FA5}">
                      <a16:colId xmlns:a16="http://schemas.microsoft.com/office/drawing/2014/main" val="2582752715"/>
                    </a:ext>
                  </a:extLst>
                </a:gridCol>
                <a:gridCol w="929591">
                  <a:extLst>
                    <a:ext uri="{9D8B030D-6E8A-4147-A177-3AD203B41FA5}">
                      <a16:colId xmlns:a16="http://schemas.microsoft.com/office/drawing/2014/main" val="2949165596"/>
                    </a:ext>
                  </a:extLst>
                </a:gridCol>
                <a:gridCol w="1678721">
                  <a:extLst>
                    <a:ext uri="{9D8B030D-6E8A-4147-A177-3AD203B41FA5}">
                      <a16:colId xmlns:a16="http://schemas.microsoft.com/office/drawing/2014/main" val="1537554625"/>
                    </a:ext>
                  </a:extLst>
                </a:gridCol>
              </a:tblGrid>
              <a:tr h="402622">
                <a:tc>
                  <a:txBody>
                    <a:bodyPr/>
                    <a:lstStyle/>
                    <a:p>
                      <a:pPr algn="ctr">
                        <a:spcAft>
                          <a:spcPts val="0"/>
                        </a:spcAft>
                      </a:pPr>
                      <a:r>
                        <a:rPr lang="zh-CN" sz="1000">
                          <a:effectLst/>
                        </a:rPr>
                        <a:t>指标</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dirty="0">
                          <a:effectLst/>
                        </a:rPr>
                        <a:t>无项目情景（基准线）</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dirty="0">
                          <a:effectLst/>
                        </a:rPr>
                        <a:t>有项目情景</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dirty="0">
                          <a:effectLst/>
                        </a:rPr>
                        <a:t>真实净效益</a:t>
                      </a:r>
                      <a:endParaRPr lang="zh-CN" sz="1200" dirty="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2076092000"/>
                  </a:ext>
                </a:extLst>
              </a:tr>
              <a:tr h="402622">
                <a:tc>
                  <a:txBody>
                    <a:bodyPr/>
                    <a:lstStyle/>
                    <a:p>
                      <a:pPr algn="ctr">
                        <a:spcAft>
                          <a:spcPts val="0"/>
                        </a:spcAft>
                      </a:pPr>
                      <a:r>
                        <a:rPr lang="zh-CN" sz="1000" dirty="0">
                          <a:effectLst/>
                        </a:rPr>
                        <a:t>年粮食产量</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580</a:t>
                      </a:r>
                      <a:r>
                        <a:rPr lang="zh-CN" sz="1000" dirty="0">
                          <a:effectLst/>
                        </a:rPr>
                        <a:t>吨（自然增长）</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650</a:t>
                      </a:r>
                      <a:r>
                        <a:rPr lang="zh-CN" sz="1000" dirty="0">
                          <a:effectLst/>
                        </a:rPr>
                        <a:t>吨</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+70</a:t>
                      </a:r>
                      <a:r>
                        <a:rPr lang="zh-CN" sz="1000" dirty="0">
                          <a:effectLst/>
                        </a:rPr>
                        <a:t>吨</a:t>
                      </a:r>
                      <a:r>
                        <a:rPr lang="en-US" sz="1000" dirty="0">
                          <a:effectLst/>
                        </a:rPr>
                        <a:t> </a:t>
                      </a:r>
                      <a:endParaRPr lang="zh-CN" sz="1200" dirty="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697916947"/>
                  </a:ext>
                </a:extLst>
              </a:tr>
              <a:tr h="402622">
                <a:tc>
                  <a:txBody>
                    <a:bodyPr/>
                    <a:lstStyle/>
                    <a:p>
                      <a:pPr algn="ctr">
                        <a:spcAft>
                          <a:spcPts val="0"/>
                        </a:spcAft>
                      </a:pPr>
                      <a:r>
                        <a:rPr lang="zh-CN" sz="1000" dirty="0">
                          <a:effectLst/>
                        </a:rPr>
                        <a:t>灌溉用水量</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90</a:t>
                      </a:r>
                      <a:r>
                        <a:rPr lang="zh-CN" sz="1000" dirty="0">
                          <a:effectLst/>
                        </a:rPr>
                        <a:t>万</a:t>
                      </a:r>
                      <a:r>
                        <a:rPr lang="en-US" sz="1000" dirty="0">
                          <a:effectLst/>
                        </a:rPr>
                        <a:t>m³</a:t>
                      </a:r>
                      <a:r>
                        <a:rPr lang="zh-CN" sz="1000" dirty="0">
                          <a:effectLst/>
                        </a:rPr>
                        <a:t>（自然老化加剧）</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60</a:t>
                      </a:r>
                      <a:r>
                        <a:rPr lang="zh-CN" sz="1000" dirty="0">
                          <a:effectLst/>
                        </a:rPr>
                        <a:t>万</a:t>
                      </a:r>
                      <a:r>
                        <a:rPr lang="en-US" sz="1000" dirty="0">
                          <a:effectLst/>
                        </a:rPr>
                        <a:t>m³</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-30</a:t>
                      </a:r>
                      <a:r>
                        <a:rPr lang="zh-CN" sz="1000" dirty="0">
                          <a:effectLst/>
                        </a:rPr>
                        <a:t>万</a:t>
                      </a:r>
                      <a:r>
                        <a:rPr lang="en-US" sz="1000" dirty="0">
                          <a:effectLst/>
                        </a:rPr>
                        <a:t>m³ </a:t>
                      </a:r>
                      <a:endParaRPr lang="zh-CN" sz="1200" dirty="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2567753262"/>
                  </a:ext>
                </a:extLst>
              </a:tr>
            </a:tbl>
          </a:graphicData>
        </a:graphic>
      </p:graphicFrame>
      <p:sp>
        <p:nvSpPr>
          <p:cNvPr id="5" name="Rectangle 2">
            <a:extLst>
              <a:ext uri="{FF2B5EF4-FFF2-40B4-BE49-F238E27FC236}">
                <a16:creationId xmlns:a16="http://schemas.microsoft.com/office/drawing/2014/main" id="{DD544F49-376A-42E6-8632-FE68F6D5D771}"/>
              </a:ext>
            </a:extLst>
          </p:cNvPr>
          <p:cNvSpPr>
            <a:spLocks noChangeArrowheads="1"/>
          </p:cNvSpPr>
          <p:nvPr/>
        </p:nvSpPr>
        <p:spPr bwMode="auto">
          <a:xfrm>
            <a:off x="-36513" y="3831566"/>
            <a:ext cx="8928993" cy="151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101568" numCol="1" anchor="ctr" anchorCtr="0" compatLnSpc="1">
            <a:prstTxWarp prst="textNoShape">
              <a:avLst/>
            </a:prstTxWarp>
            <a:noAutofit/>
          </a:bodyPr>
          <a:lstStyle/>
          <a:p>
            <a:r>
              <a:rPr lang="zh-CN" altLang="zh-CN" sz="2000" dirty="0">
                <a:solidFill>
                  <a:srgbClr val="FF0000"/>
                </a:solidFill>
                <a:latin typeface="Times New Roman" panose="02020603050405020304" pitchFamily="18" charset="0"/>
                <a:ea typeface="黑体" panose="02010609060101010101" pitchFamily="49" charset="-122"/>
              </a:rPr>
              <a:t>有无对比法</a:t>
            </a:r>
            <a:endParaRPr lang="en-US" altLang="zh-CN" sz="2000" dirty="0">
              <a:solidFill>
                <a:srgbClr val="FF0000"/>
              </a:solidFill>
              <a:latin typeface="Times New Roman" panose="02020603050405020304" pitchFamily="18" charset="0"/>
              <a:ea typeface="黑体" panose="02010609060101010101" pitchFamily="49" charset="-122"/>
            </a:endParaRPr>
          </a:p>
          <a:p>
            <a:r>
              <a:rPr lang="zh-CN" altLang="en-US" sz="2000" dirty="0">
                <a:latin typeface="Times New Roman" panose="02020603050405020304" pitchFamily="18" charset="0"/>
                <a:ea typeface="黑体" panose="02010609060101010101" pitchFamily="49" charset="-122"/>
              </a:rPr>
              <a:t>即使不做新项目，由于近年推广新品种、化肥改良等外部因素，产量本来也会自然增长到 </a:t>
            </a:r>
            <a:r>
              <a:rPr lang="en-US" altLang="zh-CN" sz="2000" dirty="0">
                <a:latin typeface="Times New Roman" panose="02020603050405020304" pitchFamily="18" charset="0"/>
                <a:ea typeface="黑体" panose="02010609060101010101" pitchFamily="49" charset="-122"/>
              </a:rPr>
              <a:t>580</a:t>
            </a:r>
            <a:r>
              <a:rPr lang="zh-CN" altLang="en-US" sz="2000" dirty="0">
                <a:latin typeface="Times New Roman" panose="02020603050405020304" pitchFamily="18" charset="0"/>
                <a:ea typeface="黑体" panose="02010609060101010101" pitchFamily="49" charset="-122"/>
              </a:rPr>
              <a:t>吨。</a:t>
            </a:r>
          </a:p>
          <a:p>
            <a:r>
              <a:rPr lang="zh-CN" altLang="en-US" sz="2000" dirty="0">
                <a:solidFill>
                  <a:srgbClr val="2E75B6"/>
                </a:solidFill>
                <a:latin typeface="Times New Roman" panose="02020603050405020304" pitchFamily="18" charset="0"/>
                <a:ea typeface="黑体" panose="02010609060101010101" pitchFamily="49" charset="-122"/>
              </a:rPr>
              <a:t>得出结论：</a:t>
            </a:r>
            <a:r>
              <a:rPr lang="zh-CN" altLang="en-US" sz="2000" dirty="0">
                <a:latin typeface="Times New Roman" panose="02020603050405020304" pitchFamily="18" charset="0"/>
                <a:ea typeface="黑体" panose="02010609060101010101" pitchFamily="49" charset="-122"/>
              </a:rPr>
              <a:t>项目真正带来的净增产仅为</a:t>
            </a:r>
            <a:r>
              <a:rPr lang="en-US" altLang="zh-CN" sz="2000" dirty="0">
                <a:latin typeface="Times New Roman" panose="02020603050405020304" pitchFamily="18" charset="0"/>
                <a:ea typeface="黑体" panose="02010609060101010101" pitchFamily="49" charset="-122"/>
              </a:rPr>
              <a:t>70</a:t>
            </a:r>
            <a:r>
              <a:rPr lang="zh-CN" altLang="en-US" sz="2000" dirty="0">
                <a:latin typeface="Times New Roman" panose="02020603050405020304" pitchFamily="18" charset="0"/>
                <a:ea typeface="黑体" panose="02010609060101010101" pitchFamily="49" charset="-122"/>
              </a:rPr>
              <a:t>吨，而非前后对比法得出的</a:t>
            </a:r>
            <a:r>
              <a:rPr lang="en-US" altLang="zh-CN" sz="2000" dirty="0">
                <a:latin typeface="Times New Roman" panose="02020603050405020304" pitchFamily="18" charset="0"/>
                <a:ea typeface="黑体" panose="02010609060101010101" pitchFamily="49" charset="-122"/>
              </a:rPr>
              <a:t>150</a:t>
            </a:r>
            <a:r>
              <a:rPr lang="zh-CN" altLang="en-US" sz="2000" dirty="0">
                <a:latin typeface="Times New Roman" panose="02020603050405020304" pitchFamily="18" charset="0"/>
                <a:ea typeface="黑体" panose="02010609060101010101" pitchFamily="49" charset="-122"/>
              </a:rPr>
              <a:t>吨。</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29456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0BF97D9A-363D-48D8-99A3-51F773EE6C7B}"/>
              </a:ext>
            </a:extLst>
          </p:cNvPr>
          <p:cNvSpPr>
            <a:spLocks noGrp="1" noChangeArrowheads="1"/>
          </p:cNvSpPr>
          <p:nvPr>
            <p:ph type="title"/>
          </p:nvPr>
        </p:nvSpPr>
        <p:spPr/>
        <p:txBody>
          <a:bodyPr/>
          <a:lstStyle/>
          <a:p>
            <a:pPr algn="l" eaLnBrk="1" hangingPunct="1"/>
            <a:r>
              <a:rPr lang="en-US" altLang="zh-CN" sz="4000" b="1"/>
              <a:t>2.2.2  </a:t>
            </a:r>
            <a:r>
              <a:rPr lang="zh-CN" altLang="en-US" sz="4000" b="1"/>
              <a:t>需求调研的内容与方法</a:t>
            </a:r>
          </a:p>
        </p:txBody>
      </p:sp>
      <p:sp>
        <p:nvSpPr>
          <p:cNvPr id="29699" name="Rectangle 3">
            <a:extLst>
              <a:ext uri="{FF2B5EF4-FFF2-40B4-BE49-F238E27FC236}">
                <a16:creationId xmlns:a16="http://schemas.microsoft.com/office/drawing/2014/main" id="{E63A52D9-0EFC-48AD-B9B3-8E598218FE3B}"/>
              </a:ext>
            </a:extLst>
          </p:cNvPr>
          <p:cNvSpPr>
            <a:spLocks noGrp="1" noChangeArrowheads="1"/>
          </p:cNvSpPr>
          <p:nvPr>
            <p:ph idx="1"/>
          </p:nvPr>
        </p:nvSpPr>
        <p:spPr>
          <a:xfrm>
            <a:off x="323528" y="1661789"/>
            <a:ext cx="8352928" cy="2323454"/>
          </a:xfrm>
        </p:spPr>
        <p:txBody>
          <a:bodyPr>
            <a:normAutofit/>
          </a:bodyPr>
          <a:lstStyle/>
          <a:p>
            <a:pPr eaLnBrk="1" hangingPunct="1"/>
            <a:r>
              <a:rPr lang="zh-CN" altLang="en-US" sz="2400" dirty="0"/>
              <a:t>信息系统项目普遍存在开始时“需求说不清”，项目结束时“需求说不完”的现象。</a:t>
            </a:r>
            <a:endParaRPr lang="en-US" altLang="zh-CN" sz="2400" dirty="0"/>
          </a:p>
          <a:p>
            <a:pPr eaLnBrk="1" hangingPunct="1"/>
            <a:r>
              <a:rPr lang="zh-CN" altLang="en-US" sz="2400" dirty="0">
                <a:solidFill>
                  <a:srgbClr val="FF0000"/>
                </a:solidFill>
              </a:rPr>
              <a:t>需求分析</a:t>
            </a:r>
            <a:r>
              <a:rPr lang="zh-CN" altLang="en-US" sz="2400" dirty="0"/>
              <a:t>就是要确定对目标系统的综合要求，并提出这些需求的实现条件，以及需求应达到的标准，也就是解决要求所开发的信息系统做什么，做到什么程度的问题。 </a:t>
            </a:r>
          </a:p>
        </p:txBody>
      </p:sp>
      <p:sp>
        <p:nvSpPr>
          <p:cNvPr id="29700" name="Rectangle 4">
            <a:extLst>
              <a:ext uri="{FF2B5EF4-FFF2-40B4-BE49-F238E27FC236}">
                <a16:creationId xmlns:a16="http://schemas.microsoft.com/office/drawing/2014/main" id="{3AD0CCE7-36F8-4DF1-A8DF-656CB440F33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9701" name="Line 5">
            <a:extLst>
              <a:ext uri="{FF2B5EF4-FFF2-40B4-BE49-F238E27FC236}">
                <a16:creationId xmlns:a16="http://schemas.microsoft.com/office/drawing/2014/main" id="{5B59369D-6E9F-45F3-812C-9E930ABAF51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9D436F7-993D-404B-AC08-B7895433F6F4}"/>
              </a:ext>
            </a:extLst>
          </p:cNvPr>
          <p:cNvSpPr>
            <a:spLocks noGrp="1" noChangeArrowheads="1"/>
          </p:cNvSpPr>
          <p:nvPr>
            <p:ph type="title"/>
          </p:nvPr>
        </p:nvSpPr>
        <p:spPr/>
        <p:txBody>
          <a:bodyPr/>
          <a:lstStyle/>
          <a:p>
            <a:pPr algn="l" eaLnBrk="1" hangingPunct="1"/>
            <a:r>
              <a:rPr lang="en-US" altLang="zh-CN" sz="4000" b="1"/>
              <a:t>2.2.2  </a:t>
            </a:r>
            <a:r>
              <a:rPr lang="zh-CN" altLang="en-US" sz="4000" b="1"/>
              <a:t>需求调研的内容与方法</a:t>
            </a:r>
          </a:p>
        </p:txBody>
      </p:sp>
      <p:sp>
        <p:nvSpPr>
          <p:cNvPr id="31747" name="Rectangle 3">
            <a:extLst>
              <a:ext uri="{FF2B5EF4-FFF2-40B4-BE49-F238E27FC236}">
                <a16:creationId xmlns:a16="http://schemas.microsoft.com/office/drawing/2014/main" id="{B06DBD9F-16FF-4D6D-8A44-8C3027BDD619}"/>
              </a:ext>
            </a:extLst>
          </p:cNvPr>
          <p:cNvSpPr>
            <a:spLocks noGrp="1" noChangeArrowheads="1"/>
          </p:cNvSpPr>
          <p:nvPr>
            <p:ph idx="1"/>
          </p:nvPr>
        </p:nvSpPr>
        <p:spPr>
          <a:xfrm>
            <a:off x="457200" y="1600200"/>
            <a:ext cx="8229600" cy="4924425"/>
          </a:xfrm>
        </p:spPr>
        <p:txBody>
          <a:bodyPr>
            <a:normAutofit lnSpcReduction="10000"/>
          </a:bodyPr>
          <a:lstStyle/>
          <a:p>
            <a:pPr marL="0" indent="0" eaLnBrk="1" hangingPunct="1">
              <a:lnSpc>
                <a:spcPct val="90000"/>
              </a:lnSpc>
              <a:buNone/>
            </a:pPr>
            <a:r>
              <a:rPr lang="zh-CN" altLang="en-US" sz="2400" dirty="0">
                <a:solidFill>
                  <a:srgbClr val="FF0000"/>
                </a:solidFill>
              </a:rPr>
              <a:t>需求分析内容：</a:t>
            </a:r>
            <a:endParaRPr lang="en-US" altLang="zh-CN" sz="2400" dirty="0">
              <a:solidFill>
                <a:srgbClr val="FF0000"/>
              </a:solidFill>
            </a:endParaRPr>
          </a:p>
          <a:p>
            <a:pPr marL="609600" indent="-609600" eaLnBrk="1" hangingPunct="1">
              <a:lnSpc>
                <a:spcPct val="90000"/>
              </a:lnSpc>
            </a:pPr>
            <a:r>
              <a:rPr lang="en-US" altLang="zh-CN" sz="2400" dirty="0"/>
              <a:t>1</a:t>
            </a:r>
            <a:r>
              <a:rPr lang="zh-CN" altLang="en-US" sz="2400" dirty="0"/>
              <a:t>．功能需求与非功能需求 </a:t>
            </a:r>
          </a:p>
          <a:p>
            <a:pPr marL="990600" lvl="1" indent="-533400" eaLnBrk="1" hangingPunct="1">
              <a:lnSpc>
                <a:spcPct val="90000"/>
              </a:lnSpc>
            </a:pPr>
            <a:r>
              <a:rPr lang="zh-CN" altLang="en-US" sz="2400" dirty="0"/>
              <a:t>（</a:t>
            </a:r>
            <a:r>
              <a:rPr lang="en-US" altLang="zh-CN" sz="2400" dirty="0"/>
              <a:t>1</a:t>
            </a:r>
            <a:r>
              <a:rPr lang="zh-CN" altLang="en-US" sz="2400" dirty="0"/>
              <a:t>）功能需求：</a:t>
            </a:r>
            <a:endParaRPr lang="en-US" altLang="zh-CN" sz="2400" dirty="0"/>
          </a:p>
          <a:p>
            <a:pPr marL="1447800" lvl="2" indent="-533400"/>
            <a:r>
              <a:rPr lang="zh-CN" altLang="en-US" dirty="0"/>
              <a:t>必备功能，必须做；</a:t>
            </a:r>
            <a:endParaRPr lang="en-US" altLang="zh-CN" dirty="0"/>
          </a:p>
          <a:p>
            <a:pPr marL="1447800" lvl="2" indent="-533400"/>
            <a:r>
              <a:rPr lang="zh-CN" altLang="en-US" dirty="0"/>
              <a:t>可选功能，应该做；</a:t>
            </a:r>
            <a:endParaRPr lang="en-US" altLang="zh-CN" dirty="0"/>
          </a:p>
          <a:p>
            <a:pPr marL="1447800" lvl="2" indent="-533400"/>
            <a:r>
              <a:rPr lang="zh-CN" altLang="en-US" dirty="0"/>
              <a:t>附加功能，可以做；</a:t>
            </a:r>
          </a:p>
          <a:p>
            <a:pPr marL="990600" lvl="1" indent="-533400" eaLnBrk="1" hangingPunct="1">
              <a:lnSpc>
                <a:spcPct val="90000"/>
              </a:lnSpc>
            </a:pPr>
            <a:r>
              <a:rPr lang="zh-CN" altLang="en-US" sz="2400" dirty="0"/>
              <a:t>（</a:t>
            </a:r>
            <a:r>
              <a:rPr lang="en-US" altLang="zh-CN" sz="2400" dirty="0"/>
              <a:t>2</a:t>
            </a:r>
            <a:r>
              <a:rPr lang="zh-CN" altLang="en-US" sz="2400" dirty="0"/>
              <a:t>）技术性能需求 </a:t>
            </a:r>
          </a:p>
          <a:p>
            <a:pPr marL="990600" lvl="1" indent="-533400" eaLnBrk="1" hangingPunct="1">
              <a:lnSpc>
                <a:spcPct val="90000"/>
              </a:lnSpc>
            </a:pPr>
            <a:r>
              <a:rPr lang="zh-CN" altLang="en-US" sz="2400" dirty="0"/>
              <a:t>（</a:t>
            </a:r>
            <a:r>
              <a:rPr lang="en-US" altLang="zh-CN" sz="2400" dirty="0"/>
              <a:t>3</a:t>
            </a:r>
            <a:r>
              <a:rPr lang="zh-CN" altLang="en-US" sz="2400" dirty="0"/>
              <a:t>）可靠性需求 </a:t>
            </a:r>
          </a:p>
          <a:p>
            <a:pPr marL="990600" lvl="1" indent="-533400" eaLnBrk="1" hangingPunct="1">
              <a:lnSpc>
                <a:spcPct val="90000"/>
              </a:lnSpc>
            </a:pPr>
            <a:r>
              <a:rPr lang="zh-CN" altLang="en-US" sz="2400" dirty="0"/>
              <a:t>（</a:t>
            </a:r>
            <a:r>
              <a:rPr lang="en-US" altLang="zh-CN" sz="2400" dirty="0"/>
              <a:t>4</a:t>
            </a:r>
            <a:r>
              <a:rPr lang="zh-CN" altLang="en-US" sz="2400" dirty="0"/>
              <a:t>）安全保密要求 </a:t>
            </a:r>
          </a:p>
          <a:p>
            <a:pPr marL="990600" lvl="1" indent="-533400" eaLnBrk="1" hangingPunct="1">
              <a:lnSpc>
                <a:spcPct val="90000"/>
              </a:lnSpc>
            </a:pPr>
            <a:r>
              <a:rPr lang="zh-CN" altLang="en-US" sz="2400" dirty="0"/>
              <a:t>（</a:t>
            </a:r>
            <a:r>
              <a:rPr lang="en-US" altLang="zh-CN" sz="2400" dirty="0"/>
              <a:t>5</a:t>
            </a:r>
            <a:r>
              <a:rPr lang="zh-CN" altLang="en-US" sz="2400" dirty="0"/>
              <a:t>）用户界面需求 </a:t>
            </a:r>
          </a:p>
          <a:p>
            <a:pPr marL="990600" lvl="1" indent="-533400" eaLnBrk="1" hangingPunct="1">
              <a:lnSpc>
                <a:spcPct val="90000"/>
              </a:lnSpc>
            </a:pPr>
            <a:r>
              <a:rPr lang="zh-CN" altLang="en-US" sz="2400" dirty="0"/>
              <a:t>（</a:t>
            </a:r>
            <a:r>
              <a:rPr lang="en-US" altLang="zh-CN" sz="2400" dirty="0"/>
              <a:t>6</a:t>
            </a:r>
            <a:r>
              <a:rPr lang="zh-CN" altLang="en-US" sz="2400" dirty="0"/>
              <a:t>）使用人员技能的需求 </a:t>
            </a:r>
          </a:p>
          <a:p>
            <a:pPr marL="990600" lvl="1" indent="-533400" eaLnBrk="1" hangingPunct="1">
              <a:lnSpc>
                <a:spcPct val="90000"/>
              </a:lnSpc>
            </a:pPr>
            <a:r>
              <a:rPr lang="zh-CN" altLang="en-US" sz="2400" dirty="0"/>
              <a:t>（</a:t>
            </a:r>
            <a:r>
              <a:rPr lang="en-US" altLang="zh-CN" sz="2400" dirty="0"/>
              <a:t>7</a:t>
            </a:r>
            <a:r>
              <a:rPr lang="zh-CN" altLang="en-US" sz="2400" dirty="0"/>
              <a:t>）成本与进度需求 </a:t>
            </a:r>
          </a:p>
          <a:p>
            <a:pPr marL="990600" lvl="1" indent="-533400" eaLnBrk="1" hangingPunct="1">
              <a:lnSpc>
                <a:spcPct val="90000"/>
              </a:lnSpc>
            </a:pPr>
            <a:r>
              <a:rPr lang="zh-CN" altLang="en-US" sz="2400" dirty="0"/>
              <a:t>（</a:t>
            </a:r>
            <a:r>
              <a:rPr lang="en-US" altLang="zh-CN" sz="2400" dirty="0"/>
              <a:t>8</a:t>
            </a:r>
            <a:r>
              <a:rPr lang="zh-CN" altLang="en-US" sz="2400" dirty="0"/>
              <a:t>）可扩展性需求 </a:t>
            </a:r>
          </a:p>
          <a:p>
            <a:pPr marL="1371600" lvl="2" indent="-457200" eaLnBrk="1" hangingPunct="1">
              <a:lnSpc>
                <a:spcPct val="90000"/>
              </a:lnSpc>
            </a:pPr>
            <a:endParaRPr lang="en-US" altLang="zh-CN" b="1" dirty="0"/>
          </a:p>
        </p:txBody>
      </p:sp>
      <p:sp>
        <p:nvSpPr>
          <p:cNvPr id="31748" name="Rectangle 4">
            <a:extLst>
              <a:ext uri="{FF2B5EF4-FFF2-40B4-BE49-F238E27FC236}">
                <a16:creationId xmlns:a16="http://schemas.microsoft.com/office/drawing/2014/main" id="{5E3B5C63-E8D7-4EDB-BB87-6901B1A3358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31749" name="Line 5">
            <a:extLst>
              <a:ext uri="{FF2B5EF4-FFF2-40B4-BE49-F238E27FC236}">
                <a16:creationId xmlns:a16="http://schemas.microsoft.com/office/drawing/2014/main" id="{32AE0DD4-175E-48B8-89BB-0EB2F3DBDDD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4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74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74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74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747">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747">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747">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174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E272FA3-B5BE-47F9-BF36-0CDD308036A0}"/>
              </a:ext>
            </a:extLst>
          </p:cNvPr>
          <p:cNvSpPr>
            <a:spLocks noGrp="1" noChangeArrowheads="1"/>
          </p:cNvSpPr>
          <p:nvPr>
            <p:ph type="title"/>
          </p:nvPr>
        </p:nvSpPr>
        <p:spPr/>
        <p:txBody>
          <a:bodyPr/>
          <a:lstStyle/>
          <a:p>
            <a:pPr algn="l" eaLnBrk="1" hangingPunct="1">
              <a:defRPr/>
            </a:pPr>
            <a:r>
              <a:rPr lang="en-US" altLang="zh-CN" sz="4000" b="1" dirty="0">
                <a:latin typeface="+mn-lt"/>
              </a:rPr>
              <a:t>2.2.2  </a:t>
            </a:r>
            <a:r>
              <a:rPr lang="zh-CN" altLang="en-US" sz="4000" b="1" dirty="0">
                <a:latin typeface="+mn-lt"/>
              </a:rPr>
              <a:t>需求调研的内容与方法</a:t>
            </a:r>
          </a:p>
        </p:txBody>
      </p:sp>
      <p:sp>
        <p:nvSpPr>
          <p:cNvPr id="33795" name="Rectangle 3">
            <a:extLst>
              <a:ext uri="{FF2B5EF4-FFF2-40B4-BE49-F238E27FC236}">
                <a16:creationId xmlns:a16="http://schemas.microsoft.com/office/drawing/2014/main" id="{C52A20EE-25AB-4F49-BCF6-E53FF09AFE19}"/>
              </a:ext>
            </a:extLst>
          </p:cNvPr>
          <p:cNvSpPr>
            <a:spLocks noGrp="1" noChangeArrowheads="1"/>
          </p:cNvSpPr>
          <p:nvPr>
            <p:ph idx="1"/>
          </p:nvPr>
        </p:nvSpPr>
        <p:spPr/>
        <p:txBody>
          <a:bodyPr/>
          <a:lstStyle/>
          <a:p>
            <a:pPr algn="just" eaLnBrk="1" hangingPunct="1"/>
            <a:r>
              <a:rPr lang="en-US" altLang="zh-CN" sz="2400" dirty="0"/>
              <a:t>2</a:t>
            </a:r>
            <a:r>
              <a:rPr lang="zh-CN" altLang="en-US" sz="2400" dirty="0"/>
              <a:t>．需求调研的方法和步骤</a:t>
            </a:r>
          </a:p>
          <a:p>
            <a:pPr lvl="1" eaLnBrk="1" hangingPunct="1"/>
            <a:r>
              <a:rPr lang="zh-CN" altLang="en-US" sz="2400" dirty="0"/>
              <a:t>（</a:t>
            </a:r>
            <a:r>
              <a:rPr lang="en-US" altLang="zh-CN" sz="2400" dirty="0"/>
              <a:t>1</a:t>
            </a:r>
            <a:r>
              <a:rPr lang="zh-CN" altLang="en-US" sz="2400" dirty="0"/>
              <a:t>）文献阅读</a:t>
            </a:r>
          </a:p>
          <a:p>
            <a:pPr lvl="1" eaLnBrk="1" hangingPunct="1"/>
            <a:r>
              <a:rPr lang="zh-CN" altLang="en-US" sz="2400" dirty="0"/>
              <a:t>（</a:t>
            </a:r>
            <a:r>
              <a:rPr lang="en-US" altLang="zh-CN" sz="2400" dirty="0"/>
              <a:t>2</a:t>
            </a:r>
            <a:r>
              <a:rPr lang="zh-CN" altLang="en-US" sz="2400" dirty="0"/>
              <a:t>）实地考察（直接观察法）</a:t>
            </a:r>
          </a:p>
          <a:p>
            <a:pPr lvl="1" eaLnBrk="1" hangingPunct="1"/>
            <a:r>
              <a:rPr lang="zh-CN" altLang="en-US" sz="2400" dirty="0"/>
              <a:t>（</a:t>
            </a:r>
            <a:r>
              <a:rPr lang="en-US" altLang="zh-CN" sz="2400" dirty="0"/>
              <a:t>3</a:t>
            </a:r>
            <a:r>
              <a:rPr lang="zh-CN" altLang="en-US" sz="2400" dirty="0"/>
              <a:t>）用户访谈</a:t>
            </a:r>
            <a:endParaRPr lang="en-US" altLang="zh-CN" sz="2400" dirty="0"/>
          </a:p>
          <a:p>
            <a:pPr lvl="2"/>
            <a:r>
              <a:rPr lang="zh-CN" altLang="en-US" dirty="0"/>
              <a:t>获得信息；</a:t>
            </a:r>
            <a:endParaRPr lang="en-US" altLang="zh-CN" dirty="0"/>
          </a:p>
          <a:p>
            <a:pPr lvl="2"/>
            <a:r>
              <a:rPr lang="zh-CN" altLang="en-US" dirty="0"/>
              <a:t>对书面资料、观察而获得信息进行验证</a:t>
            </a:r>
          </a:p>
          <a:p>
            <a:pPr lvl="1" eaLnBrk="1" hangingPunct="1"/>
            <a:r>
              <a:rPr lang="zh-CN" altLang="en-US" sz="2400" dirty="0"/>
              <a:t>（</a:t>
            </a:r>
            <a:r>
              <a:rPr lang="en-US" altLang="zh-CN" sz="2400" dirty="0"/>
              <a:t>4</a:t>
            </a:r>
            <a:r>
              <a:rPr lang="zh-CN" altLang="en-US" sz="2400" dirty="0"/>
              <a:t>）发放调查问卷</a:t>
            </a:r>
          </a:p>
          <a:p>
            <a:pPr lvl="1" eaLnBrk="1" hangingPunct="1"/>
            <a:r>
              <a:rPr lang="zh-CN" altLang="en-US" sz="2400" dirty="0"/>
              <a:t>（</a:t>
            </a:r>
            <a:r>
              <a:rPr lang="en-US" altLang="zh-CN" sz="2400" dirty="0"/>
              <a:t>5</a:t>
            </a:r>
            <a:r>
              <a:rPr lang="zh-CN" altLang="en-US" sz="2400" dirty="0"/>
              <a:t>）业务专题报告 </a:t>
            </a:r>
          </a:p>
        </p:txBody>
      </p:sp>
      <p:sp>
        <p:nvSpPr>
          <p:cNvPr id="33796" name="Rectangle 4">
            <a:extLst>
              <a:ext uri="{FF2B5EF4-FFF2-40B4-BE49-F238E27FC236}">
                <a16:creationId xmlns:a16="http://schemas.microsoft.com/office/drawing/2014/main" id="{F58CF4D8-7442-47DE-A872-7751C24E679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33797" name="Line 5">
            <a:extLst>
              <a:ext uri="{FF2B5EF4-FFF2-40B4-BE49-F238E27FC236}">
                <a16:creationId xmlns:a16="http://schemas.microsoft.com/office/drawing/2014/main" id="{115528B7-18C1-4885-A7A9-C0FDEBE0568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79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79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7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FEA64BF-BBE3-46B3-9EAB-A6A372DF2618}"/>
              </a:ext>
            </a:extLst>
          </p:cNvPr>
          <p:cNvSpPr>
            <a:spLocks noGrp="1" noChangeArrowheads="1"/>
          </p:cNvSpPr>
          <p:nvPr>
            <p:ph type="title"/>
          </p:nvPr>
        </p:nvSpPr>
        <p:spPr/>
        <p:txBody>
          <a:bodyPr/>
          <a:lstStyle/>
          <a:p>
            <a:pPr algn="l" eaLnBrk="1" hangingPunct="1"/>
            <a:r>
              <a:rPr lang="en-US" altLang="zh-CN" sz="4000" b="1"/>
              <a:t>2.2.3  </a:t>
            </a:r>
            <a:r>
              <a:rPr lang="zh-CN" altLang="en-US" sz="4000" b="1"/>
              <a:t>信息系统项目的建设方式</a:t>
            </a:r>
          </a:p>
        </p:txBody>
      </p:sp>
      <p:sp>
        <p:nvSpPr>
          <p:cNvPr id="35843" name="Rectangle 3">
            <a:extLst>
              <a:ext uri="{FF2B5EF4-FFF2-40B4-BE49-F238E27FC236}">
                <a16:creationId xmlns:a16="http://schemas.microsoft.com/office/drawing/2014/main" id="{1D142C68-6F86-41C9-83C2-1238C7E559C5}"/>
              </a:ext>
            </a:extLst>
          </p:cNvPr>
          <p:cNvSpPr>
            <a:spLocks noGrp="1" noChangeArrowheads="1"/>
          </p:cNvSpPr>
          <p:nvPr>
            <p:ph idx="1"/>
          </p:nvPr>
        </p:nvSpPr>
        <p:spPr/>
        <p:txBody>
          <a:bodyPr/>
          <a:lstStyle/>
          <a:p>
            <a:pPr eaLnBrk="1" hangingPunct="1"/>
            <a:endParaRPr lang="en-US" altLang="zh-CN" sz="2400" dirty="0"/>
          </a:p>
          <a:p>
            <a:pPr eaLnBrk="1" hangingPunct="1"/>
            <a:r>
              <a:rPr lang="en-US" altLang="zh-CN" sz="2400" dirty="0"/>
              <a:t>1.</a:t>
            </a:r>
            <a:r>
              <a:rPr lang="zh-CN" altLang="en-US" sz="2400" dirty="0"/>
              <a:t>组织自行开发模式</a:t>
            </a:r>
            <a:endParaRPr lang="en-US" altLang="zh-CN" sz="2400" dirty="0"/>
          </a:p>
          <a:p>
            <a:pPr eaLnBrk="1" hangingPunct="1"/>
            <a:endParaRPr lang="zh-CN" altLang="en-US" sz="2400" dirty="0"/>
          </a:p>
          <a:p>
            <a:pPr eaLnBrk="1" hangingPunct="1"/>
            <a:r>
              <a:rPr lang="en-US" altLang="zh-CN" sz="2400" dirty="0"/>
              <a:t>2.</a:t>
            </a:r>
            <a:r>
              <a:rPr lang="zh-CN" altLang="en-US" sz="2400" dirty="0"/>
              <a:t>外购现成系统模式</a:t>
            </a:r>
            <a:endParaRPr lang="en-US" altLang="zh-CN" sz="2400" dirty="0"/>
          </a:p>
          <a:p>
            <a:pPr eaLnBrk="1" hangingPunct="1"/>
            <a:endParaRPr lang="zh-CN" altLang="en-US" sz="2400" dirty="0"/>
          </a:p>
          <a:p>
            <a:pPr eaLnBrk="1" hangingPunct="1"/>
            <a:r>
              <a:rPr lang="en-US" altLang="zh-CN" sz="2400" dirty="0"/>
              <a:t>3.</a:t>
            </a:r>
            <a:r>
              <a:rPr lang="zh-CN" altLang="en-US" sz="2400" dirty="0"/>
              <a:t>外包（</a:t>
            </a:r>
            <a:r>
              <a:rPr lang="en-US" altLang="zh-CN" sz="2400" dirty="0"/>
              <a:t>Outsourcing</a:t>
            </a:r>
            <a:r>
              <a:rPr lang="zh-CN" altLang="en-US" sz="2400" dirty="0"/>
              <a:t>）模式 </a:t>
            </a:r>
          </a:p>
        </p:txBody>
      </p:sp>
      <p:sp>
        <p:nvSpPr>
          <p:cNvPr id="35844" name="Rectangle 4">
            <a:extLst>
              <a:ext uri="{FF2B5EF4-FFF2-40B4-BE49-F238E27FC236}">
                <a16:creationId xmlns:a16="http://schemas.microsoft.com/office/drawing/2014/main" id="{DF70631C-A39C-41C3-B2F7-20E6D6E0AB3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35845" name="Line 5">
            <a:extLst>
              <a:ext uri="{FF2B5EF4-FFF2-40B4-BE49-F238E27FC236}">
                <a16:creationId xmlns:a16="http://schemas.microsoft.com/office/drawing/2014/main" id="{C159A565-E2FC-411D-8AEB-DD3CA153926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A097C93-4C3C-4396-84C5-0943FFB53034}"/>
              </a:ext>
            </a:extLst>
          </p:cNvPr>
          <p:cNvSpPr>
            <a:spLocks noGrp="1" noChangeArrowheads="1"/>
          </p:cNvSpPr>
          <p:nvPr>
            <p:ph type="title"/>
          </p:nvPr>
        </p:nvSpPr>
        <p:spPr/>
        <p:txBody>
          <a:bodyPr/>
          <a:lstStyle/>
          <a:p>
            <a:pPr eaLnBrk="1" hangingPunct="1"/>
            <a:r>
              <a:rPr lang="en-US" altLang="zh-CN" b="1"/>
              <a:t>2.2.3  </a:t>
            </a:r>
            <a:r>
              <a:rPr lang="zh-CN" altLang="en-US" b="1"/>
              <a:t>信息系统项目的建设方式</a:t>
            </a:r>
          </a:p>
        </p:txBody>
      </p:sp>
      <p:sp>
        <p:nvSpPr>
          <p:cNvPr id="37891" name="Rectangle 3">
            <a:extLst>
              <a:ext uri="{FF2B5EF4-FFF2-40B4-BE49-F238E27FC236}">
                <a16:creationId xmlns:a16="http://schemas.microsoft.com/office/drawing/2014/main" id="{12FA72CE-CA17-4E0B-8746-67E882CEDF2E}"/>
              </a:ext>
            </a:extLst>
          </p:cNvPr>
          <p:cNvSpPr>
            <a:spLocks noGrp="1" noChangeArrowheads="1"/>
          </p:cNvSpPr>
          <p:nvPr>
            <p:ph idx="1"/>
          </p:nvPr>
        </p:nvSpPr>
        <p:spPr/>
        <p:txBody>
          <a:bodyPr>
            <a:normAutofit/>
          </a:bodyPr>
          <a:lstStyle/>
          <a:p>
            <a:pPr eaLnBrk="1" hangingPunct="1"/>
            <a:r>
              <a:rPr lang="en-US" altLang="zh-CN" sz="2400" dirty="0"/>
              <a:t>1.</a:t>
            </a:r>
            <a:r>
              <a:rPr lang="zh-CN" altLang="en-US" sz="2400" dirty="0"/>
              <a:t>组织自行开发模式</a:t>
            </a:r>
          </a:p>
          <a:p>
            <a:pPr lvl="1" eaLnBrk="1" hangingPunct="1"/>
            <a:r>
              <a:rPr lang="zh-CN" altLang="en-US" sz="2400" dirty="0"/>
              <a:t>这种模式通常由组织内部自己组建信息化队伍，在采购成熟软硬件设备基础上，主要依靠组织自身力量从事信息系统建设 </a:t>
            </a:r>
          </a:p>
          <a:p>
            <a:pPr eaLnBrk="1" hangingPunct="1"/>
            <a:r>
              <a:rPr lang="zh-CN" altLang="en-US" sz="2400" dirty="0">
                <a:solidFill>
                  <a:srgbClr val="FF0000"/>
                </a:solidFill>
              </a:rPr>
              <a:t>优势</a:t>
            </a:r>
            <a:r>
              <a:rPr lang="zh-CN" altLang="en-US" sz="2400" dirty="0"/>
              <a:t>：组织能够控制其全过程，开发出的系统能够真实、充分的放映组织的实际业务需求。风险低，留有全部资料，后续维护比较简单。</a:t>
            </a:r>
            <a:endParaRPr lang="en-US" altLang="zh-CN" sz="2400" dirty="0"/>
          </a:p>
          <a:p>
            <a:pPr eaLnBrk="1" hangingPunct="1"/>
            <a:r>
              <a:rPr lang="zh-CN" altLang="en-US" sz="2400" dirty="0">
                <a:solidFill>
                  <a:srgbClr val="FF0000"/>
                </a:solidFill>
              </a:rPr>
              <a:t>问题</a:t>
            </a:r>
            <a:r>
              <a:rPr lang="zh-CN" altLang="en-US" sz="2400" dirty="0"/>
              <a:t>：</a:t>
            </a:r>
          </a:p>
          <a:p>
            <a:pPr lvl="1" eaLnBrk="1" hangingPunct="1"/>
            <a:r>
              <a:rPr lang="zh-CN" altLang="en-US" sz="2400" dirty="0"/>
              <a:t>（</a:t>
            </a:r>
            <a:r>
              <a:rPr lang="en-US" altLang="zh-CN" sz="2400" dirty="0"/>
              <a:t>1</a:t>
            </a:r>
            <a:r>
              <a:rPr lang="zh-CN" altLang="en-US" sz="2400" dirty="0"/>
              <a:t>）形成庞大的</a:t>
            </a:r>
            <a:r>
              <a:rPr lang="en-US" altLang="zh-CN" sz="2400" dirty="0"/>
              <a:t>IT</a:t>
            </a:r>
            <a:r>
              <a:rPr lang="zh-CN" altLang="en-US" sz="2400" dirty="0"/>
              <a:t>队伍</a:t>
            </a:r>
          </a:p>
          <a:p>
            <a:pPr lvl="1" eaLnBrk="1" hangingPunct="1"/>
            <a:r>
              <a:rPr lang="zh-CN" altLang="en-US" sz="2400" dirty="0"/>
              <a:t>（</a:t>
            </a:r>
            <a:r>
              <a:rPr lang="en-US" altLang="zh-CN" sz="2400" dirty="0"/>
              <a:t>2</a:t>
            </a:r>
            <a:r>
              <a:rPr lang="zh-CN" altLang="en-US" sz="2400" dirty="0"/>
              <a:t>）要靠组织自身的</a:t>
            </a:r>
            <a:r>
              <a:rPr lang="en-US" altLang="zh-CN" sz="2400" dirty="0"/>
              <a:t>IT</a:t>
            </a:r>
            <a:r>
              <a:rPr lang="zh-CN" altLang="en-US" sz="2400" dirty="0"/>
              <a:t>队伍跟上</a:t>
            </a:r>
            <a:r>
              <a:rPr lang="en-US" altLang="zh-CN" sz="2400" dirty="0"/>
              <a:t>IT</a:t>
            </a:r>
            <a:r>
              <a:rPr lang="zh-CN" altLang="en-US" sz="2400" dirty="0"/>
              <a:t>技术发展的潮流非常困难 </a:t>
            </a:r>
          </a:p>
        </p:txBody>
      </p:sp>
      <p:sp>
        <p:nvSpPr>
          <p:cNvPr id="37892" name="Rectangle 4">
            <a:extLst>
              <a:ext uri="{FF2B5EF4-FFF2-40B4-BE49-F238E27FC236}">
                <a16:creationId xmlns:a16="http://schemas.microsoft.com/office/drawing/2014/main" id="{0E990060-A933-4BD9-9E03-E5EB6A079E35}"/>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37893" name="Line 5">
            <a:extLst>
              <a:ext uri="{FF2B5EF4-FFF2-40B4-BE49-F238E27FC236}">
                <a16:creationId xmlns:a16="http://schemas.microsoft.com/office/drawing/2014/main" id="{08EA22F3-FE03-4FD7-9896-ED7DEF1383F2}"/>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89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BB145E3-BAF1-486F-8E73-B98213A5B45F}"/>
              </a:ext>
            </a:extLst>
          </p:cNvPr>
          <p:cNvSpPr>
            <a:spLocks noGrp="1" noChangeArrowheads="1"/>
          </p:cNvSpPr>
          <p:nvPr>
            <p:ph type="title"/>
          </p:nvPr>
        </p:nvSpPr>
        <p:spPr/>
        <p:txBody>
          <a:bodyPr/>
          <a:lstStyle/>
          <a:p>
            <a:pPr eaLnBrk="1" hangingPunct="1"/>
            <a:r>
              <a:rPr lang="en-US" altLang="zh-CN" b="1"/>
              <a:t>2.2.3  </a:t>
            </a:r>
            <a:r>
              <a:rPr lang="zh-CN" altLang="en-US" b="1"/>
              <a:t>信息系统项目的建设方式</a:t>
            </a:r>
          </a:p>
        </p:txBody>
      </p:sp>
      <p:sp>
        <p:nvSpPr>
          <p:cNvPr id="39939" name="Rectangle 3">
            <a:extLst>
              <a:ext uri="{FF2B5EF4-FFF2-40B4-BE49-F238E27FC236}">
                <a16:creationId xmlns:a16="http://schemas.microsoft.com/office/drawing/2014/main" id="{9CDB03A6-437D-4978-9A6B-7013C5BE80CB}"/>
              </a:ext>
            </a:extLst>
          </p:cNvPr>
          <p:cNvSpPr>
            <a:spLocks noGrp="1" noChangeArrowheads="1"/>
          </p:cNvSpPr>
          <p:nvPr>
            <p:ph idx="1"/>
          </p:nvPr>
        </p:nvSpPr>
        <p:spPr/>
        <p:txBody>
          <a:bodyPr/>
          <a:lstStyle/>
          <a:p>
            <a:pPr eaLnBrk="1" hangingPunct="1"/>
            <a:r>
              <a:rPr lang="en-US" altLang="zh-CN" sz="2400" dirty="0"/>
              <a:t>2.</a:t>
            </a:r>
            <a:r>
              <a:rPr lang="zh-CN" altLang="en-US" sz="2400" dirty="0"/>
              <a:t>外购现成系统模式</a:t>
            </a:r>
            <a:endParaRPr lang="en-US" altLang="zh-CN" sz="2400" dirty="0"/>
          </a:p>
          <a:p>
            <a:pPr eaLnBrk="1" hangingPunct="1"/>
            <a:endParaRPr lang="zh-CN" altLang="en-US" sz="2400" dirty="0"/>
          </a:p>
          <a:p>
            <a:pPr lvl="1" eaLnBrk="1" hangingPunct="1"/>
            <a:r>
              <a:rPr lang="zh-CN" altLang="en-US" sz="2400" dirty="0"/>
              <a:t>直接采购市场上成熟的商品软件 </a:t>
            </a:r>
          </a:p>
          <a:p>
            <a:pPr lvl="1" eaLnBrk="1" hangingPunct="1"/>
            <a:endParaRPr lang="en-US" altLang="zh-CN" sz="2400" dirty="0"/>
          </a:p>
          <a:p>
            <a:pPr lvl="1" eaLnBrk="1" hangingPunct="1"/>
            <a:r>
              <a:rPr lang="zh-CN" altLang="en-US" dirty="0">
                <a:solidFill>
                  <a:srgbClr val="FF0000"/>
                </a:solidFill>
              </a:rPr>
              <a:t>优势</a:t>
            </a:r>
            <a:r>
              <a:rPr lang="zh-CN" altLang="en-US" dirty="0"/>
              <a:t>：成熟稳定，质量有所保证，升级维护方面的支持比较及时，有利于组织信息系统的更新；</a:t>
            </a:r>
            <a:endParaRPr lang="en-US" altLang="zh-CN" dirty="0"/>
          </a:p>
          <a:p>
            <a:pPr lvl="1" eaLnBrk="1" hangingPunct="1"/>
            <a:r>
              <a:rPr lang="zh-CN" altLang="en-US" sz="2400" dirty="0">
                <a:solidFill>
                  <a:srgbClr val="FF0000"/>
                </a:solidFill>
              </a:rPr>
              <a:t>劣势</a:t>
            </a:r>
            <a:r>
              <a:rPr lang="zh-CN" altLang="en-US" sz="2400" dirty="0"/>
              <a:t>：商品软件追求销售数量，功能一般都会通用化，其功能无论在范围上还是在深度上都只能使组织的需求得到部分满足，系统的适应性可能比较差。不便于组织进行二次开发； </a:t>
            </a:r>
          </a:p>
        </p:txBody>
      </p:sp>
      <p:sp>
        <p:nvSpPr>
          <p:cNvPr id="39940" name="Rectangle 4">
            <a:extLst>
              <a:ext uri="{FF2B5EF4-FFF2-40B4-BE49-F238E27FC236}">
                <a16:creationId xmlns:a16="http://schemas.microsoft.com/office/drawing/2014/main" id="{2AB78CA5-6134-4A96-A8C4-48620DD621A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39941" name="Line 5">
            <a:extLst>
              <a:ext uri="{FF2B5EF4-FFF2-40B4-BE49-F238E27FC236}">
                <a16:creationId xmlns:a16="http://schemas.microsoft.com/office/drawing/2014/main" id="{A7262C26-D7D9-472C-955D-50FC54EB4F8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0516216-0544-490E-BCCE-723D3E8A5D46}"/>
              </a:ext>
            </a:extLst>
          </p:cNvPr>
          <p:cNvSpPr>
            <a:spLocks noGrp="1" noChangeArrowheads="1"/>
          </p:cNvSpPr>
          <p:nvPr>
            <p:ph type="title"/>
          </p:nvPr>
        </p:nvSpPr>
        <p:spPr/>
        <p:txBody>
          <a:bodyPr/>
          <a:lstStyle/>
          <a:p>
            <a:pPr eaLnBrk="1" hangingPunct="1"/>
            <a:r>
              <a:rPr lang="en-US" altLang="zh-CN" b="1"/>
              <a:t>2.2.3  </a:t>
            </a:r>
            <a:r>
              <a:rPr lang="zh-CN" altLang="en-US" b="1"/>
              <a:t>信息系统项目的建设方式</a:t>
            </a:r>
          </a:p>
        </p:txBody>
      </p:sp>
      <p:sp>
        <p:nvSpPr>
          <p:cNvPr id="41987" name="Rectangle 3">
            <a:extLst>
              <a:ext uri="{FF2B5EF4-FFF2-40B4-BE49-F238E27FC236}">
                <a16:creationId xmlns:a16="http://schemas.microsoft.com/office/drawing/2014/main" id="{F4C0D36C-DA24-4479-84C1-D5034855E8E9}"/>
              </a:ext>
            </a:extLst>
          </p:cNvPr>
          <p:cNvSpPr>
            <a:spLocks noGrp="1" noChangeArrowheads="1"/>
          </p:cNvSpPr>
          <p:nvPr>
            <p:ph idx="1"/>
          </p:nvPr>
        </p:nvSpPr>
        <p:spPr/>
        <p:txBody>
          <a:bodyPr/>
          <a:lstStyle/>
          <a:p>
            <a:pPr eaLnBrk="1" hangingPunct="1"/>
            <a:r>
              <a:rPr lang="en-US" altLang="zh-CN" sz="2400" dirty="0"/>
              <a:t>3.</a:t>
            </a:r>
            <a:r>
              <a:rPr lang="zh-CN" altLang="en-US" sz="2400" dirty="0"/>
              <a:t>外包（</a:t>
            </a:r>
            <a:r>
              <a:rPr lang="en-US" altLang="zh-CN" sz="2400" dirty="0"/>
              <a:t>Outsourcing</a:t>
            </a:r>
            <a:r>
              <a:rPr lang="zh-CN" altLang="en-US" sz="2400" dirty="0"/>
              <a:t>）模式 </a:t>
            </a:r>
            <a:endParaRPr lang="en-US" altLang="zh-CN" sz="2400" dirty="0"/>
          </a:p>
          <a:p>
            <a:pPr lvl="1"/>
            <a:r>
              <a:rPr lang="en-US" altLang="zh-CN" dirty="0"/>
              <a:t>IT</a:t>
            </a:r>
            <a:r>
              <a:rPr lang="zh-CN" altLang="en-US" dirty="0"/>
              <a:t>外包是指组织将部分或者全部的</a:t>
            </a:r>
            <a:r>
              <a:rPr lang="en-US" altLang="zh-CN" dirty="0"/>
              <a:t>IT</a:t>
            </a:r>
            <a:r>
              <a:rPr lang="zh-CN" altLang="en-US" dirty="0"/>
              <a:t>工作外包给专业性公司完成的服务模式；</a:t>
            </a:r>
          </a:p>
          <a:p>
            <a:pPr lvl="1" eaLnBrk="1" hangingPunct="1"/>
            <a:r>
              <a:rPr lang="zh-CN" altLang="en-US" sz="2400" dirty="0"/>
              <a:t>信息系统建设的外包是</a:t>
            </a:r>
            <a:r>
              <a:rPr lang="en-US" altLang="zh-CN" sz="2400" dirty="0"/>
              <a:t>IT</a:t>
            </a:r>
            <a:r>
              <a:rPr lang="zh-CN" altLang="en-US" sz="2400" dirty="0"/>
              <a:t>外包的一种主要形式，就是将信息系统项目的建设交给外部的专业的外包服务提供商完成。</a:t>
            </a:r>
          </a:p>
          <a:p>
            <a:pPr eaLnBrk="1" hangingPunct="1"/>
            <a:endParaRPr lang="en-US" altLang="zh-CN" sz="2400" dirty="0"/>
          </a:p>
          <a:p>
            <a:pPr eaLnBrk="1" hangingPunct="1"/>
            <a:r>
              <a:rPr lang="zh-CN" altLang="en-US" sz="2400" dirty="0"/>
              <a:t>信息系统建设外包一般包括三个连续的过程：</a:t>
            </a:r>
          </a:p>
          <a:p>
            <a:pPr lvl="1" eaLnBrk="1" hangingPunct="1"/>
            <a:r>
              <a:rPr lang="zh-CN" altLang="en-US" sz="2400" dirty="0"/>
              <a:t>外包的决策过程：即考虑是否外包，外包什么？</a:t>
            </a:r>
          </a:p>
          <a:p>
            <a:pPr lvl="1" eaLnBrk="1" hangingPunct="1"/>
            <a:r>
              <a:rPr lang="zh-CN" altLang="en-US" sz="2400" dirty="0"/>
              <a:t>外包商的选择过程</a:t>
            </a:r>
          </a:p>
          <a:p>
            <a:pPr lvl="1" eaLnBrk="1" hangingPunct="1"/>
            <a:r>
              <a:rPr lang="zh-CN" altLang="en-US" sz="2400" dirty="0"/>
              <a:t>外包商的管理过程</a:t>
            </a:r>
          </a:p>
        </p:txBody>
      </p:sp>
      <p:sp>
        <p:nvSpPr>
          <p:cNvPr id="41988" name="Rectangle 4">
            <a:extLst>
              <a:ext uri="{FF2B5EF4-FFF2-40B4-BE49-F238E27FC236}">
                <a16:creationId xmlns:a16="http://schemas.microsoft.com/office/drawing/2014/main" id="{25C87CC1-861B-4272-8E2A-DC4F4AEC8FA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41989" name="Line 5">
            <a:extLst>
              <a:ext uri="{FF2B5EF4-FFF2-40B4-BE49-F238E27FC236}">
                <a16:creationId xmlns:a16="http://schemas.microsoft.com/office/drawing/2014/main" id="{C9F75B20-F261-424D-951E-8600DE442FBE}"/>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98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9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0516216-0544-490E-BCCE-723D3E8A5D46}"/>
              </a:ext>
            </a:extLst>
          </p:cNvPr>
          <p:cNvSpPr>
            <a:spLocks noGrp="1" noChangeArrowheads="1"/>
          </p:cNvSpPr>
          <p:nvPr>
            <p:ph type="title"/>
          </p:nvPr>
        </p:nvSpPr>
        <p:spPr/>
        <p:txBody>
          <a:bodyPr/>
          <a:lstStyle/>
          <a:p>
            <a:pPr eaLnBrk="1" hangingPunct="1"/>
            <a:r>
              <a:rPr lang="en-US" altLang="zh-CN" b="1"/>
              <a:t>2.2.3  </a:t>
            </a:r>
            <a:r>
              <a:rPr lang="zh-CN" altLang="en-US" b="1"/>
              <a:t>信息系统项目的建设方式</a:t>
            </a:r>
          </a:p>
        </p:txBody>
      </p:sp>
      <p:sp>
        <p:nvSpPr>
          <p:cNvPr id="41987" name="Rectangle 3">
            <a:extLst>
              <a:ext uri="{FF2B5EF4-FFF2-40B4-BE49-F238E27FC236}">
                <a16:creationId xmlns:a16="http://schemas.microsoft.com/office/drawing/2014/main" id="{F4C0D36C-DA24-4479-84C1-D5034855E8E9}"/>
              </a:ext>
            </a:extLst>
          </p:cNvPr>
          <p:cNvSpPr>
            <a:spLocks noGrp="1" noChangeArrowheads="1"/>
          </p:cNvSpPr>
          <p:nvPr>
            <p:ph idx="1"/>
          </p:nvPr>
        </p:nvSpPr>
        <p:spPr>
          <a:xfrm>
            <a:off x="539552" y="1484784"/>
            <a:ext cx="7886700" cy="4351338"/>
          </a:xfrm>
        </p:spPr>
        <p:txBody>
          <a:bodyPr/>
          <a:lstStyle/>
          <a:p>
            <a:pPr eaLnBrk="1" hangingPunct="1"/>
            <a:r>
              <a:rPr lang="zh-CN" altLang="en-US" sz="2400" dirty="0"/>
              <a:t>信息系统建设外包的原因：</a:t>
            </a:r>
            <a:endParaRPr lang="en-US" altLang="zh-CN" sz="2400" dirty="0"/>
          </a:p>
          <a:p>
            <a:pPr lvl="1" eaLnBrk="1" hangingPunct="1"/>
            <a:r>
              <a:rPr lang="en-US" altLang="zh-CN" dirty="0"/>
              <a:t>(1)</a:t>
            </a:r>
            <a:r>
              <a:rPr lang="zh-CN" altLang="en-US" dirty="0"/>
              <a:t>涉及战略优势的外包原因</a:t>
            </a:r>
            <a:endParaRPr lang="en-US" altLang="zh-CN" dirty="0"/>
          </a:p>
          <a:p>
            <a:pPr lvl="2"/>
            <a:r>
              <a:rPr lang="zh-CN" altLang="en-US" dirty="0"/>
              <a:t>企业可以通过有经验的外包服务商的帮助再造企业业务流程；</a:t>
            </a:r>
            <a:endParaRPr lang="en-US" altLang="zh-CN" dirty="0"/>
          </a:p>
          <a:p>
            <a:pPr lvl="1" eaLnBrk="1" hangingPunct="1"/>
            <a:r>
              <a:rPr lang="en-US" altLang="zh-CN" dirty="0"/>
              <a:t>(2)</a:t>
            </a:r>
            <a:r>
              <a:rPr lang="zh-CN" altLang="en-US" dirty="0"/>
              <a:t>涉及组织财务的动因；</a:t>
            </a:r>
            <a:endParaRPr lang="en-US" altLang="zh-CN" dirty="0"/>
          </a:p>
          <a:p>
            <a:pPr lvl="2"/>
            <a:r>
              <a:rPr lang="zh-CN" altLang="en-US" dirty="0"/>
              <a:t>外包可以一定程度上降低成本或者控制成本；</a:t>
            </a:r>
            <a:endParaRPr lang="en-US" altLang="zh-CN" dirty="0"/>
          </a:p>
          <a:p>
            <a:pPr lvl="1" eaLnBrk="1" hangingPunct="1"/>
            <a:r>
              <a:rPr lang="en-US" altLang="zh-CN" dirty="0"/>
              <a:t>(3)</a:t>
            </a:r>
            <a:r>
              <a:rPr lang="zh-CN" altLang="en-US" dirty="0"/>
              <a:t>获取先进的技术</a:t>
            </a:r>
            <a:endParaRPr lang="en-US" altLang="zh-CN" dirty="0"/>
          </a:p>
          <a:p>
            <a:pPr lvl="2"/>
            <a:r>
              <a:rPr lang="zh-CN" altLang="en-US" dirty="0"/>
              <a:t>外包服务商通常具有丰富的经验和特殊的才能，外包可以使组织使用前沿技术和技能，并从中获益去</a:t>
            </a:r>
          </a:p>
        </p:txBody>
      </p:sp>
      <p:sp>
        <p:nvSpPr>
          <p:cNvPr id="41988" name="Rectangle 4">
            <a:extLst>
              <a:ext uri="{FF2B5EF4-FFF2-40B4-BE49-F238E27FC236}">
                <a16:creationId xmlns:a16="http://schemas.microsoft.com/office/drawing/2014/main" id="{25C87CC1-861B-4272-8E2A-DC4F4AEC8FA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41989" name="Line 5">
            <a:extLst>
              <a:ext uri="{FF2B5EF4-FFF2-40B4-BE49-F238E27FC236}">
                <a16:creationId xmlns:a16="http://schemas.microsoft.com/office/drawing/2014/main" id="{C9F75B20-F261-424D-951E-8600DE442FBE}"/>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6741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98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01D8071-2EAB-456E-BF10-F5BA398C9F36}"/>
              </a:ext>
            </a:extLst>
          </p:cNvPr>
          <p:cNvSpPr>
            <a:spLocks noGrp="1" noChangeArrowheads="1"/>
          </p:cNvSpPr>
          <p:nvPr>
            <p:ph type="title"/>
          </p:nvPr>
        </p:nvSpPr>
        <p:spPr/>
        <p:txBody>
          <a:bodyPr/>
          <a:lstStyle/>
          <a:p>
            <a:pPr marL="838200" indent="-838200" algn="l" eaLnBrk="1" hangingPunct="1"/>
            <a:r>
              <a:rPr lang="en-US" altLang="zh-CN" sz="4000" b="1" dirty="0"/>
              <a:t>2.2.4  </a:t>
            </a:r>
            <a:r>
              <a:rPr lang="en-US" altLang="zh-CN" sz="4000" dirty="0"/>
              <a:t> </a:t>
            </a:r>
            <a:r>
              <a:rPr lang="zh-CN" altLang="en-US" sz="4000" b="1" dirty="0"/>
              <a:t>可行性研究报告的撰写</a:t>
            </a:r>
          </a:p>
        </p:txBody>
      </p:sp>
      <p:sp>
        <p:nvSpPr>
          <p:cNvPr id="44035" name="Rectangle 3">
            <a:extLst>
              <a:ext uri="{FF2B5EF4-FFF2-40B4-BE49-F238E27FC236}">
                <a16:creationId xmlns:a16="http://schemas.microsoft.com/office/drawing/2014/main" id="{B0BBD5CB-D02E-46C6-87DE-B24F43DC723D}"/>
              </a:ext>
            </a:extLst>
          </p:cNvPr>
          <p:cNvSpPr>
            <a:spLocks noGrp="1" noChangeArrowheads="1"/>
          </p:cNvSpPr>
          <p:nvPr>
            <p:ph idx="1"/>
          </p:nvPr>
        </p:nvSpPr>
        <p:spPr>
          <a:xfrm>
            <a:off x="307441" y="1412776"/>
            <a:ext cx="8229600" cy="4781550"/>
          </a:xfrm>
        </p:spPr>
        <p:txBody>
          <a:bodyPr/>
          <a:lstStyle/>
          <a:p>
            <a:pPr marL="0" indent="0" eaLnBrk="1" hangingPunct="1">
              <a:lnSpc>
                <a:spcPct val="80000"/>
              </a:lnSpc>
              <a:buNone/>
            </a:pPr>
            <a:r>
              <a:rPr lang="zh-CN" altLang="en-US" sz="2400" dirty="0"/>
              <a:t>在对一个拟建的信息系统项目进行上述的可行性研究步骤后，下一步需要编制</a:t>
            </a:r>
            <a:r>
              <a:rPr lang="zh-CN" altLang="en-US" sz="2400" dirty="0">
                <a:solidFill>
                  <a:srgbClr val="FF0000"/>
                </a:solidFill>
              </a:rPr>
              <a:t>可行性研究报告</a:t>
            </a:r>
            <a:r>
              <a:rPr lang="zh-CN" altLang="en-US" sz="2400" dirty="0"/>
              <a:t>。</a:t>
            </a:r>
            <a:endParaRPr lang="en-US" altLang="zh-CN" sz="2400" dirty="0"/>
          </a:p>
          <a:p>
            <a:pPr marL="457200" indent="-457200" eaLnBrk="1" hangingPunct="1">
              <a:lnSpc>
                <a:spcPct val="80000"/>
              </a:lnSpc>
            </a:pPr>
            <a:r>
              <a:rPr lang="zh-CN" altLang="en-US" sz="2400" dirty="0"/>
              <a:t>可行性分析报告包含以下主要内容：</a:t>
            </a:r>
          </a:p>
          <a:p>
            <a:pPr marL="838200" lvl="1" indent="-381000" eaLnBrk="1" hangingPunct="1">
              <a:lnSpc>
                <a:spcPct val="80000"/>
              </a:lnSpc>
              <a:buFontTx/>
              <a:buAutoNum type="circleNumDbPlain"/>
            </a:pPr>
            <a:r>
              <a:rPr lang="zh-CN" altLang="en-US" sz="2400" dirty="0"/>
              <a:t>现行系统的目标、功能、范围、关键信息需求及存在的主要问题。</a:t>
            </a:r>
          </a:p>
          <a:p>
            <a:pPr marL="838200" lvl="1" indent="-381000" eaLnBrk="1" hangingPunct="1">
              <a:lnSpc>
                <a:spcPct val="80000"/>
              </a:lnSpc>
              <a:buFontTx/>
              <a:buAutoNum type="circleNumDbPlain"/>
            </a:pPr>
            <a:r>
              <a:rPr lang="zh-CN" altLang="en-US" sz="2400" dirty="0"/>
              <a:t>拟建新系统的总体方案；总体方案至少提供两套，并对方案进行分析对比。</a:t>
            </a:r>
          </a:p>
          <a:p>
            <a:pPr marL="838200" lvl="1" indent="-381000" eaLnBrk="1" hangingPunct="1">
              <a:lnSpc>
                <a:spcPct val="80000"/>
              </a:lnSpc>
              <a:buFontTx/>
              <a:buAutoNum type="circleNumDbPlain"/>
            </a:pPr>
            <a:r>
              <a:rPr lang="zh-CN" altLang="en-US" sz="2400" dirty="0"/>
              <a:t>系统开发的分阶段投资计划与投资总额；系统正常运行后日常维护、材料消耗等方面的年费用投入；系统投运后所产生的经济与社会效益分析。</a:t>
            </a:r>
          </a:p>
          <a:p>
            <a:pPr marL="838200" lvl="1" indent="-381000" eaLnBrk="1" hangingPunct="1">
              <a:lnSpc>
                <a:spcPct val="80000"/>
              </a:lnSpc>
              <a:buFontTx/>
              <a:buAutoNum type="circleNumDbPlain"/>
            </a:pPr>
            <a:r>
              <a:rPr lang="zh-CN" altLang="en-US" sz="2400" dirty="0"/>
              <a:t>开发系统所具有的技术条件和对技术能力的评估。</a:t>
            </a:r>
          </a:p>
          <a:p>
            <a:pPr marL="838200" lvl="1" indent="-381000" eaLnBrk="1" hangingPunct="1">
              <a:lnSpc>
                <a:spcPct val="80000"/>
              </a:lnSpc>
              <a:buFontTx/>
              <a:buAutoNum type="circleNumDbPlain"/>
            </a:pPr>
            <a:r>
              <a:rPr lang="zh-CN" altLang="en-US" sz="2400" dirty="0"/>
              <a:t>系统环境的整改方案与整改计划，包括人员培训计划。</a:t>
            </a:r>
          </a:p>
          <a:p>
            <a:pPr marL="838200" lvl="1" indent="-381000" eaLnBrk="1" hangingPunct="1">
              <a:lnSpc>
                <a:spcPct val="80000"/>
              </a:lnSpc>
              <a:buFontTx/>
              <a:buAutoNum type="circleNumDbPlain"/>
            </a:pPr>
            <a:r>
              <a:rPr lang="zh-CN" altLang="en-US" sz="2400" dirty="0"/>
              <a:t>信息系统开发的结论意见，</a:t>
            </a:r>
            <a:r>
              <a:rPr lang="zh-CN" altLang="en-US" sz="2400" dirty="0">
                <a:solidFill>
                  <a:srgbClr val="FF0000"/>
                </a:solidFill>
              </a:rPr>
              <a:t>可行性报告必须提出明确的分析结论。 </a:t>
            </a:r>
          </a:p>
        </p:txBody>
      </p:sp>
      <p:sp>
        <p:nvSpPr>
          <p:cNvPr id="44036" name="Rectangle 4">
            <a:extLst>
              <a:ext uri="{FF2B5EF4-FFF2-40B4-BE49-F238E27FC236}">
                <a16:creationId xmlns:a16="http://schemas.microsoft.com/office/drawing/2014/main" id="{E7C275CE-D812-4C63-A279-03FD49F2B32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44037" name="Line 5">
            <a:extLst>
              <a:ext uri="{FF2B5EF4-FFF2-40B4-BE49-F238E27FC236}">
                <a16:creationId xmlns:a16="http://schemas.microsoft.com/office/drawing/2014/main" id="{EFA57425-EC63-4C28-8BF3-85F239D4EB1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03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03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03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03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03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40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4351338"/>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1. </a:t>
            </a:r>
            <a:r>
              <a:rPr lang="zh-CN" altLang="zh-CN" sz="2000" b="1" dirty="0"/>
              <a:t>引言</a:t>
            </a:r>
          </a:p>
          <a:p>
            <a:r>
              <a:rPr lang="en-US" altLang="zh-CN" sz="2000" b="1" dirty="0"/>
              <a:t>1.1 </a:t>
            </a:r>
            <a:r>
              <a:rPr lang="zh-CN" altLang="zh-CN" sz="2000" b="1" dirty="0"/>
              <a:t>编写目的</a:t>
            </a:r>
          </a:p>
          <a:p>
            <a:r>
              <a:rPr lang="zh-CN" altLang="zh-CN" sz="2000" dirty="0"/>
              <a:t>说明编写本可行性研究报告的目的。</a:t>
            </a:r>
          </a:p>
          <a:p>
            <a:r>
              <a:rPr lang="en-US" altLang="zh-CN" sz="2000" b="1" dirty="0"/>
              <a:t>1.2 </a:t>
            </a:r>
            <a:r>
              <a:rPr lang="zh-CN" altLang="zh-CN" sz="2000" b="1" dirty="0"/>
              <a:t>背景</a:t>
            </a:r>
          </a:p>
          <a:p>
            <a:r>
              <a:rPr lang="zh-CN" altLang="zh-CN" sz="2000" dirty="0"/>
              <a:t>说明：</a:t>
            </a:r>
            <a:r>
              <a:rPr lang="en-US" altLang="zh-CN" sz="2000" dirty="0"/>
              <a:t>A. </a:t>
            </a:r>
            <a:r>
              <a:rPr lang="zh-CN" altLang="zh-CN" sz="2000" dirty="0"/>
              <a:t>所建议建设的信息系统的名称；</a:t>
            </a:r>
            <a:r>
              <a:rPr lang="en-US" altLang="zh-CN" sz="2000" dirty="0"/>
              <a:t>B. </a:t>
            </a:r>
            <a:r>
              <a:rPr lang="zh-CN" altLang="zh-CN" sz="2000" dirty="0"/>
              <a:t>本项目的任务提出者、建设者、用户；</a:t>
            </a:r>
            <a:r>
              <a:rPr lang="en-US" altLang="zh-CN" sz="2000" dirty="0"/>
              <a:t>C. </a:t>
            </a:r>
            <a:r>
              <a:rPr lang="zh-CN" altLang="zh-CN" sz="2000" dirty="0"/>
              <a:t>该信息系统同其他系统或其他机构的基本的相互来往关系。</a:t>
            </a:r>
          </a:p>
          <a:p>
            <a:r>
              <a:rPr lang="en-US" altLang="zh-CN" sz="2000" b="1" dirty="0"/>
              <a:t>1.3 </a:t>
            </a:r>
            <a:r>
              <a:rPr lang="zh-CN" altLang="zh-CN" sz="2000" b="1" dirty="0"/>
              <a:t>定义</a:t>
            </a:r>
          </a:p>
          <a:p>
            <a:r>
              <a:rPr lang="zh-CN" altLang="zh-CN" sz="2000" dirty="0"/>
              <a:t>列出本文件中用到的专门术语的定义和外文首字母组词的原词组。</a:t>
            </a:r>
          </a:p>
          <a:p>
            <a:r>
              <a:rPr lang="en-US" altLang="zh-CN" sz="2000" b="1" dirty="0"/>
              <a:t>1.4 </a:t>
            </a:r>
            <a:r>
              <a:rPr lang="zh-CN" altLang="zh-CN" sz="2000" b="1" dirty="0"/>
              <a:t>参考资料</a:t>
            </a:r>
          </a:p>
          <a:p>
            <a:r>
              <a:rPr lang="zh-CN" altLang="zh-CN" sz="2000" dirty="0"/>
              <a:t>列出用得着的参考资料，如：</a:t>
            </a:r>
            <a:r>
              <a:rPr lang="en-US" altLang="zh-CN" sz="2000" dirty="0"/>
              <a:t>(1) </a:t>
            </a:r>
            <a:r>
              <a:rPr lang="zh-CN" altLang="zh-CN" sz="2000" dirty="0"/>
              <a:t>本项目的经核准的计划任务书或合同、上级机关的批文；</a:t>
            </a:r>
            <a:r>
              <a:rPr lang="en-US" altLang="zh-CN" sz="2000" dirty="0"/>
              <a:t>(2) </a:t>
            </a:r>
            <a:r>
              <a:rPr lang="zh-CN" altLang="zh-CN" sz="2000" dirty="0"/>
              <a:t>属于本项目的其他已发表的文件；</a:t>
            </a:r>
            <a:r>
              <a:rPr lang="en-US" altLang="zh-CN" sz="2000" dirty="0"/>
              <a:t>(3) </a:t>
            </a:r>
            <a:r>
              <a:rPr lang="zh-CN" altLang="zh-CN" sz="2000" dirty="0"/>
              <a:t>本文件中各处引用的文件、资料，包括所需用到的信息系统开发标准。列出这些文件资料的标题、文件编号、发表日期和出版单位，说明能够得到这些文件资料的来源。</a:t>
            </a:r>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409407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79"/>
            <a:ext cx="7886700" cy="5616623"/>
          </a:xfrm>
        </p:spPr>
        <p:txBody>
          <a:bodyPr>
            <a:noAutofit/>
          </a:bodyPr>
          <a:lstStyle/>
          <a:p>
            <a:pPr marL="0" indent="0" algn="just" eaLnBrk="1" hangingPunct="1">
              <a:buNone/>
            </a:pPr>
            <a:r>
              <a:rPr lang="zh-CN" altLang="en-US" sz="2400" dirty="0"/>
              <a:t>可行性研究报告内容框架：</a:t>
            </a:r>
          </a:p>
          <a:p>
            <a:r>
              <a:rPr lang="en-US" altLang="zh-CN" sz="2000" b="1" dirty="0"/>
              <a:t>2. </a:t>
            </a:r>
            <a:r>
              <a:rPr lang="zh-CN" altLang="en-US" sz="2000" b="1" dirty="0"/>
              <a:t>可行性研究的前提</a:t>
            </a:r>
          </a:p>
          <a:p>
            <a:r>
              <a:rPr lang="zh-CN" altLang="en-US" sz="2000" dirty="0"/>
              <a:t>说明对所建议的项目进行可行性研究的前提，如要求、目标、条件、假定、限制等。</a:t>
            </a:r>
          </a:p>
          <a:p>
            <a:r>
              <a:rPr lang="en-US" altLang="zh-CN" sz="2000" b="1" dirty="0"/>
              <a:t>2.1 </a:t>
            </a:r>
            <a:r>
              <a:rPr lang="zh-CN" altLang="en-US" sz="2000" b="1" dirty="0"/>
              <a:t>要求</a:t>
            </a:r>
          </a:p>
          <a:p>
            <a:r>
              <a:rPr lang="zh-CN" altLang="en-US" sz="2000" dirty="0"/>
              <a:t>说明对所建议开发的系统的基本要求，例如：</a:t>
            </a:r>
            <a:r>
              <a:rPr lang="en-US" altLang="zh-CN" sz="2000" dirty="0"/>
              <a:t>"A. </a:t>
            </a:r>
            <a:r>
              <a:rPr lang="zh-CN" altLang="en-US" sz="2000" dirty="0"/>
              <a:t>功能；</a:t>
            </a:r>
            <a:r>
              <a:rPr lang="en-US" altLang="zh-CN" sz="2000" dirty="0"/>
              <a:t>B. </a:t>
            </a:r>
            <a:r>
              <a:rPr lang="zh-CN" altLang="en-US" sz="2000" dirty="0"/>
              <a:t>性能；</a:t>
            </a:r>
            <a:r>
              <a:rPr lang="en-US" altLang="zh-CN" sz="2000" dirty="0"/>
              <a:t>C. </a:t>
            </a:r>
            <a:r>
              <a:rPr lang="zh-CN" altLang="en-US" sz="2000" dirty="0"/>
              <a:t>输出（如报告、文件或数据，对每项输出要说明其特征，如用途、产生频度、接口以及分发对象）；</a:t>
            </a:r>
            <a:r>
              <a:rPr lang="en-US" altLang="zh-CN" sz="2000" dirty="0"/>
              <a:t>D. </a:t>
            </a:r>
            <a:r>
              <a:rPr lang="zh-CN" altLang="en-US" sz="2000" dirty="0"/>
              <a:t>输入（说明系统的输入，包括数据的来源、类型、数量、数据的组织以及提供的频度）；</a:t>
            </a:r>
            <a:r>
              <a:rPr lang="en-US" altLang="zh-CN" sz="2000" dirty="0"/>
              <a:t>E. </a:t>
            </a:r>
            <a:r>
              <a:rPr lang="zh-CN" altLang="en-US" sz="2000" dirty="0"/>
              <a:t>处理（处理流程和数据流程用图表的方式表示出最基本的数据流程和处理流程，并辅之以叙述）；</a:t>
            </a:r>
            <a:r>
              <a:rPr lang="en-US" altLang="zh-CN" sz="2000" dirty="0"/>
              <a:t>F. </a:t>
            </a:r>
            <a:r>
              <a:rPr lang="zh-CN" altLang="en-US" sz="2000" dirty="0"/>
              <a:t>在安全与保密方面的要求；</a:t>
            </a:r>
            <a:r>
              <a:rPr lang="en-US" altLang="zh-CN" sz="2000" dirty="0"/>
              <a:t>G. </a:t>
            </a:r>
            <a:r>
              <a:rPr lang="zh-CN" altLang="en-US" sz="2000" dirty="0"/>
              <a:t>同本系统相连接的其他系统；</a:t>
            </a:r>
            <a:r>
              <a:rPr lang="en-US" altLang="zh-CN" sz="2000" dirty="0"/>
              <a:t>H. </a:t>
            </a:r>
            <a:r>
              <a:rPr lang="zh-CN" altLang="en-US" sz="2000" dirty="0"/>
              <a:t>完成期限。</a:t>
            </a:r>
            <a:r>
              <a:rPr lang="en-US" altLang="zh-CN" sz="2000" dirty="0"/>
              <a:t>"</a:t>
            </a:r>
          </a:p>
          <a:p>
            <a:r>
              <a:rPr lang="en-US" altLang="zh-CN" sz="2000" b="1" dirty="0"/>
              <a:t>2.2 </a:t>
            </a:r>
            <a:r>
              <a:rPr lang="zh-CN" altLang="en-US" sz="2000" b="1" dirty="0"/>
              <a:t>目标</a:t>
            </a:r>
          </a:p>
          <a:p>
            <a:r>
              <a:rPr lang="zh-CN" altLang="en-US" sz="2000" dirty="0"/>
              <a:t>说明所建议系统的主要目标，例如：</a:t>
            </a:r>
            <a:r>
              <a:rPr lang="en-US" altLang="zh-CN" sz="2000" dirty="0"/>
              <a:t>"A. </a:t>
            </a:r>
            <a:r>
              <a:rPr lang="zh-CN" altLang="en-US" sz="2000" dirty="0"/>
              <a:t>人力与设备费用的减少；</a:t>
            </a:r>
            <a:r>
              <a:rPr lang="en-US" altLang="zh-CN" sz="2000" dirty="0"/>
              <a:t>B. </a:t>
            </a:r>
            <a:r>
              <a:rPr lang="zh-CN" altLang="en-US" sz="2000" dirty="0"/>
              <a:t>处理速度的提高；</a:t>
            </a:r>
            <a:r>
              <a:rPr lang="en-US" altLang="zh-CN" sz="2000" dirty="0"/>
              <a:t>C. </a:t>
            </a:r>
            <a:r>
              <a:rPr lang="zh-CN" altLang="en-US" sz="2000" dirty="0"/>
              <a:t>控制精度或生产能力的提高；</a:t>
            </a:r>
            <a:r>
              <a:rPr lang="en-US" altLang="zh-CN" sz="2000" dirty="0"/>
              <a:t>D. </a:t>
            </a:r>
            <a:r>
              <a:rPr lang="zh-CN" altLang="en-US" sz="2000" dirty="0"/>
              <a:t>管理信息服务的改进；</a:t>
            </a:r>
            <a:r>
              <a:rPr lang="en-US" altLang="zh-CN" sz="2000" dirty="0"/>
              <a:t>E. </a:t>
            </a:r>
            <a:r>
              <a:rPr lang="zh-CN" altLang="en-US" sz="2000" dirty="0"/>
              <a:t>自动决策系统的改进；</a:t>
            </a:r>
            <a:r>
              <a:rPr lang="en-US" altLang="zh-CN" sz="2000" dirty="0"/>
              <a:t>F. </a:t>
            </a:r>
            <a:r>
              <a:rPr lang="zh-CN" altLang="en-US" sz="2000" dirty="0"/>
              <a:t>人员利用率的改进等。</a:t>
            </a:r>
            <a:r>
              <a:rPr lang="en-US" altLang="zh-CN" sz="2000" dirty="0"/>
              <a:t>"</a:t>
            </a:r>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123603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79"/>
            <a:ext cx="7886700" cy="5256581"/>
          </a:xfrm>
        </p:spPr>
        <p:txBody>
          <a:bodyPr>
            <a:noAutofit/>
          </a:bodyPr>
          <a:lstStyle/>
          <a:p>
            <a:pPr marL="0" indent="0" algn="just" eaLnBrk="1" hangingPunct="1">
              <a:buNone/>
            </a:pPr>
            <a:r>
              <a:rPr lang="zh-CN" altLang="en-US" sz="2400" dirty="0"/>
              <a:t>可行性研究报告内容框架：</a:t>
            </a:r>
          </a:p>
          <a:p>
            <a:r>
              <a:rPr lang="en-US" altLang="zh-CN" sz="2000" b="1" dirty="0"/>
              <a:t>2. </a:t>
            </a:r>
            <a:r>
              <a:rPr lang="zh-CN" altLang="en-US" sz="2000" b="1" dirty="0"/>
              <a:t>可行性研究的前提</a:t>
            </a:r>
          </a:p>
          <a:p>
            <a:r>
              <a:rPr lang="en-US" altLang="zh-CN" sz="2000" b="1" dirty="0"/>
              <a:t>2.3 </a:t>
            </a:r>
            <a:r>
              <a:rPr lang="zh-CN" altLang="en-US" sz="2000" b="1" dirty="0"/>
              <a:t>条件、假定和限制</a:t>
            </a:r>
          </a:p>
          <a:p>
            <a:r>
              <a:rPr lang="zh-CN" altLang="en-US" sz="2000" dirty="0"/>
              <a:t>说明该项目建设的条件、假定和所受到的限制，例如：</a:t>
            </a:r>
            <a:r>
              <a:rPr lang="en-US" altLang="zh-CN" sz="2000" dirty="0"/>
              <a:t>"A. </a:t>
            </a:r>
            <a:r>
              <a:rPr lang="zh-CN" altLang="en-US" sz="2000" dirty="0"/>
              <a:t>所建议系统的运行寿命的最小值；</a:t>
            </a:r>
            <a:r>
              <a:rPr lang="en-US" altLang="zh-CN" sz="2000" dirty="0"/>
              <a:t>B. </a:t>
            </a:r>
            <a:r>
              <a:rPr lang="zh-CN" altLang="en-US" sz="2000" dirty="0"/>
              <a:t>进行系统方案选择比较的时间；</a:t>
            </a:r>
            <a:r>
              <a:rPr lang="en-US" altLang="zh-CN" sz="2000" dirty="0"/>
              <a:t>C. </a:t>
            </a:r>
            <a:r>
              <a:rPr lang="zh-CN" altLang="en-US" sz="2000" dirty="0"/>
              <a:t>经费、投资方面的来源和限制；</a:t>
            </a:r>
            <a:r>
              <a:rPr lang="en-US" altLang="zh-CN" sz="2000" dirty="0"/>
              <a:t>D. </a:t>
            </a:r>
            <a:r>
              <a:rPr lang="zh-CN" altLang="en-US" sz="2000" dirty="0"/>
              <a:t>法律和政策方面的限制；</a:t>
            </a:r>
            <a:r>
              <a:rPr lang="en-US" altLang="zh-CN" sz="2000" dirty="0"/>
              <a:t>E. </a:t>
            </a:r>
            <a:r>
              <a:rPr lang="zh-CN" altLang="en-US" sz="2000" dirty="0"/>
              <a:t>硬件、软件、运行环境和开发环境方面的条件和限制；</a:t>
            </a:r>
            <a:r>
              <a:rPr lang="en-US" altLang="zh-CN" sz="2000" dirty="0"/>
              <a:t>F. </a:t>
            </a:r>
            <a:r>
              <a:rPr lang="zh-CN" altLang="en-US" sz="2000" dirty="0"/>
              <a:t>可利用的信息和资源；</a:t>
            </a:r>
            <a:r>
              <a:rPr lang="en-US" altLang="zh-CN" sz="2000" dirty="0"/>
              <a:t>G. </a:t>
            </a:r>
            <a:r>
              <a:rPr lang="zh-CN" altLang="en-US" sz="2000" dirty="0"/>
              <a:t>系统投入使用的最晚时间。</a:t>
            </a:r>
            <a:r>
              <a:rPr lang="en-US" altLang="zh-CN" sz="2000" dirty="0"/>
              <a:t>"</a:t>
            </a:r>
          </a:p>
          <a:p>
            <a:r>
              <a:rPr lang="en-US" altLang="zh-CN" sz="2000" b="1" dirty="0"/>
              <a:t>2.4 </a:t>
            </a:r>
            <a:r>
              <a:rPr lang="zh-CN" altLang="en-US" sz="2000" b="1" dirty="0"/>
              <a:t>进行可行性研究的方法</a:t>
            </a:r>
          </a:p>
          <a:p>
            <a:r>
              <a:rPr lang="zh-CN" altLang="en-US" sz="2000" dirty="0"/>
              <a:t>说明这项可行性研究将是如何进行的，所建议的系统将是如何评价的。摘要说明所使用的基本方法和策略，如调查、加权、确定模型、建立基准点或仿真等。</a:t>
            </a:r>
          </a:p>
          <a:p>
            <a:r>
              <a:rPr lang="en-US" altLang="zh-CN" sz="2000" b="1" dirty="0"/>
              <a:t>2.5 </a:t>
            </a:r>
            <a:r>
              <a:rPr lang="zh-CN" altLang="en-US" sz="2000" b="1" dirty="0"/>
              <a:t>评价尺度</a:t>
            </a:r>
          </a:p>
          <a:p>
            <a:r>
              <a:rPr lang="zh-CN" altLang="en-US" sz="2000" dirty="0"/>
              <a:t>说明对系统进行评价时所使用的主要尺度，比如费用的多少、各项功能的优先次序、开发时间的长短及使用中的难易程度。</a:t>
            </a:r>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034628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4351338"/>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3. </a:t>
            </a:r>
            <a:r>
              <a:rPr lang="zh-CN" altLang="en-US" sz="2000" b="1" dirty="0"/>
              <a:t>对现有系统的分析</a:t>
            </a:r>
          </a:p>
          <a:p>
            <a:r>
              <a:rPr lang="zh-CN" altLang="en-US" sz="2000" dirty="0"/>
              <a:t>这里的现有系统是指当前实际使用的系统，这个系统可能是计算机系统，也可能是一个机械系统甚至是一个人工系统。分析现有系统的目的是为了进一步阐明建议中的新系统或修改现有系统的必要性。</a:t>
            </a:r>
          </a:p>
          <a:p>
            <a:r>
              <a:rPr lang="en-US" altLang="zh-CN" sz="2000" b="1" dirty="0"/>
              <a:t>3.1 </a:t>
            </a:r>
            <a:r>
              <a:rPr lang="zh-CN" altLang="en-US" sz="2000" b="1" dirty="0"/>
              <a:t>处理流程和数据流程</a:t>
            </a:r>
          </a:p>
          <a:p>
            <a:r>
              <a:rPr lang="zh-CN" altLang="en-US" sz="2000" dirty="0"/>
              <a:t>说明现有系统的基本的处理流程和数据流程。此流程可用图表即流程图的形式表示，并加以叙述。</a:t>
            </a:r>
          </a:p>
          <a:p>
            <a:r>
              <a:rPr lang="en-US" altLang="zh-CN" sz="2000" b="1" dirty="0"/>
              <a:t>3.2 </a:t>
            </a:r>
            <a:r>
              <a:rPr lang="zh-CN" altLang="en-US" sz="2000" b="1" dirty="0"/>
              <a:t>工作负荷</a:t>
            </a:r>
          </a:p>
          <a:p>
            <a:r>
              <a:rPr lang="zh-CN" altLang="en-US" sz="2000" dirty="0"/>
              <a:t>列出现有系统所承担的工作及工作量。</a:t>
            </a:r>
          </a:p>
          <a:p>
            <a:r>
              <a:rPr lang="en-US" altLang="zh-CN" sz="2000" b="1" dirty="0"/>
              <a:t>3.3 </a:t>
            </a:r>
            <a:r>
              <a:rPr lang="zh-CN" altLang="en-US" sz="2000" b="1" dirty="0"/>
              <a:t>费用开支</a:t>
            </a:r>
          </a:p>
          <a:p>
            <a:r>
              <a:rPr lang="zh-CN" altLang="en-US" sz="2000" dirty="0"/>
              <a:t>列出由于运行现有系统所引起的费用开支，如人力、设备、空间、支持性服务、材料等项开支以及开支总额。</a:t>
            </a:r>
          </a:p>
          <a:p>
            <a:pPr marL="0" indent="0">
              <a:buNone/>
            </a:pPr>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026436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3.4 </a:t>
            </a:r>
            <a:r>
              <a:rPr lang="zh-CN" altLang="en-US" sz="2000" b="1" dirty="0"/>
              <a:t>人员</a:t>
            </a:r>
          </a:p>
          <a:p>
            <a:r>
              <a:rPr lang="zh-CN" altLang="en-US" sz="2000" dirty="0"/>
              <a:t>列出为了现有系统的运行和维护所需要的人员的专业技术类别和数量。</a:t>
            </a:r>
          </a:p>
          <a:p>
            <a:r>
              <a:rPr lang="en-US" altLang="zh-CN" sz="2000" b="1" dirty="0"/>
              <a:t>3.5 </a:t>
            </a:r>
            <a:r>
              <a:rPr lang="zh-CN" altLang="en-US" sz="2000" b="1" dirty="0"/>
              <a:t>设备</a:t>
            </a:r>
          </a:p>
          <a:p>
            <a:r>
              <a:rPr lang="zh-CN" altLang="en-US" sz="2000" dirty="0"/>
              <a:t>列出现有系统所使用的各种设备。</a:t>
            </a:r>
          </a:p>
          <a:p>
            <a:r>
              <a:rPr lang="en-US" altLang="zh-CN" sz="2000" b="1" dirty="0"/>
              <a:t>3.6 </a:t>
            </a:r>
            <a:r>
              <a:rPr lang="zh-CN" altLang="en-US" sz="2000" b="1" dirty="0"/>
              <a:t>局限性</a:t>
            </a:r>
          </a:p>
          <a:p>
            <a:r>
              <a:rPr lang="zh-CN" altLang="en-US" sz="2000" dirty="0"/>
              <a:t>列出本系统的主要的局限性，例如处理时间赶不上需要，响应不及时，数据存储能力不足，处理功能不够等。并且要说明，为什么对现有系统的改进性维护已经不能解决问题。</a:t>
            </a:r>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809274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79"/>
            <a:ext cx="7886700" cy="4176459"/>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4. </a:t>
            </a:r>
            <a:r>
              <a:rPr lang="zh-CN" altLang="en-US" sz="2000" b="1" dirty="0"/>
              <a:t>所建议的系统</a:t>
            </a:r>
          </a:p>
          <a:p>
            <a:r>
              <a:rPr lang="zh-CN" altLang="en-US" sz="2000" dirty="0"/>
              <a:t>说明所建议系统的目标和要求将如何被满足。</a:t>
            </a:r>
          </a:p>
          <a:p>
            <a:r>
              <a:rPr lang="en-US" altLang="zh-CN" sz="2000" b="1" dirty="0"/>
              <a:t>4.1 </a:t>
            </a:r>
            <a:r>
              <a:rPr lang="zh-CN" altLang="en-US" sz="2000" b="1" dirty="0"/>
              <a:t>对所建议系统的说明</a:t>
            </a:r>
          </a:p>
          <a:p>
            <a:r>
              <a:rPr lang="zh-CN" altLang="en-US" sz="2000" dirty="0"/>
              <a:t>概括地说明所建议系统，并说明在可行性报告第</a:t>
            </a:r>
            <a:r>
              <a:rPr lang="en-US" altLang="zh-CN" sz="2000" dirty="0"/>
              <a:t>2</a:t>
            </a:r>
            <a:r>
              <a:rPr lang="zh-CN" altLang="en-US" sz="2000" dirty="0"/>
              <a:t>部分中列出的那些要求将如何得到满足，说明所使用的基本方法及理论依据。</a:t>
            </a:r>
          </a:p>
          <a:p>
            <a:r>
              <a:rPr lang="en-US" altLang="zh-CN" sz="2000" b="1" dirty="0"/>
              <a:t>4.2 </a:t>
            </a:r>
            <a:r>
              <a:rPr lang="zh-CN" altLang="en-US" sz="2000" b="1" dirty="0"/>
              <a:t>处理流程和数据流程</a:t>
            </a:r>
          </a:p>
          <a:p>
            <a:r>
              <a:rPr lang="zh-CN" altLang="en-US" sz="2000" dirty="0"/>
              <a:t>给出所建议系统的处理流程和数据流程。</a:t>
            </a:r>
          </a:p>
          <a:p>
            <a:r>
              <a:rPr lang="en-US" altLang="zh-CN" sz="2000" b="1" dirty="0"/>
              <a:t>4.3 </a:t>
            </a:r>
            <a:r>
              <a:rPr lang="zh-CN" altLang="en-US" sz="2000" b="1" dirty="0"/>
              <a:t>改进之处</a:t>
            </a:r>
          </a:p>
          <a:p>
            <a:r>
              <a:rPr lang="zh-CN" altLang="en-US" sz="2000" dirty="0"/>
              <a:t>按</a:t>
            </a:r>
            <a:r>
              <a:rPr lang="en-US" altLang="zh-CN" sz="2000" dirty="0"/>
              <a:t>2.2</a:t>
            </a:r>
            <a:r>
              <a:rPr lang="zh-CN" altLang="en-US" sz="2000" dirty="0"/>
              <a:t>条中列出的目标，逐项说明所建议系统相对于现存系统具有的改进。</a:t>
            </a:r>
          </a:p>
          <a:p>
            <a:pPr marL="0" indent="0">
              <a:buNone/>
            </a:pPr>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785849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4.4 </a:t>
            </a:r>
            <a:r>
              <a:rPr lang="zh-CN" altLang="en-US" sz="2000" b="1" dirty="0"/>
              <a:t>影响</a:t>
            </a:r>
          </a:p>
          <a:p>
            <a:r>
              <a:rPr lang="zh-CN" altLang="en-US" sz="2000" dirty="0"/>
              <a:t>说明在建立所建议系统时，预期将带来的影响。</a:t>
            </a:r>
          </a:p>
          <a:p>
            <a:r>
              <a:rPr lang="en-US" altLang="zh-CN" sz="2000" b="1" dirty="0"/>
              <a:t>4.5 </a:t>
            </a:r>
            <a:r>
              <a:rPr lang="zh-CN" altLang="en-US" sz="2000" b="1" dirty="0"/>
              <a:t>局限性</a:t>
            </a:r>
          </a:p>
          <a:p>
            <a:r>
              <a:rPr lang="zh-CN" altLang="en-US" sz="2000" dirty="0"/>
              <a:t>说明所建议系统尚存在的局限性以及这些问题未能消除的原因。</a:t>
            </a:r>
          </a:p>
          <a:p>
            <a:r>
              <a:rPr lang="en-US" altLang="zh-CN" sz="2000" b="1" dirty="0"/>
              <a:t>4.6 </a:t>
            </a:r>
            <a:r>
              <a:rPr lang="zh-CN" altLang="en-US" sz="2000" b="1" dirty="0"/>
              <a:t>技术条件方面的可行性</a:t>
            </a:r>
          </a:p>
          <a:p>
            <a:r>
              <a:rPr lang="zh-CN" altLang="en-US" sz="2000" dirty="0"/>
              <a:t>本节应说明技术条件方面的可行性，例如：</a:t>
            </a:r>
            <a:r>
              <a:rPr lang="en-US" altLang="zh-CN" sz="2000" dirty="0"/>
              <a:t>A. </a:t>
            </a:r>
            <a:r>
              <a:rPr lang="zh-CN" altLang="en-US" sz="2000" dirty="0"/>
              <a:t>在当前的限制条件下，该系统的功能目标能否达到；</a:t>
            </a:r>
            <a:r>
              <a:rPr lang="en-US" altLang="zh-CN" sz="2000" dirty="0"/>
              <a:t>B. </a:t>
            </a:r>
            <a:r>
              <a:rPr lang="zh-CN" altLang="en-US" sz="2000" dirty="0"/>
              <a:t>利用现有的技术，该系统的功能能否实现；</a:t>
            </a:r>
            <a:r>
              <a:rPr lang="en-US" altLang="zh-CN" sz="2000" dirty="0"/>
              <a:t>C. </a:t>
            </a:r>
            <a:r>
              <a:rPr lang="zh-CN" altLang="en-US" sz="2000" dirty="0"/>
              <a:t>对建设人员的数量和质量的要求并说明这些要求能否满足；</a:t>
            </a:r>
            <a:r>
              <a:rPr lang="en-US" altLang="zh-CN" sz="2000" dirty="0"/>
              <a:t>D. </a:t>
            </a:r>
            <a:r>
              <a:rPr lang="zh-CN" altLang="en-US" sz="2000" dirty="0"/>
              <a:t>在规定的期限内，本系统的建设能否完成。</a:t>
            </a:r>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609565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5. </a:t>
            </a:r>
            <a:r>
              <a:rPr lang="zh-CN" altLang="en-US" sz="2000" b="1" dirty="0"/>
              <a:t>可选择的其他系统方案</a:t>
            </a:r>
          </a:p>
          <a:p>
            <a:r>
              <a:rPr lang="zh-CN" altLang="en-US" sz="2000" dirty="0"/>
              <a:t>扼要说明曾考虑过的每一种可选择的系统方案，包括需建设的、可从国内国外直接购买的或外包的，如果没有供选择的系统方案可考虑，则说明这一点。</a:t>
            </a:r>
          </a:p>
          <a:p>
            <a:r>
              <a:rPr lang="en-US" altLang="zh-CN" sz="2000" b="1" dirty="0"/>
              <a:t>5.1 </a:t>
            </a:r>
            <a:r>
              <a:rPr lang="zh-CN" altLang="en-US" sz="2000" b="1" dirty="0"/>
              <a:t>可选择的系统方案</a:t>
            </a:r>
            <a:r>
              <a:rPr lang="en-US" altLang="zh-CN" sz="2000" b="1" dirty="0"/>
              <a:t>1</a:t>
            </a:r>
          </a:p>
          <a:p>
            <a:r>
              <a:rPr lang="zh-CN" altLang="en-US" sz="2000" dirty="0"/>
              <a:t>说明可选择的系统方案</a:t>
            </a:r>
            <a:r>
              <a:rPr lang="en-US" altLang="zh-CN" sz="2000" dirty="0"/>
              <a:t>1</a:t>
            </a:r>
            <a:r>
              <a:rPr lang="zh-CN" altLang="en-US" sz="2000" dirty="0"/>
              <a:t>，并说明它选中或未被选中的理由。</a:t>
            </a:r>
          </a:p>
          <a:p>
            <a:r>
              <a:rPr lang="en-US" altLang="zh-CN" sz="2000" b="1" dirty="0"/>
              <a:t>5.2 </a:t>
            </a:r>
            <a:r>
              <a:rPr lang="zh-CN" altLang="en-US" sz="2000" b="1" dirty="0"/>
              <a:t>可选择的系统方案</a:t>
            </a:r>
            <a:r>
              <a:rPr lang="en-US" altLang="zh-CN" sz="2000" b="1" dirty="0"/>
              <a:t>2</a:t>
            </a:r>
          </a:p>
          <a:p>
            <a:r>
              <a:rPr lang="zh-CN" altLang="en-US" sz="2000" dirty="0"/>
              <a:t>按类似</a:t>
            </a:r>
            <a:r>
              <a:rPr lang="en-US" altLang="zh-CN" sz="2000" dirty="0"/>
              <a:t>5.1</a:t>
            </a:r>
            <a:r>
              <a:rPr lang="zh-CN" altLang="en-US" sz="2000" dirty="0"/>
              <a:t>条的方式说明第</a:t>
            </a:r>
            <a:r>
              <a:rPr lang="en-US" altLang="zh-CN" sz="2000" dirty="0"/>
              <a:t>2</a:t>
            </a:r>
            <a:r>
              <a:rPr lang="zh-CN" altLang="en-US" sz="2000" dirty="0"/>
              <a:t>个乃至第</a:t>
            </a:r>
            <a:r>
              <a:rPr lang="en-US" altLang="zh-CN" sz="2000" dirty="0"/>
              <a:t>n</a:t>
            </a:r>
            <a:r>
              <a:rPr lang="zh-CN" altLang="en-US" sz="2000" dirty="0"/>
              <a:t>个可选择的系统方案。</a:t>
            </a:r>
          </a:p>
          <a:p>
            <a:endParaRPr lang="zh-CN" altLang="en-US" sz="2000" dirty="0"/>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2861849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6. </a:t>
            </a:r>
            <a:r>
              <a:rPr lang="zh-CN" altLang="en-US" sz="2000" b="1" dirty="0"/>
              <a:t>投资及效益分析</a:t>
            </a:r>
          </a:p>
          <a:p>
            <a:r>
              <a:rPr lang="en-US" altLang="zh-CN" sz="2000" b="1" dirty="0"/>
              <a:t>6.1 </a:t>
            </a:r>
            <a:r>
              <a:rPr lang="zh-CN" altLang="en-US" sz="2000" b="1" dirty="0"/>
              <a:t>支出</a:t>
            </a:r>
          </a:p>
          <a:p>
            <a:r>
              <a:rPr lang="zh-CN" altLang="en-US" sz="2000" dirty="0"/>
              <a:t>对于所选择的方案，说明所需的费用。如果已有一个现存系统，则包括该系统继续运行期间所需的费用，包括基本建设投资、其他一次性支出、非一次性支出。</a:t>
            </a:r>
          </a:p>
          <a:p>
            <a:r>
              <a:rPr lang="en-US" altLang="zh-CN" sz="2000" b="1" dirty="0"/>
              <a:t>6.2 </a:t>
            </a:r>
            <a:r>
              <a:rPr lang="zh-CN" altLang="en-US" sz="2000" b="1" dirty="0"/>
              <a:t>收益</a:t>
            </a:r>
          </a:p>
          <a:p>
            <a:r>
              <a:rPr lang="zh-CN" altLang="en-US" sz="2000" dirty="0"/>
              <a:t>对于所选择的方案，说明能够带来的收益，这里所说的收益，表现为开支用的减少或避免差错、灵活性的增加、动作速度的提高和管理计划方面的改进等，包括一次性收益、非一次性收益、不可定量的收益等。</a:t>
            </a:r>
          </a:p>
          <a:p>
            <a:r>
              <a:rPr lang="en-US" altLang="zh-CN" sz="2000" b="1" dirty="0"/>
              <a:t>6.3 </a:t>
            </a:r>
            <a:r>
              <a:rPr lang="zh-CN" altLang="en-US" sz="2000" b="1" dirty="0"/>
              <a:t>收益</a:t>
            </a:r>
            <a:r>
              <a:rPr lang="en-US" altLang="zh-CN" sz="2000" b="1" dirty="0"/>
              <a:t>/</a:t>
            </a:r>
            <a:r>
              <a:rPr lang="zh-CN" altLang="en-US" sz="2000" b="1" dirty="0"/>
              <a:t>投资比</a:t>
            </a:r>
          </a:p>
          <a:p>
            <a:r>
              <a:rPr lang="zh-CN" altLang="en-US" sz="2000" dirty="0"/>
              <a:t>求出整个系统生命期的收益</a:t>
            </a:r>
            <a:r>
              <a:rPr lang="en-US" altLang="zh-CN" sz="2000" dirty="0"/>
              <a:t>/</a:t>
            </a:r>
            <a:r>
              <a:rPr lang="zh-CN" altLang="en-US" sz="2000" dirty="0"/>
              <a:t>投资比值。</a:t>
            </a:r>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827997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6.4 </a:t>
            </a:r>
            <a:r>
              <a:rPr lang="zh-CN" altLang="en-US" sz="2000" b="1" dirty="0"/>
              <a:t>投资回收周期</a:t>
            </a:r>
          </a:p>
          <a:p>
            <a:r>
              <a:rPr lang="zh-CN" altLang="en-US" sz="2000" dirty="0"/>
              <a:t>求出收益的累计数开始超过支出的累计数的时间。</a:t>
            </a:r>
          </a:p>
          <a:p>
            <a:r>
              <a:rPr lang="en-US" altLang="zh-CN" sz="2000" b="1" dirty="0"/>
              <a:t>6.5 </a:t>
            </a:r>
            <a:r>
              <a:rPr lang="zh-CN" altLang="en-US" sz="2000" b="1" dirty="0"/>
              <a:t>敏感性分析</a:t>
            </a:r>
          </a:p>
          <a:p>
            <a:r>
              <a:rPr lang="zh-CN" altLang="en-US" sz="2000" dirty="0"/>
              <a:t>所谓敏感性分析是指一些关键性因素如系统生命期长度、系统的工作负荷量、工作负荷的类型与这些不同类型之间的合理搭配、处理速度要求、设备和软件的配置等变化时，对开支和收益的影响最灵敏的范围的估计。在敏感性分析的基础上做出的选择当然会比单一选择的结果要好一些。</a:t>
            </a:r>
          </a:p>
          <a:p>
            <a:endParaRPr lang="zh-CN" altLang="en-US" sz="2000" dirty="0"/>
          </a:p>
          <a:p>
            <a:endParaRPr lang="zh-CN" altLang="en-US" sz="2000" dirty="0"/>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790236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7. </a:t>
            </a:r>
            <a:r>
              <a:rPr lang="zh-CN" altLang="en-US" sz="2000" b="1" dirty="0"/>
              <a:t>社会因素方面的可行性</a:t>
            </a:r>
          </a:p>
          <a:p>
            <a:r>
              <a:rPr lang="zh-CN" altLang="en-US" sz="2000" dirty="0"/>
              <a:t>用来说明对社会因素方面的可行性分析的结果，包括以下两方面。</a:t>
            </a:r>
          </a:p>
          <a:p>
            <a:r>
              <a:rPr lang="en-US" altLang="zh-CN" sz="2000" b="1" dirty="0"/>
              <a:t>7.1 </a:t>
            </a:r>
            <a:r>
              <a:rPr lang="zh-CN" altLang="en-US" sz="2000" b="1" dirty="0"/>
              <a:t>法律方面的可行性</a:t>
            </a:r>
          </a:p>
          <a:p>
            <a:r>
              <a:rPr lang="zh-CN" altLang="en-US" sz="2000" dirty="0"/>
              <a:t>法律方面的可行性问题很多，如合同责任、侵犯专利权、侵犯版权等，信息系统建设人员通常是不熟悉的，有可能陷入陷阱，务必要注意研究。</a:t>
            </a:r>
          </a:p>
          <a:p>
            <a:r>
              <a:rPr lang="en-US" altLang="zh-CN" sz="2000" b="1" dirty="0"/>
              <a:t>7.2 </a:t>
            </a:r>
            <a:r>
              <a:rPr lang="zh-CN" altLang="en-US" sz="2000" b="1" dirty="0"/>
              <a:t>使用方面的可行性</a:t>
            </a:r>
          </a:p>
          <a:p>
            <a:r>
              <a:rPr lang="zh-CN" altLang="en-US" sz="2000" dirty="0"/>
              <a:t>例如从用户单位的行政管理、工作制度等方面来看，是否能够使用该信息系统；从用户单位的工作人员的素质来看，是否能满足使用该系统的要求等，都是要考虑的。</a:t>
            </a:r>
          </a:p>
          <a:p>
            <a:endParaRPr lang="zh-CN" altLang="en-US" sz="2000" dirty="0"/>
          </a:p>
          <a:p>
            <a:endParaRPr lang="zh-CN" altLang="en-US" sz="2000" dirty="0"/>
          </a:p>
          <a:p>
            <a:endParaRPr lang="zh-CN" altLang="en-US" sz="2000" dirty="0"/>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1415203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79"/>
            <a:ext cx="8424936" cy="4968549"/>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8. </a:t>
            </a:r>
            <a:r>
              <a:rPr lang="zh-CN" altLang="en-US" sz="2000" b="1" dirty="0"/>
              <a:t>可行性研究结论与建议</a:t>
            </a:r>
          </a:p>
          <a:p>
            <a:r>
              <a:rPr lang="zh-CN" altLang="en-US" sz="2000" dirty="0"/>
              <a:t>根据前面的研究结果，对项目在技术、财务、社会因素上进行全面的评价，对建设方案进行总结，提出结论性意见和建议。</a:t>
            </a:r>
            <a:endParaRPr lang="en-US" altLang="zh-CN" sz="2000" dirty="0"/>
          </a:p>
          <a:p>
            <a:r>
              <a:rPr lang="en-US" altLang="zh-CN" sz="2000" dirty="0"/>
              <a:t>A. </a:t>
            </a:r>
            <a:r>
              <a:rPr lang="zh-CN" altLang="en-US" sz="2000" dirty="0"/>
              <a:t>可以立即开始进行；</a:t>
            </a:r>
            <a:endParaRPr lang="en-US" altLang="zh-CN" sz="2000" dirty="0"/>
          </a:p>
          <a:p>
            <a:r>
              <a:rPr lang="en-US" altLang="zh-CN" sz="2000" dirty="0"/>
              <a:t>B. </a:t>
            </a:r>
            <a:r>
              <a:rPr lang="zh-CN" altLang="en-US" sz="2000" dirty="0"/>
              <a:t>需要推迟到某些条件（例如资金、人力、设备等）落实之后才能开始进行；</a:t>
            </a:r>
            <a:endParaRPr lang="en-US" altLang="zh-CN" sz="2000" dirty="0"/>
          </a:p>
          <a:p>
            <a:r>
              <a:rPr lang="en-US" altLang="zh-CN" sz="2000" dirty="0"/>
              <a:t>C. </a:t>
            </a:r>
            <a:r>
              <a:rPr lang="zh-CN" altLang="en-US" sz="2000" dirty="0"/>
              <a:t>需要对开发目标进行某些修改之后才能开始进行；</a:t>
            </a:r>
            <a:endParaRPr lang="en-US" altLang="zh-CN" sz="2000" dirty="0"/>
          </a:p>
          <a:p>
            <a:r>
              <a:rPr lang="en-US" altLang="zh-CN" sz="2000" dirty="0"/>
              <a:t>D. </a:t>
            </a:r>
            <a:r>
              <a:rPr lang="zh-CN" altLang="en-US" sz="2000" dirty="0"/>
              <a:t>不能进行或不必进行（例如因技术不成熟、经济上不合算等）。</a:t>
            </a:r>
          </a:p>
          <a:p>
            <a:r>
              <a:rPr lang="zh-CN" altLang="en-US" sz="2000" dirty="0"/>
              <a:t>可行性报告的结果并不一定可行，也有可能是得出在目前条件下不可行的结论，这是完全正常的。如果限定必须证明可行，那么可行性分析就没有意义了。甚至可以说，判断不可行性比判断可行性的收获还大，因为这避免了巨大的浪费。</a:t>
            </a:r>
          </a:p>
          <a:p>
            <a:endParaRPr lang="zh-CN" altLang="en-US" sz="2000" dirty="0"/>
          </a:p>
          <a:p>
            <a:endParaRPr lang="zh-CN" altLang="en-US" sz="2000" dirty="0"/>
          </a:p>
          <a:p>
            <a:endParaRPr lang="zh-CN" altLang="en-US" sz="2000" dirty="0"/>
          </a:p>
          <a:p>
            <a:endParaRPr lang="zh-CN" altLang="en-US" sz="2000" dirty="0"/>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42415198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7F47244-0DF2-412F-92DE-6BB9A98B8CEA}"/>
              </a:ext>
            </a:extLst>
          </p:cNvPr>
          <p:cNvSpPr>
            <a:spLocks noGrp="1" noChangeArrowheads="1"/>
          </p:cNvSpPr>
          <p:nvPr>
            <p:ph type="title"/>
          </p:nvPr>
        </p:nvSpPr>
        <p:spPr/>
        <p:txBody>
          <a:bodyPr/>
          <a:lstStyle/>
          <a:p>
            <a:pPr algn="l" eaLnBrk="1" hangingPunct="1"/>
            <a:r>
              <a:rPr lang="en-US" altLang="zh-CN" b="1"/>
              <a:t>2.3 </a:t>
            </a:r>
            <a:r>
              <a:rPr lang="zh-CN" altLang="en-US" b="1"/>
              <a:t>信息系统项目的招标与评价</a:t>
            </a:r>
            <a:r>
              <a:rPr lang="zh-CN" altLang="en-US"/>
              <a:t> </a:t>
            </a:r>
          </a:p>
        </p:txBody>
      </p:sp>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p:txBody>
          <a:bodyPr/>
          <a:lstStyle/>
          <a:p>
            <a:pPr marL="609600" indent="-609600" algn="just" eaLnBrk="1" hangingPunct="1"/>
            <a:r>
              <a:rPr lang="en-US" altLang="zh-CN" sz="2400" dirty="0"/>
              <a:t>2.3.1  </a:t>
            </a:r>
            <a:r>
              <a:rPr lang="zh-CN" altLang="en-US" sz="2400" dirty="0"/>
              <a:t>信息系统项目的招标流程</a:t>
            </a:r>
          </a:p>
          <a:p>
            <a:pPr marL="609600" indent="-609600" algn="just" eaLnBrk="1" hangingPunct="1"/>
            <a:endParaRPr lang="en-US" altLang="zh-CN" sz="2400" dirty="0"/>
          </a:p>
          <a:p>
            <a:pPr marL="609600" indent="-609600" algn="just" eaLnBrk="1" hangingPunct="1"/>
            <a:r>
              <a:rPr lang="en-US" altLang="zh-CN" sz="2400" dirty="0"/>
              <a:t>2.3.2  </a:t>
            </a:r>
            <a:r>
              <a:rPr lang="zh-CN" altLang="en-US" sz="2400" dirty="0"/>
              <a:t>信息系统项目的招标书 </a:t>
            </a:r>
          </a:p>
          <a:p>
            <a:pPr marL="609600" indent="-609600" algn="just" eaLnBrk="1" hangingPunct="1"/>
            <a:endParaRPr lang="en-US" altLang="zh-CN" sz="2400" dirty="0"/>
          </a:p>
          <a:p>
            <a:pPr marL="609600" indent="-609600" algn="just" eaLnBrk="1" hangingPunct="1"/>
            <a:r>
              <a:rPr lang="en-US" altLang="zh-CN" sz="2400" dirty="0"/>
              <a:t>2.3.3  </a:t>
            </a:r>
            <a:r>
              <a:rPr lang="zh-CN" altLang="en-US" sz="2400" dirty="0"/>
              <a:t>信息系统项目的投标书</a:t>
            </a:r>
          </a:p>
          <a:p>
            <a:pPr marL="609600" indent="-609600" algn="just" eaLnBrk="1" hangingPunct="1"/>
            <a:endParaRPr lang="en-US" altLang="zh-CN" sz="2400" dirty="0"/>
          </a:p>
          <a:p>
            <a:pPr marL="609600" indent="-609600" algn="just" eaLnBrk="1" hangingPunct="1"/>
            <a:r>
              <a:rPr lang="en-US" altLang="zh-CN" sz="2400" dirty="0"/>
              <a:t>2.3.4  </a:t>
            </a:r>
            <a:r>
              <a:rPr lang="zh-CN" altLang="en-US" sz="2400" dirty="0"/>
              <a:t>信息系统项目承包商的选择</a:t>
            </a:r>
          </a:p>
          <a:p>
            <a:pPr marL="609600" indent="-609600" algn="just" eaLnBrk="1" hangingPunct="1"/>
            <a:endParaRPr lang="en-US" altLang="zh-CN" sz="2400" dirty="0"/>
          </a:p>
          <a:p>
            <a:pPr marL="609600" indent="-609600" algn="just" eaLnBrk="1" hangingPunct="1"/>
            <a:r>
              <a:rPr lang="en-US" altLang="zh-CN" sz="2400" dirty="0"/>
              <a:t>2.3.5  </a:t>
            </a:r>
            <a:r>
              <a:rPr lang="zh-CN" altLang="en-US" sz="2400" dirty="0"/>
              <a:t>信息系统项目效益的评价</a:t>
            </a:r>
          </a:p>
          <a:p>
            <a:pPr marL="609600" indent="-609600" algn="just" eaLnBrk="1" hangingPunct="1"/>
            <a:endParaRPr lang="zh-CN" altLang="en-US" b="1" dirty="0"/>
          </a:p>
          <a:p>
            <a:pPr marL="609600" indent="-609600" algn="just" eaLnBrk="1" hangingPunct="1"/>
            <a:endParaRPr lang="en-US" altLang="zh-CN"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F9F77244-25E5-495F-8C00-1B263A8BD956}"/>
              </a:ext>
            </a:extLst>
          </p:cNvPr>
          <p:cNvSpPr>
            <a:spLocks noGrp="1" noChangeArrowheads="1"/>
          </p:cNvSpPr>
          <p:nvPr>
            <p:ph type="title"/>
          </p:nvPr>
        </p:nvSpPr>
        <p:spPr/>
        <p:txBody>
          <a:bodyPr/>
          <a:lstStyle/>
          <a:p>
            <a:pPr eaLnBrk="1" hangingPunct="1"/>
            <a:r>
              <a:rPr lang="en-US" altLang="zh-CN" b="1"/>
              <a:t>2.3 </a:t>
            </a:r>
            <a:r>
              <a:rPr lang="zh-CN" altLang="en-US" b="1"/>
              <a:t>信息系统项目的招标与评价</a:t>
            </a:r>
            <a:r>
              <a:rPr lang="zh-CN" altLang="en-US"/>
              <a:t> </a:t>
            </a:r>
          </a:p>
        </p:txBody>
      </p:sp>
      <p:sp>
        <p:nvSpPr>
          <p:cNvPr id="48131" name="Rectangle 3">
            <a:extLst>
              <a:ext uri="{FF2B5EF4-FFF2-40B4-BE49-F238E27FC236}">
                <a16:creationId xmlns:a16="http://schemas.microsoft.com/office/drawing/2014/main" id="{BD6FD4B9-9A76-4E7E-91C7-1DB695061CB2}"/>
              </a:ext>
            </a:extLst>
          </p:cNvPr>
          <p:cNvSpPr>
            <a:spLocks noGrp="1" noChangeArrowheads="1"/>
          </p:cNvSpPr>
          <p:nvPr>
            <p:ph idx="1"/>
          </p:nvPr>
        </p:nvSpPr>
        <p:spPr>
          <a:xfrm>
            <a:off x="539552" y="1556792"/>
            <a:ext cx="8064896" cy="3168347"/>
          </a:xfrm>
        </p:spPr>
        <p:txBody>
          <a:bodyPr/>
          <a:lstStyle/>
          <a:p>
            <a:pPr marL="609600" indent="-609600" algn="just" eaLnBrk="1" hangingPunct="1"/>
            <a:r>
              <a:rPr lang="en-US" altLang="zh-CN" b="1" dirty="0"/>
              <a:t>2.3.1  </a:t>
            </a:r>
            <a:r>
              <a:rPr lang="zh-CN" altLang="en-US" b="1" dirty="0"/>
              <a:t>信息系统项目的招标流程</a:t>
            </a:r>
          </a:p>
          <a:p>
            <a:pPr marL="990600" lvl="1" indent="-533400" algn="just" eaLnBrk="1" hangingPunct="1"/>
            <a:r>
              <a:rPr lang="en-US" altLang="zh-CN" sz="2400" dirty="0"/>
              <a:t>1</a:t>
            </a:r>
            <a:r>
              <a:rPr lang="zh-CN" altLang="en-US" sz="2400" dirty="0"/>
              <a:t>．招标 </a:t>
            </a:r>
          </a:p>
          <a:p>
            <a:pPr marL="990600" lvl="1" indent="-533400" algn="just" eaLnBrk="1" hangingPunct="1"/>
            <a:r>
              <a:rPr lang="en-US" altLang="zh-CN" sz="2400" dirty="0"/>
              <a:t>2</a:t>
            </a:r>
            <a:r>
              <a:rPr lang="zh-CN" altLang="en-US" sz="2400" dirty="0"/>
              <a:t>．投标 </a:t>
            </a:r>
          </a:p>
          <a:p>
            <a:pPr marL="990600" lvl="1" indent="-533400" algn="just" eaLnBrk="1" hangingPunct="1"/>
            <a:r>
              <a:rPr lang="en-US" altLang="zh-CN" sz="2400" dirty="0"/>
              <a:t>3</a:t>
            </a:r>
            <a:r>
              <a:rPr lang="zh-CN" altLang="en-US" sz="2400" dirty="0"/>
              <a:t>．开标 </a:t>
            </a:r>
          </a:p>
          <a:p>
            <a:pPr marL="990600" lvl="1" indent="-533400" algn="just" eaLnBrk="1" hangingPunct="1"/>
            <a:r>
              <a:rPr lang="en-US" altLang="zh-CN" sz="2400" dirty="0"/>
              <a:t>4</a:t>
            </a:r>
            <a:r>
              <a:rPr lang="zh-CN" altLang="en-US" sz="2400" dirty="0"/>
              <a:t>．评标 </a:t>
            </a:r>
          </a:p>
          <a:p>
            <a:pPr marL="990600" lvl="1" indent="-533400" algn="just" eaLnBrk="1" hangingPunct="1"/>
            <a:r>
              <a:rPr lang="en-US" altLang="zh-CN" sz="2400" dirty="0"/>
              <a:t>5</a:t>
            </a:r>
            <a:r>
              <a:rPr lang="zh-CN" altLang="en-US" sz="2400" dirty="0"/>
              <a:t>．定标 </a:t>
            </a:r>
          </a:p>
          <a:p>
            <a:pPr marL="990600" lvl="1" indent="-533400" algn="just" eaLnBrk="1" hangingPunct="1"/>
            <a:r>
              <a:rPr lang="en-US" altLang="zh-CN" sz="2400" dirty="0"/>
              <a:t>6</a:t>
            </a:r>
            <a:r>
              <a:rPr lang="zh-CN" altLang="en-US" sz="2400" dirty="0"/>
              <a:t>．签订合同 </a:t>
            </a:r>
          </a:p>
        </p:txBody>
      </p:sp>
      <p:sp>
        <p:nvSpPr>
          <p:cNvPr id="48132" name="Rectangle 4">
            <a:extLst>
              <a:ext uri="{FF2B5EF4-FFF2-40B4-BE49-F238E27FC236}">
                <a16:creationId xmlns:a16="http://schemas.microsoft.com/office/drawing/2014/main" id="{DC065783-17D7-4EA2-BC7E-AF55E1EFBD16}"/>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48133" name="Line 5">
            <a:extLst>
              <a:ext uri="{FF2B5EF4-FFF2-40B4-BE49-F238E27FC236}">
                <a16:creationId xmlns:a16="http://schemas.microsoft.com/office/drawing/2014/main" id="{FA417A51-B601-4555-9CFB-D16B553EA74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93D4A432-CF75-45F6-B882-1E9F7BF20252}"/>
              </a:ext>
            </a:extLst>
          </p:cNvPr>
          <p:cNvSpPr>
            <a:spLocks noGrp="1" noChangeArrowheads="1"/>
          </p:cNvSpPr>
          <p:nvPr>
            <p:ph type="title"/>
          </p:nvPr>
        </p:nvSpPr>
        <p:spPr/>
        <p:txBody>
          <a:bodyPr/>
          <a:lstStyle/>
          <a:p>
            <a:pPr eaLnBrk="1" hangingPunct="1"/>
            <a:r>
              <a:rPr lang="en-US" altLang="zh-CN" b="1" dirty="0"/>
              <a:t>2.3 </a:t>
            </a:r>
            <a:r>
              <a:rPr lang="zh-CN" altLang="en-US" b="1" dirty="0"/>
              <a:t>信息系统项目的招标与评价</a:t>
            </a:r>
            <a:r>
              <a:rPr lang="zh-CN" altLang="en-US" dirty="0"/>
              <a:t> </a:t>
            </a:r>
          </a:p>
        </p:txBody>
      </p:sp>
      <p:sp>
        <p:nvSpPr>
          <p:cNvPr id="50179" name="Rectangle 3">
            <a:extLst>
              <a:ext uri="{FF2B5EF4-FFF2-40B4-BE49-F238E27FC236}">
                <a16:creationId xmlns:a16="http://schemas.microsoft.com/office/drawing/2014/main" id="{4523252A-EDAB-4CB7-912C-BF374C214BE7}"/>
              </a:ext>
            </a:extLst>
          </p:cNvPr>
          <p:cNvSpPr>
            <a:spLocks noGrp="1" noChangeArrowheads="1"/>
          </p:cNvSpPr>
          <p:nvPr>
            <p:ph idx="1"/>
          </p:nvPr>
        </p:nvSpPr>
        <p:spPr>
          <a:xfrm>
            <a:off x="539552" y="1556792"/>
            <a:ext cx="7886700" cy="4351338"/>
          </a:xfrm>
        </p:spPr>
        <p:txBody>
          <a:bodyPr/>
          <a:lstStyle/>
          <a:p>
            <a:pPr marL="609600" indent="-609600" algn="just" eaLnBrk="1" hangingPunct="1">
              <a:lnSpc>
                <a:spcPct val="80000"/>
              </a:lnSpc>
            </a:pPr>
            <a:r>
              <a:rPr lang="en-US" altLang="zh-CN" b="1" dirty="0"/>
              <a:t>2.3.2  </a:t>
            </a:r>
            <a:r>
              <a:rPr lang="zh-CN" altLang="en-US" b="1" dirty="0"/>
              <a:t>信息系统项目的</a:t>
            </a:r>
            <a:r>
              <a:rPr lang="zh-CN" altLang="en-US" b="1" dirty="0">
                <a:solidFill>
                  <a:srgbClr val="FF0000"/>
                </a:solidFill>
              </a:rPr>
              <a:t>招标书</a:t>
            </a:r>
          </a:p>
          <a:p>
            <a:pPr marL="609600" indent="-609600" eaLnBrk="1" hangingPunct="1">
              <a:lnSpc>
                <a:spcPct val="80000"/>
              </a:lnSpc>
            </a:pPr>
            <a:r>
              <a:rPr lang="zh-CN" altLang="en-US" sz="2400" dirty="0"/>
              <a:t>招标书的主要内容包括：</a:t>
            </a:r>
          </a:p>
          <a:p>
            <a:pPr marL="990600" lvl="1" indent="-533400" eaLnBrk="1" hangingPunct="1">
              <a:lnSpc>
                <a:spcPct val="80000"/>
              </a:lnSpc>
              <a:buFontTx/>
              <a:buAutoNum type="circleNumDbPlain"/>
            </a:pPr>
            <a:r>
              <a:rPr lang="zh-CN" altLang="en-US" sz="2400" dirty="0"/>
              <a:t>介绍与概述</a:t>
            </a:r>
          </a:p>
          <a:p>
            <a:pPr marL="990600" lvl="1" indent="-533400" eaLnBrk="1" hangingPunct="1">
              <a:lnSpc>
                <a:spcPct val="80000"/>
              </a:lnSpc>
              <a:buFontTx/>
              <a:buAutoNum type="circleNumDbPlain"/>
            </a:pPr>
            <a:r>
              <a:rPr lang="zh-CN" altLang="en-US" sz="2400" dirty="0"/>
              <a:t>客户信息</a:t>
            </a:r>
          </a:p>
          <a:p>
            <a:pPr marL="990600" lvl="1" indent="-533400" eaLnBrk="1" hangingPunct="1">
              <a:lnSpc>
                <a:spcPct val="80000"/>
              </a:lnSpc>
              <a:buFontTx/>
              <a:buAutoNum type="circleNumDbPlain"/>
            </a:pPr>
            <a:r>
              <a:rPr lang="zh-CN" altLang="en-US" sz="2400" dirty="0"/>
              <a:t>信息系统项目的需求</a:t>
            </a:r>
          </a:p>
          <a:p>
            <a:pPr marL="990600" lvl="1" indent="-533400" eaLnBrk="1" hangingPunct="1">
              <a:lnSpc>
                <a:spcPct val="80000"/>
              </a:lnSpc>
              <a:buFontTx/>
              <a:buAutoNum type="circleNumDbPlain"/>
            </a:pPr>
            <a:r>
              <a:rPr lang="zh-CN" altLang="en-US" sz="2400" dirty="0"/>
              <a:t>定价</a:t>
            </a:r>
          </a:p>
          <a:p>
            <a:pPr marL="990600" lvl="1" indent="-533400" eaLnBrk="1" hangingPunct="1">
              <a:lnSpc>
                <a:spcPct val="80000"/>
              </a:lnSpc>
              <a:buFontTx/>
              <a:buAutoNum type="circleNumDbPlain"/>
            </a:pPr>
            <a:r>
              <a:rPr lang="zh-CN" altLang="en-US" sz="2400" dirty="0"/>
              <a:t>项目的管理</a:t>
            </a:r>
          </a:p>
          <a:p>
            <a:pPr marL="990600" lvl="1" indent="-533400" eaLnBrk="1" hangingPunct="1">
              <a:lnSpc>
                <a:spcPct val="80000"/>
              </a:lnSpc>
              <a:buFontTx/>
              <a:buAutoNum type="circleNumDbPlain"/>
            </a:pPr>
            <a:r>
              <a:rPr lang="zh-CN" altLang="en-US" sz="2400" dirty="0"/>
              <a:t>合同到期与终止</a:t>
            </a:r>
          </a:p>
          <a:p>
            <a:pPr marL="990600" lvl="1" indent="-533400" eaLnBrk="1" hangingPunct="1">
              <a:lnSpc>
                <a:spcPct val="80000"/>
              </a:lnSpc>
              <a:buFontTx/>
              <a:buAutoNum type="circleNumDbPlain"/>
            </a:pPr>
            <a:r>
              <a:rPr lang="zh-CN" altLang="en-US" sz="2400" dirty="0"/>
              <a:t>合同条款</a:t>
            </a:r>
          </a:p>
          <a:p>
            <a:pPr marL="990600" lvl="1" indent="-533400" eaLnBrk="1" hangingPunct="1">
              <a:lnSpc>
                <a:spcPct val="80000"/>
              </a:lnSpc>
              <a:buFontTx/>
              <a:buAutoNum type="circleNumDbPlain"/>
            </a:pPr>
            <a:r>
              <a:rPr lang="zh-CN" altLang="en-US" sz="2400" dirty="0"/>
              <a:t>承包商信息</a:t>
            </a:r>
          </a:p>
          <a:p>
            <a:pPr marL="990600" lvl="1" indent="-533400" eaLnBrk="1" hangingPunct="1">
              <a:lnSpc>
                <a:spcPct val="80000"/>
              </a:lnSpc>
              <a:buFontTx/>
              <a:buAutoNum type="circleNumDbPlain"/>
            </a:pPr>
            <a:r>
              <a:rPr lang="zh-CN" altLang="en-US" sz="2400" dirty="0"/>
              <a:t>附录和其他条款或条件 </a:t>
            </a:r>
          </a:p>
          <a:p>
            <a:pPr marL="609600" indent="-609600" algn="just" eaLnBrk="1" hangingPunct="1">
              <a:lnSpc>
                <a:spcPct val="80000"/>
              </a:lnSpc>
            </a:pPr>
            <a:endParaRPr lang="zh-CN" altLang="en-US" sz="2800" dirty="0"/>
          </a:p>
          <a:p>
            <a:pPr marL="609600" indent="-609600" algn="just" eaLnBrk="1" hangingPunct="1">
              <a:lnSpc>
                <a:spcPct val="80000"/>
              </a:lnSpc>
            </a:pPr>
            <a:endParaRPr lang="zh-CN" altLang="en-US" sz="2800" b="1" dirty="0"/>
          </a:p>
          <a:p>
            <a:pPr marL="609600" indent="-609600" algn="just" eaLnBrk="1" hangingPunct="1">
              <a:lnSpc>
                <a:spcPct val="80000"/>
              </a:lnSpc>
            </a:pPr>
            <a:endParaRPr lang="en-US" altLang="zh-CN" sz="2800" dirty="0"/>
          </a:p>
        </p:txBody>
      </p:sp>
      <p:sp>
        <p:nvSpPr>
          <p:cNvPr id="50180" name="Rectangle 4">
            <a:extLst>
              <a:ext uri="{FF2B5EF4-FFF2-40B4-BE49-F238E27FC236}">
                <a16:creationId xmlns:a16="http://schemas.microsoft.com/office/drawing/2014/main" id="{93295724-4142-455E-97F2-A7F888EAA5B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0181" name="Line 5">
            <a:extLst>
              <a:ext uri="{FF2B5EF4-FFF2-40B4-BE49-F238E27FC236}">
                <a16:creationId xmlns:a16="http://schemas.microsoft.com/office/drawing/2014/main" id="{FA0E948F-D0B8-4671-81C8-850F36C63540}"/>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71D6BE3-493C-4351-9D21-38F5F69471B5}"/>
              </a:ext>
            </a:extLst>
          </p:cNvPr>
          <p:cNvSpPr>
            <a:spLocks noGrp="1" noChangeArrowheads="1"/>
          </p:cNvSpPr>
          <p:nvPr>
            <p:ph type="title"/>
          </p:nvPr>
        </p:nvSpPr>
        <p:spPr/>
        <p:txBody>
          <a:bodyPr/>
          <a:lstStyle/>
          <a:p>
            <a:pPr eaLnBrk="1" hangingPunct="1"/>
            <a:r>
              <a:rPr lang="en-US" altLang="zh-CN" b="1" dirty="0"/>
              <a:t>2.3 </a:t>
            </a:r>
            <a:r>
              <a:rPr lang="zh-CN" altLang="en-US" b="1" dirty="0"/>
              <a:t>信息系统项目的招标与评价</a:t>
            </a:r>
            <a:r>
              <a:rPr lang="zh-CN" altLang="en-US" dirty="0"/>
              <a:t> </a:t>
            </a:r>
          </a:p>
        </p:txBody>
      </p:sp>
      <p:sp>
        <p:nvSpPr>
          <p:cNvPr id="52227" name="Rectangle 3">
            <a:extLst>
              <a:ext uri="{FF2B5EF4-FFF2-40B4-BE49-F238E27FC236}">
                <a16:creationId xmlns:a16="http://schemas.microsoft.com/office/drawing/2014/main" id="{CB92FD96-D420-4AE1-8FA8-05750A778E1C}"/>
              </a:ext>
            </a:extLst>
          </p:cNvPr>
          <p:cNvSpPr>
            <a:spLocks noGrp="1" noChangeArrowheads="1"/>
          </p:cNvSpPr>
          <p:nvPr>
            <p:ph idx="1"/>
          </p:nvPr>
        </p:nvSpPr>
        <p:spPr>
          <a:xfrm>
            <a:off x="323528" y="1628800"/>
            <a:ext cx="7886700" cy="2952323"/>
          </a:xfrm>
        </p:spPr>
        <p:txBody>
          <a:bodyPr/>
          <a:lstStyle/>
          <a:p>
            <a:pPr marL="609600" indent="-609600" algn="just" eaLnBrk="1" hangingPunct="1"/>
            <a:r>
              <a:rPr lang="en-US" altLang="zh-CN" b="1" dirty="0"/>
              <a:t>2.3.3  </a:t>
            </a:r>
            <a:r>
              <a:rPr lang="zh-CN" altLang="en-US" b="1" dirty="0"/>
              <a:t>信息系统项目的</a:t>
            </a:r>
            <a:r>
              <a:rPr lang="zh-CN" altLang="en-US" b="1" dirty="0">
                <a:solidFill>
                  <a:srgbClr val="FF0000"/>
                </a:solidFill>
              </a:rPr>
              <a:t>投标书</a:t>
            </a:r>
          </a:p>
          <a:p>
            <a:pPr marL="990600" lvl="1" indent="-533400" algn="just" eaLnBrk="1" hangingPunct="1"/>
            <a:r>
              <a:rPr lang="zh-CN" altLang="en-US" sz="2400" dirty="0"/>
              <a:t>投标书必须按照招标书要求的格式进行组织以便发标方进行分析和评估。每一部分必须按照要求的格式进行标记和编号。标书必须清晰、完整、准确和详尽，以便于发包方能够确定投标书中建议的服务和方法是否适当、可行和符合要求。在投标书中，承包商可以根据自己的需要使用叙述的文字或图表进行说明。 </a:t>
            </a:r>
          </a:p>
        </p:txBody>
      </p:sp>
      <p:sp>
        <p:nvSpPr>
          <p:cNvPr id="52228" name="Rectangle 4">
            <a:extLst>
              <a:ext uri="{FF2B5EF4-FFF2-40B4-BE49-F238E27FC236}">
                <a16:creationId xmlns:a16="http://schemas.microsoft.com/office/drawing/2014/main" id="{5323CC5D-68F3-4FD3-91FC-AC597BBF8FD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2229" name="Line 5">
            <a:extLst>
              <a:ext uri="{FF2B5EF4-FFF2-40B4-BE49-F238E27FC236}">
                <a16:creationId xmlns:a16="http://schemas.microsoft.com/office/drawing/2014/main" id="{A233DD7E-B128-4FA8-A3D8-F4444F7B45A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0895019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71D6BE3-493C-4351-9D21-38F5F69471B5}"/>
              </a:ext>
            </a:extLst>
          </p:cNvPr>
          <p:cNvSpPr>
            <a:spLocks noGrp="1" noChangeArrowheads="1"/>
          </p:cNvSpPr>
          <p:nvPr>
            <p:ph type="title"/>
          </p:nvPr>
        </p:nvSpPr>
        <p:spPr/>
        <p:txBody>
          <a:bodyPr/>
          <a:lstStyle/>
          <a:p>
            <a:pPr eaLnBrk="1" hangingPunct="1"/>
            <a:r>
              <a:rPr lang="en-US" altLang="zh-CN" b="1" dirty="0"/>
              <a:t>2.3 </a:t>
            </a:r>
            <a:r>
              <a:rPr lang="zh-CN" altLang="en-US" b="1" dirty="0"/>
              <a:t>信息系统项目的招标与评价</a:t>
            </a:r>
            <a:r>
              <a:rPr lang="zh-CN" altLang="en-US" dirty="0"/>
              <a:t> </a:t>
            </a:r>
          </a:p>
        </p:txBody>
      </p:sp>
      <p:sp>
        <p:nvSpPr>
          <p:cNvPr id="52227" name="Rectangle 3">
            <a:extLst>
              <a:ext uri="{FF2B5EF4-FFF2-40B4-BE49-F238E27FC236}">
                <a16:creationId xmlns:a16="http://schemas.microsoft.com/office/drawing/2014/main" id="{CB92FD96-D420-4AE1-8FA8-05750A778E1C}"/>
              </a:ext>
            </a:extLst>
          </p:cNvPr>
          <p:cNvSpPr>
            <a:spLocks noGrp="1" noChangeArrowheads="1"/>
          </p:cNvSpPr>
          <p:nvPr>
            <p:ph idx="1"/>
          </p:nvPr>
        </p:nvSpPr>
        <p:spPr>
          <a:xfrm>
            <a:off x="323528" y="1628800"/>
            <a:ext cx="7886700" cy="4320477"/>
          </a:xfrm>
        </p:spPr>
        <p:txBody>
          <a:bodyPr>
            <a:noAutofit/>
          </a:bodyPr>
          <a:lstStyle/>
          <a:p>
            <a:pPr marL="0" indent="0" algn="just" eaLnBrk="1" hangingPunct="1">
              <a:buNone/>
            </a:pPr>
            <a:r>
              <a:rPr lang="zh-CN" altLang="en-US" b="1" dirty="0"/>
              <a:t>投标书主要内容：</a:t>
            </a:r>
            <a:endParaRPr lang="en-US" altLang="zh-CN" b="1" dirty="0"/>
          </a:p>
          <a:p>
            <a:pPr marL="0" indent="0" algn="just">
              <a:buNone/>
            </a:pPr>
            <a:r>
              <a:rPr lang="zh-CN" altLang="en-US" sz="2400" dirty="0"/>
              <a:t>第一部分 同意的约定范围</a:t>
            </a:r>
          </a:p>
          <a:p>
            <a:pPr marL="0" indent="0" algn="just">
              <a:buNone/>
            </a:pPr>
            <a:r>
              <a:rPr lang="zh-CN" altLang="en-US" sz="2400" dirty="0"/>
              <a:t>第二部分 技术建议</a:t>
            </a:r>
          </a:p>
          <a:p>
            <a:pPr marL="0" indent="0" algn="just">
              <a:buNone/>
            </a:pPr>
            <a:r>
              <a:rPr lang="en-US" altLang="zh-CN" sz="2400" dirty="0"/>
              <a:t>         2.1 </a:t>
            </a:r>
            <a:r>
              <a:rPr lang="zh-CN" altLang="en-US" sz="2400" dirty="0"/>
              <a:t>服务提供的方式</a:t>
            </a:r>
          </a:p>
          <a:p>
            <a:pPr marL="0" indent="0" algn="just">
              <a:buNone/>
            </a:pPr>
            <a:r>
              <a:rPr lang="en-US" altLang="zh-CN" sz="2400" dirty="0"/>
              <a:t>         2.2 </a:t>
            </a:r>
            <a:r>
              <a:rPr lang="zh-CN" altLang="en-US" sz="2400" dirty="0"/>
              <a:t>信息系统技术解决方案</a:t>
            </a:r>
          </a:p>
          <a:p>
            <a:pPr marL="0" indent="0" algn="just">
              <a:buNone/>
            </a:pPr>
            <a:r>
              <a:rPr lang="en-US" altLang="zh-CN" sz="2400" dirty="0"/>
              <a:t>	2.3 </a:t>
            </a:r>
            <a:r>
              <a:rPr lang="zh-CN" altLang="en-US" sz="2400" dirty="0"/>
              <a:t>建议的技术环境（硬件、软件、通信、网络等）</a:t>
            </a:r>
          </a:p>
          <a:p>
            <a:pPr marL="0" indent="0" algn="just">
              <a:buNone/>
            </a:pPr>
            <a:r>
              <a:rPr lang="en-US" altLang="zh-CN" sz="2400" dirty="0"/>
              <a:t>         2.4 </a:t>
            </a:r>
            <a:r>
              <a:rPr lang="zh-CN" altLang="en-US" sz="2400" dirty="0"/>
              <a:t>人员计划和工作场所要求</a:t>
            </a:r>
          </a:p>
          <a:p>
            <a:pPr marL="0" indent="0" algn="just">
              <a:buNone/>
            </a:pPr>
            <a:r>
              <a:rPr lang="en-US" altLang="zh-CN" sz="2400" dirty="0"/>
              <a:t> 	2.4.1 </a:t>
            </a:r>
            <a:r>
              <a:rPr lang="zh-CN" altLang="en-US" sz="2400" dirty="0"/>
              <a:t>人员安排</a:t>
            </a:r>
          </a:p>
          <a:p>
            <a:pPr marL="0" indent="0" algn="just">
              <a:buNone/>
            </a:pPr>
            <a:r>
              <a:rPr lang="en-US" altLang="zh-CN" sz="2400" dirty="0"/>
              <a:t>	2.4.2 </a:t>
            </a:r>
            <a:r>
              <a:rPr lang="zh-CN" altLang="en-US" sz="2400" dirty="0"/>
              <a:t>工作场所要求</a:t>
            </a:r>
            <a:r>
              <a:rPr lang="en-US" altLang="zh-CN" sz="2400" dirty="0"/>
              <a:t>/</a:t>
            </a:r>
            <a:r>
              <a:rPr lang="zh-CN" altLang="en-US" sz="2400" dirty="0"/>
              <a:t>设施</a:t>
            </a:r>
          </a:p>
        </p:txBody>
      </p:sp>
      <p:sp>
        <p:nvSpPr>
          <p:cNvPr id="52228" name="Rectangle 4">
            <a:extLst>
              <a:ext uri="{FF2B5EF4-FFF2-40B4-BE49-F238E27FC236}">
                <a16:creationId xmlns:a16="http://schemas.microsoft.com/office/drawing/2014/main" id="{5323CC5D-68F3-4FD3-91FC-AC597BBF8FD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2229" name="Line 5">
            <a:extLst>
              <a:ext uri="{FF2B5EF4-FFF2-40B4-BE49-F238E27FC236}">
                <a16:creationId xmlns:a16="http://schemas.microsoft.com/office/drawing/2014/main" id="{A233DD7E-B128-4FA8-A3D8-F4444F7B45A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578891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71D6BE3-493C-4351-9D21-38F5F69471B5}"/>
              </a:ext>
            </a:extLst>
          </p:cNvPr>
          <p:cNvSpPr>
            <a:spLocks noGrp="1" noChangeArrowheads="1"/>
          </p:cNvSpPr>
          <p:nvPr>
            <p:ph type="title"/>
          </p:nvPr>
        </p:nvSpPr>
        <p:spPr/>
        <p:txBody>
          <a:bodyPr/>
          <a:lstStyle/>
          <a:p>
            <a:pPr eaLnBrk="1" hangingPunct="1"/>
            <a:r>
              <a:rPr lang="en-US" altLang="zh-CN" b="1" dirty="0"/>
              <a:t>2.3 </a:t>
            </a:r>
            <a:r>
              <a:rPr lang="zh-CN" altLang="en-US" b="1" dirty="0"/>
              <a:t>信息系统项目的招标与评价</a:t>
            </a:r>
            <a:r>
              <a:rPr lang="zh-CN" altLang="en-US" dirty="0"/>
              <a:t> </a:t>
            </a:r>
          </a:p>
        </p:txBody>
      </p:sp>
      <p:sp>
        <p:nvSpPr>
          <p:cNvPr id="52227" name="Rectangle 3">
            <a:extLst>
              <a:ext uri="{FF2B5EF4-FFF2-40B4-BE49-F238E27FC236}">
                <a16:creationId xmlns:a16="http://schemas.microsoft.com/office/drawing/2014/main" id="{CB92FD96-D420-4AE1-8FA8-05750A778E1C}"/>
              </a:ext>
            </a:extLst>
          </p:cNvPr>
          <p:cNvSpPr>
            <a:spLocks noGrp="1" noChangeArrowheads="1"/>
          </p:cNvSpPr>
          <p:nvPr>
            <p:ph idx="1"/>
          </p:nvPr>
        </p:nvSpPr>
        <p:spPr>
          <a:xfrm>
            <a:off x="323528" y="1412776"/>
            <a:ext cx="7886700" cy="4824535"/>
          </a:xfrm>
        </p:spPr>
        <p:txBody>
          <a:bodyPr>
            <a:noAutofit/>
          </a:bodyPr>
          <a:lstStyle/>
          <a:p>
            <a:pPr marL="0" indent="0" algn="just" eaLnBrk="1" hangingPunct="1">
              <a:buNone/>
            </a:pPr>
            <a:r>
              <a:rPr lang="zh-CN" altLang="en-US" b="1" dirty="0"/>
              <a:t>投标书主要内容：</a:t>
            </a:r>
            <a:endParaRPr lang="en-US" altLang="zh-CN" b="1" dirty="0"/>
          </a:p>
          <a:p>
            <a:pPr marL="0" indent="0" algn="just">
              <a:buNone/>
            </a:pPr>
            <a:r>
              <a:rPr lang="en-US" altLang="zh-CN" sz="2400" dirty="0"/>
              <a:t>     2.5 </a:t>
            </a:r>
            <a:r>
              <a:rPr lang="zh-CN" altLang="en-US" sz="2400" dirty="0"/>
              <a:t>项目管理和质量保证实施</a:t>
            </a:r>
          </a:p>
          <a:p>
            <a:pPr marL="0" indent="0" algn="just">
              <a:buNone/>
            </a:pPr>
            <a:r>
              <a:rPr lang="en-US" altLang="zh-CN" sz="2400" dirty="0"/>
              <a:t>	2.5.1 </a:t>
            </a:r>
            <a:r>
              <a:rPr lang="zh-CN" altLang="en-US" sz="2400" dirty="0"/>
              <a:t>项目管理</a:t>
            </a:r>
            <a:endParaRPr lang="en-US" altLang="zh-CN" sz="2400" dirty="0"/>
          </a:p>
          <a:p>
            <a:pPr marL="0" indent="0" algn="just">
              <a:buNone/>
            </a:pPr>
            <a:r>
              <a:rPr lang="en-US" altLang="zh-CN" sz="2400" dirty="0"/>
              <a:t>	2.5.2 </a:t>
            </a:r>
            <a:r>
              <a:rPr lang="zh-CN" altLang="en-US" sz="2400" dirty="0"/>
              <a:t>质量保证</a:t>
            </a:r>
          </a:p>
          <a:p>
            <a:pPr marL="0" indent="0" algn="just">
              <a:buNone/>
            </a:pPr>
            <a:r>
              <a:rPr lang="en-US" altLang="zh-CN" sz="2400" dirty="0"/>
              <a:t>	2.5.3 </a:t>
            </a:r>
            <a:r>
              <a:rPr lang="zh-CN" altLang="en-US" sz="2400" dirty="0"/>
              <a:t>质量控制</a:t>
            </a:r>
          </a:p>
          <a:p>
            <a:pPr marL="0" indent="0" algn="just">
              <a:buNone/>
            </a:pPr>
            <a:r>
              <a:rPr lang="en-US" altLang="zh-CN" sz="2400" dirty="0"/>
              <a:t>     2.6 </a:t>
            </a:r>
            <a:r>
              <a:rPr lang="zh-CN" altLang="en-US" sz="2400" dirty="0"/>
              <a:t>质量测评</a:t>
            </a:r>
          </a:p>
          <a:p>
            <a:pPr marL="0" indent="0" algn="just">
              <a:buNone/>
            </a:pPr>
            <a:r>
              <a:rPr lang="zh-CN" altLang="en-US" sz="2400" dirty="0"/>
              <a:t>第三部分 资质和参考</a:t>
            </a:r>
            <a:r>
              <a:rPr lang="en-US" altLang="zh-CN" sz="2400" dirty="0"/>
              <a:t> </a:t>
            </a:r>
          </a:p>
          <a:p>
            <a:pPr marL="0" indent="0" algn="just">
              <a:buNone/>
            </a:pPr>
            <a:r>
              <a:rPr lang="en-US" altLang="zh-CN" sz="2400" dirty="0"/>
              <a:t>     3.1 </a:t>
            </a:r>
            <a:r>
              <a:rPr lang="zh-CN" altLang="en-US" sz="2400" dirty="0"/>
              <a:t>投标工作的资质</a:t>
            </a:r>
          </a:p>
          <a:p>
            <a:pPr marL="0" indent="0" algn="just">
              <a:buNone/>
            </a:pPr>
            <a:r>
              <a:rPr lang="en-US" altLang="zh-CN" sz="2400" dirty="0"/>
              <a:t>     3.2 </a:t>
            </a:r>
            <a:r>
              <a:rPr lang="zh-CN" altLang="en-US" sz="2400" dirty="0"/>
              <a:t>通用业务情况</a:t>
            </a:r>
            <a:endParaRPr lang="en-US" altLang="zh-CN" sz="2400" dirty="0"/>
          </a:p>
          <a:p>
            <a:pPr marL="0" indent="0" algn="just">
              <a:buNone/>
            </a:pPr>
            <a:r>
              <a:rPr lang="en-US" altLang="zh-CN" sz="2400" dirty="0"/>
              <a:t>     3.3 </a:t>
            </a:r>
            <a:r>
              <a:rPr lang="zh-CN" altLang="en-US" sz="2400" dirty="0"/>
              <a:t>参考</a:t>
            </a:r>
          </a:p>
        </p:txBody>
      </p:sp>
      <p:sp>
        <p:nvSpPr>
          <p:cNvPr id="52228" name="Rectangle 4">
            <a:extLst>
              <a:ext uri="{FF2B5EF4-FFF2-40B4-BE49-F238E27FC236}">
                <a16:creationId xmlns:a16="http://schemas.microsoft.com/office/drawing/2014/main" id="{5323CC5D-68F3-4FD3-91FC-AC597BBF8FD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2229" name="Line 5">
            <a:extLst>
              <a:ext uri="{FF2B5EF4-FFF2-40B4-BE49-F238E27FC236}">
                <a16:creationId xmlns:a16="http://schemas.microsoft.com/office/drawing/2014/main" id="{A233DD7E-B128-4FA8-A3D8-F4444F7B45A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71D6BE3-493C-4351-9D21-38F5F69471B5}"/>
              </a:ext>
            </a:extLst>
          </p:cNvPr>
          <p:cNvSpPr>
            <a:spLocks noGrp="1" noChangeArrowheads="1"/>
          </p:cNvSpPr>
          <p:nvPr>
            <p:ph type="title"/>
          </p:nvPr>
        </p:nvSpPr>
        <p:spPr/>
        <p:txBody>
          <a:bodyPr/>
          <a:lstStyle/>
          <a:p>
            <a:pPr eaLnBrk="1" hangingPunct="1"/>
            <a:r>
              <a:rPr lang="en-US" altLang="zh-CN" b="1" dirty="0"/>
              <a:t>2.3 </a:t>
            </a:r>
            <a:r>
              <a:rPr lang="zh-CN" altLang="en-US" b="1" dirty="0"/>
              <a:t>信息系统项目的招标与评价</a:t>
            </a:r>
            <a:r>
              <a:rPr lang="zh-CN" altLang="en-US" dirty="0"/>
              <a:t> </a:t>
            </a:r>
          </a:p>
        </p:txBody>
      </p:sp>
      <p:sp>
        <p:nvSpPr>
          <p:cNvPr id="52227" name="Rectangle 3">
            <a:extLst>
              <a:ext uri="{FF2B5EF4-FFF2-40B4-BE49-F238E27FC236}">
                <a16:creationId xmlns:a16="http://schemas.microsoft.com/office/drawing/2014/main" id="{CB92FD96-D420-4AE1-8FA8-05750A778E1C}"/>
              </a:ext>
            </a:extLst>
          </p:cNvPr>
          <p:cNvSpPr>
            <a:spLocks noGrp="1" noChangeArrowheads="1"/>
          </p:cNvSpPr>
          <p:nvPr>
            <p:ph idx="1"/>
          </p:nvPr>
        </p:nvSpPr>
        <p:spPr>
          <a:xfrm>
            <a:off x="323528" y="1412776"/>
            <a:ext cx="7886700" cy="2952323"/>
          </a:xfrm>
        </p:spPr>
        <p:txBody>
          <a:bodyPr>
            <a:noAutofit/>
          </a:bodyPr>
          <a:lstStyle/>
          <a:p>
            <a:pPr marL="0" indent="0" algn="just" eaLnBrk="1" hangingPunct="1">
              <a:buNone/>
            </a:pPr>
            <a:r>
              <a:rPr lang="zh-CN" altLang="en-US" b="1" dirty="0"/>
              <a:t>投标书主要内容：</a:t>
            </a:r>
            <a:endParaRPr lang="en-US" altLang="zh-CN" b="1" dirty="0"/>
          </a:p>
          <a:p>
            <a:pPr marL="0" indent="0" algn="just" eaLnBrk="1" hangingPunct="1">
              <a:buNone/>
            </a:pPr>
            <a:r>
              <a:rPr lang="zh-CN" altLang="en-US" sz="2400" dirty="0"/>
              <a:t>第四部分 合同的管理程序</a:t>
            </a:r>
            <a:endParaRPr lang="en-US" altLang="zh-CN" sz="2400" dirty="0"/>
          </a:p>
          <a:p>
            <a:pPr marL="0" indent="0" algn="just">
              <a:buNone/>
            </a:pPr>
            <a:r>
              <a:rPr lang="zh-CN" altLang="en-US" sz="2400" dirty="0"/>
              <a:t>第五部分 报价</a:t>
            </a:r>
          </a:p>
          <a:p>
            <a:pPr marL="0" indent="0" algn="just">
              <a:buNone/>
            </a:pPr>
            <a:r>
              <a:rPr lang="en-US" altLang="zh-CN" sz="2400" dirty="0"/>
              <a:t>	5.1 </a:t>
            </a:r>
            <a:r>
              <a:rPr lang="zh-CN" altLang="en-US" sz="2400" dirty="0"/>
              <a:t>各项功能的报价</a:t>
            </a:r>
          </a:p>
          <a:p>
            <a:pPr marL="0" indent="0" algn="just">
              <a:buNone/>
            </a:pPr>
            <a:r>
              <a:rPr lang="en-US" altLang="zh-CN" sz="2400" dirty="0"/>
              <a:t>	5.2 </a:t>
            </a:r>
            <a:r>
              <a:rPr lang="zh-CN" altLang="en-US" sz="2400" dirty="0"/>
              <a:t>总报价</a:t>
            </a:r>
          </a:p>
          <a:p>
            <a:pPr marL="0" indent="0" algn="just">
              <a:buNone/>
            </a:pPr>
            <a:r>
              <a:rPr lang="zh-CN" altLang="en-US" sz="2400" dirty="0"/>
              <a:t>合同样本（作为标书的附录）</a:t>
            </a:r>
            <a:endParaRPr lang="zh-CN" altLang="en-US" dirty="0"/>
          </a:p>
        </p:txBody>
      </p:sp>
      <p:sp>
        <p:nvSpPr>
          <p:cNvPr id="52228" name="Rectangle 4">
            <a:extLst>
              <a:ext uri="{FF2B5EF4-FFF2-40B4-BE49-F238E27FC236}">
                <a16:creationId xmlns:a16="http://schemas.microsoft.com/office/drawing/2014/main" id="{5323CC5D-68F3-4FD3-91FC-AC597BBF8FD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2229" name="Line 5">
            <a:extLst>
              <a:ext uri="{FF2B5EF4-FFF2-40B4-BE49-F238E27FC236}">
                <a16:creationId xmlns:a16="http://schemas.microsoft.com/office/drawing/2014/main" id="{A233DD7E-B128-4FA8-A3D8-F4444F7B45A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7869907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BCC46EE-4427-44DD-A652-20FA1D01B3E2}"/>
              </a:ext>
            </a:extLst>
          </p:cNvPr>
          <p:cNvSpPr>
            <a:spLocks noGrp="1" noChangeArrowheads="1"/>
          </p:cNvSpPr>
          <p:nvPr>
            <p:ph type="title"/>
          </p:nvPr>
        </p:nvSpPr>
        <p:spPr/>
        <p:txBody>
          <a:bodyPr/>
          <a:lstStyle/>
          <a:p>
            <a:pPr eaLnBrk="1" hangingPunct="1"/>
            <a:r>
              <a:rPr lang="en-US" altLang="zh-CN" b="1"/>
              <a:t>2.3 </a:t>
            </a:r>
            <a:r>
              <a:rPr lang="zh-CN" altLang="en-US" b="1"/>
              <a:t>信息系统项目的招标与评价</a:t>
            </a:r>
            <a:r>
              <a:rPr lang="zh-CN" altLang="en-US"/>
              <a:t> </a:t>
            </a:r>
          </a:p>
        </p:txBody>
      </p:sp>
      <p:sp>
        <p:nvSpPr>
          <p:cNvPr id="54275" name="Rectangle 3">
            <a:extLst>
              <a:ext uri="{FF2B5EF4-FFF2-40B4-BE49-F238E27FC236}">
                <a16:creationId xmlns:a16="http://schemas.microsoft.com/office/drawing/2014/main" id="{BB77284A-6666-4F89-A743-0EF843196062}"/>
              </a:ext>
            </a:extLst>
          </p:cNvPr>
          <p:cNvSpPr>
            <a:spLocks noGrp="1" noChangeArrowheads="1"/>
          </p:cNvSpPr>
          <p:nvPr>
            <p:ph idx="1"/>
          </p:nvPr>
        </p:nvSpPr>
        <p:spPr>
          <a:xfrm>
            <a:off x="467544" y="1556792"/>
            <a:ext cx="7886700" cy="4351338"/>
          </a:xfrm>
        </p:spPr>
        <p:txBody>
          <a:bodyPr/>
          <a:lstStyle/>
          <a:p>
            <a:pPr marL="609600" indent="-609600" algn="just" eaLnBrk="1" hangingPunct="1"/>
            <a:r>
              <a:rPr lang="en-US" altLang="zh-CN" b="1" dirty="0"/>
              <a:t>2.3.4 </a:t>
            </a:r>
            <a:r>
              <a:rPr lang="en-US" altLang="zh-CN" dirty="0"/>
              <a:t> </a:t>
            </a:r>
            <a:r>
              <a:rPr lang="zh-CN" altLang="en-US" b="1" dirty="0"/>
              <a:t>信息系统项目承包商的选择</a:t>
            </a:r>
          </a:p>
          <a:p>
            <a:pPr marL="609600" indent="-609600" algn="just" eaLnBrk="1" hangingPunct="1"/>
            <a:endParaRPr lang="zh-CN" altLang="en-US" b="1" dirty="0"/>
          </a:p>
          <a:p>
            <a:pPr marL="609600" indent="-609600" algn="just" eaLnBrk="1" hangingPunct="1"/>
            <a:endParaRPr lang="en-US" altLang="zh-CN" dirty="0"/>
          </a:p>
        </p:txBody>
      </p:sp>
      <p:sp>
        <p:nvSpPr>
          <p:cNvPr id="54276" name="Rectangle 4">
            <a:extLst>
              <a:ext uri="{FF2B5EF4-FFF2-40B4-BE49-F238E27FC236}">
                <a16:creationId xmlns:a16="http://schemas.microsoft.com/office/drawing/2014/main" id="{CA1B6ED9-16D1-4B6A-88D6-543336361A42}"/>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4277" name="Line 5">
            <a:extLst>
              <a:ext uri="{FF2B5EF4-FFF2-40B4-BE49-F238E27FC236}">
                <a16:creationId xmlns:a16="http://schemas.microsoft.com/office/drawing/2014/main" id="{B6AC7CB8-A069-4AEB-BBB9-49F07449F1E3}"/>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4278" name="Picture 6">
            <a:extLst>
              <a:ext uri="{FF2B5EF4-FFF2-40B4-BE49-F238E27FC236}">
                <a16:creationId xmlns:a16="http://schemas.microsoft.com/office/drawing/2014/main" id="{8571F2A7-112D-4F2F-A358-D133BA3E1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75" y="2094431"/>
            <a:ext cx="860425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0A9D9009-417E-4E22-95CD-03446A45B9DF}"/>
              </a:ext>
            </a:extLst>
          </p:cNvPr>
          <p:cNvSpPr>
            <a:spLocks noGrp="1" noChangeArrowheads="1"/>
          </p:cNvSpPr>
          <p:nvPr>
            <p:ph type="title"/>
          </p:nvPr>
        </p:nvSpPr>
        <p:spPr/>
        <p:txBody>
          <a:bodyPr/>
          <a:lstStyle/>
          <a:p>
            <a:pPr eaLnBrk="1" hangingPunct="1"/>
            <a:r>
              <a:rPr lang="en-US" altLang="zh-CN" b="1"/>
              <a:t>2.3 </a:t>
            </a:r>
            <a:r>
              <a:rPr lang="zh-CN" altLang="en-US" b="1"/>
              <a:t>信息系统项目的招标与评价</a:t>
            </a:r>
            <a:r>
              <a:rPr lang="zh-CN" altLang="en-US"/>
              <a:t> </a:t>
            </a:r>
          </a:p>
        </p:txBody>
      </p:sp>
      <p:sp>
        <p:nvSpPr>
          <p:cNvPr id="56323" name="Rectangle 3">
            <a:extLst>
              <a:ext uri="{FF2B5EF4-FFF2-40B4-BE49-F238E27FC236}">
                <a16:creationId xmlns:a16="http://schemas.microsoft.com/office/drawing/2014/main" id="{EE8F22A4-BFFD-44FC-99C8-62FF03F0BF4A}"/>
              </a:ext>
            </a:extLst>
          </p:cNvPr>
          <p:cNvSpPr>
            <a:spLocks noGrp="1" noChangeArrowheads="1"/>
          </p:cNvSpPr>
          <p:nvPr>
            <p:ph idx="1"/>
          </p:nvPr>
        </p:nvSpPr>
        <p:spPr>
          <a:xfrm>
            <a:off x="467544" y="1690689"/>
            <a:ext cx="7886700" cy="4351338"/>
          </a:xfrm>
        </p:spPr>
        <p:txBody>
          <a:bodyPr/>
          <a:lstStyle/>
          <a:p>
            <a:pPr marL="609600" indent="-609600" algn="just" eaLnBrk="1" hangingPunct="1">
              <a:lnSpc>
                <a:spcPct val="90000"/>
              </a:lnSpc>
            </a:pPr>
            <a:r>
              <a:rPr lang="en-US" altLang="zh-CN" b="1" dirty="0"/>
              <a:t>2.3.5 </a:t>
            </a:r>
            <a:r>
              <a:rPr lang="en-US" altLang="zh-CN" dirty="0"/>
              <a:t> </a:t>
            </a:r>
            <a:r>
              <a:rPr lang="zh-CN" altLang="en-US" b="1" dirty="0"/>
              <a:t>信息系统项目效益的评价</a:t>
            </a:r>
          </a:p>
          <a:p>
            <a:pPr marL="609600" indent="-609600" algn="just" eaLnBrk="1" hangingPunct="1">
              <a:lnSpc>
                <a:spcPct val="90000"/>
              </a:lnSpc>
            </a:pPr>
            <a:endParaRPr lang="en-US" altLang="zh-CN" sz="2400" dirty="0"/>
          </a:p>
          <a:p>
            <a:pPr marL="609600" indent="-609600" algn="just" eaLnBrk="1" hangingPunct="1">
              <a:lnSpc>
                <a:spcPct val="90000"/>
              </a:lnSpc>
            </a:pPr>
            <a:r>
              <a:rPr lang="en-US" altLang="zh-CN" sz="2400" dirty="0"/>
              <a:t>1. </a:t>
            </a:r>
            <a:r>
              <a:rPr lang="zh-CN" altLang="en-US" sz="2400" dirty="0"/>
              <a:t>前后对比法</a:t>
            </a:r>
          </a:p>
          <a:p>
            <a:pPr marL="990600" lvl="1" indent="-533400" algn="just" eaLnBrk="1" hangingPunct="1">
              <a:lnSpc>
                <a:spcPct val="90000"/>
              </a:lnSpc>
            </a:pPr>
            <a:r>
              <a:rPr lang="zh-CN" altLang="en-US" sz="2400" dirty="0"/>
              <a:t>前后对比是对于信息系统项目“建成并投入使用后”和该项目“建设前”组织的实际绩效进行对比，求得差值得到信息系统项目建设效益的一种方法。 </a:t>
            </a:r>
          </a:p>
          <a:p>
            <a:pPr marL="609600" indent="-609600" algn="just" eaLnBrk="1" hangingPunct="1">
              <a:lnSpc>
                <a:spcPct val="90000"/>
              </a:lnSpc>
            </a:pPr>
            <a:endParaRPr lang="en-US" altLang="zh-CN" sz="2400" dirty="0"/>
          </a:p>
          <a:p>
            <a:pPr marL="609600" indent="-609600" algn="just" eaLnBrk="1" hangingPunct="1">
              <a:lnSpc>
                <a:spcPct val="90000"/>
              </a:lnSpc>
            </a:pPr>
            <a:r>
              <a:rPr lang="en-US" altLang="zh-CN" sz="2400" dirty="0"/>
              <a:t>2. </a:t>
            </a:r>
            <a:r>
              <a:rPr lang="zh-CN" altLang="en-US" sz="2400" dirty="0"/>
              <a:t>有无对比法</a:t>
            </a:r>
          </a:p>
          <a:p>
            <a:pPr marL="990600" lvl="1" indent="-533400" algn="just" eaLnBrk="1" hangingPunct="1">
              <a:lnSpc>
                <a:spcPct val="90000"/>
              </a:lnSpc>
            </a:pPr>
            <a:r>
              <a:rPr lang="zh-CN" altLang="en-US" sz="2400" dirty="0"/>
              <a:t>有无对比是对于项目建设后产生的实际影响和效果，和假设没有本项目可能发生的情况进行对比。</a:t>
            </a:r>
          </a:p>
          <a:p>
            <a:pPr marL="609600" indent="-609600" algn="just" eaLnBrk="1" hangingPunct="1">
              <a:lnSpc>
                <a:spcPct val="90000"/>
              </a:lnSpc>
            </a:pPr>
            <a:endParaRPr lang="en-US" altLang="zh-CN" dirty="0"/>
          </a:p>
        </p:txBody>
      </p:sp>
      <p:sp>
        <p:nvSpPr>
          <p:cNvPr id="56324" name="Rectangle 4">
            <a:extLst>
              <a:ext uri="{FF2B5EF4-FFF2-40B4-BE49-F238E27FC236}">
                <a16:creationId xmlns:a16="http://schemas.microsoft.com/office/drawing/2014/main" id="{0ECF949C-29AD-40EC-B33B-0310CDEAD7C6}"/>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6325" name="Line 5">
            <a:extLst>
              <a:ext uri="{FF2B5EF4-FFF2-40B4-BE49-F238E27FC236}">
                <a16:creationId xmlns:a16="http://schemas.microsoft.com/office/drawing/2014/main" id="{1BC09C3B-01FB-48A2-80BC-287DAB5A6981}"/>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9F70DEAE-EB27-4FA9-A4A8-5089D554BC37}"/>
              </a:ext>
            </a:extLst>
          </p:cNvPr>
          <p:cNvSpPr>
            <a:spLocks noGrp="1" noChangeArrowheads="1"/>
          </p:cNvSpPr>
          <p:nvPr>
            <p:ph type="title"/>
          </p:nvPr>
        </p:nvSpPr>
        <p:spPr/>
        <p:txBody>
          <a:bodyPr/>
          <a:lstStyle/>
          <a:p>
            <a:pPr algn="l" eaLnBrk="1" hangingPunct="1"/>
            <a:r>
              <a:rPr lang="en-US" altLang="zh-CN" b="1"/>
              <a:t>2.4 </a:t>
            </a:r>
            <a:r>
              <a:rPr lang="zh-CN" altLang="en-US" b="1"/>
              <a:t>信息系统项目的合同</a:t>
            </a:r>
          </a:p>
        </p:txBody>
      </p:sp>
      <p:sp>
        <p:nvSpPr>
          <p:cNvPr id="58371" name="Rectangle 3">
            <a:extLst>
              <a:ext uri="{FF2B5EF4-FFF2-40B4-BE49-F238E27FC236}">
                <a16:creationId xmlns:a16="http://schemas.microsoft.com/office/drawing/2014/main" id="{7A2689C9-2410-40D5-BCA9-50BF7251F332}"/>
              </a:ext>
            </a:extLst>
          </p:cNvPr>
          <p:cNvSpPr>
            <a:spLocks noGrp="1" noChangeArrowheads="1"/>
          </p:cNvSpPr>
          <p:nvPr>
            <p:ph idx="1"/>
          </p:nvPr>
        </p:nvSpPr>
        <p:spPr>
          <a:xfrm>
            <a:off x="628650" y="1825625"/>
            <a:ext cx="7886700" cy="3403575"/>
          </a:xfrm>
        </p:spPr>
        <p:txBody>
          <a:bodyPr>
            <a:noAutofit/>
          </a:bodyPr>
          <a:lstStyle/>
          <a:p>
            <a:pPr eaLnBrk="1" hangingPunct="1"/>
            <a:r>
              <a:rPr lang="zh-CN" altLang="en-US" sz="2400" dirty="0"/>
              <a:t>信息系统项目的建设方选定之后，项目的投资方就必须尽快和建设方签订合同，并且尽快启动项目。</a:t>
            </a:r>
            <a:endParaRPr lang="en-US" altLang="zh-CN" sz="2400" dirty="0"/>
          </a:p>
          <a:p>
            <a:pPr eaLnBrk="1" hangingPunct="1"/>
            <a:r>
              <a:rPr lang="zh-CN" altLang="en-US" sz="2400" dirty="0"/>
              <a:t>一份完善的合同对信息系统项目的成功至关重要。</a:t>
            </a:r>
          </a:p>
          <a:p>
            <a:pPr lvl="1" eaLnBrk="1" hangingPunct="1"/>
            <a:r>
              <a:rPr lang="zh-CN" altLang="en-US" sz="2400" dirty="0"/>
              <a:t>合同应当保障实现客户和承包商二者的目标，对待双方都应公平合理</a:t>
            </a:r>
          </a:p>
          <a:p>
            <a:pPr lvl="1" eaLnBrk="1" hangingPunct="1"/>
            <a:r>
              <a:rPr lang="zh-CN" altLang="en-US" sz="2400" dirty="0"/>
              <a:t>合同的内容要清楚明了</a:t>
            </a:r>
            <a:r>
              <a:rPr lang="en-US" altLang="zh-CN" sz="2400" dirty="0"/>
              <a:t>,</a:t>
            </a:r>
            <a:r>
              <a:rPr lang="zh-CN" altLang="en-US" sz="2400" dirty="0"/>
              <a:t>合同必须是客户和承包商双赢的结果</a:t>
            </a:r>
          </a:p>
          <a:p>
            <a:pPr lvl="1" eaLnBrk="1" hangingPunct="1"/>
            <a:r>
              <a:rPr lang="zh-CN" altLang="en-US" sz="2400" dirty="0"/>
              <a:t>必须有足够的柔性，以涵盖业务中的变化</a:t>
            </a:r>
          </a:p>
        </p:txBody>
      </p:sp>
      <p:sp>
        <p:nvSpPr>
          <p:cNvPr id="58372" name="Rectangle 4">
            <a:extLst>
              <a:ext uri="{FF2B5EF4-FFF2-40B4-BE49-F238E27FC236}">
                <a16:creationId xmlns:a16="http://schemas.microsoft.com/office/drawing/2014/main" id="{3D6D1A40-1A3B-4658-82C9-5CF6A4A8795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8373" name="Line 5">
            <a:extLst>
              <a:ext uri="{FF2B5EF4-FFF2-40B4-BE49-F238E27FC236}">
                <a16:creationId xmlns:a16="http://schemas.microsoft.com/office/drawing/2014/main" id="{9D255847-9805-41CE-ACA8-5CE12516D806}"/>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AAF3BCB7-C990-4034-BDB8-AEA4C4C403D7}"/>
              </a:ext>
            </a:extLst>
          </p:cNvPr>
          <p:cNvSpPr>
            <a:spLocks noGrp="1" noChangeArrowheads="1"/>
          </p:cNvSpPr>
          <p:nvPr>
            <p:ph type="title"/>
          </p:nvPr>
        </p:nvSpPr>
        <p:spPr/>
        <p:txBody>
          <a:bodyPr/>
          <a:lstStyle/>
          <a:p>
            <a:pPr algn="l" eaLnBrk="1" hangingPunct="1"/>
            <a:r>
              <a:rPr lang="en-US" altLang="zh-CN" sz="4000" b="1"/>
              <a:t>2.4.1</a:t>
            </a:r>
            <a:r>
              <a:rPr lang="zh-CN" altLang="en-US" sz="4000" b="1"/>
              <a:t>合同的一般格式与主要内容</a:t>
            </a:r>
            <a:r>
              <a:rPr lang="zh-CN" altLang="en-US" sz="4000"/>
              <a:t> </a:t>
            </a:r>
          </a:p>
        </p:txBody>
      </p:sp>
      <p:sp>
        <p:nvSpPr>
          <p:cNvPr id="60419" name="Rectangle 3">
            <a:extLst>
              <a:ext uri="{FF2B5EF4-FFF2-40B4-BE49-F238E27FC236}">
                <a16:creationId xmlns:a16="http://schemas.microsoft.com/office/drawing/2014/main" id="{5F238CE0-6F94-4CB1-AB2C-DFE13BAA7111}"/>
              </a:ext>
            </a:extLst>
          </p:cNvPr>
          <p:cNvSpPr>
            <a:spLocks noGrp="1" noChangeArrowheads="1"/>
          </p:cNvSpPr>
          <p:nvPr>
            <p:ph idx="1"/>
          </p:nvPr>
        </p:nvSpPr>
        <p:spPr/>
        <p:txBody>
          <a:bodyPr/>
          <a:lstStyle/>
          <a:p>
            <a:pPr eaLnBrk="1" hangingPunct="1">
              <a:lnSpc>
                <a:spcPct val="90000"/>
              </a:lnSpc>
            </a:pPr>
            <a:r>
              <a:rPr lang="en-US" altLang="zh-CN" sz="2400" dirty="0"/>
              <a:t>1 .</a:t>
            </a:r>
            <a:r>
              <a:rPr lang="zh-CN" altLang="en-US" sz="2400" dirty="0"/>
              <a:t>标定的范围</a:t>
            </a:r>
          </a:p>
          <a:p>
            <a:pPr eaLnBrk="1" hangingPunct="1">
              <a:lnSpc>
                <a:spcPct val="90000"/>
              </a:lnSpc>
            </a:pPr>
            <a:r>
              <a:rPr lang="en-US" altLang="zh-CN" sz="2400" dirty="0"/>
              <a:t>2. </a:t>
            </a:r>
            <a:r>
              <a:rPr lang="zh-CN" altLang="en-US" sz="2400" dirty="0"/>
              <a:t>合同期限 </a:t>
            </a:r>
          </a:p>
          <a:p>
            <a:pPr eaLnBrk="1" hangingPunct="1">
              <a:lnSpc>
                <a:spcPct val="90000"/>
              </a:lnSpc>
            </a:pPr>
            <a:r>
              <a:rPr lang="en-US" altLang="zh-CN" sz="2400" dirty="0"/>
              <a:t>3. </a:t>
            </a:r>
            <a:r>
              <a:rPr lang="zh-CN" altLang="en-US" sz="2400" dirty="0"/>
              <a:t>费用</a:t>
            </a:r>
          </a:p>
          <a:p>
            <a:pPr eaLnBrk="1" hangingPunct="1">
              <a:lnSpc>
                <a:spcPct val="90000"/>
              </a:lnSpc>
            </a:pPr>
            <a:r>
              <a:rPr lang="en-US" altLang="zh-CN" sz="2400" dirty="0"/>
              <a:t>4. </a:t>
            </a:r>
            <a:r>
              <a:rPr lang="zh-CN" altLang="en-US" sz="2400" dirty="0"/>
              <a:t>进度和质量</a:t>
            </a:r>
          </a:p>
          <a:p>
            <a:pPr eaLnBrk="1" hangingPunct="1">
              <a:lnSpc>
                <a:spcPct val="90000"/>
              </a:lnSpc>
            </a:pPr>
            <a:r>
              <a:rPr lang="en-US" altLang="zh-CN" sz="2400" dirty="0"/>
              <a:t>5. </a:t>
            </a:r>
            <a:r>
              <a:rPr lang="zh-CN" altLang="en-US" sz="2400" dirty="0"/>
              <a:t>争议的解决</a:t>
            </a:r>
          </a:p>
          <a:p>
            <a:pPr eaLnBrk="1" hangingPunct="1">
              <a:lnSpc>
                <a:spcPct val="90000"/>
              </a:lnSpc>
            </a:pPr>
            <a:r>
              <a:rPr lang="en-US" altLang="zh-CN" sz="2400" dirty="0"/>
              <a:t>6. </a:t>
            </a:r>
            <a:r>
              <a:rPr lang="zh-CN" altLang="en-US" sz="2400" dirty="0"/>
              <a:t>保证和责任的限定</a:t>
            </a:r>
          </a:p>
          <a:p>
            <a:pPr eaLnBrk="1" hangingPunct="1">
              <a:lnSpc>
                <a:spcPct val="90000"/>
              </a:lnSpc>
            </a:pPr>
            <a:r>
              <a:rPr lang="en-US" altLang="zh-CN" sz="2400" dirty="0"/>
              <a:t>7. </a:t>
            </a:r>
            <a:r>
              <a:rPr lang="zh-CN" altLang="en-US" sz="2400" dirty="0"/>
              <a:t>合同到期和终止</a:t>
            </a:r>
          </a:p>
          <a:p>
            <a:pPr eaLnBrk="1" hangingPunct="1">
              <a:lnSpc>
                <a:spcPct val="90000"/>
              </a:lnSpc>
            </a:pPr>
            <a:r>
              <a:rPr lang="en-US" altLang="zh-CN" sz="2400" dirty="0"/>
              <a:t>8. </a:t>
            </a:r>
            <a:r>
              <a:rPr lang="zh-CN" altLang="en-US" sz="2400" dirty="0"/>
              <a:t>其他条款。变更、知识产权、分包、保密、不可抗力等  条款。 </a:t>
            </a:r>
          </a:p>
        </p:txBody>
      </p:sp>
      <p:sp>
        <p:nvSpPr>
          <p:cNvPr id="60420" name="Rectangle 4">
            <a:extLst>
              <a:ext uri="{FF2B5EF4-FFF2-40B4-BE49-F238E27FC236}">
                <a16:creationId xmlns:a16="http://schemas.microsoft.com/office/drawing/2014/main" id="{D627E07A-F408-4E0A-96F1-FBB38F236BA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0421" name="Line 5">
            <a:extLst>
              <a:ext uri="{FF2B5EF4-FFF2-40B4-BE49-F238E27FC236}">
                <a16:creationId xmlns:a16="http://schemas.microsoft.com/office/drawing/2014/main" id="{7104A8EB-3E2F-4FD9-AA07-86D820CC79F3}"/>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49876202-6847-43A8-B49F-FBB5398CC2EB}"/>
              </a:ext>
            </a:extLst>
          </p:cNvPr>
          <p:cNvSpPr>
            <a:spLocks noGrp="1" noChangeArrowheads="1"/>
          </p:cNvSpPr>
          <p:nvPr>
            <p:ph type="title"/>
          </p:nvPr>
        </p:nvSpPr>
        <p:spPr/>
        <p:txBody>
          <a:bodyPr/>
          <a:lstStyle/>
          <a:p>
            <a:pPr algn="l" eaLnBrk="1" hangingPunct="1"/>
            <a:r>
              <a:rPr lang="en-US" altLang="zh-CN" sz="4000" b="1"/>
              <a:t>2.4.2  </a:t>
            </a:r>
            <a:r>
              <a:rPr lang="zh-CN" altLang="en-US" sz="4000" b="1"/>
              <a:t>合同中的非价格条款</a:t>
            </a:r>
          </a:p>
        </p:txBody>
      </p:sp>
      <p:sp>
        <p:nvSpPr>
          <p:cNvPr id="62467" name="Rectangle 3">
            <a:extLst>
              <a:ext uri="{FF2B5EF4-FFF2-40B4-BE49-F238E27FC236}">
                <a16:creationId xmlns:a16="http://schemas.microsoft.com/office/drawing/2014/main" id="{79FC0E04-05ED-441D-8BCB-9136C76106F4}"/>
              </a:ext>
            </a:extLst>
          </p:cNvPr>
          <p:cNvSpPr>
            <a:spLocks noGrp="1" noChangeArrowheads="1"/>
          </p:cNvSpPr>
          <p:nvPr>
            <p:ph idx="1"/>
          </p:nvPr>
        </p:nvSpPr>
        <p:spPr/>
        <p:txBody>
          <a:bodyPr/>
          <a:lstStyle/>
          <a:p>
            <a:pPr eaLnBrk="1" hangingPunct="1">
              <a:lnSpc>
                <a:spcPct val="90000"/>
              </a:lnSpc>
            </a:pPr>
            <a:r>
              <a:rPr lang="zh-CN" altLang="en-US" sz="2400" dirty="0"/>
              <a:t>（</a:t>
            </a:r>
            <a:r>
              <a:rPr lang="en-US" altLang="zh-CN" sz="2400" dirty="0"/>
              <a:t>1</a:t>
            </a:r>
            <a:r>
              <a:rPr lang="zh-CN" altLang="en-US" sz="2400" dirty="0"/>
              <a:t>）成本超支或进度延迟的通知条款</a:t>
            </a:r>
          </a:p>
          <a:p>
            <a:pPr eaLnBrk="1" hangingPunct="1">
              <a:lnSpc>
                <a:spcPct val="90000"/>
              </a:lnSpc>
            </a:pPr>
            <a:r>
              <a:rPr lang="zh-CN" altLang="en-US" sz="2400" dirty="0"/>
              <a:t>（</a:t>
            </a:r>
            <a:r>
              <a:rPr lang="en-US" altLang="zh-CN" sz="2400" dirty="0"/>
              <a:t>2</a:t>
            </a:r>
            <a:r>
              <a:rPr lang="zh-CN" altLang="en-US" sz="2400" dirty="0"/>
              <a:t>）分包的限制条款</a:t>
            </a:r>
          </a:p>
          <a:p>
            <a:pPr eaLnBrk="1" hangingPunct="1">
              <a:lnSpc>
                <a:spcPct val="90000"/>
              </a:lnSpc>
            </a:pPr>
            <a:r>
              <a:rPr lang="zh-CN" altLang="en-US" sz="2400" dirty="0"/>
              <a:t>（</a:t>
            </a:r>
            <a:r>
              <a:rPr lang="en-US" altLang="zh-CN" sz="2400" dirty="0"/>
              <a:t>3</a:t>
            </a:r>
            <a:r>
              <a:rPr lang="zh-CN" altLang="en-US" sz="2400" dirty="0"/>
              <a:t>）明确用户承担配合义务的条款</a:t>
            </a:r>
          </a:p>
          <a:p>
            <a:pPr eaLnBrk="1" hangingPunct="1">
              <a:lnSpc>
                <a:spcPct val="90000"/>
              </a:lnSpc>
            </a:pPr>
            <a:r>
              <a:rPr lang="zh-CN" altLang="en-US" sz="2400" dirty="0"/>
              <a:t>（</a:t>
            </a:r>
            <a:r>
              <a:rPr lang="en-US" altLang="zh-CN" sz="2400" dirty="0"/>
              <a:t>4</a:t>
            </a:r>
            <a:r>
              <a:rPr lang="zh-CN" altLang="en-US" sz="2400" dirty="0"/>
              <a:t>）有关知识产权的条款。在建设信息系统过程中产生的知识或软件的所有权的问题必须明确。</a:t>
            </a:r>
          </a:p>
          <a:p>
            <a:pPr eaLnBrk="1" hangingPunct="1">
              <a:lnSpc>
                <a:spcPct val="90000"/>
              </a:lnSpc>
            </a:pPr>
            <a:r>
              <a:rPr lang="zh-CN" altLang="en-US" sz="2400" dirty="0"/>
              <a:t>（</a:t>
            </a:r>
            <a:r>
              <a:rPr lang="en-US" altLang="zh-CN" sz="2400" dirty="0"/>
              <a:t>5</a:t>
            </a:r>
            <a:r>
              <a:rPr lang="zh-CN" altLang="en-US" sz="2400" dirty="0"/>
              <a:t>）有关保密协议的条款</a:t>
            </a:r>
          </a:p>
          <a:p>
            <a:pPr eaLnBrk="1" hangingPunct="1">
              <a:lnSpc>
                <a:spcPct val="90000"/>
              </a:lnSpc>
            </a:pPr>
            <a:r>
              <a:rPr lang="zh-CN" altLang="en-US" sz="2400" dirty="0"/>
              <a:t>（</a:t>
            </a:r>
            <a:r>
              <a:rPr lang="en-US" altLang="zh-CN" sz="2400" dirty="0"/>
              <a:t>6</a:t>
            </a:r>
            <a:r>
              <a:rPr lang="zh-CN" altLang="en-US" sz="2400" dirty="0"/>
              <a:t>）付款方式的条款</a:t>
            </a:r>
          </a:p>
          <a:p>
            <a:pPr eaLnBrk="1" hangingPunct="1">
              <a:lnSpc>
                <a:spcPct val="90000"/>
              </a:lnSpc>
            </a:pPr>
            <a:r>
              <a:rPr lang="zh-CN" altLang="en-US" sz="2400" dirty="0"/>
              <a:t>（</a:t>
            </a:r>
            <a:r>
              <a:rPr lang="en-US" altLang="zh-CN" sz="2400" dirty="0"/>
              <a:t>7</a:t>
            </a:r>
            <a:r>
              <a:rPr lang="zh-CN" altLang="en-US" sz="2400" dirty="0"/>
              <a:t>）有关奖罚的条款。 </a:t>
            </a:r>
          </a:p>
        </p:txBody>
      </p:sp>
      <p:sp>
        <p:nvSpPr>
          <p:cNvPr id="62468" name="Rectangle 4">
            <a:extLst>
              <a:ext uri="{FF2B5EF4-FFF2-40B4-BE49-F238E27FC236}">
                <a16:creationId xmlns:a16="http://schemas.microsoft.com/office/drawing/2014/main" id="{86EFF758-EF57-450D-8CD2-15E54C0BD48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2469" name="Line 5">
            <a:extLst>
              <a:ext uri="{FF2B5EF4-FFF2-40B4-BE49-F238E27FC236}">
                <a16:creationId xmlns:a16="http://schemas.microsoft.com/office/drawing/2014/main" id="{7A78C5CB-AD2C-42F0-B480-24E37993120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p:txBody>
          <a:bodyPr/>
          <a:lstStyle/>
          <a:p>
            <a:pPr algn="just" eaLnBrk="1" hangingPunct="1"/>
            <a:r>
              <a:rPr lang="en-US" altLang="zh-CN" sz="2400" dirty="0"/>
              <a:t>1. </a:t>
            </a:r>
            <a:r>
              <a:rPr lang="zh-CN" altLang="en-US" sz="2400" dirty="0"/>
              <a:t>项目章程的颁布</a:t>
            </a:r>
            <a:endParaRPr lang="en-US" altLang="zh-CN" sz="2400" dirty="0"/>
          </a:p>
          <a:p>
            <a:pPr algn="just" eaLnBrk="1" hangingPunct="1"/>
            <a:r>
              <a:rPr lang="en-US" altLang="zh-CN" sz="2400" dirty="0"/>
              <a:t>2. </a:t>
            </a:r>
            <a:r>
              <a:rPr lang="zh-CN" altLang="en-US" sz="2400" dirty="0"/>
              <a:t>合同的管理</a:t>
            </a:r>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a:xfrm>
            <a:off x="539552" y="1825624"/>
            <a:ext cx="8280920" cy="4483695"/>
          </a:xfrm>
        </p:spPr>
        <p:txBody>
          <a:bodyPr>
            <a:noAutofit/>
          </a:bodyPr>
          <a:lstStyle/>
          <a:p>
            <a:pPr algn="just" eaLnBrk="1" hangingPunct="1"/>
            <a:r>
              <a:rPr lang="en-US" altLang="zh-CN" sz="2400" dirty="0"/>
              <a:t>1. </a:t>
            </a:r>
            <a:r>
              <a:rPr lang="zh-CN" altLang="en-US" sz="2400" dirty="0"/>
              <a:t>项目章程的颁布</a:t>
            </a:r>
            <a:endParaRPr lang="en-US" altLang="zh-CN" sz="2400" dirty="0"/>
          </a:p>
          <a:p>
            <a:pPr marL="0" indent="0" algn="just" eaLnBrk="1" hangingPunct="1">
              <a:buNone/>
            </a:pPr>
            <a:r>
              <a:rPr lang="zh-CN" altLang="en-US" sz="2400" dirty="0"/>
              <a:t>立项完成的标志就是</a:t>
            </a:r>
            <a:r>
              <a:rPr lang="zh-CN" altLang="en-US" sz="2400" dirty="0">
                <a:solidFill>
                  <a:srgbClr val="FF0000"/>
                </a:solidFill>
              </a:rPr>
              <a:t>项目章程的颁布</a:t>
            </a:r>
            <a:r>
              <a:rPr lang="zh-CN" altLang="en-US" sz="2400" dirty="0"/>
              <a:t>，同时执行项目，开始对项目进行管理。</a:t>
            </a:r>
            <a:endParaRPr lang="en-US" altLang="zh-CN" sz="2400" dirty="0"/>
          </a:p>
          <a:p>
            <a:pPr marL="0" indent="0" algn="just">
              <a:buNone/>
            </a:pPr>
            <a:r>
              <a:rPr lang="zh-CN" altLang="en-US" sz="2400" dirty="0"/>
              <a:t>项目管理的十大知识领域：</a:t>
            </a:r>
            <a:r>
              <a:rPr lang="zh-CN" altLang="en-US" sz="2400" dirty="0">
                <a:solidFill>
                  <a:srgbClr val="FF0000"/>
                </a:solidFill>
              </a:rPr>
              <a:t>项目整体管理、项目范围管理、项目时间管理、项目费用管理、项目质量管理、项目人力资源管理、项目沟通管理、项目风险管理、项目采购管理和项目干系人管理</a:t>
            </a:r>
            <a:r>
              <a:rPr lang="zh-CN" altLang="en-US" sz="2400" dirty="0"/>
              <a:t>；</a:t>
            </a:r>
            <a:endParaRPr lang="en-US" altLang="zh-CN" sz="2400" dirty="0"/>
          </a:p>
          <a:p>
            <a:pPr marL="0" indent="0" algn="just" eaLnBrk="1" hangingPunct="1">
              <a:buNone/>
            </a:pPr>
            <a:endParaRPr lang="en-US" altLang="zh-CN" sz="2400" dirty="0"/>
          </a:p>
          <a:p>
            <a:pPr marL="0" indent="0" algn="just" eaLnBrk="1" hangingPunct="1">
              <a:buNone/>
            </a:pPr>
            <a:endParaRPr lang="en-US" altLang="zh-CN" sz="2400" dirty="0"/>
          </a:p>
          <a:p>
            <a:pPr marL="0" indent="0" algn="just" eaLnBrk="1" hangingPunct="1">
              <a:buNone/>
            </a:pPr>
            <a:endParaRPr lang="en-US" altLang="zh-CN" sz="2400" dirty="0"/>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03343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a:extLst>
              <a:ext uri="{FF2B5EF4-FFF2-40B4-BE49-F238E27FC236}">
                <a16:creationId xmlns:a16="http://schemas.microsoft.com/office/drawing/2014/main" id="{B7A2561F-AD9C-406D-9BF4-2B91723B9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44463"/>
            <a:ext cx="6624637"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27845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a:xfrm>
            <a:off x="539552" y="1825624"/>
            <a:ext cx="8280920" cy="4483695"/>
          </a:xfrm>
        </p:spPr>
        <p:txBody>
          <a:bodyPr>
            <a:noAutofit/>
          </a:bodyPr>
          <a:lstStyle/>
          <a:p>
            <a:pPr marL="0" indent="0" algn="just">
              <a:buNone/>
            </a:pPr>
            <a:r>
              <a:rPr lang="zh-CN" altLang="en-US" sz="2400" dirty="0"/>
              <a:t>五大管理过程组：</a:t>
            </a:r>
            <a:endParaRPr lang="en-US" altLang="zh-CN" sz="2400" dirty="0"/>
          </a:p>
          <a:p>
            <a:pPr marL="0" indent="0" algn="just">
              <a:buNone/>
            </a:pPr>
            <a:r>
              <a:rPr lang="en-US" altLang="zh-CN" sz="2400" dirty="0">
                <a:solidFill>
                  <a:srgbClr val="FF0000"/>
                </a:solidFill>
                <a:latin typeface="Times New Roman" panose="02020603050405020304" pitchFamily="18" charset="0"/>
                <a:ea typeface="黑体" panose="02010609060101010101" pitchFamily="49" charset="-122"/>
              </a:rPr>
              <a:t>(1)</a:t>
            </a:r>
            <a:r>
              <a:rPr lang="zh-CN" altLang="en-US" sz="2400" dirty="0">
                <a:solidFill>
                  <a:srgbClr val="FF0000"/>
                </a:solidFill>
                <a:latin typeface="Times New Roman" panose="02020603050405020304" pitchFamily="18" charset="0"/>
                <a:ea typeface="黑体" panose="02010609060101010101" pitchFamily="49" charset="-122"/>
              </a:rPr>
              <a:t>启动过程组</a:t>
            </a:r>
            <a:r>
              <a:rPr lang="zh-CN" altLang="en-US" sz="2400" dirty="0">
                <a:latin typeface="Times New Roman" panose="02020603050405020304" pitchFamily="18" charset="0"/>
                <a:ea typeface="黑体" panose="02010609060101010101" pitchFamily="49" charset="-122"/>
              </a:rPr>
              <a:t>：定义了新项目或者现有项目的新阶段，启动过程组授权一个项目或者阶段的开始；</a:t>
            </a:r>
            <a:endParaRPr lang="en-US" altLang="zh-CN" sz="2400" dirty="0">
              <a:latin typeface="Times New Roman" panose="02020603050405020304" pitchFamily="18" charset="0"/>
              <a:ea typeface="黑体" panose="02010609060101010101" pitchFamily="49" charset="-122"/>
            </a:endParaRPr>
          </a:p>
          <a:p>
            <a:pPr marL="0" indent="0" algn="just">
              <a:buNone/>
            </a:pPr>
            <a:r>
              <a:rPr lang="en-US" altLang="zh-CN" sz="2400" dirty="0">
                <a:solidFill>
                  <a:srgbClr val="FF0000"/>
                </a:solidFill>
                <a:latin typeface="Times New Roman" panose="02020603050405020304" pitchFamily="18" charset="0"/>
                <a:ea typeface="黑体" panose="02010609060101010101" pitchFamily="49" charset="-122"/>
              </a:rPr>
              <a:t>(2)</a:t>
            </a:r>
            <a:r>
              <a:rPr lang="zh-CN" altLang="en-US" sz="2400" dirty="0">
                <a:solidFill>
                  <a:srgbClr val="FF0000"/>
                </a:solidFill>
                <a:latin typeface="Times New Roman" panose="02020603050405020304" pitchFamily="18" charset="0"/>
                <a:ea typeface="黑体" panose="02010609060101010101" pitchFamily="49" charset="-122"/>
              </a:rPr>
              <a:t>计划过程组</a:t>
            </a:r>
            <a:r>
              <a:rPr lang="zh-CN" altLang="en-US" sz="2400" dirty="0">
                <a:latin typeface="Times New Roman" panose="02020603050405020304" pitchFamily="18" charset="0"/>
                <a:ea typeface="黑体" panose="02010609060101010101" pitchFamily="49" charset="-122"/>
              </a:rPr>
              <a:t>：明确项目范围、优化目标，并为实现目标制定行动计划；</a:t>
            </a:r>
            <a:endParaRPr lang="en-US" altLang="zh-CN" sz="2400" dirty="0">
              <a:latin typeface="Times New Roman" panose="02020603050405020304" pitchFamily="18" charset="0"/>
              <a:ea typeface="黑体" panose="02010609060101010101" pitchFamily="49" charset="-122"/>
            </a:endParaRPr>
          </a:p>
          <a:p>
            <a:pPr marL="0" indent="0" algn="just">
              <a:buNone/>
            </a:pPr>
            <a:r>
              <a:rPr lang="en-US" altLang="zh-CN" sz="2400" dirty="0">
                <a:solidFill>
                  <a:srgbClr val="FF0000"/>
                </a:solidFill>
                <a:latin typeface="Times New Roman" panose="02020603050405020304" pitchFamily="18" charset="0"/>
                <a:ea typeface="黑体" panose="02010609060101010101" pitchFamily="49" charset="-122"/>
              </a:rPr>
              <a:t>(3)</a:t>
            </a:r>
            <a:r>
              <a:rPr lang="zh-CN" altLang="en-US" sz="2400" dirty="0">
                <a:solidFill>
                  <a:srgbClr val="FF0000"/>
                </a:solidFill>
                <a:latin typeface="Times New Roman" panose="02020603050405020304" pitchFamily="18" charset="0"/>
                <a:ea typeface="黑体" panose="02010609060101010101" pitchFamily="49" charset="-122"/>
              </a:rPr>
              <a:t>执行过程组</a:t>
            </a:r>
            <a:r>
              <a:rPr lang="zh-CN" altLang="en-US" sz="2400" dirty="0">
                <a:latin typeface="Times New Roman" panose="02020603050405020304" pitchFamily="18" charset="0"/>
                <a:ea typeface="黑体" panose="02010609060101010101" pitchFamily="49" charset="-122"/>
              </a:rPr>
              <a:t>：完成项目管理计划中明确的工作，以满足项目要求；</a:t>
            </a:r>
            <a:endParaRPr lang="en-US" altLang="zh-CN" sz="2400" dirty="0">
              <a:latin typeface="Times New Roman" panose="02020603050405020304" pitchFamily="18" charset="0"/>
              <a:ea typeface="黑体" panose="02010609060101010101" pitchFamily="49" charset="-122"/>
            </a:endParaRPr>
          </a:p>
          <a:p>
            <a:pPr marL="0" indent="0" algn="just">
              <a:buNone/>
            </a:pPr>
            <a:r>
              <a:rPr lang="en-US" altLang="zh-CN" sz="2400" dirty="0">
                <a:solidFill>
                  <a:srgbClr val="FF0000"/>
                </a:solidFill>
                <a:latin typeface="Times New Roman" panose="02020603050405020304" pitchFamily="18" charset="0"/>
                <a:ea typeface="黑体" panose="02010609060101010101" pitchFamily="49" charset="-122"/>
              </a:rPr>
              <a:t>(4)</a:t>
            </a:r>
            <a:r>
              <a:rPr lang="zh-CN" altLang="en-US" sz="2400" dirty="0">
                <a:solidFill>
                  <a:srgbClr val="FF0000"/>
                </a:solidFill>
                <a:latin typeface="Times New Roman" panose="02020603050405020304" pitchFamily="18" charset="0"/>
                <a:ea typeface="黑体" panose="02010609060101010101" pitchFamily="49" charset="-122"/>
              </a:rPr>
              <a:t>控制过程组</a:t>
            </a:r>
            <a:r>
              <a:rPr lang="zh-CN" altLang="en-US" sz="2400" dirty="0">
                <a:latin typeface="Times New Roman" panose="02020603050405020304" pitchFamily="18" charset="0"/>
                <a:ea typeface="黑体" panose="02010609060101010101" pitchFamily="49" charset="-122"/>
              </a:rPr>
              <a:t>：跟踪、审查和调整项目进度和绩效，识别变更并启动相应的变更；</a:t>
            </a:r>
            <a:endParaRPr lang="en-US" altLang="zh-CN" sz="2400" dirty="0">
              <a:latin typeface="Times New Roman" panose="02020603050405020304" pitchFamily="18" charset="0"/>
              <a:ea typeface="黑体" panose="02010609060101010101" pitchFamily="49" charset="-122"/>
            </a:endParaRPr>
          </a:p>
          <a:p>
            <a:pPr marL="0" indent="0" algn="just">
              <a:buNone/>
            </a:pPr>
            <a:r>
              <a:rPr lang="en-US" altLang="zh-CN" sz="2400" dirty="0">
                <a:solidFill>
                  <a:srgbClr val="FF0000"/>
                </a:solidFill>
                <a:latin typeface="Times New Roman" panose="02020603050405020304" pitchFamily="18" charset="0"/>
                <a:ea typeface="黑体" panose="02010609060101010101" pitchFamily="49" charset="-122"/>
              </a:rPr>
              <a:t>(5)</a:t>
            </a:r>
            <a:r>
              <a:rPr lang="zh-CN" altLang="en-US" sz="2400" dirty="0">
                <a:solidFill>
                  <a:srgbClr val="FF0000"/>
                </a:solidFill>
                <a:latin typeface="Times New Roman" panose="02020603050405020304" pitchFamily="18" charset="0"/>
                <a:ea typeface="黑体" panose="02010609060101010101" pitchFamily="49" charset="-122"/>
              </a:rPr>
              <a:t>收尾过程组</a:t>
            </a:r>
            <a:r>
              <a:rPr lang="zh-CN" altLang="en-US" sz="2400" dirty="0">
                <a:latin typeface="Times New Roman" panose="02020603050405020304" pitchFamily="18" charset="0"/>
                <a:ea typeface="黑体" panose="02010609060101010101" pitchFamily="49" charset="-122"/>
              </a:rPr>
              <a:t>：正式完成或者结束项目、阶段和合同。</a:t>
            </a:r>
            <a:endParaRPr lang="en-US" altLang="zh-CN" sz="2400" b="1" dirty="0"/>
          </a:p>
          <a:p>
            <a:pPr marL="0" indent="0" algn="just" eaLnBrk="1" hangingPunct="1">
              <a:buNone/>
            </a:pPr>
            <a:endParaRPr lang="en-US" altLang="zh-CN" sz="2400" dirty="0"/>
          </a:p>
          <a:p>
            <a:pPr marL="0" indent="0" algn="just" eaLnBrk="1" hangingPunct="1">
              <a:buNone/>
            </a:pPr>
            <a:endParaRPr lang="en-US" altLang="zh-CN" sz="2400" dirty="0"/>
          </a:p>
          <a:p>
            <a:pPr marL="0" indent="0" algn="just" eaLnBrk="1" hangingPunct="1">
              <a:buNone/>
            </a:pPr>
            <a:endParaRPr lang="en-US" altLang="zh-CN" sz="2400" dirty="0"/>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2918895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 name="图片 1">
            <a:extLst>
              <a:ext uri="{FF2B5EF4-FFF2-40B4-BE49-F238E27FC236}">
                <a16:creationId xmlns:a16="http://schemas.microsoft.com/office/drawing/2014/main" id="{DD108EB2-B96F-47F7-8965-57C43C0761C7}"/>
              </a:ext>
            </a:extLst>
          </p:cNvPr>
          <p:cNvPicPr>
            <a:picLocks noChangeAspect="1"/>
          </p:cNvPicPr>
          <p:nvPr/>
        </p:nvPicPr>
        <p:blipFill>
          <a:blip r:embed="rId3"/>
          <a:stretch>
            <a:fillRect/>
          </a:stretch>
        </p:blipFill>
        <p:spPr>
          <a:xfrm>
            <a:off x="2510062" y="0"/>
            <a:ext cx="4566980" cy="4751023"/>
          </a:xfrm>
          <a:prstGeom prst="rect">
            <a:avLst/>
          </a:prstGeom>
        </p:spPr>
      </p:pic>
      <p:pic>
        <p:nvPicPr>
          <p:cNvPr id="3" name="图片 2">
            <a:extLst>
              <a:ext uri="{FF2B5EF4-FFF2-40B4-BE49-F238E27FC236}">
                <a16:creationId xmlns:a16="http://schemas.microsoft.com/office/drawing/2014/main" id="{1A749E4C-03EA-4745-A1AF-35AB1BE2D171}"/>
              </a:ext>
            </a:extLst>
          </p:cNvPr>
          <p:cNvPicPr>
            <a:picLocks noChangeAspect="1"/>
          </p:cNvPicPr>
          <p:nvPr/>
        </p:nvPicPr>
        <p:blipFill>
          <a:blip r:embed="rId4"/>
          <a:stretch>
            <a:fillRect/>
          </a:stretch>
        </p:blipFill>
        <p:spPr>
          <a:xfrm>
            <a:off x="2497242" y="4751023"/>
            <a:ext cx="4566980" cy="2021736"/>
          </a:xfrm>
          <a:prstGeom prst="rect">
            <a:avLst/>
          </a:prstGeom>
        </p:spPr>
      </p:pic>
    </p:spTree>
    <p:extLst>
      <p:ext uri="{BB962C8B-B14F-4D97-AF65-F5344CB8AC3E}">
        <p14:creationId xmlns:p14="http://schemas.microsoft.com/office/powerpoint/2010/main" val="15150288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a:xfrm>
            <a:off x="466076" y="1700809"/>
            <a:ext cx="8280920" cy="1008112"/>
          </a:xfrm>
        </p:spPr>
        <p:txBody>
          <a:bodyPr>
            <a:noAutofit/>
          </a:bodyPr>
          <a:lstStyle/>
          <a:p>
            <a:pPr marL="0" indent="0" algn="just">
              <a:buNone/>
            </a:pPr>
            <a:r>
              <a:rPr lang="zh-CN" altLang="en-US" sz="2400" dirty="0"/>
              <a:t>项目章程的颁布属于十大知识领域中的</a:t>
            </a:r>
            <a:r>
              <a:rPr lang="zh-CN" altLang="en-US" sz="2400" dirty="0">
                <a:solidFill>
                  <a:srgbClr val="FF0000"/>
                </a:solidFill>
              </a:rPr>
              <a:t>项目整体管理</a:t>
            </a:r>
            <a:r>
              <a:rPr lang="zh-CN" altLang="en-US" sz="2400" dirty="0"/>
              <a:t>、五大管理过程组的</a:t>
            </a:r>
            <a:r>
              <a:rPr lang="zh-CN" altLang="en-US" sz="2400" dirty="0">
                <a:solidFill>
                  <a:srgbClr val="FF0000"/>
                </a:solidFill>
              </a:rPr>
              <a:t>启动过程</a:t>
            </a:r>
            <a:r>
              <a:rPr lang="zh-CN" altLang="en-US" sz="2400" dirty="0"/>
              <a:t>组。</a:t>
            </a:r>
            <a:endParaRPr lang="en-US" altLang="zh-CN" sz="2400" dirty="0"/>
          </a:p>
          <a:p>
            <a:pPr marL="0" indent="0" algn="just">
              <a:buNone/>
            </a:pPr>
            <a:r>
              <a:rPr lang="zh-CN" altLang="en-US" sz="2400" dirty="0"/>
              <a:t>具体的项目章程制定过程如下图所示：</a:t>
            </a:r>
            <a:endParaRPr lang="en-US" altLang="zh-CN" sz="2400" dirty="0"/>
          </a:p>
          <a:p>
            <a:pPr marL="0" indent="0" algn="just">
              <a:buNone/>
            </a:pPr>
            <a:endParaRPr lang="en-US" altLang="zh-CN" sz="2400" dirty="0"/>
          </a:p>
          <a:p>
            <a:pPr marL="0" indent="0" algn="just" eaLnBrk="1" hangingPunct="1">
              <a:buNone/>
            </a:pPr>
            <a:endParaRPr lang="en-US" altLang="zh-CN" sz="2400" dirty="0"/>
          </a:p>
          <a:p>
            <a:pPr marL="0" indent="0" algn="just" eaLnBrk="1" hangingPunct="1">
              <a:buNone/>
            </a:pPr>
            <a:endParaRPr lang="en-US" altLang="zh-CN" sz="2400" dirty="0"/>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 name="图片 3">
            <a:extLst>
              <a:ext uri="{FF2B5EF4-FFF2-40B4-BE49-F238E27FC236}">
                <a16:creationId xmlns:a16="http://schemas.microsoft.com/office/drawing/2014/main" id="{731E42DB-516C-451C-B72F-E30160528144}"/>
              </a:ext>
            </a:extLst>
          </p:cNvPr>
          <p:cNvPicPr>
            <a:picLocks noChangeAspect="1"/>
          </p:cNvPicPr>
          <p:nvPr/>
        </p:nvPicPr>
        <p:blipFill>
          <a:blip r:embed="rId3"/>
          <a:stretch>
            <a:fillRect/>
          </a:stretch>
        </p:blipFill>
        <p:spPr>
          <a:xfrm>
            <a:off x="1323340" y="2965777"/>
            <a:ext cx="6497319" cy="3762048"/>
          </a:xfrm>
          <a:prstGeom prst="rect">
            <a:avLst/>
          </a:prstGeom>
        </p:spPr>
      </p:pic>
    </p:spTree>
    <p:extLst>
      <p:ext uri="{BB962C8B-B14F-4D97-AF65-F5344CB8AC3E}">
        <p14:creationId xmlns:p14="http://schemas.microsoft.com/office/powerpoint/2010/main" val="174385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a:xfrm>
            <a:off x="466076" y="1700808"/>
            <a:ext cx="8280920" cy="4392483"/>
          </a:xfrm>
        </p:spPr>
        <p:txBody>
          <a:bodyPr>
            <a:noAutofit/>
          </a:bodyPr>
          <a:lstStyle/>
          <a:p>
            <a:pPr marL="0" indent="0" algn="just">
              <a:buNone/>
            </a:pPr>
            <a:r>
              <a:rPr lang="zh-CN" altLang="en-US" sz="2400" dirty="0">
                <a:solidFill>
                  <a:srgbClr val="FF0000"/>
                </a:solidFill>
              </a:rPr>
              <a:t>事业环境因素</a:t>
            </a:r>
            <a:endParaRPr lang="en-US" altLang="zh-CN" sz="2400" dirty="0">
              <a:solidFill>
                <a:srgbClr val="FF0000"/>
              </a:solidFill>
            </a:endParaRPr>
          </a:p>
          <a:p>
            <a:pPr marL="0" indent="0" algn="just">
              <a:buNone/>
            </a:pPr>
            <a:r>
              <a:rPr lang="zh-CN" altLang="en-US" sz="2400" dirty="0"/>
              <a:t>政府或行业标准</a:t>
            </a:r>
            <a:r>
              <a:rPr lang="en-US" altLang="zh-CN" sz="2400" dirty="0"/>
              <a:t>(</a:t>
            </a:r>
            <a:r>
              <a:rPr lang="zh-CN" altLang="en-US" sz="2400" dirty="0"/>
              <a:t>如产品标准、质量标准、安全标准和工艺标准</a:t>
            </a:r>
            <a:r>
              <a:rPr lang="en-US" altLang="zh-CN" sz="2400" dirty="0"/>
              <a:t>)</a:t>
            </a:r>
            <a:r>
              <a:rPr lang="zh-CN" altLang="en-US" sz="2400" dirty="0"/>
              <a:t>；法律法规要求和相关制约因素；市场条件；组织文化和氛围；组织治理框架</a:t>
            </a:r>
            <a:r>
              <a:rPr lang="en-US" altLang="zh-CN" sz="2400" dirty="0"/>
              <a:t>(</a:t>
            </a:r>
            <a:r>
              <a:rPr lang="zh-CN" altLang="en-US" sz="2400" dirty="0"/>
              <a:t>通过安排人员、制定政策和确定过程，以结构化的方式实施控制、指导和协调，以实现组织的战略和目标</a:t>
            </a:r>
            <a:r>
              <a:rPr lang="en-US" altLang="zh-CN" sz="2400" dirty="0"/>
              <a:t>)</a:t>
            </a:r>
            <a:r>
              <a:rPr lang="zh-CN" altLang="en-US" sz="2400" dirty="0"/>
              <a:t>；干系人的期望和风险临界值等。</a:t>
            </a:r>
            <a:endParaRPr lang="en-US" altLang="zh-CN" sz="2400" dirty="0"/>
          </a:p>
          <a:p>
            <a:pPr marL="0" indent="0" algn="just">
              <a:buNone/>
            </a:pPr>
            <a:r>
              <a:rPr lang="zh-CN" altLang="en-US" sz="2400" dirty="0">
                <a:solidFill>
                  <a:srgbClr val="FF0000"/>
                </a:solidFill>
              </a:rPr>
              <a:t>组织过程资产</a:t>
            </a:r>
            <a:endParaRPr lang="en-US" altLang="zh-CN" sz="2400" dirty="0">
              <a:solidFill>
                <a:srgbClr val="FF0000"/>
              </a:solidFill>
            </a:endParaRPr>
          </a:p>
          <a:p>
            <a:pPr marL="0" indent="0" algn="just">
              <a:buNone/>
            </a:pPr>
            <a:r>
              <a:rPr lang="zh-CN" altLang="en-US" sz="2400" dirty="0"/>
              <a:t>组织的标准政策、流程和程序；项目组合、项目集和项目的治理框架</a:t>
            </a:r>
            <a:r>
              <a:rPr lang="en-US" altLang="zh-CN" sz="2400" dirty="0"/>
              <a:t>(</a:t>
            </a:r>
            <a:r>
              <a:rPr lang="zh-CN" altLang="en-US" sz="2400" dirty="0"/>
              <a:t>用于提供指导和制定决策的治理职能和过程</a:t>
            </a:r>
            <a:r>
              <a:rPr lang="en-US" altLang="zh-CN" sz="2400" dirty="0"/>
              <a:t>)</a:t>
            </a:r>
            <a:r>
              <a:rPr lang="zh-CN" altLang="en-US" sz="2400" dirty="0"/>
              <a:t>；监督和报告的方法；模板</a:t>
            </a:r>
            <a:r>
              <a:rPr lang="en-US" altLang="zh-CN" sz="2400" dirty="0"/>
              <a:t>(</a:t>
            </a:r>
            <a:r>
              <a:rPr lang="zh-CN" altLang="en-US" sz="2400" dirty="0"/>
              <a:t>如项目章程模板</a:t>
            </a:r>
            <a:r>
              <a:rPr lang="en-US" altLang="zh-CN" sz="2400" dirty="0"/>
              <a:t>)</a:t>
            </a:r>
            <a:r>
              <a:rPr lang="zh-CN" altLang="en-US" sz="2400" dirty="0"/>
              <a:t>；历史信息与经验教训知识库 </a:t>
            </a:r>
            <a:r>
              <a:rPr lang="en-US" altLang="zh-CN" sz="2400" dirty="0"/>
              <a:t>(</a:t>
            </a:r>
            <a:r>
              <a:rPr lang="zh-CN" altLang="en-US" sz="2400" dirty="0"/>
              <a:t>如项目记录与文件、关于以往项目选择决策的结果及以往项目绩效的信息</a:t>
            </a:r>
            <a:r>
              <a:rPr lang="en-US" altLang="zh-CN" sz="2400" dirty="0"/>
              <a:t>)</a:t>
            </a:r>
            <a:r>
              <a:rPr lang="zh-CN" altLang="en-US" sz="2400" dirty="0"/>
              <a:t>等。</a:t>
            </a:r>
          </a:p>
          <a:p>
            <a:pPr marL="0" indent="0" algn="just" eaLnBrk="1" hangingPunct="1">
              <a:buNone/>
            </a:pPr>
            <a:endParaRPr lang="en-US" altLang="zh-CN" sz="2400" dirty="0"/>
          </a:p>
          <a:p>
            <a:pPr marL="0" indent="0" algn="just" eaLnBrk="1" hangingPunct="1">
              <a:buNone/>
            </a:pPr>
            <a:endParaRPr lang="en-US" altLang="zh-CN" sz="2400" dirty="0"/>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5433690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a:xfrm>
            <a:off x="404887" y="1700808"/>
            <a:ext cx="8280920" cy="4392483"/>
          </a:xfrm>
        </p:spPr>
        <p:txBody>
          <a:bodyPr>
            <a:noAutofit/>
          </a:bodyPr>
          <a:lstStyle/>
          <a:p>
            <a:pPr marL="0" indent="0" algn="just">
              <a:buNone/>
            </a:pPr>
            <a:r>
              <a:rPr lang="zh-CN" altLang="en-US" sz="2400" dirty="0"/>
              <a:t>项目管理章程记录了关于项目和项目预期交付的产品、服务或成果的高层及信息：</a:t>
            </a:r>
            <a:endParaRPr lang="en-US" altLang="zh-CN" sz="2400" dirty="0"/>
          </a:p>
          <a:p>
            <a:pPr marL="0" indent="0" algn="just">
              <a:buNone/>
            </a:pPr>
            <a:r>
              <a:rPr lang="zh-CN" altLang="en-US" sz="2400" dirty="0"/>
              <a:t>①项目目的；②可测量的项目目标和相关的成功标准；③高层级需求、高层级项目描述、边界定义以及主要可交付成果；</a:t>
            </a:r>
            <a:endParaRPr lang="en-US" altLang="zh-CN" sz="2400" dirty="0"/>
          </a:p>
          <a:p>
            <a:pPr marL="0" indent="0" algn="just">
              <a:buNone/>
            </a:pPr>
            <a:r>
              <a:rPr lang="zh-CN" altLang="en-US" sz="2400" dirty="0"/>
              <a:t>④整体项目风险；⑤总体里程碑进度计划；⑥预先批准的财务资源；⑦关键干系人名单；⑧项目审批要求</a:t>
            </a:r>
            <a:r>
              <a:rPr lang="en-US" altLang="zh-CN" sz="2400" dirty="0"/>
              <a:t>(</a:t>
            </a:r>
            <a:r>
              <a:rPr lang="zh-CN" altLang="en-US" sz="2400" dirty="0"/>
              <a:t>例如，评价项目成功的标准，由谁对项目成功下结论，由谁签署项目结束</a:t>
            </a:r>
            <a:r>
              <a:rPr lang="en-US" altLang="zh-CN" sz="2400" dirty="0"/>
              <a:t>)</a:t>
            </a:r>
            <a:r>
              <a:rPr lang="zh-CN" altLang="en-US" sz="2400" dirty="0"/>
              <a:t>；⑨项目退出标准</a:t>
            </a:r>
            <a:r>
              <a:rPr lang="en-US" altLang="zh-CN" sz="2400" dirty="0"/>
              <a:t>(</a:t>
            </a:r>
            <a:r>
              <a:rPr lang="zh-CN" altLang="en-US" sz="2400" dirty="0"/>
              <a:t>例如，在何种条件下才能关闭或取消项目或阶段</a:t>
            </a:r>
            <a:r>
              <a:rPr lang="en-US" altLang="zh-CN" sz="2400" dirty="0"/>
              <a:t>)</a:t>
            </a:r>
            <a:r>
              <a:rPr lang="zh-CN" altLang="en-US" sz="2400" dirty="0"/>
              <a:t>；⑩委派的项目经理及其职责和职权；⑪发起人或其他批准项目章程的人员的姓名和职权等。</a:t>
            </a:r>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7381588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B0501DB5-196D-46F8-8844-34CD6174ABC1}"/>
              </a:ext>
            </a:extLst>
          </p:cNvPr>
          <p:cNvSpPr>
            <a:spLocks noGrp="1" noChangeArrowheads="1"/>
          </p:cNvSpPr>
          <p:nvPr>
            <p:ph type="title"/>
          </p:nvPr>
        </p:nvSpPr>
        <p:spPr/>
        <p:txBody>
          <a:bodyPr/>
          <a:lstStyle/>
          <a:p>
            <a:pPr marL="838200" indent="-838200" algn="l" eaLnBrk="1" hangingPunct="1"/>
            <a:r>
              <a:rPr lang="en-US" altLang="zh-CN" sz="3200" b="1"/>
              <a:t>2.4.4 </a:t>
            </a:r>
            <a:r>
              <a:rPr lang="zh-CN" altLang="en-US" sz="3200" b="1"/>
              <a:t>案例：学院网站建设项目的项目章程</a:t>
            </a:r>
          </a:p>
        </p:txBody>
      </p:sp>
      <p:sp>
        <p:nvSpPr>
          <p:cNvPr id="66563" name="Rectangle 3">
            <a:extLst>
              <a:ext uri="{FF2B5EF4-FFF2-40B4-BE49-F238E27FC236}">
                <a16:creationId xmlns:a16="http://schemas.microsoft.com/office/drawing/2014/main" id="{7796420C-5F49-477E-9E2F-A17189C940F2}"/>
              </a:ext>
            </a:extLst>
          </p:cNvPr>
          <p:cNvSpPr>
            <a:spLocks noGrp="1" noChangeArrowheads="1"/>
          </p:cNvSpPr>
          <p:nvPr>
            <p:ph idx="1"/>
          </p:nvPr>
        </p:nvSpPr>
        <p:spPr/>
        <p:txBody>
          <a:bodyPr/>
          <a:lstStyle/>
          <a:p>
            <a:pPr eaLnBrk="1" hangingPunct="1">
              <a:lnSpc>
                <a:spcPct val="90000"/>
              </a:lnSpc>
            </a:pPr>
            <a:r>
              <a:rPr lang="en-US" altLang="zh-CN" sz="2400" dirty="0"/>
              <a:t>1. </a:t>
            </a:r>
            <a:r>
              <a:rPr lang="zh-CN" altLang="en-US" sz="2400" dirty="0"/>
              <a:t>项目名称 </a:t>
            </a:r>
          </a:p>
          <a:p>
            <a:pPr eaLnBrk="1" hangingPunct="1">
              <a:lnSpc>
                <a:spcPct val="90000"/>
              </a:lnSpc>
            </a:pPr>
            <a:r>
              <a:rPr lang="en-US" altLang="zh-CN" sz="2400" dirty="0"/>
              <a:t>2. </a:t>
            </a:r>
            <a:r>
              <a:rPr lang="zh-CN" altLang="en-US" sz="2400" dirty="0"/>
              <a:t>项目背景</a:t>
            </a:r>
          </a:p>
          <a:p>
            <a:pPr eaLnBrk="1" hangingPunct="1">
              <a:lnSpc>
                <a:spcPct val="90000"/>
              </a:lnSpc>
            </a:pPr>
            <a:r>
              <a:rPr lang="en-US" altLang="zh-CN" sz="2400" dirty="0"/>
              <a:t>3. </a:t>
            </a:r>
            <a:r>
              <a:rPr lang="zh-CN" altLang="en-US" sz="2400" dirty="0"/>
              <a:t>项目目标 </a:t>
            </a:r>
          </a:p>
          <a:p>
            <a:pPr eaLnBrk="1" hangingPunct="1">
              <a:lnSpc>
                <a:spcPct val="90000"/>
              </a:lnSpc>
            </a:pPr>
            <a:r>
              <a:rPr lang="en-US" altLang="zh-CN" sz="2400" dirty="0"/>
              <a:t>4. </a:t>
            </a:r>
            <a:r>
              <a:rPr lang="zh-CN" altLang="en-US" sz="2400" dirty="0"/>
              <a:t>项目主要内容</a:t>
            </a:r>
          </a:p>
          <a:p>
            <a:pPr eaLnBrk="1" hangingPunct="1">
              <a:lnSpc>
                <a:spcPct val="90000"/>
              </a:lnSpc>
            </a:pPr>
            <a:r>
              <a:rPr lang="en-US" altLang="zh-CN" sz="2400" dirty="0"/>
              <a:t>5. </a:t>
            </a:r>
            <a:r>
              <a:rPr lang="zh-CN" altLang="en-US" sz="2400" dirty="0"/>
              <a:t>项目的约束条件</a:t>
            </a:r>
          </a:p>
          <a:p>
            <a:pPr eaLnBrk="1" hangingPunct="1">
              <a:lnSpc>
                <a:spcPct val="90000"/>
              </a:lnSpc>
            </a:pPr>
            <a:r>
              <a:rPr lang="en-US" altLang="zh-CN" sz="2400" dirty="0"/>
              <a:t>6. </a:t>
            </a:r>
            <a:r>
              <a:rPr lang="zh-CN" altLang="en-US" sz="2400" dirty="0"/>
              <a:t>项目的人员组成与职责分配 </a:t>
            </a:r>
          </a:p>
          <a:p>
            <a:pPr eaLnBrk="1" hangingPunct="1">
              <a:lnSpc>
                <a:spcPct val="90000"/>
              </a:lnSpc>
            </a:pPr>
            <a:r>
              <a:rPr lang="en-US" altLang="zh-CN" sz="2400" dirty="0"/>
              <a:t>7. </a:t>
            </a:r>
            <a:r>
              <a:rPr lang="zh-CN" altLang="en-US" sz="2400" dirty="0"/>
              <a:t>相关部门的支持</a:t>
            </a:r>
          </a:p>
          <a:p>
            <a:pPr eaLnBrk="1" hangingPunct="1">
              <a:lnSpc>
                <a:spcPct val="90000"/>
              </a:lnSpc>
            </a:pPr>
            <a:r>
              <a:rPr lang="en-US" altLang="zh-CN" sz="2400" dirty="0"/>
              <a:t>8. </a:t>
            </a:r>
            <a:r>
              <a:rPr lang="zh-CN" altLang="en-US" sz="2400" dirty="0"/>
              <a:t>签发人和签发日期</a:t>
            </a:r>
          </a:p>
        </p:txBody>
      </p:sp>
      <p:sp>
        <p:nvSpPr>
          <p:cNvPr id="66564" name="Rectangle 4">
            <a:extLst>
              <a:ext uri="{FF2B5EF4-FFF2-40B4-BE49-F238E27FC236}">
                <a16:creationId xmlns:a16="http://schemas.microsoft.com/office/drawing/2014/main" id="{CAB7742A-B051-4A63-8F6B-96215A3A531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6565" name="Line 5">
            <a:extLst>
              <a:ext uri="{FF2B5EF4-FFF2-40B4-BE49-F238E27FC236}">
                <a16:creationId xmlns:a16="http://schemas.microsoft.com/office/drawing/2014/main" id="{1544192B-DD46-4BAA-BA33-7A4170E2C93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WordArt 4">
            <a:extLst>
              <a:ext uri="{FF2B5EF4-FFF2-40B4-BE49-F238E27FC236}">
                <a16:creationId xmlns:a16="http://schemas.microsoft.com/office/drawing/2014/main" id="{BC5E390A-87FF-4A22-9247-206CB6FEE59F}"/>
              </a:ext>
            </a:extLst>
          </p:cNvPr>
          <p:cNvSpPr>
            <a:spLocks noChangeArrowheads="1" noChangeShapeType="1" noTextEdit="1"/>
          </p:cNvSpPr>
          <p:nvPr/>
        </p:nvSpPr>
        <p:spPr bwMode="auto">
          <a:xfrm>
            <a:off x="3205163" y="2997200"/>
            <a:ext cx="2879725" cy="1163638"/>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zh-CN" altLang="en-US" sz="3600" kern="10">
                <a:gradFill rotWithShape="1">
                  <a:gsLst>
                    <a:gs pos="0">
                      <a:srgbClr val="FFFF00"/>
                    </a:gs>
                    <a:gs pos="100000">
                      <a:srgbClr val="FF9933"/>
                    </a:gs>
                  </a:gsLst>
                  <a:path path="rect">
                    <a:fillToRect l="50000" t="50000" r="50000" b="50000"/>
                  </a:path>
                </a:gradFill>
                <a:effectLst>
                  <a:outerShdw dist="35921" dir="2700000" algn="ctr" rotWithShape="0">
                    <a:srgbClr val="C0C0C0">
                      <a:alpha val="79999"/>
                    </a:srgbClr>
                  </a:outerShdw>
                </a:effectLst>
                <a:latin typeface="宋体" panose="02010600030101010101" pitchFamily="2" charset="-122"/>
              </a:rPr>
              <a:t>谢谢！</a:t>
            </a:r>
          </a:p>
        </p:txBody>
      </p:sp>
      <p:sp>
        <p:nvSpPr>
          <p:cNvPr id="68611" name="Rectangle 5">
            <a:extLst>
              <a:ext uri="{FF2B5EF4-FFF2-40B4-BE49-F238E27FC236}">
                <a16:creationId xmlns:a16="http://schemas.microsoft.com/office/drawing/2014/main" id="{2AA774BF-147A-4E93-9529-8CB74844CA3A}"/>
              </a:ext>
            </a:extLst>
          </p:cNvPr>
          <p:cNvSpPr>
            <a:spLocks noGrp="1" noChangeArrowheads="1"/>
          </p:cNvSpPr>
          <p:nvPr>
            <p:ph type="title"/>
          </p:nvPr>
        </p:nvSpPr>
        <p:spPr>
          <a:xfrm>
            <a:off x="611188" y="836613"/>
            <a:ext cx="7772400" cy="1143000"/>
          </a:xfrm>
        </p:spPr>
        <p:txBody>
          <a:bodyPr/>
          <a:lstStyle/>
          <a:p>
            <a:pPr algn="l" eaLnBrk="1" hangingPunct="1"/>
            <a:r>
              <a:rPr lang="zh-CN" altLang="en-US" b="1">
                <a:solidFill>
                  <a:srgbClr val="FF0000"/>
                </a:solidFill>
              </a:rPr>
              <a:t>欢迎讨论</a:t>
            </a:r>
            <a:r>
              <a:rPr lang="en-US" altLang="zh-CN" sz="4600" b="1">
                <a:solidFill>
                  <a:srgbClr val="FF0000"/>
                </a:solidFill>
                <a:ea typeface="楷体_GB2312" pitchFamily="49" charset="-122"/>
              </a:rPr>
              <a:t>……</a:t>
            </a:r>
          </a:p>
        </p:txBody>
      </p:sp>
    </p:spTree>
  </p:cSld>
  <p:clrMapOvr>
    <a:masterClrMapping/>
  </p:clrMapOvr>
  <p:transition spd="slow" advTm="5748"/>
</p:sld>
</file>

<file path=ppt/theme/theme1.xml><?xml version="1.0" encoding="utf-8"?>
<a:theme xmlns:a="http://schemas.openxmlformats.org/drawingml/2006/main" name="主题1">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主题1" id="{E45FD93A-D851-4092-8313-A2F3C1A6975F}" vid="{8887F17A-4E7C-4909-8207-90CE29ECEE50}"/>
    </a:ext>
  </a:extLst>
</a:theme>
</file>

<file path=ppt/theme/theme2.xml><?xml version="1.0" encoding="utf-8"?>
<a:theme xmlns:a="http://schemas.openxmlformats.org/drawingml/2006/main" name="Office Theme">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352</TotalTime>
  <Words>5562</Words>
  <Application>Microsoft Office PowerPoint</Application>
  <PresentationFormat>全屏显示(4:3)</PresentationFormat>
  <Paragraphs>541</Paragraphs>
  <Slides>58</Slides>
  <Notes>55</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58</vt:i4>
      </vt:variant>
    </vt:vector>
  </HeadingPairs>
  <TitlesOfParts>
    <vt:vector size="70" baseType="lpstr">
      <vt:lpstr>等线</vt:lpstr>
      <vt:lpstr>等线 Light</vt:lpstr>
      <vt:lpstr>黑体</vt:lpstr>
      <vt:lpstr>楷体_GB2312</vt:lpstr>
      <vt:lpstr>宋体</vt:lpstr>
      <vt:lpstr>Arial</vt:lpstr>
      <vt:lpstr>Calibri</vt:lpstr>
      <vt:lpstr>Calibri Light</vt:lpstr>
      <vt:lpstr>Times New Roman</vt:lpstr>
      <vt:lpstr>Wingdings</vt:lpstr>
      <vt:lpstr>主题1</vt:lpstr>
      <vt:lpstr>Office Theme</vt:lpstr>
      <vt:lpstr>PowerPoint 演示文稿</vt:lpstr>
      <vt:lpstr>第2章  信息系统项目的立项与评价 </vt:lpstr>
      <vt:lpstr>2.1 CIO与信息系统项目</vt:lpstr>
      <vt:lpstr>2.1.1  CIO的概念及职责</vt:lpstr>
      <vt:lpstr>2.1.1  CIO的概念及职责</vt:lpstr>
      <vt:lpstr>2.1.2  CIO的角色与信息系统项目</vt:lpstr>
      <vt:lpstr>2.1.2  CIO的角色与信息系统项目</vt:lpstr>
      <vt:lpstr>2.2 信息系统项目的可行性研究</vt:lpstr>
      <vt:lpstr>2.2.1  可行性研究的内容与方法</vt:lpstr>
      <vt:lpstr>2.2.1  可行性研究的内容与方法</vt:lpstr>
      <vt:lpstr>2.2.1  可行性研究的内容与方法</vt:lpstr>
      <vt:lpstr>2.2.1  可行性研究的内容与方法</vt:lpstr>
      <vt:lpstr>2.2.1  可行性研究的内容与方法</vt:lpstr>
      <vt:lpstr>2.2.1  可行性研究的内容与方法</vt:lpstr>
      <vt:lpstr>十一五规划教材                                          《信息系统项目管理》讲义</vt:lpstr>
      <vt:lpstr>2.2.2  需求调研的内容与方法</vt:lpstr>
      <vt:lpstr>2.2.2  需求调研的内容与方法</vt:lpstr>
      <vt:lpstr>2.2.2  需求调研的内容与方法</vt:lpstr>
      <vt:lpstr>2.2.3  信息系统项目的建设方式</vt:lpstr>
      <vt:lpstr>2.2.3  信息系统项目的建设方式</vt:lpstr>
      <vt:lpstr>2.2.3  信息系统项目的建设方式</vt:lpstr>
      <vt:lpstr>2.2.3  信息系统项目的建设方式</vt:lpstr>
      <vt:lpstr>2.2.3  信息系统项目的建设方式</vt:lpstr>
      <vt:lpstr>2.2.4   可行性研究报告的撰写</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2.3 信息系统项目的招标与评价 </vt:lpstr>
      <vt:lpstr>2.3 信息系统项目的招标与评价 </vt:lpstr>
      <vt:lpstr>2.3 信息系统项目的招标与评价 </vt:lpstr>
      <vt:lpstr>2.3 信息系统项目的招标与评价 </vt:lpstr>
      <vt:lpstr>2.3 信息系统项目的招标与评价 </vt:lpstr>
      <vt:lpstr>2.3 信息系统项目的招标与评价 </vt:lpstr>
      <vt:lpstr>2.3 信息系统项目的招标与评价 </vt:lpstr>
      <vt:lpstr>2.3 信息系统项目的招标与评价 </vt:lpstr>
      <vt:lpstr>2.3 信息系统项目的招标与评价 </vt:lpstr>
      <vt:lpstr>2.4 信息系统项目的合同</vt:lpstr>
      <vt:lpstr>2.4.1合同的一般格式与主要内容 </vt:lpstr>
      <vt:lpstr>2.4.2  合同中的非价格条款</vt:lpstr>
      <vt:lpstr>2.4.3  项目章程的颁布和合同的管理</vt:lpstr>
      <vt:lpstr>2.4.3  项目章程的颁布和合同的管理</vt:lpstr>
      <vt:lpstr>PowerPoint 演示文稿</vt:lpstr>
      <vt:lpstr>2.4.3  项目章程的颁布和合同的管理</vt:lpstr>
      <vt:lpstr>十一五规划教材                                          《信息系统项目管理》讲义</vt:lpstr>
      <vt:lpstr>2.4.3  项目章程的颁布和合同的管理</vt:lpstr>
      <vt:lpstr>2.4.3  项目章程的颁布和合同的管理</vt:lpstr>
      <vt:lpstr>2.4.3  项目章程的颁布和合同的管理</vt:lpstr>
      <vt:lpstr>2.4.4 案例：学院网站建设项目的项目章程</vt:lpstr>
      <vt:lpstr>欢迎讨论……</vt:lpstr>
    </vt:vector>
  </TitlesOfParts>
  <Company>RUC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十一五规划教材                                          《信息系统项目管理》讲义</dc:title>
  <dc:creator>Meiyun Zuo</dc:creator>
  <cp:lastModifiedBy>PC</cp:lastModifiedBy>
  <cp:revision>94</cp:revision>
  <dcterms:created xsi:type="dcterms:W3CDTF">2008-05-12T14:48:35Z</dcterms:created>
  <dcterms:modified xsi:type="dcterms:W3CDTF">2026-03-04T10:11:59Z</dcterms:modified>
</cp:coreProperties>
</file>