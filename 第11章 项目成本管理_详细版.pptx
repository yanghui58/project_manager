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8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00CC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0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A370C-E8D8-4EED-A91B-A49CB376FCA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7C55C-CC2F-4A86-B343-6F6ABCF50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4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9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9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7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3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3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1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3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7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2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08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15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758770-E631-4ADA-92CE-20CA4C74A7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68802C-7B1C-4F06-A1E4-61F3A6D3FB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6CA628-AD49-4BC8-96CC-5FA96DAEE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16DFD9-0C39-46FB-A76C-EA7FF99DE46B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64386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40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/>
            </a:pPr>
            <a:r>
              <a:t>信息系统项目管理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第11章 项目成本管理 (详细版)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11.1 项目成本管理概述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通俗定义：项目成本管理就是决定项目怎么花钱、怎么省钱，并确保在老板批的预算内把活干完。</a:t>
            </a:r>
          </a:p>
          <a:p>
            <a:pPr/>
            <a:r>
              <a:t>核心工作：</a:t>
            </a:r>
          </a:p>
          <a:p>
            <a:pPr lvl="1"/>
            <a:r>
              <a:t>• 规划：定规矩（怎么算账）。</a:t>
            </a:r>
          </a:p>
          <a:p>
            <a:pPr lvl="1"/>
            <a:r>
              <a:t>• 估算：报数额（每项活花多少）。</a:t>
            </a:r>
          </a:p>
          <a:p>
            <a:pPr lvl="1"/>
            <a:r>
              <a:t>• 预算：总盘子（一共花多少）。</a:t>
            </a:r>
          </a:p>
          <a:p>
            <a:pPr lvl="1"/>
            <a:r>
              <a:t>• 控制：盯着花（有没有超支）。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 规划成本管理 - 定义与作用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定义：决定如何给项目定预算、怎么花钱、怎么省钱的过程。</a:t>
            </a:r>
          </a:p>
          <a:p>
            <a:pPr/>
            <a:r>
              <a:t>作用：就像写一本“财务手册”，规定后续所有成本活动的标准。</a:t>
            </a:r>
          </a:p>
          <a:p>
            <a:pPr/>
            <a:r>
              <a:t>常见问题：如果没有这一步，后期报账和核算会非常混乱。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 规划成本管理 - 数据流向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11.3.1 输入 (老板手里有什么？)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项目章程：老板给的最初授权和大致预算范围。</a:t>
            </a:r>
          </a:p>
          <a:p>
            <a:pPr/>
            <a:r>
              <a:t>2. 项目管理计划：</a:t>
            </a:r>
          </a:p>
          <a:p>
            <a:pPr lvl="1"/>
            <a:r>
              <a:t>• 进度计划：干得快慢直接影响花钱多少。</a:t>
            </a:r>
          </a:p>
          <a:p>
            <a:pPr lvl="1"/>
            <a:r>
              <a:t>• 风险计划：预留多少钱防备意外。</a:t>
            </a:r>
          </a:p>
          <a:p>
            <a:pPr/>
            <a:r>
              <a:t>3. 事业环境因素：比如现在的市场行情、外汇汇率等。</a:t>
            </a:r>
          </a:p>
          <a:p>
            <a:pPr/>
            <a:r>
              <a:t>4. 组织过程资产：公司以前做类似项目的账目模版。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11.3.2 工具与技术 (怎么定计划？)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专家判断：请老财务、资深项目经理凭经验把关。</a:t>
            </a:r>
          </a:p>
          <a:p>
            <a:pPr/>
            <a:r>
              <a:t>2. 数据分析（备选方案分析）：</a:t>
            </a:r>
          </a:p>
          <a:p>
            <a:pPr lvl="1"/>
            <a:r>
              <a:t>• 到底是自己做省钱，还是花钱买一套软件更划算？</a:t>
            </a:r>
          </a:p>
          <a:p>
            <a:pPr lvl="1"/>
            <a:r>
              <a:t>• 资金是靠公司自筹，还是去银行贷款更好？</a:t>
            </a:r>
          </a:p>
          <a:p>
            <a:pPr/>
            <a:r>
              <a:t>3. 会议：财务、技术、管理人员坐在一起碰头。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11.3.3 输出 - 成本管理计划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输出内容包括：</a:t>
            </a:r>
          </a:p>
          <a:p>
            <a:pPr lvl="1"/>
            <a:r>
              <a:t>• 计量单位：是用“人工时”算，还是用“元”算？</a:t>
            </a:r>
          </a:p>
          <a:p>
            <a:pPr lvl="1"/>
            <a:r>
              <a:t>• 精确度：是一分钱都不能差，还是保留到“百元”级别？</a:t>
            </a:r>
          </a:p>
          <a:p>
            <a:pPr lvl="1"/>
            <a:r>
              <a:t>• 控制临界值：超支多少百分比必须报警？(如±5%)</a:t>
            </a:r>
          </a:p>
          <a:p>
            <a:pPr lvl="1"/>
            <a:r>
              <a:t>• 绩效测量规则：确定用什么规则计算挣值 (EVM)。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11.4 估算成本 - 让每一个环节都有数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定义：计算完成每一项具体任务需要花多少钱的“概算”。</a:t>
            </a:r>
          </a:p>
          <a:p>
            <a:pPr/>
            <a:r>
              <a:t>核心特点：它是一个“进化的过程”。</a:t>
            </a:r>
          </a:p>
          <a:p>
            <a:pPr lvl="1"/>
            <a:r>
              <a:t>• 早期：粗略量级估算 (-25% 到 +75%)。</a:t>
            </a:r>
          </a:p>
          <a:p>
            <a:pPr lvl="1"/>
            <a:r>
              <a:t>• 后期：确定性估算 (-5% 到 +10%)。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11.4 估算成本 - 数据流向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11.4.2 估算方法 (如何算得准？)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类比估算：看以前的项目，简单快速，但不一定准。</a:t>
            </a:r>
          </a:p>
          <a:p>
            <a:pPr/>
            <a:r>
              <a:t>2. 参数估算：按单价算（如 200元/行代码），适合重复性工作。</a:t>
            </a:r>
          </a:p>
          <a:p>
            <a:pPr/>
            <a:r>
              <a:t>3. 三点估算：(最乐观 + 4*最可能 + 最悲观) / 6。考虑了风险。</a:t>
            </a:r>
          </a:p>
          <a:p>
            <a:pPr/>
            <a:r>
              <a:t>4. 自下而上估算：把每个零件的钱加起来。最准，但也最慢。</a:t>
            </a:r>
          </a:p>
          <a:p>
            <a:pPr/>
            <a:r>
              <a:t>5. 储备分析：预留应急储备金（应对已知的风险）。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11.5 制定预算 - 建立成本基准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定义：把所有个别活儿的钱加起来，变成一笔正式的“基准拨款”。</a:t>
            </a:r>
          </a:p>
          <a:p>
            <a:pPr/>
            <a:r>
              <a:t>核心重点：成本基准 (Cost Baseline)。</a:t>
            </a:r>
          </a:p>
          <a:p>
            <a:pPr/>
            <a:r>
              <a:t>这一步会产出项目经理手中的“指挥棒”，衡量是否有钱可花的依据。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11.5 制定预算 - 数据流向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11.5 预算的组成 (重要概念)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注意：项目预算 = 成本基准 + 管理储备。管理储备受老板直接控制，不属于项目经理的日常支配范围。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11.5.2 预算平衡技术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成本汇总：从下到上凑整。</a:t>
            </a:r>
          </a:p>
          <a:p>
            <a:pPr/>
            <a:r>
              <a:t>2. 资金限额平衡：如果公司这个月只有10万预算，项目经理就不能安排需要花20万的活，得调整进度。</a:t>
            </a:r>
          </a:p>
          <a:p>
            <a:pPr/>
            <a:r>
              <a:t>3. 历史审核：检查算出来的数跟以前同类项目比，是否靠谱。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11.6 控制成本 - 盯着钱是怎么花的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定义：监督项目干活的情况，看预算有没有超支，进度有没有落后。</a:t>
            </a:r>
          </a:p>
          <a:p>
            <a:pPr/>
            <a:r>
              <a:t>关键：不要只看花掉多少钱，要看花这些钱换回了多少活 (EV)。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11.6 控制成本 - 数据流向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控制成本：挣值分析 (EVM) 详解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它是衡量项目健康度的“体检表”，包含三个核心数值：</a:t>
            </a:r>
          </a:p>
          <a:p>
            <a:pPr/>
            <a:r>
              <a:t>1. PV (Planned Value) 计划价值：到今天，原计划应该干多少钱的活？</a:t>
            </a:r>
          </a:p>
          <a:p>
            <a:pPr/>
            <a:r>
              <a:t>2. EV (Earned Value) 挣值：到今天，看实际干完的活，按原计划值多少钱？</a:t>
            </a:r>
          </a:p>
          <a:p>
            <a:pPr/>
            <a:r>
              <a:t>3. AC (Actual Cost) 实际成本：到今天，实际上已经掏了多少钱？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挣值管理曲线 (S-Curve)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1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控制成本：挣值分析 (EVM) 详解 (2) - 评价指标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偏差分析 (加减法)：</a:t>
            </a:r>
          </a:p>
          <a:p>
            <a:pPr lvl="1"/>
            <a:r>
              <a:t>• CV (成本偏差) = EV - AC。正数=省钱，负数=超支。</a:t>
            </a:r>
          </a:p>
          <a:p>
            <a:pPr lvl="1"/>
            <a:r>
              <a:t>• SV (进度偏差) = EV - PV。正数=快，负数=落后。</a:t>
            </a:r>
          </a:p>
          <a:p>
            <a:pPr/>
            <a:r>
              <a:t>效率分析 (乘除法)：</a:t>
            </a:r>
          </a:p>
          <a:p>
            <a:pPr lvl="1"/>
            <a:r>
              <a:t>• CPI (成本指数) = EV / AC。&gt;1说明每一块钱产生的活超过一元。</a:t>
            </a:r>
          </a:p>
          <a:p>
            <a:pPr lvl="1"/>
            <a:r>
              <a:t>• SPI (进度指数) = EV / PV。&gt;1说明干得比计划快。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【实战演练】EVM 指标计算案例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项目情况：总预算 10 万元，工期 10 个月。每月计划完成 1 万元的任务。</a:t>
            </a:r>
          </a:p>
          <a:p>
            <a:pPr/>
            <a:r>
              <a:t>目前状态：第 4 个月底。</a:t>
            </a:r>
          </a:p>
          <a:p>
            <a:pPr/>
            <a:r>
              <a:t>系统数据显示：</a:t>
            </a:r>
          </a:p>
          <a:p>
            <a:pPr lvl="1"/>
            <a:r>
              <a:t>• PV = 4 万元 (计划 4 个月完成 40% 的活)。</a:t>
            </a:r>
          </a:p>
          <a:p>
            <a:pPr lvl="1"/>
            <a:r>
              <a:t>• EV = 3 万元 (实际效率低，只干完了预计值 3 万元的活)。</a:t>
            </a:r>
          </a:p>
          <a:p>
            <a:pPr lvl="1"/>
            <a:r>
              <a:t>• AC = 3.5 万元 (实际这些活花掉了 3.5 万元)。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【案例分析】项目体检报告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算结果：</a:t>
            </a:r>
          </a:p>
          <a:p>
            <a:pPr lvl="1"/>
            <a:r>
              <a:t>• CV = 3 - 3.5 = -0.5 万 (超支 5000 元)。</a:t>
            </a:r>
          </a:p>
          <a:p>
            <a:pPr lvl="1"/>
            <a:r>
              <a:t>• SV = 3 - 4 = -1.0 万 (进度落后 1 个月)。</a:t>
            </a:r>
          </a:p>
          <a:p>
            <a:pPr lvl="1"/>
            <a:r>
              <a:t>• CPI = 3 / 3.5 = 0.86 (绩效低下)。</a:t>
            </a:r>
          </a:p>
          <a:p>
            <a:pPr/>
            <a:r>
              <a:t>2. 结论报告：</a:t>
            </a:r>
          </a:p>
          <a:p>
            <a:pPr lvl="1"/>
            <a:r>
              <a:t>• 当前项目：既超支了，又落后了！</a:t>
            </a:r>
          </a:p>
          <a:p>
            <a:pPr lvl="1"/>
            <a:r>
              <a:t>• 建议：必须马上分析原因（是不是人手不够，或者材料浪费？），采取纠正措施。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十一五规划教材                                          《信息系统项目管理》讲义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</TotalTime>
  <Pages>0</Pages>
  <Words>7535</Words>
  <Characters>0</Characters>
  <Application>Microsoft Office PowerPoint</Application>
  <DocSecurity>0</DocSecurity>
  <PresentationFormat>全屏显示(4:3)</PresentationFormat>
  <Lines>0</Lines>
  <Paragraphs>704</Paragraphs>
  <Slides>79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7" baseType="lpstr">
      <vt:lpstr>等线</vt:lpstr>
      <vt:lpstr>宋体</vt:lpstr>
      <vt:lpstr>宋体</vt:lpstr>
      <vt:lpstr>Arial</vt:lpstr>
      <vt:lpstr>Calibri</vt:lpstr>
      <vt:lpstr>Calibri Light</vt:lpstr>
      <vt:lpstr>Times New Roman</vt:lpstr>
      <vt:lpstr>Office Theme</vt:lpstr>
      <vt:lpstr>PowerPoint 演示文稿</vt:lpstr>
      <vt:lpstr>十一五规划教材                                          《信息系统项目管理》讲义</vt:lpstr>
      <vt:lpstr>PowerPoint 演示文稿</vt:lpstr>
      <vt:lpstr>PowerPoint 演示文稿</vt:lpstr>
      <vt:lpstr>PowerPoint 演示文稿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PowerPoint 演示文稿</vt:lpstr>
      <vt:lpstr>PowerPoint 演示文稿</vt:lpstr>
      <vt:lpstr>PowerPoint 演示文稿</vt:lpstr>
      <vt:lpstr>PowerPoint 演示文稿</vt:lpstr>
      <vt:lpstr>信息系统项目的进度管理</vt:lpstr>
      <vt:lpstr>PowerPoint 演示文稿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PowerPoint 演示文稿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信息系统项目的进度管理</vt:lpstr>
      <vt:lpstr>3.3.2 网络计划技术</vt:lpstr>
      <vt:lpstr>3.3.2 网络计划技术</vt:lpstr>
      <vt:lpstr>3.3.3 案例： 学院网站建设项目的网络图和甘特图</vt:lpstr>
      <vt:lpstr>3.3.3 案例： 学院网站建设项目的网络图和甘特图</vt:lpstr>
      <vt:lpstr>3.4 信息系统项目的成本计划</vt:lpstr>
      <vt:lpstr>3.4.1 信息系统项目成本的估算</vt:lpstr>
      <vt:lpstr>3.4.2 信息系统项目成本预算和报价</vt:lpstr>
      <vt:lpstr>3.4.2信息系统项目成本的预算</vt:lpstr>
      <vt:lpstr>3.4.2信息系统项目成本的预算</vt:lpstr>
      <vt:lpstr>3.4.3信息系统项目人力资源规划与平衡</vt:lpstr>
      <vt:lpstr>3.4.3 信息系统项目人力资源的规划与平衡</vt:lpstr>
      <vt:lpstr>3.4.3 信息系统项目人力资源的规划与平衡</vt:lpstr>
      <vt:lpstr>3.4.3 信息系统项目人力资源的规划与平衡</vt:lpstr>
      <vt:lpstr>3.4.4 案例： 学院网站建设项目的成本计划</vt:lpstr>
      <vt:lpstr>欢迎讨论……</vt:lpstr>
    </vt:vector>
  </TitlesOfParts>
  <Manager/>
  <Company>RUC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十一五规划教材                                          《信息系统项目管理》讲义</dc:title>
  <dc:subject/>
  <dc:creator>Meiyun Zuo</dc:creator>
  <cp:keywords/>
  <dc:description/>
  <cp:lastModifiedBy>hui yang</cp:lastModifiedBy>
  <cp:revision>318</cp:revision>
  <dcterms:created xsi:type="dcterms:W3CDTF">2008-05-12T14:48:35Z</dcterms:created>
  <dcterms:modified xsi:type="dcterms:W3CDTF">2026-03-18T09:52:02Z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