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6" r:id="rId2"/>
  </p:sldMasterIdLst>
  <p:notesMasterIdLst>
    <p:notesMasterId r:id="rId66"/>
  </p:notesMasterIdLst>
  <p:sldIdLst>
    <p:sldId id="327" r:id="rId3"/>
    <p:sldId id="256" r:id="rId4"/>
    <p:sldId id="258" r:id="rId5"/>
    <p:sldId id="259" r:id="rId6"/>
    <p:sldId id="287" r:id="rId7"/>
    <p:sldId id="260" r:id="rId8"/>
    <p:sldId id="288" r:id="rId9"/>
    <p:sldId id="261" r:id="rId10"/>
    <p:sldId id="262" r:id="rId11"/>
    <p:sldId id="289" r:id="rId12"/>
    <p:sldId id="290" r:id="rId13"/>
    <p:sldId id="291" r:id="rId14"/>
    <p:sldId id="263" r:id="rId15"/>
    <p:sldId id="328" r:id="rId16"/>
    <p:sldId id="329" r:id="rId17"/>
    <p:sldId id="264" r:id="rId18"/>
    <p:sldId id="292" r:id="rId19"/>
    <p:sldId id="293" r:id="rId20"/>
    <p:sldId id="294" r:id="rId21"/>
    <p:sldId id="295" r:id="rId22"/>
    <p:sldId id="296" r:id="rId23"/>
    <p:sldId id="297" r:id="rId24"/>
    <p:sldId id="330" r:id="rId25"/>
    <p:sldId id="298" r:id="rId26"/>
    <p:sldId id="331" r:id="rId27"/>
    <p:sldId id="332" r:id="rId28"/>
    <p:sldId id="334" r:id="rId29"/>
    <p:sldId id="335" r:id="rId30"/>
    <p:sldId id="333" r:id="rId31"/>
    <p:sldId id="336" r:id="rId32"/>
    <p:sldId id="337" r:id="rId33"/>
    <p:sldId id="338" r:id="rId34"/>
    <p:sldId id="339" r:id="rId35"/>
    <p:sldId id="340" r:id="rId36"/>
    <p:sldId id="341" r:id="rId37"/>
    <p:sldId id="342" r:id="rId38"/>
    <p:sldId id="265" r:id="rId39"/>
    <p:sldId id="299" r:id="rId40"/>
    <p:sldId id="300" r:id="rId41"/>
    <p:sldId id="343" r:id="rId42"/>
    <p:sldId id="346" r:id="rId43"/>
    <p:sldId id="301" r:id="rId44"/>
    <p:sldId id="347" r:id="rId45"/>
    <p:sldId id="302" r:id="rId46"/>
    <p:sldId id="303" r:id="rId47"/>
    <p:sldId id="304" r:id="rId48"/>
    <p:sldId id="266" r:id="rId49"/>
    <p:sldId id="267" r:id="rId50"/>
    <p:sldId id="268" r:id="rId51"/>
    <p:sldId id="348" r:id="rId52"/>
    <p:sldId id="349" r:id="rId53"/>
    <p:sldId id="355" r:id="rId54"/>
    <p:sldId id="350" r:id="rId55"/>
    <p:sldId id="352" r:id="rId56"/>
    <p:sldId id="351" r:id="rId57"/>
    <p:sldId id="353" r:id="rId58"/>
    <p:sldId id="354" r:id="rId59"/>
    <p:sldId id="269" r:id="rId60"/>
    <p:sldId id="359" r:id="rId61"/>
    <p:sldId id="358" r:id="rId62"/>
    <p:sldId id="357" r:id="rId63"/>
    <p:sldId id="356" r:id="rId64"/>
    <p:sldId id="307" r:id="rId6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CC"/>
    <a:srgbClr val="FF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487" y="55"/>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72C8192-9780-4B0C-BBA2-783C69673700}"/>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4099" name="Rectangle 3">
            <a:extLst>
              <a:ext uri="{FF2B5EF4-FFF2-40B4-BE49-F238E27FC236}">
                <a16:creationId xmlns:a16="http://schemas.microsoft.com/office/drawing/2014/main" id="{05F141FD-6D47-447F-87FE-BEF28AB79F57}"/>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2052" name="Rectangle 4">
            <a:extLst>
              <a:ext uri="{FF2B5EF4-FFF2-40B4-BE49-F238E27FC236}">
                <a16:creationId xmlns:a16="http://schemas.microsoft.com/office/drawing/2014/main" id="{74145FFA-ED34-4485-B081-A1CBDDA284C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28151641-73AE-485A-B21E-A74C8C1D11CF}"/>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a:extLst>
              <a:ext uri="{FF2B5EF4-FFF2-40B4-BE49-F238E27FC236}">
                <a16:creationId xmlns:a16="http://schemas.microsoft.com/office/drawing/2014/main" id="{2C21C12E-30AA-4287-BE7C-EDB5F309D393}"/>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4103" name="Rectangle 7">
            <a:extLst>
              <a:ext uri="{FF2B5EF4-FFF2-40B4-BE49-F238E27FC236}">
                <a16:creationId xmlns:a16="http://schemas.microsoft.com/office/drawing/2014/main" id="{6F089BB0-B5D4-4557-A625-8FBD6B208A41}"/>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AFF42E29-7A25-4039-84F6-BEC667321DC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239931-8914-4212-89B8-EC58A188476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85347DD-DED9-416C-B24F-F582CE8A82B1}" type="slidenum">
              <a:rPr lang="en-US" altLang="zh-CN"/>
              <a:pPr>
                <a:spcBef>
                  <a:spcPct val="0"/>
                </a:spcBef>
              </a:pPr>
              <a:t>2</a:t>
            </a:fld>
            <a:endParaRPr lang="en-US" altLang="zh-CN"/>
          </a:p>
        </p:txBody>
      </p:sp>
      <p:sp>
        <p:nvSpPr>
          <p:cNvPr id="6147" name="Rectangle 2">
            <a:extLst>
              <a:ext uri="{FF2B5EF4-FFF2-40B4-BE49-F238E27FC236}">
                <a16:creationId xmlns:a16="http://schemas.microsoft.com/office/drawing/2014/main" id="{A8D82FF5-4500-4CA3-BD9A-EE5F2CE61969}"/>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A830DCC9-80E1-4D6C-A306-9C72A3D03C3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04E9B318-9F47-4934-9483-A6729D15844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6476C37-A5AB-4D84-8F9A-43466FCC8065}" type="slidenum">
              <a:rPr lang="en-US" altLang="zh-CN"/>
              <a:pPr>
                <a:spcBef>
                  <a:spcPct val="0"/>
                </a:spcBef>
              </a:pPr>
              <a:t>3</a:t>
            </a:fld>
            <a:endParaRPr lang="en-US" altLang="zh-CN"/>
          </a:p>
        </p:txBody>
      </p:sp>
      <p:sp>
        <p:nvSpPr>
          <p:cNvPr id="8195" name="Rectangle 2">
            <a:extLst>
              <a:ext uri="{FF2B5EF4-FFF2-40B4-BE49-F238E27FC236}">
                <a16:creationId xmlns:a16="http://schemas.microsoft.com/office/drawing/2014/main" id="{33F0948D-9103-4C90-8C03-3D44C4D4A634}"/>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7A9E33B2-1879-45DB-87A9-ADA69FE221A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343E2C4-99A7-4D8A-9C3B-0E7017174B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35A8B26-405B-4B17-8503-A581C66E5FB9}" type="slidenum">
              <a:rPr lang="en-US" altLang="zh-CN"/>
              <a:pPr>
                <a:spcBef>
                  <a:spcPct val="0"/>
                </a:spcBef>
              </a:pPr>
              <a:t>4</a:t>
            </a:fld>
            <a:endParaRPr lang="en-US" altLang="zh-CN"/>
          </a:p>
        </p:txBody>
      </p:sp>
      <p:sp>
        <p:nvSpPr>
          <p:cNvPr id="10243" name="Rectangle 2">
            <a:extLst>
              <a:ext uri="{FF2B5EF4-FFF2-40B4-BE49-F238E27FC236}">
                <a16:creationId xmlns:a16="http://schemas.microsoft.com/office/drawing/2014/main" id="{3B9113BD-4E0B-44BC-8953-2D34346898E0}"/>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3768D190-527F-4A4B-875C-42E2F309DEC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8C2F67EE-9F8E-4A7C-9F69-6B2956C186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00E2AB1-50CE-4880-B491-DA60661069A9}" type="slidenum">
              <a:rPr lang="en-US" altLang="zh-CN"/>
              <a:pPr>
                <a:spcBef>
                  <a:spcPct val="0"/>
                </a:spcBef>
              </a:pPr>
              <a:t>5</a:t>
            </a:fld>
            <a:endParaRPr lang="en-US" altLang="zh-CN"/>
          </a:p>
        </p:txBody>
      </p:sp>
      <p:sp>
        <p:nvSpPr>
          <p:cNvPr id="12291" name="Rectangle 2">
            <a:extLst>
              <a:ext uri="{FF2B5EF4-FFF2-40B4-BE49-F238E27FC236}">
                <a16:creationId xmlns:a16="http://schemas.microsoft.com/office/drawing/2014/main" id="{08A3299D-D3C1-405C-8B89-4D31F4E81428}"/>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56A0E8BD-B7AB-4254-9111-286EDB4CC18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9664372F-56AF-4141-8C37-3524CC6A358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BF9DA7B-BFA0-45D8-8099-A19C14BA2117}" type="slidenum">
              <a:rPr lang="en-US" altLang="zh-CN"/>
              <a:pPr>
                <a:spcBef>
                  <a:spcPct val="0"/>
                </a:spcBef>
              </a:pPr>
              <a:t>6</a:t>
            </a:fld>
            <a:endParaRPr lang="en-US" altLang="zh-CN"/>
          </a:p>
        </p:txBody>
      </p:sp>
      <p:sp>
        <p:nvSpPr>
          <p:cNvPr id="14339" name="Rectangle 2">
            <a:extLst>
              <a:ext uri="{FF2B5EF4-FFF2-40B4-BE49-F238E27FC236}">
                <a16:creationId xmlns:a16="http://schemas.microsoft.com/office/drawing/2014/main" id="{5242A544-65DF-447C-B510-D47E1ADCDE97}"/>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2AE19618-0FDC-4A65-A300-0B24D5A26E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8ADBF046-4F9A-4928-B3A5-CD901F0BE7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998E19C-EE59-44E2-8B34-BF647165D0B7}" type="slidenum">
              <a:rPr lang="en-US" altLang="zh-CN"/>
              <a:pPr>
                <a:spcBef>
                  <a:spcPct val="0"/>
                </a:spcBef>
              </a:pPr>
              <a:t>7</a:t>
            </a:fld>
            <a:endParaRPr lang="en-US" altLang="zh-CN"/>
          </a:p>
        </p:txBody>
      </p:sp>
      <p:sp>
        <p:nvSpPr>
          <p:cNvPr id="16387" name="Rectangle 2">
            <a:extLst>
              <a:ext uri="{FF2B5EF4-FFF2-40B4-BE49-F238E27FC236}">
                <a16:creationId xmlns:a16="http://schemas.microsoft.com/office/drawing/2014/main" id="{71BF5330-15FD-4E31-95E3-A5D87BDA7CC9}"/>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F2284F3-D7B5-4F29-B8C1-E2DEB42E3F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25074478-BDEC-4A4F-B702-915F440649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62D4ED-8BD6-4564-A893-815700610C2B}" type="slidenum">
              <a:rPr lang="en-US" altLang="zh-CN"/>
              <a:pPr>
                <a:spcBef>
                  <a:spcPct val="0"/>
                </a:spcBef>
              </a:pPr>
              <a:t>8</a:t>
            </a:fld>
            <a:endParaRPr lang="en-US" altLang="zh-CN"/>
          </a:p>
        </p:txBody>
      </p:sp>
      <p:sp>
        <p:nvSpPr>
          <p:cNvPr id="18435" name="Rectangle 2">
            <a:extLst>
              <a:ext uri="{FF2B5EF4-FFF2-40B4-BE49-F238E27FC236}">
                <a16:creationId xmlns:a16="http://schemas.microsoft.com/office/drawing/2014/main" id="{224E75B3-601C-4DBD-930C-637CD849D151}"/>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05231A27-D9FE-4579-A620-50A55ECC24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30EBCF2A-E174-4816-A291-0887242856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E6321A8-D7B5-4E16-BA8B-9F660B0F7028}" type="slidenum">
              <a:rPr lang="en-US" altLang="zh-CN"/>
              <a:pPr>
                <a:spcBef>
                  <a:spcPct val="0"/>
                </a:spcBef>
              </a:pPr>
              <a:t>9</a:t>
            </a:fld>
            <a:endParaRPr lang="en-US" altLang="zh-CN"/>
          </a:p>
        </p:txBody>
      </p:sp>
      <p:sp>
        <p:nvSpPr>
          <p:cNvPr id="20483" name="Rectangle 2">
            <a:extLst>
              <a:ext uri="{FF2B5EF4-FFF2-40B4-BE49-F238E27FC236}">
                <a16:creationId xmlns:a16="http://schemas.microsoft.com/office/drawing/2014/main" id="{529CF50E-10EE-4861-A6DE-49CE24FB9260}"/>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4E160BFC-2649-4B73-B59E-C176F4E984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E27A7242-A790-4A01-BF20-F01B462572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60CB2C7-4AD8-4F5E-9D50-33452F67413D}" type="slidenum">
              <a:rPr lang="en-US" altLang="zh-CN"/>
              <a:pPr>
                <a:spcBef>
                  <a:spcPct val="0"/>
                </a:spcBef>
              </a:pPr>
              <a:t>10</a:t>
            </a:fld>
            <a:endParaRPr lang="en-US" altLang="zh-CN"/>
          </a:p>
        </p:txBody>
      </p:sp>
      <p:sp>
        <p:nvSpPr>
          <p:cNvPr id="22531" name="Rectangle 2">
            <a:extLst>
              <a:ext uri="{FF2B5EF4-FFF2-40B4-BE49-F238E27FC236}">
                <a16:creationId xmlns:a16="http://schemas.microsoft.com/office/drawing/2014/main" id="{1F8DA639-F30B-4D51-9F8B-4A66FE4E96E2}"/>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C970E9DA-4DD8-4CC0-9114-07E86ED2E9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13E3F714-913D-4592-8BF3-605F803A4A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0914AF-0E18-461C-B310-47A9EA72AF6D}" type="slidenum">
              <a:rPr lang="en-US" altLang="zh-CN"/>
              <a:pPr>
                <a:spcBef>
                  <a:spcPct val="0"/>
                </a:spcBef>
              </a:pPr>
              <a:t>11</a:t>
            </a:fld>
            <a:endParaRPr lang="en-US" altLang="zh-CN"/>
          </a:p>
        </p:txBody>
      </p:sp>
      <p:sp>
        <p:nvSpPr>
          <p:cNvPr id="24579" name="Rectangle 2">
            <a:extLst>
              <a:ext uri="{FF2B5EF4-FFF2-40B4-BE49-F238E27FC236}">
                <a16:creationId xmlns:a16="http://schemas.microsoft.com/office/drawing/2014/main" id="{44CAEB88-A670-4E2A-8F57-52532068D9AC}"/>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F641C31-E17E-4BF5-A6C2-EAEFA2FB42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F4F53F6C-B470-442B-8915-BA1BD152E3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724EAE6-B79C-4EFE-B4E5-01E258C78ADB}" type="slidenum">
              <a:rPr lang="en-US" altLang="zh-CN"/>
              <a:pPr>
                <a:spcBef>
                  <a:spcPct val="0"/>
                </a:spcBef>
              </a:pPr>
              <a:t>12</a:t>
            </a:fld>
            <a:endParaRPr lang="en-US" altLang="zh-CN"/>
          </a:p>
        </p:txBody>
      </p:sp>
      <p:sp>
        <p:nvSpPr>
          <p:cNvPr id="26627" name="Rectangle 2">
            <a:extLst>
              <a:ext uri="{FF2B5EF4-FFF2-40B4-BE49-F238E27FC236}">
                <a16:creationId xmlns:a16="http://schemas.microsoft.com/office/drawing/2014/main" id="{5D626D5A-E115-4531-9051-AA2F92E4BED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81632602-E337-4181-A00B-ED557769B7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54500AE-4DE5-46B0-BBB7-81B41337CD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E194CAB-BEEF-491A-8583-3C7E5E06A650}" type="slidenum">
              <a:rPr lang="en-US" altLang="zh-CN"/>
              <a:pPr>
                <a:spcBef>
                  <a:spcPct val="0"/>
                </a:spcBef>
              </a:pPr>
              <a:t>13</a:t>
            </a:fld>
            <a:endParaRPr lang="en-US" altLang="zh-CN"/>
          </a:p>
        </p:txBody>
      </p:sp>
      <p:sp>
        <p:nvSpPr>
          <p:cNvPr id="28675" name="Rectangle 2">
            <a:extLst>
              <a:ext uri="{FF2B5EF4-FFF2-40B4-BE49-F238E27FC236}">
                <a16:creationId xmlns:a16="http://schemas.microsoft.com/office/drawing/2014/main" id="{0067287D-2509-4E97-8FDC-960CEFE5E342}"/>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D8B38471-5CC7-470E-89FC-A4D1DC295F1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13E3F714-913D-4592-8BF3-605F803A4A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0914AF-0E18-461C-B310-47A9EA72AF6D}" type="slidenum">
              <a:rPr lang="en-US" altLang="zh-CN"/>
              <a:pPr>
                <a:spcBef>
                  <a:spcPct val="0"/>
                </a:spcBef>
              </a:pPr>
              <a:t>14</a:t>
            </a:fld>
            <a:endParaRPr lang="en-US" altLang="zh-CN"/>
          </a:p>
        </p:txBody>
      </p:sp>
      <p:sp>
        <p:nvSpPr>
          <p:cNvPr id="24579" name="Rectangle 2">
            <a:extLst>
              <a:ext uri="{FF2B5EF4-FFF2-40B4-BE49-F238E27FC236}">
                <a16:creationId xmlns:a16="http://schemas.microsoft.com/office/drawing/2014/main" id="{44CAEB88-A670-4E2A-8F57-52532068D9AC}"/>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F641C31-E17E-4BF5-A6C2-EAEFA2FB42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499474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13E3F714-913D-4592-8BF3-605F803A4A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0914AF-0E18-461C-B310-47A9EA72AF6D}" type="slidenum">
              <a:rPr lang="en-US" altLang="zh-CN"/>
              <a:pPr>
                <a:spcBef>
                  <a:spcPct val="0"/>
                </a:spcBef>
              </a:pPr>
              <a:t>15</a:t>
            </a:fld>
            <a:endParaRPr lang="en-US" altLang="zh-CN"/>
          </a:p>
        </p:txBody>
      </p:sp>
      <p:sp>
        <p:nvSpPr>
          <p:cNvPr id="24579" name="Rectangle 2">
            <a:extLst>
              <a:ext uri="{FF2B5EF4-FFF2-40B4-BE49-F238E27FC236}">
                <a16:creationId xmlns:a16="http://schemas.microsoft.com/office/drawing/2014/main" id="{44CAEB88-A670-4E2A-8F57-52532068D9AC}"/>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F641C31-E17E-4BF5-A6C2-EAEFA2FB42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277050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27FC408-A087-4AD7-9B4C-D4D27CA74F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50FE82E-D6D5-42BB-B91B-852364B3A635}" type="slidenum">
              <a:rPr lang="en-US" altLang="zh-CN"/>
              <a:pPr>
                <a:spcBef>
                  <a:spcPct val="0"/>
                </a:spcBef>
              </a:pPr>
              <a:t>16</a:t>
            </a:fld>
            <a:endParaRPr lang="en-US" altLang="zh-CN"/>
          </a:p>
        </p:txBody>
      </p:sp>
      <p:sp>
        <p:nvSpPr>
          <p:cNvPr id="30723" name="Rectangle 2">
            <a:extLst>
              <a:ext uri="{FF2B5EF4-FFF2-40B4-BE49-F238E27FC236}">
                <a16:creationId xmlns:a16="http://schemas.microsoft.com/office/drawing/2014/main" id="{D6F58128-1C4F-4565-97B9-91155F239071}"/>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62A1FFB8-FDA3-4EB6-9991-470A77BDD5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025D6C39-21A1-4C69-90F0-8DB439782D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4A4A37E-9540-471E-A4C5-238FE6E19FFE}" type="slidenum">
              <a:rPr lang="en-US" altLang="zh-CN"/>
              <a:pPr>
                <a:spcBef>
                  <a:spcPct val="0"/>
                </a:spcBef>
              </a:pPr>
              <a:t>17</a:t>
            </a:fld>
            <a:endParaRPr lang="en-US" altLang="zh-CN"/>
          </a:p>
        </p:txBody>
      </p:sp>
      <p:sp>
        <p:nvSpPr>
          <p:cNvPr id="32771" name="Rectangle 2">
            <a:extLst>
              <a:ext uri="{FF2B5EF4-FFF2-40B4-BE49-F238E27FC236}">
                <a16:creationId xmlns:a16="http://schemas.microsoft.com/office/drawing/2014/main" id="{B0B60B89-72B9-45A7-932C-DA25FED93D16}"/>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4BDF9070-9556-480D-88F5-D55AAC2C83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100BA979-B8D1-4D53-92A9-3B9D3A4E00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C85E6D-49D0-4BE4-9AA3-CA1D5A5A46E0}" type="slidenum">
              <a:rPr lang="en-US" altLang="zh-CN"/>
              <a:pPr>
                <a:spcBef>
                  <a:spcPct val="0"/>
                </a:spcBef>
              </a:pPr>
              <a:t>18</a:t>
            </a:fld>
            <a:endParaRPr lang="en-US" altLang="zh-CN"/>
          </a:p>
        </p:txBody>
      </p:sp>
      <p:sp>
        <p:nvSpPr>
          <p:cNvPr id="34819" name="Rectangle 2">
            <a:extLst>
              <a:ext uri="{FF2B5EF4-FFF2-40B4-BE49-F238E27FC236}">
                <a16:creationId xmlns:a16="http://schemas.microsoft.com/office/drawing/2014/main" id="{CF007D3D-680A-442D-BF6D-21477ABEA4EB}"/>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F6C33C99-9A28-4323-9C53-FC71330643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32834FF4-5357-413F-A012-A48383B99D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0CA4FA3-D79E-444C-BD2B-3B74C596B992}" type="slidenum">
              <a:rPr lang="en-US" altLang="zh-CN"/>
              <a:pPr>
                <a:spcBef>
                  <a:spcPct val="0"/>
                </a:spcBef>
              </a:pPr>
              <a:t>19</a:t>
            </a:fld>
            <a:endParaRPr lang="en-US" altLang="zh-CN"/>
          </a:p>
        </p:txBody>
      </p:sp>
      <p:sp>
        <p:nvSpPr>
          <p:cNvPr id="36867" name="Rectangle 2">
            <a:extLst>
              <a:ext uri="{FF2B5EF4-FFF2-40B4-BE49-F238E27FC236}">
                <a16:creationId xmlns:a16="http://schemas.microsoft.com/office/drawing/2014/main" id="{4450EBF9-A2BD-4979-8CC6-3FB1B6A336FC}"/>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77B54CDE-DF1D-4002-9A71-0303D69636C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1792FF94-0CE7-4F6B-8630-B9134B0D4DB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4183A2-C810-4FFF-98C6-8507E29B6C84}" type="slidenum">
              <a:rPr lang="en-US" altLang="zh-CN"/>
              <a:pPr>
                <a:spcBef>
                  <a:spcPct val="0"/>
                </a:spcBef>
              </a:pPr>
              <a:t>20</a:t>
            </a:fld>
            <a:endParaRPr lang="en-US" altLang="zh-CN"/>
          </a:p>
        </p:txBody>
      </p:sp>
      <p:sp>
        <p:nvSpPr>
          <p:cNvPr id="38915" name="Rectangle 2">
            <a:extLst>
              <a:ext uri="{FF2B5EF4-FFF2-40B4-BE49-F238E27FC236}">
                <a16:creationId xmlns:a16="http://schemas.microsoft.com/office/drawing/2014/main" id="{5511D71B-73CE-40EF-AFDF-CB1227557B90}"/>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84E34D1E-17FE-4223-BDDB-A763F375DC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3733B74E-21E8-4720-993A-74C9B2E1CA7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38D00B3-39ED-43AA-AA88-AA567E17EB41}" type="slidenum">
              <a:rPr lang="en-US" altLang="zh-CN"/>
              <a:pPr>
                <a:spcBef>
                  <a:spcPct val="0"/>
                </a:spcBef>
              </a:pPr>
              <a:t>21</a:t>
            </a:fld>
            <a:endParaRPr lang="en-US" altLang="zh-CN"/>
          </a:p>
        </p:txBody>
      </p:sp>
      <p:sp>
        <p:nvSpPr>
          <p:cNvPr id="40963" name="Rectangle 2">
            <a:extLst>
              <a:ext uri="{FF2B5EF4-FFF2-40B4-BE49-F238E27FC236}">
                <a16:creationId xmlns:a16="http://schemas.microsoft.com/office/drawing/2014/main" id="{87C69A41-714E-4986-B7AE-4D250718AD3F}"/>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82C2215E-B53A-4133-A199-9101138C98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CDE8905-115E-4E6E-B583-F5852C6D7A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7E78C40-C986-44A2-9C6F-E86019F5C98A}" type="slidenum">
              <a:rPr lang="en-US" altLang="zh-CN"/>
              <a:pPr>
                <a:spcBef>
                  <a:spcPct val="0"/>
                </a:spcBef>
              </a:pPr>
              <a:t>22</a:t>
            </a:fld>
            <a:endParaRPr lang="en-US" altLang="zh-CN"/>
          </a:p>
        </p:txBody>
      </p:sp>
      <p:sp>
        <p:nvSpPr>
          <p:cNvPr id="43011" name="Rectangle 2">
            <a:extLst>
              <a:ext uri="{FF2B5EF4-FFF2-40B4-BE49-F238E27FC236}">
                <a16:creationId xmlns:a16="http://schemas.microsoft.com/office/drawing/2014/main" id="{35AC05F7-F9DC-40C4-A185-7DB1E036D1A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81703F5D-C580-4D33-A9F5-9646B25ACB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CDE8905-115E-4E6E-B583-F5852C6D7A7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7E78C40-C986-44A2-9C6F-E86019F5C98A}" type="slidenum">
              <a:rPr lang="en-US" altLang="zh-CN"/>
              <a:pPr>
                <a:spcBef>
                  <a:spcPct val="0"/>
                </a:spcBef>
              </a:pPr>
              <a:t>23</a:t>
            </a:fld>
            <a:endParaRPr lang="en-US" altLang="zh-CN"/>
          </a:p>
        </p:txBody>
      </p:sp>
      <p:sp>
        <p:nvSpPr>
          <p:cNvPr id="43011" name="Rectangle 2">
            <a:extLst>
              <a:ext uri="{FF2B5EF4-FFF2-40B4-BE49-F238E27FC236}">
                <a16:creationId xmlns:a16="http://schemas.microsoft.com/office/drawing/2014/main" id="{35AC05F7-F9DC-40C4-A185-7DB1E036D1A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81703F5D-C580-4D33-A9F5-9646B25ACB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02246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7466230C-CB55-499E-BE74-26A7BBFE0B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5942179-A850-499A-846F-D075FDB79C63}" type="slidenum">
              <a:rPr lang="en-US" altLang="zh-CN"/>
              <a:pPr>
                <a:spcBef>
                  <a:spcPct val="0"/>
                </a:spcBef>
              </a:pPr>
              <a:t>24</a:t>
            </a:fld>
            <a:endParaRPr lang="en-US" altLang="zh-CN"/>
          </a:p>
        </p:txBody>
      </p:sp>
      <p:sp>
        <p:nvSpPr>
          <p:cNvPr id="45059" name="Rectangle 2">
            <a:extLst>
              <a:ext uri="{FF2B5EF4-FFF2-40B4-BE49-F238E27FC236}">
                <a16:creationId xmlns:a16="http://schemas.microsoft.com/office/drawing/2014/main" id="{5BCCACB4-500C-4E4E-802D-56F6A1CB6CBC}"/>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D4A62B74-E474-4F1B-8126-46A6416A25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25</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372647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26</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9712377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27</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1515633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28</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4975754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29</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5358479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30</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87736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31</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3528512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32</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2768718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33</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618840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34</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2841539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35</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1641434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36</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1336943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1E7CAA-C624-47E9-9F26-542B777EF4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0E7A55-325B-40F0-9E2E-9BA25CF7F561}" type="slidenum">
              <a:rPr lang="en-US" altLang="zh-CN"/>
              <a:pPr>
                <a:spcBef>
                  <a:spcPct val="0"/>
                </a:spcBef>
              </a:pPr>
              <a:t>37</a:t>
            </a:fld>
            <a:endParaRPr lang="en-US" altLang="zh-CN"/>
          </a:p>
        </p:txBody>
      </p:sp>
      <p:sp>
        <p:nvSpPr>
          <p:cNvPr id="47107" name="Rectangle 2">
            <a:extLst>
              <a:ext uri="{FF2B5EF4-FFF2-40B4-BE49-F238E27FC236}">
                <a16:creationId xmlns:a16="http://schemas.microsoft.com/office/drawing/2014/main" id="{33007C8B-C57F-4DAB-B7C4-4BFE929C520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7791402-FA3E-4347-9645-A7AF6F7F4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AD086DF-CED5-4D49-9DEA-9EC77E949B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45E7628-0ECA-4480-A216-B61EB9A398CF}" type="slidenum">
              <a:rPr lang="en-US" altLang="zh-CN"/>
              <a:pPr>
                <a:spcBef>
                  <a:spcPct val="0"/>
                </a:spcBef>
              </a:pPr>
              <a:t>38</a:t>
            </a:fld>
            <a:endParaRPr lang="en-US" altLang="zh-CN"/>
          </a:p>
        </p:txBody>
      </p:sp>
      <p:sp>
        <p:nvSpPr>
          <p:cNvPr id="49155" name="Rectangle 2">
            <a:extLst>
              <a:ext uri="{FF2B5EF4-FFF2-40B4-BE49-F238E27FC236}">
                <a16:creationId xmlns:a16="http://schemas.microsoft.com/office/drawing/2014/main" id="{AC2AF9CB-BBF6-458B-8BD5-2C0755FE622A}"/>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9A6A09F1-1570-4C06-A713-9BE692629F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C0E3D40-F7E0-4FD0-88B4-5DFF5F0FF69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97F3A6-EB12-4A20-9F42-55EDF4BA5E80}" type="slidenum">
              <a:rPr lang="en-US" altLang="zh-CN"/>
              <a:pPr>
                <a:spcBef>
                  <a:spcPct val="0"/>
                </a:spcBef>
              </a:pPr>
              <a:t>39</a:t>
            </a:fld>
            <a:endParaRPr lang="en-US" altLang="zh-CN"/>
          </a:p>
        </p:txBody>
      </p:sp>
      <p:sp>
        <p:nvSpPr>
          <p:cNvPr id="51203" name="Rectangle 2">
            <a:extLst>
              <a:ext uri="{FF2B5EF4-FFF2-40B4-BE49-F238E27FC236}">
                <a16:creationId xmlns:a16="http://schemas.microsoft.com/office/drawing/2014/main" id="{82EBFD5A-5168-4BDE-B0E4-C0EF3BF2AACE}"/>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CECCEFA0-E2FD-40FC-B699-B2EF2D25E0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82DC711-2467-48FA-B6AE-455F39C71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C59417-292E-4B7E-88A3-03E51BE3D657}" type="slidenum">
              <a:rPr lang="en-US" altLang="zh-CN"/>
              <a:pPr>
                <a:spcBef>
                  <a:spcPct val="0"/>
                </a:spcBef>
              </a:pPr>
              <a:t>40</a:t>
            </a:fld>
            <a:endParaRPr lang="en-US" altLang="zh-CN"/>
          </a:p>
        </p:txBody>
      </p:sp>
      <p:sp>
        <p:nvSpPr>
          <p:cNvPr id="53251" name="Rectangle 2">
            <a:extLst>
              <a:ext uri="{FF2B5EF4-FFF2-40B4-BE49-F238E27FC236}">
                <a16:creationId xmlns:a16="http://schemas.microsoft.com/office/drawing/2014/main" id="{BA147971-2E9F-4BEB-A978-6B18F0DFEE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3007AFF-8646-4149-A92E-A9DA3F8DAA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1085218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82DC711-2467-48FA-B6AE-455F39C71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C59417-292E-4B7E-88A3-03E51BE3D657}" type="slidenum">
              <a:rPr lang="en-US" altLang="zh-CN"/>
              <a:pPr>
                <a:spcBef>
                  <a:spcPct val="0"/>
                </a:spcBef>
              </a:pPr>
              <a:t>41</a:t>
            </a:fld>
            <a:endParaRPr lang="en-US" altLang="zh-CN"/>
          </a:p>
        </p:txBody>
      </p:sp>
      <p:sp>
        <p:nvSpPr>
          <p:cNvPr id="53251" name="Rectangle 2">
            <a:extLst>
              <a:ext uri="{FF2B5EF4-FFF2-40B4-BE49-F238E27FC236}">
                <a16:creationId xmlns:a16="http://schemas.microsoft.com/office/drawing/2014/main" id="{BA147971-2E9F-4BEB-A978-6B18F0DFEE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3007AFF-8646-4149-A92E-A9DA3F8DAA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2829837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82DC711-2467-48FA-B6AE-455F39C71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C59417-292E-4B7E-88A3-03E51BE3D657}" type="slidenum">
              <a:rPr lang="en-US" altLang="zh-CN"/>
              <a:pPr>
                <a:spcBef>
                  <a:spcPct val="0"/>
                </a:spcBef>
              </a:pPr>
              <a:t>42</a:t>
            </a:fld>
            <a:endParaRPr lang="en-US" altLang="zh-CN"/>
          </a:p>
        </p:txBody>
      </p:sp>
      <p:sp>
        <p:nvSpPr>
          <p:cNvPr id="53251" name="Rectangle 2">
            <a:extLst>
              <a:ext uri="{FF2B5EF4-FFF2-40B4-BE49-F238E27FC236}">
                <a16:creationId xmlns:a16="http://schemas.microsoft.com/office/drawing/2014/main" id="{BA147971-2E9F-4BEB-A978-6B18F0DFEE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3007AFF-8646-4149-A92E-A9DA3F8DAA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82DC711-2467-48FA-B6AE-455F39C71D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C59417-292E-4B7E-88A3-03E51BE3D657}" type="slidenum">
              <a:rPr lang="en-US" altLang="zh-CN"/>
              <a:pPr>
                <a:spcBef>
                  <a:spcPct val="0"/>
                </a:spcBef>
              </a:pPr>
              <a:t>43</a:t>
            </a:fld>
            <a:endParaRPr lang="en-US" altLang="zh-CN"/>
          </a:p>
        </p:txBody>
      </p:sp>
      <p:sp>
        <p:nvSpPr>
          <p:cNvPr id="53251" name="Rectangle 2">
            <a:extLst>
              <a:ext uri="{FF2B5EF4-FFF2-40B4-BE49-F238E27FC236}">
                <a16:creationId xmlns:a16="http://schemas.microsoft.com/office/drawing/2014/main" id="{BA147971-2E9F-4BEB-A978-6B18F0DFEE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3007AFF-8646-4149-A92E-A9DA3F8DAA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4081852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BDFFDCFC-B6C6-46C5-8343-B8DE77D9D7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1028BE7-F79A-496E-BB19-E1BBB2F25DBD}" type="slidenum">
              <a:rPr lang="en-US" altLang="zh-CN"/>
              <a:pPr>
                <a:spcBef>
                  <a:spcPct val="0"/>
                </a:spcBef>
              </a:pPr>
              <a:t>44</a:t>
            </a:fld>
            <a:endParaRPr lang="en-US" altLang="zh-CN"/>
          </a:p>
        </p:txBody>
      </p:sp>
      <p:sp>
        <p:nvSpPr>
          <p:cNvPr id="55299" name="Rectangle 2">
            <a:extLst>
              <a:ext uri="{FF2B5EF4-FFF2-40B4-BE49-F238E27FC236}">
                <a16:creationId xmlns:a16="http://schemas.microsoft.com/office/drawing/2014/main" id="{B7BA24D9-1A89-4920-9585-4DEBE6E2698B}"/>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CDE87DE-0C5A-4B2A-B7FF-4EA5815C36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D83159C7-7676-4E8F-B3CA-1632E86D82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06BED29-2A2B-4498-B11C-C3FBDC8A608C}" type="slidenum">
              <a:rPr lang="en-US" altLang="zh-CN"/>
              <a:pPr>
                <a:spcBef>
                  <a:spcPct val="0"/>
                </a:spcBef>
              </a:pPr>
              <a:t>45</a:t>
            </a:fld>
            <a:endParaRPr lang="en-US" altLang="zh-CN"/>
          </a:p>
        </p:txBody>
      </p:sp>
      <p:sp>
        <p:nvSpPr>
          <p:cNvPr id="57347" name="Rectangle 2">
            <a:extLst>
              <a:ext uri="{FF2B5EF4-FFF2-40B4-BE49-F238E27FC236}">
                <a16:creationId xmlns:a16="http://schemas.microsoft.com/office/drawing/2014/main" id="{B67E0923-ACE7-488C-9CF5-734F91ACD7E8}"/>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9BF55C40-EE9E-4098-B711-2CF6D1EDBE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F7D63352-CB7F-4F94-A63A-A74578B73A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74BA92D-9CF8-4E14-8D2B-7E54D5AC6BE6}" type="slidenum">
              <a:rPr lang="en-US" altLang="zh-CN"/>
              <a:pPr>
                <a:spcBef>
                  <a:spcPct val="0"/>
                </a:spcBef>
              </a:pPr>
              <a:t>46</a:t>
            </a:fld>
            <a:endParaRPr lang="en-US" altLang="zh-CN"/>
          </a:p>
        </p:txBody>
      </p:sp>
      <p:sp>
        <p:nvSpPr>
          <p:cNvPr id="59395" name="Rectangle 2">
            <a:extLst>
              <a:ext uri="{FF2B5EF4-FFF2-40B4-BE49-F238E27FC236}">
                <a16:creationId xmlns:a16="http://schemas.microsoft.com/office/drawing/2014/main" id="{AFAB9EF8-E4E6-4081-B2B2-AD5E6B7BAD99}"/>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8F5CC8DA-988D-49E3-85EC-A60EFBBBBC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009FA9F-3E3B-4741-9491-EE788A2FD4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E44E0-FE35-4AD2-8BDD-5E3A890C24DF}" type="slidenum">
              <a:rPr lang="en-US" altLang="zh-CN"/>
              <a:pPr>
                <a:spcBef>
                  <a:spcPct val="0"/>
                </a:spcBef>
              </a:pPr>
              <a:t>47</a:t>
            </a:fld>
            <a:endParaRPr lang="en-US" altLang="zh-CN"/>
          </a:p>
        </p:txBody>
      </p:sp>
      <p:sp>
        <p:nvSpPr>
          <p:cNvPr id="61443" name="Rectangle 2">
            <a:extLst>
              <a:ext uri="{FF2B5EF4-FFF2-40B4-BE49-F238E27FC236}">
                <a16:creationId xmlns:a16="http://schemas.microsoft.com/office/drawing/2014/main" id="{2F317574-DC82-4834-B332-38590B206ED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BEB3107-BC00-4C5D-96E2-843F8FC3F2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65821A39-B47F-4EBF-8BAE-86AE30D0A0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AD0970D-F889-4E3B-AEEB-85F69DDE94E2}" type="slidenum">
              <a:rPr lang="en-US" altLang="zh-CN"/>
              <a:pPr>
                <a:spcBef>
                  <a:spcPct val="0"/>
                </a:spcBef>
              </a:pPr>
              <a:t>48</a:t>
            </a:fld>
            <a:endParaRPr lang="en-US" altLang="zh-CN"/>
          </a:p>
        </p:txBody>
      </p:sp>
      <p:sp>
        <p:nvSpPr>
          <p:cNvPr id="63491" name="Rectangle 2">
            <a:extLst>
              <a:ext uri="{FF2B5EF4-FFF2-40B4-BE49-F238E27FC236}">
                <a16:creationId xmlns:a16="http://schemas.microsoft.com/office/drawing/2014/main" id="{5AD1129B-C6DF-44F5-86AC-CCED667DC6F4}"/>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51AE1ABD-5910-49AB-B3D8-ED83DB7FFD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49</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50</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42075069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52</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937929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53</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5227181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54</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9248597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55</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7217352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56</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3779231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E9EE2D8-36D1-49BB-B210-EA325E9BBF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82626-04B4-47D6-ADC5-9F06A6A559FF}" type="slidenum">
              <a:rPr lang="en-US" altLang="zh-CN"/>
              <a:pPr>
                <a:spcBef>
                  <a:spcPct val="0"/>
                </a:spcBef>
              </a:pPr>
              <a:t>57</a:t>
            </a:fld>
            <a:endParaRPr lang="en-US" altLang="zh-CN"/>
          </a:p>
        </p:txBody>
      </p:sp>
      <p:sp>
        <p:nvSpPr>
          <p:cNvPr id="65539" name="Rectangle 2">
            <a:extLst>
              <a:ext uri="{FF2B5EF4-FFF2-40B4-BE49-F238E27FC236}">
                <a16:creationId xmlns:a16="http://schemas.microsoft.com/office/drawing/2014/main" id="{B33571F7-FFCE-48C1-80EB-AE26D5885EB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705D42A9-FC32-4EE5-8BB4-6F6F71D497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2366150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3416AB8-FE7C-448F-B3FB-3B09CEC98CF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CF1D127-6EB4-47AD-8A7D-E6B0ADC3D512}" type="slidenum">
              <a:rPr lang="en-US" altLang="zh-CN"/>
              <a:pPr>
                <a:spcBef>
                  <a:spcPct val="0"/>
                </a:spcBef>
              </a:pPr>
              <a:t>58</a:t>
            </a:fld>
            <a:endParaRPr lang="en-US" altLang="zh-CN"/>
          </a:p>
        </p:txBody>
      </p:sp>
      <p:sp>
        <p:nvSpPr>
          <p:cNvPr id="67587" name="Rectangle 2">
            <a:extLst>
              <a:ext uri="{FF2B5EF4-FFF2-40B4-BE49-F238E27FC236}">
                <a16:creationId xmlns:a16="http://schemas.microsoft.com/office/drawing/2014/main" id="{D641FF14-1514-4082-A14F-41B970A9A42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61AD62ED-4F3B-43C0-87C2-FC10A2DC9A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3416AB8-FE7C-448F-B3FB-3B09CEC98CF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CF1D127-6EB4-47AD-8A7D-E6B0ADC3D512}" type="slidenum">
              <a:rPr lang="en-US" altLang="zh-CN"/>
              <a:pPr>
                <a:spcBef>
                  <a:spcPct val="0"/>
                </a:spcBef>
              </a:pPr>
              <a:t>59</a:t>
            </a:fld>
            <a:endParaRPr lang="en-US" altLang="zh-CN"/>
          </a:p>
        </p:txBody>
      </p:sp>
      <p:sp>
        <p:nvSpPr>
          <p:cNvPr id="67587" name="Rectangle 2">
            <a:extLst>
              <a:ext uri="{FF2B5EF4-FFF2-40B4-BE49-F238E27FC236}">
                <a16:creationId xmlns:a16="http://schemas.microsoft.com/office/drawing/2014/main" id="{D641FF14-1514-4082-A14F-41B970A9A42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61AD62ED-4F3B-43C0-87C2-FC10A2DC9A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2642910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3416AB8-FE7C-448F-B3FB-3B09CEC98CF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CF1D127-6EB4-47AD-8A7D-E6B0ADC3D512}" type="slidenum">
              <a:rPr lang="en-US" altLang="zh-CN"/>
              <a:pPr>
                <a:spcBef>
                  <a:spcPct val="0"/>
                </a:spcBef>
              </a:pPr>
              <a:t>60</a:t>
            </a:fld>
            <a:endParaRPr lang="en-US" altLang="zh-CN"/>
          </a:p>
        </p:txBody>
      </p:sp>
      <p:sp>
        <p:nvSpPr>
          <p:cNvPr id="67587" name="Rectangle 2">
            <a:extLst>
              <a:ext uri="{FF2B5EF4-FFF2-40B4-BE49-F238E27FC236}">
                <a16:creationId xmlns:a16="http://schemas.microsoft.com/office/drawing/2014/main" id="{D641FF14-1514-4082-A14F-41B970A9A42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61AD62ED-4F3B-43C0-87C2-FC10A2DC9A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8117950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3416AB8-FE7C-448F-B3FB-3B09CEC98CF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CF1D127-6EB4-47AD-8A7D-E6B0ADC3D512}" type="slidenum">
              <a:rPr lang="en-US" altLang="zh-CN"/>
              <a:pPr>
                <a:spcBef>
                  <a:spcPct val="0"/>
                </a:spcBef>
              </a:pPr>
              <a:t>61</a:t>
            </a:fld>
            <a:endParaRPr lang="en-US" altLang="zh-CN"/>
          </a:p>
        </p:txBody>
      </p:sp>
      <p:sp>
        <p:nvSpPr>
          <p:cNvPr id="67587" name="Rectangle 2">
            <a:extLst>
              <a:ext uri="{FF2B5EF4-FFF2-40B4-BE49-F238E27FC236}">
                <a16:creationId xmlns:a16="http://schemas.microsoft.com/office/drawing/2014/main" id="{D641FF14-1514-4082-A14F-41B970A9A42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61AD62ED-4F3B-43C0-87C2-FC10A2DC9A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5051264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C3416AB8-FE7C-448F-B3FB-3B09CEC98CF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CF1D127-6EB4-47AD-8A7D-E6B0ADC3D512}" type="slidenum">
              <a:rPr lang="en-US" altLang="zh-CN"/>
              <a:pPr>
                <a:spcBef>
                  <a:spcPct val="0"/>
                </a:spcBef>
              </a:pPr>
              <a:t>62</a:t>
            </a:fld>
            <a:endParaRPr lang="en-US" altLang="zh-CN"/>
          </a:p>
        </p:txBody>
      </p:sp>
      <p:sp>
        <p:nvSpPr>
          <p:cNvPr id="67587" name="Rectangle 2">
            <a:extLst>
              <a:ext uri="{FF2B5EF4-FFF2-40B4-BE49-F238E27FC236}">
                <a16:creationId xmlns:a16="http://schemas.microsoft.com/office/drawing/2014/main" id="{D641FF14-1514-4082-A14F-41B970A9A42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61AD62ED-4F3B-43C0-87C2-FC10A2DC9A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005444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946867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688623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Tree>
    <p:extLst>
      <p:ext uri="{BB962C8B-B14F-4D97-AF65-F5344CB8AC3E}">
        <p14:creationId xmlns:p14="http://schemas.microsoft.com/office/powerpoint/2010/main" val="3350403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27633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13997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713112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971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Tree>
    <p:extLst>
      <p:ext uri="{BB962C8B-B14F-4D97-AF65-F5344CB8AC3E}">
        <p14:creationId xmlns:p14="http://schemas.microsoft.com/office/powerpoint/2010/main" val="3508652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Tree>
    <p:extLst>
      <p:ext uri="{BB962C8B-B14F-4D97-AF65-F5344CB8AC3E}">
        <p14:creationId xmlns:p14="http://schemas.microsoft.com/office/powerpoint/2010/main" val="1297828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44783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9688"/>
            <a:ext cx="2057400" cy="62341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9688"/>
            <a:ext cx="6019800" cy="62341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04689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SmartArt 占位符 2"/>
          <p:cNvSpPr>
            <a:spLocks noGrp="1"/>
          </p:cNvSpPr>
          <p:nvPr>
            <p:ph type="dgm" idx="1"/>
          </p:nvPr>
        </p:nvSpPr>
        <p:spPr>
          <a:xfrm>
            <a:off x="457200" y="1828800"/>
            <a:ext cx="8229600" cy="4495800"/>
          </a:xfrm>
        </p:spPr>
        <p:txBody>
          <a:bodyPr/>
          <a:lstStyle/>
          <a:p>
            <a:pPr lvl="0"/>
            <a:r>
              <a:rPr lang="zh-CN" altLang="en-US" noProof="0"/>
              <a:t>单击图标添加 </a:t>
            </a:r>
            <a:r>
              <a:rPr lang="en-US" altLang="zh-CN" noProof="0"/>
              <a:t>SmartArt </a:t>
            </a:r>
            <a:r>
              <a:rPr lang="zh-CN" altLang="en-US" noProof="0"/>
              <a:t>图形</a:t>
            </a:r>
          </a:p>
        </p:txBody>
      </p:sp>
      <p:sp>
        <p:nvSpPr>
          <p:cNvPr id="4" name="Rectangle 15">
            <a:extLst>
              <a:ext uri="{FF2B5EF4-FFF2-40B4-BE49-F238E27FC236}">
                <a16:creationId xmlns:a16="http://schemas.microsoft.com/office/drawing/2014/main" id="{2A062542-C827-4387-AA72-576220F56AB5}"/>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5" name="Rectangle 16">
            <a:extLst>
              <a:ext uri="{FF2B5EF4-FFF2-40B4-BE49-F238E27FC236}">
                <a16:creationId xmlns:a16="http://schemas.microsoft.com/office/drawing/2014/main" id="{C8242291-A2CE-4383-8E5B-097A9DF963A4}"/>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2164127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C1FBFBFA-4E9E-49BF-B92E-1196B431084A}"/>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6" name="Rectangle 16">
            <a:extLst>
              <a:ext uri="{FF2B5EF4-FFF2-40B4-BE49-F238E27FC236}">
                <a16:creationId xmlns:a16="http://schemas.microsoft.com/office/drawing/2014/main" id="{982D6929-372B-4445-B124-76532DD554D7}"/>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748543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8288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529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9587DFB2-535A-452F-9B96-A3902934FD54}"/>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7" name="Rectangle 16">
            <a:extLst>
              <a:ext uri="{FF2B5EF4-FFF2-40B4-BE49-F238E27FC236}">
                <a16:creationId xmlns:a16="http://schemas.microsoft.com/office/drawing/2014/main" id="{6CF14C2C-C7C5-4736-A980-8BAE2B283F6A}"/>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2659544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828800"/>
            <a:ext cx="8229600" cy="4495800"/>
          </a:xfrm>
        </p:spPr>
        <p:txBody>
          <a:bodyPr/>
          <a:lstStyle/>
          <a:p>
            <a:pPr lvl="0"/>
            <a:r>
              <a:rPr lang="zh-CN" altLang="en-US" noProof="0"/>
              <a:t>单击图标添加表格</a:t>
            </a:r>
          </a:p>
        </p:txBody>
      </p:sp>
      <p:sp>
        <p:nvSpPr>
          <p:cNvPr id="4" name="Rectangle 15">
            <a:extLst>
              <a:ext uri="{FF2B5EF4-FFF2-40B4-BE49-F238E27FC236}">
                <a16:creationId xmlns:a16="http://schemas.microsoft.com/office/drawing/2014/main" id="{D5878556-03B2-4F1F-A2EA-E019466B1266}"/>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5" name="Rectangle 16">
            <a:extLst>
              <a:ext uri="{FF2B5EF4-FFF2-40B4-BE49-F238E27FC236}">
                <a16:creationId xmlns:a16="http://schemas.microsoft.com/office/drawing/2014/main" id="{4171ECEE-B3A4-4671-9A2F-B37ED1461481}"/>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3295894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263679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781474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853000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627551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76138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414431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603084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114730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pPr/>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884704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27347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77817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3.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未命名_副本">
            <a:extLst>
              <a:ext uri="{FF2B5EF4-FFF2-40B4-BE49-F238E27FC236}">
                <a16:creationId xmlns:a16="http://schemas.microsoft.com/office/drawing/2014/main" id="{003513D6-3AA0-4F5E-9956-150BCDF6F5C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l="1405" t="12910" r="2878" b="10757"/>
          <a:stretch>
            <a:fillRect/>
          </a:stretch>
        </p:blipFill>
        <p:spPr bwMode="auto">
          <a:xfrm>
            <a:off x="-22225" y="838200"/>
            <a:ext cx="9161463" cy="578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图片2">
            <a:extLst>
              <a:ext uri="{FF2B5EF4-FFF2-40B4-BE49-F238E27FC236}">
                <a16:creationId xmlns:a16="http://schemas.microsoft.com/office/drawing/2014/main" id="{FB9CC00C-B49E-400F-B453-8426FB0AA2B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225" y="6453188"/>
            <a:ext cx="91662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图片2">
            <a:extLst>
              <a:ext uri="{FF2B5EF4-FFF2-40B4-BE49-F238E27FC236}">
                <a16:creationId xmlns:a16="http://schemas.microsoft.com/office/drawing/2014/main" id="{2DE6063B-AD03-46E8-B27E-B11E27627B1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225" y="-28575"/>
            <a:ext cx="91662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Rectangle 2">
            <a:extLst>
              <a:ext uri="{FF2B5EF4-FFF2-40B4-BE49-F238E27FC236}">
                <a16:creationId xmlns:a16="http://schemas.microsoft.com/office/drawing/2014/main" id="{9EC3A238-F7D2-4926-B1AA-6EB0D797E75E}"/>
              </a:ext>
            </a:extLst>
          </p:cNvPr>
          <p:cNvSpPr>
            <a:spLocks noGrp="1" noChangeArrowheads="1"/>
          </p:cNvSpPr>
          <p:nvPr>
            <p:ph type="title"/>
          </p:nvPr>
        </p:nvSpPr>
        <p:spPr bwMode="auto">
          <a:xfrm>
            <a:off x="457200" y="-39688"/>
            <a:ext cx="8229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D5BCE9F0-265F-419E-931E-A3D2DF4869AF}"/>
              </a:ext>
            </a:extLst>
          </p:cNvPr>
          <p:cNvSpPr>
            <a:spLocks noGrp="1" noChangeArrowheads="1"/>
          </p:cNvSpPr>
          <p:nvPr>
            <p:ph type="body" idx="1"/>
          </p:nvPr>
        </p:nvSpPr>
        <p:spPr bwMode="auto">
          <a:xfrm>
            <a:off x="457200" y="1339850"/>
            <a:ext cx="82296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a:extLst>
              <a:ext uri="{FF2B5EF4-FFF2-40B4-BE49-F238E27FC236}">
                <a16:creationId xmlns:a16="http://schemas.microsoft.com/office/drawing/2014/main" id="{1B82E9A2-3B7A-4435-8F7F-E645F2C1C2F2}"/>
              </a:ext>
            </a:extLst>
          </p:cNvPr>
          <p:cNvSpPr txBox="1">
            <a:spLocks noChangeArrowheads="1"/>
          </p:cNvSpPr>
          <p:nvPr/>
        </p:nvSpPr>
        <p:spPr bwMode="auto">
          <a:xfrm>
            <a:off x="5510213" y="6454775"/>
            <a:ext cx="4103687" cy="334963"/>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Font typeface="Arial" panose="020B0604020202020204" pitchFamily="34" charset="0"/>
              <a:buNone/>
              <a:defRPr/>
            </a:pPr>
            <a:r>
              <a:rPr lang="en-US" altLang="zh-CN" sz="1600" b="1">
                <a:solidFill>
                  <a:schemeClr val="bg1"/>
                </a:solidFill>
              </a:rPr>
              <a:t>An Introduction to Database System</a:t>
            </a:r>
          </a:p>
        </p:txBody>
      </p:sp>
    </p:spTree>
    <p:extLst>
      <p:ext uri="{BB962C8B-B14F-4D97-AF65-F5344CB8AC3E}">
        <p14:creationId xmlns:p14="http://schemas.microsoft.com/office/powerpoint/2010/main" val="25950100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rtl="0" eaLnBrk="1" fontAlgn="base" hangingPunct="1">
        <a:spcBef>
          <a:spcPct val="0"/>
        </a:spcBef>
        <a:spcAft>
          <a:spcPct val="0"/>
        </a:spcAft>
        <a:defRPr sz="4000" b="1">
          <a:solidFill>
            <a:schemeClr val="bg1"/>
          </a:solidFill>
          <a:latin typeface="+mj-lt"/>
          <a:ea typeface="+mj-ea"/>
          <a:cs typeface="+mj-cs"/>
        </a:defRPr>
      </a:lvl1pPr>
      <a:lvl2pPr algn="ctr" rtl="0" eaLnBrk="1" fontAlgn="base" hangingPunct="1">
        <a:spcBef>
          <a:spcPct val="0"/>
        </a:spcBef>
        <a:spcAft>
          <a:spcPct val="0"/>
        </a:spcAft>
        <a:defRPr sz="4000" b="1">
          <a:solidFill>
            <a:schemeClr val="bg1"/>
          </a:solidFill>
          <a:latin typeface="Arial" pitchFamily="34" charset="0"/>
          <a:ea typeface="宋体" pitchFamily="2" charset="-122"/>
        </a:defRPr>
      </a:lvl2pPr>
      <a:lvl3pPr algn="ctr" rtl="0" eaLnBrk="1" fontAlgn="base" hangingPunct="1">
        <a:spcBef>
          <a:spcPct val="0"/>
        </a:spcBef>
        <a:spcAft>
          <a:spcPct val="0"/>
        </a:spcAft>
        <a:defRPr sz="4000" b="1">
          <a:solidFill>
            <a:schemeClr val="bg1"/>
          </a:solidFill>
          <a:latin typeface="Arial" pitchFamily="34" charset="0"/>
          <a:ea typeface="宋体" pitchFamily="2" charset="-122"/>
        </a:defRPr>
      </a:lvl3pPr>
      <a:lvl4pPr algn="ctr" rtl="0" eaLnBrk="1" fontAlgn="base" hangingPunct="1">
        <a:spcBef>
          <a:spcPct val="0"/>
        </a:spcBef>
        <a:spcAft>
          <a:spcPct val="0"/>
        </a:spcAft>
        <a:defRPr sz="4000" b="1">
          <a:solidFill>
            <a:schemeClr val="bg1"/>
          </a:solidFill>
          <a:latin typeface="Arial" pitchFamily="34" charset="0"/>
          <a:ea typeface="宋体" pitchFamily="2" charset="-122"/>
        </a:defRPr>
      </a:lvl4pPr>
      <a:lvl5pPr algn="ctr" rtl="0" eaLnBrk="1" fontAlgn="base" hangingPunct="1">
        <a:spcBef>
          <a:spcPct val="0"/>
        </a:spcBef>
        <a:spcAft>
          <a:spcPct val="0"/>
        </a:spcAft>
        <a:defRPr sz="4000" b="1">
          <a:solidFill>
            <a:schemeClr val="bg1"/>
          </a:solidFill>
          <a:latin typeface="Arial" pitchFamily="34" charset="0"/>
          <a:ea typeface="宋体" pitchFamily="2" charset="-122"/>
        </a:defRPr>
      </a:lvl5pPr>
      <a:lvl6pPr marL="457200" algn="ctr" rtl="0" eaLnBrk="1" fontAlgn="base" hangingPunct="1">
        <a:spcBef>
          <a:spcPct val="0"/>
        </a:spcBef>
        <a:spcAft>
          <a:spcPct val="0"/>
        </a:spcAft>
        <a:defRPr sz="4000" b="1">
          <a:solidFill>
            <a:schemeClr val="bg1"/>
          </a:solidFill>
          <a:latin typeface="Arial" pitchFamily="34" charset="0"/>
          <a:ea typeface="宋体" pitchFamily="2" charset="-122"/>
        </a:defRPr>
      </a:lvl6pPr>
      <a:lvl7pPr marL="914400" algn="ctr" rtl="0" eaLnBrk="1" fontAlgn="base" hangingPunct="1">
        <a:spcBef>
          <a:spcPct val="0"/>
        </a:spcBef>
        <a:spcAft>
          <a:spcPct val="0"/>
        </a:spcAft>
        <a:defRPr sz="4000" b="1">
          <a:solidFill>
            <a:schemeClr val="bg1"/>
          </a:solidFill>
          <a:latin typeface="Arial" pitchFamily="34" charset="0"/>
          <a:ea typeface="宋体" pitchFamily="2" charset="-122"/>
        </a:defRPr>
      </a:lvl7pPr>
      <a:lvl8pPr marL="1371600" algn="ctr" rtl="0" eaLnBrk="1" fontAlgn="base" hangingPunct="1">
        <a:spcBef>
          <a:spcPct val="0"/>
        </a:spcBef>
        <a:spcAft>
          <a:spcPct val="0"/>
        </a:spcAft>
        <a:defRPr sz="4000" b="1">
          <a:solidFill>
            <a:schemeClr val="bg1"/>
          </a:solidFill>
          <a:latin typeface="Arial" pitchFamily="34" charset="0"/>
          <a:ea typeface="宋体" pitchFamily="2" charset="-122"/>
        </a:defRPr>
      </a:lvl8pPr>
      <a:lvl9pPr marL="1828800" algn="ctr" rtl="0" eaLnBrk="1" fontAlgn="base" hangingPunct="1">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1" fontAlgn="base" hangingPunct="1">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1" fontAlgn="base" hangingPunct="1">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1" fontAlgn="base" hangingPunct="1">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1" fontAlgn="base" hangingPunct="1">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1" fontAlgn="base" hangingPunct="1">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6pPr>
      <a:lvl7pPr marL="29718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7pPr>
      <a:lvl8pPr marL="34290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8pPr>
      <a:lvl9pPr marL="38862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3/8/2026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83855015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a:extLst>
              <a:ext uri="{FF2B5EF4-FFF2-40B4-BE49-F238E27FC236}">
                <a16:creationId xmlns:a16="http://schemas.microsoft.com/office/drawing/2014/main" id="{85CB5423-4420-41D0-A5B9-3E57472EDDC3}"/>
              </a:ext>
            </a:extLst>
          </p:cNvPr>
          <p:cNvSpPr txBox="1">
            <a:spLocks noChangeArrowheads="1"/>
          </p:cNvSpPr>
          <p:nvPr/>
        </p:nvSpPr>
        <p:spPr bwMode="auto">
          <a:xfrm>
            <a:off x="539750" y="1557338"/>
            <a:ext cx="81534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5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信息系统项目管理</a:t>
            </a:r>
            <a:endParaRPr kumimoji="1" lang="en-US" altLang="zh-CN" sz="54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7171" name="Text Box 3">
            <a:extLst>
              <a:ext uri="{FF2B5EF4-FFF2-40B4-BE49-F238E27FC236}">
                <a16:creationId xmlns:a16="http://schemas.microsoft.com/office/drawing/2014/main" id="{ABF8D103-822F-4E9C-B15F-47CD76C477FD}"/>
              </a:ext>
            </a:extLst>
          </p:cNvPr>
          <p:cNvSpPr txBox="1">
            <a:spLocks noChangeArrowheads="1"/>
          </p:cNvSpPr>
          <p:nvPr/>
        </p:nvSpPr>
        <p:spPr bwMode="auto">
          <a:xfrm>
            <a:off x="1187450" y="3068638"/>
            <a:ext cx="68580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杨辉</a:t>
            </a:r>
            <a:endPar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邮箱：</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楷体_GB2312" pitchFamily="49" charset="-122"/>
                <a:cs typeface="+mn-cs"/>
              </a:rPr>
              <a:t>yanghui58@xupt.edu.cn</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p>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电话：</a:t>
            </a:r>
            <a:r>
              <a:rPr kumimoji="1"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13325473501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E788DD26-B8E4-4435-88F2-301BE44E28A8}"/>
              </a:ext>
            </a:extLst>
          </p:cNvPr>
          <p:cNvSpPr>
            <a:spLocks noGrp="1" noChangeArrowheads="1"/>
          </p:cNvSpPr>
          <p:nvPr>
            <p:ph type="title"/>
          </p:nvPr>
        </p:nvSpPr>
        <p:spPr/>
        <p:txBody>
          <a:bodyPr/>
          <a:lstStyle/>
          <a:p>
            <a:pPr eaLnBrk="1" hangingPunct="1"/>
            <a:r>
              <a:rPr lang="zh-CN" altLang="en-US" sz="4000" b="1"/>
              <a:t>第</a:t>
            </a:r>
            <a:r>
              <a:rPr lang="en-US" altLang="zh-CN" sz="4000" b="1"/>
              <a:t>2</a:t>
            </a:r>
            <a:r>
              <a:rPr lang="zh-CN" altLang="en-US" sz="4000" b="1"/>
              <a:t>章  信息系统项目的立项与评价</a:t>
            </a:r>
            <a:r>
              <a:rPr lang="zh-CN" altLang="en-US" sz="4000"/>
              <a:t> </a:t>
            </a:r>
          </a:p>
        </p:txBody>
      </p:sp>
      <p:sp>
        <p:nvSpPr>
          <p:cNvPr id="5123" name="Rectangle 5">
            <a:extLst>
              <a:ext uri="{FF2B5EF4-FFF2-40B4-BE49-F238E27FC236}">
                <a16:creationId xmlns:a16="http://schemas.microsoft.com/office/drawing/2014/main" id="{94047534-961F-4C49-BAFF-5ABE6BC3A9B6}"/>
              </a:ext>
            </a:extLst>
          </p:cNvPr>
          <p:cNvSpPr>
            <a:spLocks noGrp="1" noChangeArrowheads="1"/>
          </p:cNvSpPr>
          <p:nvPr>
            <p:ph idx="1"/>
          </p:nvPr>
        </p:nvSpPr>
        <p:spPr/>
        <p:txBody>
          <a:bodyPr/>
          <a:lstStyle/>
          <a:p>
            <a:pPr algn="just" eaLnBrk="1" hangingPunct="1"/>
            <a:r>
              <a:rPr lang="en-US" altLang="zh-CN" b="1"/>
              <a:t>2.1 CIO</a:t>
            </a:r>
            <a:r>
              <a:rPr lang="zh-CN" altLang="en-US" b="1"/>
              <a:t>与信息系统项目</a:t>
            </a:r>
            <a:endParaRPr lang="en-US" altLang="zh-CN" b="1"/>
          </a:p>
          <a:p>
            <a:pPr algn="just" eaLnBrk="1" hangingPunct="1"/>
            <a:endParaRPr lang="zh-CN" altLang="en-US" b="1"/>
          </a:p>
          <a:p>
            <a:pPr algn="just" eaLnBrk="1" hangingPunct="1"/>
            <a:r>
              <a:rPr lang="en-US" altLang="zh-CN" b="1"/>
              <a:t>2.2 </a:t>
            </a:r>
            <a:r>
              <a:rPr lang="zh-CN" altLang="en-US" b="1"/>
              <a:t>信息系统项目的可行性研究</a:t>
            </a:r>
            <a:endParaRPr lang="en-US" altLang="zh-CN" b="1"/>
          </a:p>
          <a:p>
            <a:pPr algn="just" eaLnBrk="1" hangingPunct="1"/>
            <a:endParaRPr lang="zh-CN" altLang="en-US" b="1"/>
          </a:p>
          <a:p>
            <a:pPr algn="just" eaLnBrk="1" hangingPunct="1"/>
            <a:r>
              <a:rPr lang="en-US" altLang="zh-CN" b="1"/>
              <a:t>2.3 </a:t>
            </a:r>
            <a:r>
              <a:rPr lang="zh-CN" altLang="en-US" b="1"/>
              <a:t>信息系统项目的招标与评价</a:t>
            </a:r>
            <a:endParaRPr lang="en-US" altLang="zh-CN" b="1"/>
          </a:p>
          <a:p>
            <a:pPr algn="just" eaLnBrk="1" hangingPunct="1"/>
            <a:endParaRPr lang="zh-CN" altLang="en-US" b="1"/>
          </a:p>
          <a:p>
            <a:pPr algn="just" eaLnBrk="1" hangingPunct="1"/>
            <a:r>
              <a:rPr lang="en-US" altLang="zh-CN" b="1"/>
              <a:t>2.4 </a:t>
            </a:r>
            <a:r>
              <a:rPr lang="zh-CN" altLang="en-US" b="1"/>
              <a:t>信息系统项目的合同</a:t>
            </a:r>
          </a:p>
          <a:p>
            <a:pPr eaLnBrk="1" hangingPunct="1">
              <a:buFontTx/>
              <a:buNone/>
            </a:pPr>
            <a:endParaRPr lang="en-US" altLang="zh-CN" b="1"/>
          </a:p>
        </p:txBody>
      </p:sp>
      <p:sp>
        <p:nvSpPr>
          <p:cNvPr id="5124" name="Rectangle 6">
            <a:extLst>
              <a:ext uri="{FF2B5EF4-FFF2-40B4-BE49-F238E27FC236}">
                <a16:creationId xmlns:a16="http://schemas.microsoft.com/office/drawing/2014/main" id="{01CE2F51-8433-453A-9F7E-4FA59E130CA4}"/>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125" name="Line 7">
            <a:extLst>
              <a:ext uri="{FF2B5EF4-FFF2-40B4-BE49-F238E27FC236}">
                <a16:creationId xmlns:a16="http://schemas.microsoft.com/office/drawing/2014/main" id="{0AA18F81-1890-4472-BCE5-41E678CDD2C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44789C7-85D5-4769-B8FE-8A57B0BED003}"/>
              </a:ext>
            </a:extLst>
          </p:cNvPr>
          <p:cNvSpPr>
            <a:spLocks noGrp="1" noChangeArrowheads="1"/>
          </p:cNvSpPr>
          <p:nvPr>
            <p:ph type="title"/>
          </p:nvPr>
        </p:nvSpPr>
        <p:spPr/>
        <p:txBody>
          <a:bodyPr/>
          <a:lstStyle/>
          <a:p>
            <a:pPr algn="l" eaLnBrk="1" hangingPunct="1"/>
            <a:r>
              <a:rPr lang="en-US" altLang="zh-CN" b="1"/>
              <a:t>2.1 CIO</a:t>
            </a:r>
            <a:r>
              <a:rPr lang="zh-CN" altLang="en-US" b="1"/>
              <a:t>与信息系统项目</a:t>
            </a:r>
          </a:p>
        </p:txBody>
      </p:sp>
      <p:sp>
        <p:nvSpPr>
          <p:cNvPr id="7171" name="Rectangle 3">
            <a:extLst>
              <a:ext uri="{FF2B5EF4-FFF2-40B4-BE49-F238E27FC236}">
                <a16:creationId xmlns:a16="http://schemas.microsoft.com/office/drawing/2014/main" id="{F6D2EC8C-5039-4F7B-8314-3EF627D72F21}"/>
              </a:ext>
            </a:extLst>
          </p:cNvPr>
          <p:cNvSpPr>
            <a:spLocks noGrp="1" noChangeArrowheads="1"/>
          </p:cNvSpPr>
          <p:nvPr>
            <p:ph idx="1"/>
          </p:nvPr>
        </p:nvSpPr>
        <p:spPr/>
        <p:txBody>
          <a:bodyPr/>
          <a:lstStyle/>
          <a:p>
            <a:pPr algn="just" eaLnBrk="1" hangingPunct="1"/>
            <a:endParaRPr lang="en-US" altLang="zh-CN" b="1"/>
          </a:p>
          <a:p>
            <a:pPr algn="just" eaLnBrk="1" hangingPunct="1"/>
            <a:r>
              <a:rPr lang="en-US" altLang="zh-CN" b="1"/>
              <a:t>2.1.1  CIO</a:t>
            </a:r>
            <a:r>
              <a:rPr lang="zh-CN" altLang="en-US" b="1"/>
              <a:t>的概念及职责</a:t>
            </a:r>
            <a:endParaRPr lang="en-US" altLang="zh-CN" b="1"/>
          </a:p>
          <a:p>
            <a:pPr algn="just" eaLnBrk="1" hangingPunct="1"/>
            <a:endParaRPr lang="zh-CN" altLang="en-US" b="1"/>
          </a:p>
          <a:p>
            <a:pPr algn="just" eaLnBrk="1" hangingPunct="1"/>
            <a:r>
              <a:rPr lang="en-US" altLang="zh-CN" b="1"/>
              <a:t>2.1.2  CIO</a:t>
            </a:r>
            <a:r>
              <a:rPr lang="zh-CN" altLang="en-US" b="1"/>
              <a:t>的角色与信息系统项目</a:t>
            </a:r>
          </a:p>
        </p:txBody>
      </p:sp>
      <p:sp>
        <p:nvSpPr>
          <p:cNvPr id="7172" name="Rectangle 4">
            <a:extLst>
              <a:ext uri="{FF2B5EF4-FFF2-40B4-BE49-F238E27FC236}">
                <a16:creationId xmlns:a16="http://schemas.microsoft.com/office/drawing/2014/main" id="{F9987FD0-430C-45BE-86E8-40DB498B36C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7173" name="Line 5">
            <a:extLst>
              <a:ext uri="{FF2B5EF4-FFF2-40B4-BE49-F238E27FC236}">
                <a16:creationId xmlns:a16="http://schemas.microsoft.com/office/drawing/2014/main" id="{58F3F3BB-55A9-4564-977B-DCB43833AB0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4D484E0-665E-4228-B6F6-372522FDD326}"/>
              </a:ext>
            </a:extLst>
          </p:cNvPr>
          <p:cNvSpPr>
            <a:spLocks noGrp="1" noChangeArrowheads="1"/>
          </p:cNvSpPr>
          <p:nvPr>
            <p:ph type="title"/>
          </p:nvPr>
        </p:nvSpPr>
        <p:spPr/>
        <p:txBody>
          <a:bodyPr/>
          <a:lstStyle/>
          <a:p>
            <a:pPr algn="l" eaLnBrk="1" hangingPunct="1"/>
            <a:r>
              <a:rPr lang="en-US" altLang="zh-CN" sz="4000" b="1"/>
              <a:t>2.1.1  CIO</a:t>
            </a:r>
            <a:r>
              <a:rPr lang="zh-CN" altLang="en-US" sz="4000" b="1"/>
              <a:t>的概念及职责</a:t>
            </a:r>
          </a:p>
        </p:txBody>
      </p:sp>
      <p:sp>
        <p:nvSpPr>
          <p:cNvPr id="9219" name="Rectangle 3">
            <a:extLst>
              <a:ext uri="{FF2B5EF4-FFF2-40B4-BE49-F238E27FC236}">
                <a16:creationId xmlns:a16="http://schemas.microsoft.com/office/drawing/2014/main" id="{F3160BE2-3FF0-4BA2-B32D-43E98E16E3B4}"/>
              </a:ext>
            </a:extLst>
          </p:cNvPr>
          <p:cNvSpPr>
            <a:spLocks noGrp="1" noChangeArrowheads="1"/>
          </p:cNvSpPr>
          <p:nvPr>
            <p:ph idx="1"/>
          </p:nvPr>
        </p:nvSpPr>
        <p:spPr/>
        <p:txBody>
          <a:bodyPr/>
          <a:lstStyle/>
          <a:p>
            <a:pPr eaLnBrk="1" hangingPunct="1"/>
            <a:r>
              <a:rPr lang="en-US" altLang="zh-CN" sz="2400" dirty="0"/>
              <a:t>CIO</a:t>
            </a:r>
            <a:r>
              <a:rPr lang="zh-CN" altLang="en-US" sz="2400" dirty="0"/>
              <a:t>是</a:t>
            </a:r>
            <a:r>
              <a:rPr lang="en-US" altLang="zh-CN" sz="2400" dirty="0"/>
              <a:t>Chief Information Officer</a:t>
            </a:r>
            <a:r>
              <a:rPr lang="zh-CN" altLang="en-US" sz="2400" dirty="0"/>
              <a:t>的缩写，直译为首席信息官。从组织性质上，</a:t>
            </a:r>
            <a:r>
              <a:rPr lang="en-US" altLang="zh-CN" sz="2400" dirty="0"/>
              <a:t>CIO</a:t>
            </a:r>
            <a:r>
              <a:rPr lang="zh-CN" altLang="en-US" sz="2400" dirty="0"/>
              <a:t>可以大体分为政府</a:t>
            </a:r>
            <a:r>
              <a:rPr lang="en-US" altLang="zh-CN" sz="2400" dirty="0"/>
              <a:t>CIO</a:t>
            </a:r>
            <a:r>
              <a:rPr lang="zh-CN" altLang="en-US" sz="2400" dirty="0"/>
              <a:t>和企业</a:t>
            </a:r>
            <a:r>
              <a:rPr lang="en-US" altLang="zh-CN" sz="2400" dirty="0"/>
              <a:t>CIO</a:t>
            </a:r>
            <a:r>
              <a:rPr lang="zh-CN" altLang="en-US" sz="2400" dirty="0"/>
              <a:t>。 </a:t>
            </a:r>
          </a:p>
          <a:p>
            <a:pPr eaLnBrk="1" hangingPunct="1"/>
            <a:r>
              <a:rPr lang="en-US" altLang="zh-CN" sz="2400" dirty="0"/>
              <a:t>CIO</a:t>
            </a:r>
            <a:r>
              <a:rPr lang="zh-CN" altLang="en-US" sz="2400" dirty="0"/>
              <a:t>起源于</a:t>
            </a:r>
            <a:r>
              <a:rPr lang="en-US" altLang="zh-CN" sz="2400" dirty="0"/>
              <a:t>20</a:t>
            </a:r>
            <a:r>
              <a:rPr lang="zh-CN" altLang="en-US" sz="2400" dirty="0"/>
              <a:t>世纪</a:t>
            </a:r>
            <a:r>
              <a:rPr lang="en-US" altLang="zh-CN" sz="2400" dirty="0"/>
              <a:t>80</a:t>
            </a:r>
            <a:r>
              <a:rPr lang="zh-CN" altLang="en-US" sz="2400" dirty="0"/>
              <a:t>年代初的美国。</a:t>
            </a:r>
          </a:p>
          <a:p>
            <a:pPr eaLnBrk="1" hangingPunct="1"/>
            <a:r>
              <a:rPr lang="zh-CN" altLang="en-US" sz="2400" dirty="0"/>
              <a:t>“结构真空”  </a:t>
            </a:r>
          </a:p>
          <a:p>
            <a:r>
              <a:rPr lang="zh-CN" altLang="en-US" sz="2400" dirty="0"/>
              <a:t>美国企业管理协会对</a:t>
            </a:r>
            <a:r>
              <a:rPr lang="en-US" altLang="zh-CN" sz="2400" dirty="0"/>
              <a:t>CIO</a:t>
            </a:r>
            <a:r>
              <a:rPr lang="zh-CN" altLang="en-US" sz="2400" dirty="0"/>
              <a:t>的定义为：负责一个公司或者组织信息技术和系统领域的高级官员</a:t>
            </a:r>
            <a:endParaRPr lang="en-US" altLang="zh-CN" sz="2400" dirty="0"/>
          </a:p>
          <a:p>
            <a:r>
              <a:rPr lang="en-US" altLang="zh-CN" sz="2400" dirty="0"/>
              <a:t>CIO</a:t>
            </a:r>
            <a:r>
              <a:rPr lang="zh-CN" altLang="en-US" sz="2400" dirty="0"/>
              <a:t>既要负责组织的</a:t>
            </a:r>
            <a:r>
              <a:rPr lang="en-US" altLang="zh-CN" sz="2400" dirty="0"/>
              <a:t>IT</a:t>
            </a:r>
            <a:r>
              <a:rPr lang="zh-CN" altLang="en-US" sz="2400" dirty="0"/>
              <a:t>需求，又要负责组织的</a:t>
            </a:r>
            <a:r>
              <a:rPr lang="en-US" altLang="zh-CN" sz="2400" dirty="0"/>
              <a:t>IT</a:t>
            </a:r>
            <a:r>
              <a:rPr lang="zh-CN" altLang="en-US" sz="2400" dirty="0"/>
              <a:t>供给 </a:t>
            </a:r>
          </a:p>
          <a:p>
            <a:pPr eaLnBrk="1" hangingPunct="1"/>
            <a:endParaRPr lang="zh-CN" altLang="en-US" sz="2400" dirty="0"/>
          </a:p>
        </p:txBody>
      </p:sp>
      <p:sp>
        <p:nvSpPr>
          <p:cNvPr id="9220" name="Rectangle 4">
            <a:extLst>
              <a:ext uri="{FF2B5EF4-FFF2-40B4-BE49-F238E27FC236}">
                <a16:creationId xmlns:a16="http://schemas.microsoft.com/office/drawing/2014/main" id="{4631E193-EF0D-429C-9063-9887DAF28C2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9221" name="Line 5">
            <a:extLst>
              <a:ext uri="{FF2B5EF4-FFF2-40B4-BE49-F238E27FC236}">
                <a16:creationId xmlns:a16="http://schemas.microsoft.com/office/drawing/2014/main" id="{724C6B69-DA47-4D97-9A28-A3A5EF7424B1}"/>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180A082-575D-4F22-A0B5-FBD957B9EFA7}"/>
              </a:ext>
            </a:extLst>
          </p:cNvPr>
          <p:cNvSpPr>
            <a:spLocks noGrp="1" noChangeArrowheads="1"/>
          </p:cNvSpPr>
          <p:nvPr>
            <p:ph type="title"/>
          </p:nvPr>
        </p:nvSpPr>
        <p:spPr/>
        <p:txBody>
          <a:bodyPr/>
          <a:lstStyle/>
          <a:p>
            <a:pPr algn="l" eaLnBrk="1" hangingPunct="1"/>
            <a:r>
              <a:rPr lang="en-US" altLang="zh-CN" b="1"/>
              <a:t>2.1.1  CIO</a:t>
            </a:r>
            <a:r>
              <a:rPr lang="zh-CN" altLang="en-US" b="1"/>
              <a:t>的概念及职责</a:t>
            </a:r>
          </a:p>
        </p:txBody>
      </p:sp>
      <p:sp>
        <p:nvSpPr>
          <p:cNvPr id="11267" name="Rectangle 3">
            <a:extLst>
              <a:ext uri="{FF2B5EF4-FFF2-40B4-BE49-F238E27FC236}">
                <a16:creationId xmlns:a16="http://schemas.microsoft.com/office/drawing/2014/main" id="{B508B2DD-DC53-4A37-ADF4-7DF1D695356D}"/>
              </a:ext>
            </a:extLst>
          </p:cNvPr>
          <p:cNvSpPr>
            <a:spLocks noGrp="1" noChangeArrowheads="1"/>
          </p:cNvSpPr>
          <p:nvPr>
            <p:ph idx="1"/>
          </p:nvPr>
        </p:nvSpPr>
        <p:spPr>
          <a:xfrm>
            <a:off x="323850" y="1268413"/>
            <a:ext cx="8820150" cy="4857750"/>
          </a:xfrm>
        </p:spPr>
        <p:txBody>
          <a:bodyPr>
            <a:normAutofit lnSpcReduction="10000"/>
          </a:bodyPr>
          <a:lstStyle/>
          <a:p>
            <a:pPr marL="609600" indent="-609600" eaLnBrk="1" hangingPunct="1">
              <a:lnSpc>
                <a:spcPct val="80000"/>
              </a:lnSpc>
            </a:pPr>
            <a:r>
              <a:rPr lang="en-US" altLang="zh-CN" sz="2400"/>
              <a:t>CIO</a:t>
            </a:r>
            <a:r>
              <a:rPr lang="zh-CN" altLang="en-US" sz="2400"/>
              <a:t>的主要职责包括以下十个方面：</a:t>
            </a:r>
          </a:p>
          <a:p>
            <a:pPr marL="609600" indent="-609600" eaLnBrk="1" hangingPunct="1">
              <a:lnSpc>
                <a:spcPct val="80000"/>
              </a:lnSpc>
              <a:buFontTx/>
              <a:buAutoNum type="circleNumDbPlain"/>
            </a:pPr>
            <a:r>
              <a:rPr lang="zh-CN" altLang="en-US" sz="2400"/>
              <a:t>参与制定组织发展战略，领导组织信息战略的制定；</a:t>
            </a:r>
          </a:p>
          <a:p>
            <a:pPr marL="609600" indent="-609600" eaLnBrk="1" hangingPunct="1">
              <a:lnSpc>
                <a:spcPct val="80000"/>
              </a:lnSpc>
              <a:buFontTx/>
              <a:buAutoNum type="circleNumDbPlain"/>
            </a:pPr>
            <a:r>
              <a:rPr lang="zh-CN" altLang="en-US" sz="2400"/>
              <a:t>确立信息处理和利用及其所需设备方面的政策、标准和程序，制定组织信息制度和信息政策；</a:t>
            </a:r>
          </a:p>
          <a:p>
            <a:pPr marL="609600" indent="-609600" eaLnBrk="1" hangingPunct="1">
              <a:lnSpc>
                <a:spcPct val="80000"/>
              </a:lnSpc>
              <a:buFontTx/>
              <a:buAutoNum type="circleNumDbPlain"/>
            </a:pPr>
            <a:r>
              <a:rPr lang="zh-CN" altLang="en-US" sz="2400"/>
              <a:t>培育良好的信息文化；</a:t>
            </a:r>
          </a:p>
          <a:p>
            <a:pPr marL="609600" indent="-609600" eaLnBrk="1" hangingPunct="1">
              <a:lnSpc>
                <a:spcPct val="80000"/>
              </a:lnSpc>
              <a:buFontTx/>
              <a:buAutoNum type="circleNumDbPlain"/>
            </a:pPr>
            <a:r>
              <a:rPr lang="zh-CN" altLang="en-US" sz="2400"/>
              <a:t>提升组织和员工的信息素质、信息能力；</a:t>
            </a:r>
          </a:p>
          <a:p>
            <a:pPr marL="609600" indent="-609600" eaLnBrk="1" hangingPunct="1">
              <a:lnSpc>
                <a:spcPct val="80000"/>
              </a:lnSpc>
              <a:buFontTx/>
              <a:buAutoNum type="circleNumDbPlain"/>
            </a:pPr>
            <a:r>
              <a:rPr lang="zh-CN" altLang="en-US" sz="2400"/>
              <a:t>为高层管理者提供决策所需的信息支持和信息能力支持；</a:t>
            </a:r>
          </a:p>
          <a:p>
            <a:pPr marL="609600" indent="-609600" eaLnBrk="1" hangingPunct="1">
              <a:lnSpc>
                <a:spcPct val="80000"/>
              </a:lnSpc>
              <a:buFontTx/>
              <a:buAutoNum type="circleNumDbPlain"/>
            </a:pPr>
            <a:r>
              <a:rPr lang="zh-CN" altLang="en-US" sz="2400"/>
              <a:t>进行信息化项目规划，领导重要信息化项目的实施；</a:t>
            </a:r>
          </a:p>
          <a:p>
            <a:pPr marL="609600" indent="-609600" eaLnBrk="1" hangingPunct="1">
              <a:lnSpc>
                <a:spcPct val="80000"/>
              </a:lnSpc>
              <a:buFontTx/>
              <a:buAutoNum type="circleNumDbPlain"/>
            </a:pPr>
            <a:r>
              <a:rPr lang="zh-CN" altLang="en-US" sz="2400"/>
              <a:t>监控所有信息化项目的实施，监控现有信息系统的运行；</a:t>
            </a:r>
          </a:p>
          <a:p>
            <a:pPr marL="609600" indent="-609600" eaLnBrk="1" hangingPunct="1">
              <a:lnSpc>
                <a:spcPct val="80000"/>
              </a:lnSpc>
              <a:buFontTx/>
              <a:buAutoNum type="circleNumDbPlain"/>
            </a:pPr>
            <a:r>
              <a:rPr lang="zh-CN" altLang="en-US" sz="2400"/>
              <a:t>领导组织内所有信息部门为操作部门和业务功能提供咨询或服务；</a:t>
            </a:r>
          </a:p>
          <a:p>
            <a:pPr marL="609600" indent="-609600" eaLnBrk="1" hangingPunct="1">
              <a:lnSpc>
                <a:spcPct val="80000"/>
              </a:lnSpc>
              <a:buFontTx/>
              <a:buAutoNum type="circleNumDbPlain"/>
            </a:pPr>
            <a:r>
              <a:rPr lang="zh-CN" altLang="en-US" sz="2400"/>
              <a:t>与业务部门一道，考虑如何使信息和知识为产品或服务增值；</a:t>
            </a:r>
          </a:p>
          <a:p>
            <a:pPr marL="609600" indent="-609600" eaLnBrk="1" hangingPunct="1">
              <a:lnSpc>
                <a:spcPct val="80000"/>
              </a:lnSpc>
              <a:buFontTx/>
              <a:buAutoNum type="circleNumDbPlain"/>
            </a:pPr>
            <a:r>
              <a:rPr lang="zh-CN" altLang="en-US" sz="2400"/>
              <a:t>将自己的经验和教训知识贡献给行业协会和社会。 </a:t>
            </a:r>
          </a:p>
        </p:txBody>
      </p:sp>
      <p:sp>
        <p:nvSpPr>
          <p:cNvPr id="11268" name="Rectangle 4">
            <a:extLst>
              <a:ext uri="{FF2B5EF4-FFF2-40B4-BE49-F238E27FC236}">
                <a16:creationId xmlns:a16="http://schemas.microsoft.com/office/drawing/2014/main" id="{3690D7B0-D441-4484-955B-C3CBE790F1E9}"/>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1269" name="Line 5">
            <a:extLst>
              <a:ext uri="{FF2B5EF4-FFF2-40B4-BE49-F238E27FC236}">
                <a16:creationId xmlns:a16="http://schemas.microsoft.com/office/drawing/2014/main" id="{7C9A13E5-C424-4246-B80F-F0D56A1D98AB}"/>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CF5866D-1E6A-4C29-8FF3-73C57E918680}"/>
              </a:ext>
            </a:extLst>
          </p:cNvPr>
          <p:cNvSpPr>
            <a:spLocks noGrp="1" noChangeArrowheads="1"/>
          </p:cNvSpPr>
          <p:nvPr>
            <p:ph type="title"/>
          </p:nvPr>
        </p:nvSpPr>
        <p:spPr/>
        <p:txBody>
          <a:bodyPr/>
          <a:lstStyle/>
          <a:p>
            <a:pPr algn="l" eaLnBrk="1" hangingPunct="1"/>
            <a:r>
              <a:rPr lang="en-US" altLang="zh-CN" sz="4000" b="1"/>
              <a:t>2.1.2  CIO</a:t>
            </a:r>
            <a:r>
              <a:rPr lang="zh-CN" altLang="en-US" sz="4000" b="1"/>
              <a:t>的角色与信息系统项目</a:t>
            </a:r>
          </a:p>
        </p:txBody>
      </p:sp>
      <p:sp>
        <p:nvSpPr>
          <p:cNvPr id="13315" name="Rectangle 3">
            <a:extLst>
              <a:ext uri="{FF2B5EF4-FFF2-40B4-BE49-F238E27FC236}">
                <a16:creationId xmlns:a16="http://schemas.microsoft.com/office/drawing/2014/main" id="{EC295DC7-CDAD-4A6A-BA94-0024DB52A720}"/>
              </a:ext>
            </a:extLst>
          </p:cNvPr>
          <p:cNvSpPr>
            <a:spLocks noGrp="1" noChangeArrowheads="1"/>
          </p:cNvSpPr>
          <p:nvPr>
            <p:ph idx="1"/>
          </p:nvPr>
        </p:nvSpPr>
        <p:spPr/>
        <p:txBody>
          <a:bodyPr/>
          <a:lstStyle/>
          <a:p>
            <a:pPr eaLnBrk="1" hangingPunct="1"/>
            <a:endParaRPr lang="en-US" altLang="zh-CN" sz="2400"/>
          </a:p>
          <a:p>
            <a:pPr eaLnBrk="1" hangingPunct="1"/>
            <a:r>
              <a:rPr lang="en-US" altLang="zh-CN" sz="2400"/>
              <a:t>CIO</a:t>
            </a:r>
            <a:r>
              <a:rPr lang="zh-CN" altLang="en-US" sz="2400"/>
              <a:t>既要负责领导信息系统项目的发起、可行性分析、决策制定、信息系统项目的规划和组织监督。</a:t>
            </a:r>
          </a:p>
          <a:p>
            <a:pPr eaLnBrk="1" hangingPunct="1"/>
            <a:endParaRPr lang="en-US" altLang="zh-CN" sz="2400"/>
          </a:p>
          <a:p>
            <a:pPr eaLnBrk="1" hangingPunct="1"/>
            <a:r>
              <a:rPr lang="zh-CN" altLang="en-US" sz="2400"/>
              <a:t>又要负责信息系统的稳定可靠经济运行，</a:t>
            </a:r>
            <a:r>
              <a:rPr lang="en-US" altLang="zh-CN" sz="2400"/>
              <a:t>CIO</a:t>
            </a:r>
            <a:r>
              <a:rPr lang="zh-CN" altLang="en-US" sz="2400"/>
              <a:t>是信息系统正常可靠运行的管理者和保障者。 </a:t>
            </a:r>
          </a:p>
        </p:txBody>
      </p:sp>
      <p:sp>
        <p:nvSpPr>
          <p:cNvPr id="13316" name="Rectangle 4">
            <a:extLst>
              <a:ext uri="{FF2B5EF4-FFF2-40B4-BE49-F238E27FC236}">
                <a16:creationId xmlns:a16="http://schemas.microsoft.com/office/drawing/2014/main" id="{E9429D4A-B59A-425C-BEEC-331BBFD095C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3317" name="Line 5">
            <a:extLst>
              <a:ext uri="{FF2B5EF4-FFF2-40B4-BE49-F238E27FC236}">
                <a16:creationId xmlns:a16="http://schemas.microsoft.com/office/drawing/2014/main" id="{09FA7011-33E4-4B79-B0F9-B308F3D0BE1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D0526E3-2F12-446B-8069-8B2B47686901}"/>
              </a:ext>
            </a:extLst>
          </p:cNvPr>
          <p:cNvSpPr>
            <a:spLocks noGrp="1" noChangeArrowheads="1"/>
          </p:cNvSpPr>
          <p:nvPr>
            <p:ph type="title"/>
          </p:nvPr>
        </p:nvSpPr>
        <p:spPr/>
        <p:txBody>
          <a:bodyPr/>
          <a:lstStyle/>
          <a:p>
            <a:pPr algn="l" eaLnBrk="1" hangingPunct="1"/>
            <a:r>
              <a:rPr lang="en-US" altLang="zh-CN" sz="4000" b="1"/>
              <a:t>2.1.2  CIO</a:t>
            </a:r>
            <a:r>
              <a:rPr lang="zh-CN" altLang="en-US" sz="4000" b="1"/>
              <a:t>的角色与信息系统项目</a:t>
            </a:r>
          </a:p>
        </p:txBody>
      </p:sp>
      <p:sp>
        <p:nvSpPr>
          <p:cNvPr id="15363" name="Rectangle 3">
            <a:extLst>
              <a:ext uri="{FF2B5EF4-FFF2-40B4-BE49-F238E27FC236}">
                <a16:creationId xmlns:a16="http://schemas.microsoft.com/office/drawing/2014/main" id="{8D69A9A5-E557-438D-98B1-C8E35473FA04}"/>
              </a:ext>
            </a:extLst>
          </p:cNvPr>
          <p:cNvSpPr>
            <a:spLocks noGrp="1" noChangeArrowheads="1"/>
          </p:cNvSpPr>
          <p:nvPr>
            <p:ph idx="1"/>
          </p:nvPr>
        </p:nvSpPr>
        <p:spPr/>
        <p:txBody>
          <a:bodyPr/>
          <a:lstStyle/>
          <a:p>
            <a:pPr eaLnBrk="1" hangingPunct="1"/>
            <a:r>
              <a:rPr lang="en-US" altLang="zh-CN" sz="2400"/>
              <a:t>1</a:t>
            </a:r>
            <a:r>
              <a:rPr lang="zh-CN" altLang="en-US" sz="2400"/>
              <a:t>．</a:t>
            </a:r>
            <a:r>
              <a:rPr lang="en-US" altLang="zh-CN" sz="2400"/>
              <a:t>CIO</a:t>
            </a:r>
            <a:r>
              <a:rPr lang="zh-CN" altLang="en-US" sz="2400"/>
              <a:t>是组织信息化的鼓动者</a:t>
            </a:r>
            <a:endParaRPr lang="en-US" altLang="zh-CN" sz="2400"/>
          </a:p>
          <a:p>
            <a:pPr eaLnBrk="1" hangingPunct="1"/>
            <a:endParaRPr lang="zh-CN" altLang="en-US" sz="2400"/>
          </a:p>
          <a:p>
            <a:pPr eaLnBrk="1" hangingPunct="1"/>
            <a:r>
              <a:rPr lang="en-US" altLang="zh-CN" sz="2400"/>
              <a:t>2</a:t>
            </a:r>
            <a:r>
              <a:rPr lang="zh-CN" altLang="en-US" sz="2400"/>
              <a:t>．</a:t>
            </a:r>
            <a:r>
              <a:rPr lang="en-US" altLang="zh-CN" sz="2400"/>
              <a:t>CIO</a:t>
            </a:r>
            <a:r>
              <a:rPr lang="zh-CN" altLang="en-US" sz="2400"/>
              <a:t>是组织信息化战略的制定者</a:t>
            </a:r>
            <a:endParaRPr lang="en-US" altLang="zh-CN" sz="2400"/>
          </a:p>
          <a:p>
            <a:pPr eaLnBrk="1" hangingPunct="1"/>
            <a:endParaRPr lang="zh-CN" altLang="en-US" sz="2400"/>
          </a:p>
          <a:p>
            <a:pPr eaLnBrk="1" hangingPunct="1"/>
            <a:r>
              <a:rPr lang="en-US" altLang="zh-CN" sz="2400"/>
              <a:t>3.  CIO</a:t>
            </a:r>
            <a:r>
              <a:rPr lang="zh-CN" altLang="en-US" sz="2400"/>
              <a:t>是重大信息化项目实施的发起者、决策参与者</a:t>
            </a:r>
            <a:endParaRPr lang="en-US" altLang="zh-CN" sz="2400"/>
          </a:p>
          <a:p>
            <a:pPr eaLnBrk="1" hangingPunct="1"/>
            <a:endParaRPr lang="zh-CN" altLang="en-US" sz="2400"/>
          </a:p>
          <a:p>
            <a:pPr eaLnBrk="1" hangingPunct="1"/>
            <a:r>
              <a:rPr lang="en-US" altLang="zh-CN" sz="2400"/>
              <a:t>4</a:t>
            </a:r>
            <a:r>
              <a:rPr lang="zh-CN" altLang="en-US" sz="2400"/>
              <a:t>．</a:t>
            </a:r>
            <a:r>
              <a:rPr lang="en-US" altLang="zh-CN" sz="2400"/>
              <a:t>CIO</a:t>
            </a:r>
            <a:r>
              <a:rPr lang="zh-CN" altLang="en-US" sz="2400"/>
              <a:t>是重大信息化项目实施的组织者 </a:t>
            </a:r>
            <a:endParaRPr lang="en-US" altLang="zh-CN" sz="2400"/>
          </a:p>
          <a:p>
            <a:pPr eaLnBrk="1" hangingPunct="1"/>
            <a:endParaRPr lang="zh-CN" altLang="en-US" sz="2400"/>
          </a:p>
          <a:p>
            <a:pPr eaLnBrk="1" hangingPunct="1"/>
            <a:r>
              <a:rPr lang="en-US" altLang="zh-CN" sz="2400"/>
              <a:t>5</a:t>
            </a:r>
            <a:r>
              <a:rPr lang="zh-CN" altLang="en-US" sz="2400"/>
              <a:t>．</a:t>
            </a:r>
            <a:r>
              <a:rPr lang="en-US" altLang="zh-CN" sz="2400"/>
              <a:t>CIO</a:t>
            </a:r>
            <a:r>
              <a:rPr lang="zh-CN" altLang="en-US" sz="2400"/>
              <a:t>是信息系统正常可靠运行的保障者 </a:t>
            </a:r>
          </a:p>
        </p:txBody>
      </p:sp>
      <p:sp>
        <p:nvSpPr>
          <p:cNvPr id="15364" name="Rectangle 4">
            <a:extLst>
              <a:ext uri="{FF2B5EF4-FFF2-40B4-BE49-F238E27FC236}">
                <a16:creationId xmlns:a16="http://schemas.microsoft.com/office/drawing/2014/main" id="{406AE7FE-4A1D-4FE8-B2A2-1037C50BDB39}"/>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5365" name="Line 5">
            <a:extLst>
              <a:ext uri="{FF2B5EF4-FFF2-40B4-BE49-F238E27FC236}">
                <a16:creationId xmlns:a16="http://schemas.microsoft.com/office/drawing/2014/main" id="{231CE24B-52CE-495C-8FF6-5EDD38C493E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29C6586-9513-4D89-B92A-C50AEF2FF258}"/>
              </a:ext>
            </a:extLst>
          </p:cNvPr>
          <p:cNvSpPr>
            <a:spLocks noGrp="1" noChangeArrowheads="1"/>
          </p:cNvSpPr>
          <p:nvPr>
            <p:ph type="title"/>
          </p:nvPr>
        </p:nvSpPr>
        <p:spPr/>
        <p:txBody>
          <a:bodyPr/>
          <a:lstStyle/>
          <a:p>
            <a:pPr eaLnBrk="1" hangingPunct="1"/>
            <a:r>
              <a:rPr lang="en-US" altLang="zh-CN" b="1"/>
              <a:t>2.2 </a:t>
            </a:r>
            <a:r>
              <a:rPr lang="zh-CN" altLang="en-US" b="1"/>
              <a:t>信息系统项目的可行性研究</a:t>
            </a:r>
          </a:p>
        </p:txBody>
      </p:sp>
      <p:sp>
        <p:nvSpPr>
          <p:cNvPr id="17411" name="Rectangle 3">
            <a:extLst>
              <a:ext uri="{FF2B5EF4-FFF2-40B4-BE49-F238E27FC236}">
                <a16:creationId xmlns:a16="http://schemas.microsoft.com/office/drawing/2014/main" id="{7E60E346-7FC4-47AB-8B24-575BCD0C78DC}"/>
              </a:ext>
            </a:extLst>
          </p:cNvPr>
          <p:cNvSpPr>
            <a:spLocks noGrp="1" noChangeArrowheads="1"/>
          </p:cNvSpPr>
          <p:nvPr>
            <p:ph idx="1"/>
          </p:nvPr>
        </p:nvSpPr>
        <p:spPr/>
        <p:txBody>
          <a:bodyPr/>
          <a:lstStyle/>
          <a:p>
            <a:pPr marL="609600" indent="-609600" algn="just" eaLnBrk="1" hangingPunct="1"/>
            <a:r>
              <a:rPr lang="en-US" altLang="zh-CN" b="1"/>
              <a:t>2.2.1  </a:t>
            </a:r>
            <a:r>
              <a:rPr lang="zh-CN" altLang="en-US" b="1"/>
              <a:t>可行性研究的内容与方法</a:t>
            </a:r>
            <a:endParaRPr lang="en-US" altLang="zh-CN" b="1"/>
          </a:p>
          <a:p>
            <a:pPr marL="609600" indent="-609600" algn="just" eaLnBrk="1" hangingPunct="1"/>
            <a:endParaRPr lang="zh-CN" altLang="en-US" b="1"/>
          </a:p>
          <a:p>
            <a:pPr marL="609600" indent="-609600" algn="just" eaLnBrk="1" hangingPunct="1"/>
            <a:r>
              <a:rPr lang="en-US" altLang="zh-CN" b="1"/>
              <a:t>2.2.2  </a:t>
            </a:r>
            <a:r>
              <a:rPr lang="zh-CN" altLang="en-US" b="1"/>
              <a:t>需求调研的内容与方法</a:t>
            </a:r>
            <a:endParaRPr lang="en-US" altLang="zh-CN" b="1"/>
          </a:p>
          <a:p>
            <a:pPr marL="609600" indent="-609600" algn="just" eaLnBrk="1" hangingPunct="1"/>
            <a:endParaRPr lang="zh-CN" altLang="en-US" b="1"/>
          </a:p>
          <a:p>
            <a:pPr marL="609600" indent="-609600" algn="just" eaLnBrk="1" hangingPunct="1"/>
            <a:r>
              <a:rPr lang="en-US" altLang="zh-CN" b="1"/>
              <a:t>2.2.3  </a:t>
            </a:r>
            <a:r>
              <a:rPr lang="zh-CN" altLang="en-US" b="1"/>
              <a:t>信息系统项目的建设方式</a:t>
            </a:r>
            <a:endParaRPr lang="en-US" altLang="zh-CN" b="1"/>
          </a:p>
          <a:p>
            <a:pPr marL="609600" indent="-609600" algn="just" eaLnBrk="1" hangingPunct="1"/>
            <a:endParaRPr lang="zh-CN" altLang="en-US" b="1"/>
          </a:p>
          <a:p>
            <a:pPr marL="609600" indent="-609600" algn="just" eaLnBrk="1" hangingPunct="1"/>
            <a:r>
              <a:rPr lang="en-US" altLang="zh-CN" b="1"/>
              <a:t>2.2.4</a:t>
            </a:r>
            <a:r>
              <a:rPr lang="en-US" altLang="zh-CN"/>
              <a:t> </a:t>
            </a:r>
            <a:r>
              <a:rPr lang="zh-CN" altLang="en-US" b="1"/>
              <a:t>可行性研究报告的撰写</a:t>
            </a:r>
          </a:p>
          <a:p>
            <a:pPr marL="609600" indent="-609600" algn="just" eaLnBrk="1" hangingPunct="1"/>
            <a:endParaRPr lang="en-US" altLang="zh-CN" b="1"/>
          </a:p>
        </p:txBody>
      </p:sp>
      <p:sp>
        <p:nvSpPr>
          <p:cNvPr id="17412" name="Rectangle 4">
            <a:extLst>
              <a:ext uri="{FF2B5EF4-FFF2-40B4-BE49-F238E27FC236}">
                <a16:creationId xmlns:a16="http://schemas.microsoft.com/office/drawing/2014/main" id="{9F713EDD-3264-48C4-8B1E-6135709C717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7413" name="Line 5">
            <a:extLst>
              <a:ext uri="{FF2B5EF4-FFF2-40B4-BE49-F238E27FC236}">
                <a16:creationId xmlns:a16="http://schemas.microsoft.com/office/drawing/2014/main" id="{F96E4708-4755-499F-9C27-FE73DC80CDE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1DB408E-70B3-4DC8-9021-D1A4664DE846}"/>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sp>
        <p:nvSpPr>
          <p:cNvPr id="19459" name="Rectangle 3">
            <a:extLst>
              <a:ext uri="{FF2B5EF4-FFF2-40B4-BE49-F238E27FC236}">
                <a16:creationId xmlns:a16="http://schemas.microsoft.com/office/drawing/2014/main" id="{E12CE45C-AD56-45BF-BBA9-5DDC4F2D0BAC}"/>
              </a:ext>
            </a:extLst>
          </p:cNvPr>
          <p:cNvSpPr>
            <a:spLocks noGrp="1" noChangeArrowheads="1"/>
          </p:cNvSpPr>
          <p:nvPr>
            <p:ph idx="1"/>
          </p:nvPr>
        </p:nvSpPr>
        <p:spPr>
          <a:xfrm>
            <a:off x="604977" y="1484784"/>
            <a:ext cx="7886700" cy="4351338"/>
          </a:xfrm>
        </p:spPr>
        <p:txBody>
          <a:bodyPr/>
          <a:lstStyle/>
          <a:p>
            <a:pPr algn="just" eaLnBrk="1" hangingPunct="1"/>
            <a:endParaRPr lang="en-US" altLang="zh-CN" sz="2400" dirty="0"/>
          </a:p>
          <a:p>
            <a:pPr algn="just" eaLnBrk="1" hangingPunct="1"/>
            <a:r>
              <a:rPr lang="zh-CN" altLang="en-US" sz="2400" dirty="0">
                <a:solidFill>
                  <a:srgbClr val="FF0000"/>
                </a:solidFill>
              </a:rPr>
              <a:t>可行性研究的主要任务</a:t>
            </a:r>
            <a:r>
              <a:rPr lang="zh-CN" altLang="en-US" sz="2400" dirty="0"/>
              <a:t>：了解用户的需求与现实需求，从技术、经济和社会因素三个方面分析并论证信息系统项目的可行性，编写可行性研究报告，制定初步的项目开发方案。</a:t>
            </a:r>
            <a:endParaRPr lang="en-US" altLang="zh-CN" sz="2400" dirty="0"/>
          </a:p>
          <a:p>
            <a:pPr algn="just" eaLnBrk="1" hangingPunct="1"/>
            <a:r>
              <a:rPr lang="zh-CN" altLang="en-US" sz="2400" dirty="0">
                <a:solidFill>
                  <a:srgbClr val="FF0000"/>
                </a:solidFill>
              </a:rPr>
              <a:t>可行性研究的目的：</a:t>
            </a:r>
            <a:r>
              <a:rPr lang="zh-CN" altLang="en-US" sz="2400" dirty="0"/>
              <a:t>在开发系统立项之前，对所要开发的系统进行必要性、可能性及可能采取的方案进行分析和评价，为组织领导层决策提供科学的依据。</a:t>
            </a:r>
          </a:p>
          <a:p>
            <a:pPr algn="just" eaLnBrk="1" hangingPunct="1"/>
            <a:endParaRPr lang="en-US" altLang="zh-CN" sz="2400" dirty="0"/>
          </a:p>
          <a:p>
            <a:pPr algn="just" eaLnBrk="1" hangingPunct="1"/>
            <a:r>
              <a:rPr lang="zh-CN" altLang="en-US" sz="2400" dirty="0"/>
              <a:t>统计显示</a:t>
            </a:r>
            <a:r>
              <a:rPr lang="en-US" altLang="zh-CN" sz="2400" dirty="0"/>
              <a:t>70% </a:t>
            </a:r>
            <a:r>
              <a:rPr lang="zh-CN" altLang="en-US" sz="2400" dirty="0"/>
              <a:t>以上的信息系统项目都失败了，事实表明很多的项目在立项阶段就应该终止。</a:t>
            </a:r>
          </a:p>
        </p:txBody>
      </p:sp>
      <p:sp>
        <p:nvSpPr>
          <p:cNvPr id="19460" name="Rectangle 4">
            <a:extLst>
              <a:ext uri="{FF2B5EF4-FFF2-40B4-BE49-F238E27FC236}">
                <a16:creationId xmlns:a16="http://schemas.microsoft.com/office/drawing/2014/main" id="{D6AEFBDB-6B1E-4DE1-9A71-26593BB475DC}"/>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19461" name="Line 5">
            <a:extLst>
              <a:ext uri="{FF2B5EF4-FFF2-40B4-BE49-F238E27FC236}">
                <a16:creationId xmlns:a16="http://schemas.microsoft.com/office/drawing/2014/main" id="{59C6A014-907F-4FE3-9F22-77680C55D21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414D6FD-B20E-450D-B526-2098A9BB25E3}"/>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sp>
        <p:nvSpPr>
          <p:cNvPr id="21507" name="Rectangle 3">
            <a:extLst>
              <a:ext uri="{FF2B5EF4-FFF2-40B4-BE49-F238E27FC236}">
                <a16:creationId xmlns:a16="http://schemas.microsoft.com/office/drawing/2014/main" id="{C0960D89-9976-479E-9FDE-1F910CDE211F}"/>
              </a:ext>
            </a:extLst>
          </p:cNvPr>
          <p:cNvSpPr>
            <a:spLocks noGrp="1" noChangeArrowheads="1"/>
          </p:cNvSpPr>
          <p:nvPr>
            <p:ph idx="1"/>
          </p:nvPr>
        </p:nvSpPr>
        <p:spPr>
          <a:xfrm>
            <a:off x="457200" y="1600200"/>
            <a:ext cx="8229600" cy="4997450"/>
          </a:xfrm>
        </p:spPr>
        <p:txBody>
          <a:bodyPr/>
          <a:lstStyle/>
          <a:p>
            <a:pPr algn="just" eaLnBrk="1" hangingPunct="1"/>
            <a:r>
              <a:rPr lang="en-US" altLang="zh-CN" sz="2400" b="1" dirty="0"/>
              <a:t>1</a:t>
            </a:r>
            <a:r>
              <a:rPr lang="zh-CN" altLang="en-US" sz="2400" b="1" dirty="0"/>
              <a:t>．</a:t>
            </a:r>
            <a:r>
              <a:rPr lang="zh-CN" altLang="en-US" sz="2400" dirty="0"/>
              <a:t>可行性研究的内容</a:t>
            </a:r>
            <a:endParaRPr lang="en-US" altLang="zh-CN" sz="2400" dirty="0"/>
          </a:p>
          <a:p>
            <a:pPr marL="0" indent="0" algn="just" eaLnBrk="1" hangingPunct="1">
              <a:buNone/>
            </a:pPr>
            <a:r>
              <a:rPr lang="zh-CN" altLang="en-US" sz="2400" dirty="0"/>
              <a:t>可行性研究包括必要性和可行性两个方面内容。一般来讲，经过组织信息化项目规划后提出的项目需求一般都是必要的，所里下面主要讨论可行性。可行性需要从三个方面进行分析：</a:t>
            </a:r>
          </a:p>
          <a:p>
            <a:pPr lvl="1" algn="just" eaLnBrk="1" hangingPunct="1">
              <a:buFontTx/>
              <a:buNone/>
            </a:pPr>
            <a:r>
              <a:rPr lang="zh-CN" altLang="en-US" sz="2400" dirty="0"/>
              <a:t>（</a:t>
            </a:r>
            <a:r>
              <a:rPr lang="en-US" altLang="zh-CN" sz="2400" dirty="0"/>
              <a:t>1</a:t>
            </a:r>
            <a:r>
              <a:rPr lang="zh-CN" altLang="en-US" sz="2400" dirty="0"/>
              <a:t>）技术上的可行性</a:t>
            </a:r>
            <a:endParaRPr lang="en-US" altLang="zh-CN" sz="2400" dirty="0"/>
          </a:p>
          <a:p>
            <a:pPr lvl="1" algn="just" eaLnBrk="1" hangingPunct="1">
              <a:buFontTx/>
              <a:buNone/>
            </a:pPr>
            <a:r>
              <a:rPr lang="en-US" altLang="zh-CN" dirty="0"/>
              <a:t>		    (a) </a:t>
            </a:r>
            <a:r>
              <a:rPr lang="zh-CN" altLang="en-US" dirty="0"/>
              <a:t>所提出的要求在现有技术条件下是否可能实现；</a:t>
            </a:r>
            <a:endParaRPr lang="en-US" altLang="zh-CN" dirty="0"/>
          </a:p>
          <a:p>
            <a:pPr lvl="1" algn="just">
              <a:buNone/>
            </a:pPr>
            <a:r>
              <a:rPr lang="en-US" altLang="zh-CN" dirty="0"/>
              <a:t>		    (b) </a:t>
            </a:r>
            <a:r>
              <a:rPr lang="zh-CN" altLang="en-US" dirty="0"/>
              <a:t>组织是否具有相应的人力资源和技术能力；</a:t>
            </a:r>
            <a:endParaRPr lang="zh-CN" altLang="en-US" sz="2400" dirty="0"/>
          </a:p>
          <a:p>
            <a:pPr lvl="1" algn="just" eaLnBrk="1" hangingPunct="1">
              <a:buFontTx/>
              <a:buNone/>
            </a:pPr>
            <a:r>
              <a:rPr lang="zh-CN" altLang="en-US" sz="2400" dirty="0"/>
              <a:t>（</a:t>
            </a:r>
            <a:r>
              <a:rPr lang="en-US" altLang="zh-CN" sz="2400" dirty="0"/>
              <a:t>2</a:t>
            </a:r>
            <a:r>
              <a:rPr lang="zh-CN" altLang="en-US" sz="2400" dirty="0"/>
              <a:t>）经济上的可行性</a:t>
            </a:r>
            <a:endParaRPr lang="en-US" altLang="zh-CN" sz="2400" dirty="0"/>
          </a:p>
          <a:p>
            <a:pPr lvl="1" algn="just" eaLnBrk="1" hangingPunct="1">
              <a:buFontTx/>
              <a:buNone/>
            </a:pPr>
            <a:r>
              <a:rPr lang="en-US" altLang="zh-CN" dirty="0"/>
              <a:t>		    (a) </a:t>
            </a:r>
            <a:r>
              <a:rPr lang="zh-CN" altLang="en-US" dirty="0"/>
              <a:t>项目所需费用的估算</a:t>
            </a:r>
            <a:endParaRPr lang="en-US" altLang="zh-CN" dirty="0"/>
          </a:p>
          <a:p>
            <a:pPr lvl="1" algn="just" eaLnBrk="1" hangingPunct="1">
              <a:buFontTx/>
              <a:buNone/>
            </a:pPr>
            <a:r>
              <a:rPr lang="en-US" altLang="zh-CN" sz="2400" dirty="0"/>
              <a:t>           (b) </a:t>
            </a:r>
            <a:r>
              <a:rPr lang="zh-CN" altLang="en-US" sz="2400" dirty="0"/>
              <a:t>项目预期收益的估算</a:t>
            </a:r>
          </a:p>
          <a:p>
            <a:pPr lvl="1" algn="just" eaLnBrk="1" hangingPunct="1">
              <a:buFontTx/>
              <a:buNone/>
            </a:pPr>
            <a:r>
              <a:rPr lang="zh-CN" altLang="en-US" sz="2400" dirty="0"/>
              <a:t>（</a:t>
            </a:r>
            <a:r>
              <a:rPr lang="en-US" altLang="zh-CN" sz="2400" dirty="0"/>
              <a:t>3</a:t>
            </a:r>
            <a:r>
              <a:rPr lang="zh-CN" altLang="en-US" sz="2400" dirty="0"/>
              <a:t>）组织或社会环境的可行性 </a:t>
            </a:r>
          </a:p>
          <a:p>
            <a:pPr algn="just" eaLnBrk="1" hangingPunct="1"/>
            <a:endParaRPr lang="en-US" altLang="zh-CN" sz="2400" dirty="0"/>
          </a:p>
        </p:txBody>
      </p:sp>
      <p:sp>
        <p:nvSpPr>
          <p:cNvPr id="21508" name="Rectangle 4">
            <a:extLst>
              <a:ext uri="{FF2B5EF4-FFF2-40B4-BE49-F238E27FC236}">
                <a16:creationId xmlns:a16="http://schemas.microsoft.com/office/drawing/2014/main" id="{9BFA2CEC-5002-4C0B-A7FA-2E016F61E9F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1509" name="Line 5">
            <a:extLst>
              <a:ext uri="{FF2B5EF4-FFF2-40B4-BE49-F238E27FC236}">
                <a16:creationId xmlns:a16="http://schemas.microsoft.com/office/drawing/2014/main" id="{DCF185C1-E2F1-486F-B2B9-385DF991244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5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5B39AAE-04FC-40FC-A23D-65378986E9A7}"/>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sp>
        <p:nvSpPr>
          <p:cNvPr id="23555" name="Rectangle 3">
            <a:extLst>
              <a:ext uri="{FF2B5EF4-FFF2-40B4-BE49-F238E27FC236}">
                <a16:creationId xmlns:a16="http://schemas.microsoft.com/office/drawing/2014/main" id="{18B23A89-376F-4572-A151-A9C1921A6ACB}"/>
              </a:ext>
            </a:extLst>
          </p:cNvPr>
          <p:cNvSpPr>
            <a:spLocks noGrp="1" noChangeArrowheads="1"/>
          </p:cNvSpPr>
          <p:nvPr>
            <p:ph idx="1"/>
          </p:nvPr>
        </p:nvSpPr>
        <p:spPr>
          <a:xfrm>
            <a:off x="250825" y="1600200"/>
            <a:ext cx="8569325" cy="4997450"/>
          </a:xfrm>
        </p:spPr>
        <p:txBody>
          <a:bodyPr/>
          <a:lstStyle/>
          <a:p>
            <a:pPr algn="just" eaLnBrk="1" hangingPunct="1"/>
            <a:r>
              <a:rPr lang="en-US" altLang="zh-CN" sz="2400" dirty="0"/>
              <a:t>2</a:t>
            </a:r>
            <a:r>
              <a:rPr lang="zh-CN" altLang="en-US" sz="2400" dirty="0"/>
              <a:t>．可行性研究的一种方法：要素加权分析法</a:t>
            </a:r>
          </a:p>
          <a:p>
            <a:pPr algn="just" eaLnBrk="1" hangingPunct="1"/>
            <a:r>
              <a:rPr lang="zh-CN" altLang="en-US" sz="2400" dirty="0"/>
              <a:t>要素加权分析法又叫指标加权分析法，首先是根据信息系统项目的目标设置一系列的评价指标或要素，并对这些评价指标或要素赋予一定的权值，然后对要评价的项目或方案进行打分，综合分值达到一定分值的项目为可行项目，低于一定分值的项目为淘汰的项目。 </a:t>
            </a:r>
          </a:p>
          <a:p>
            <a:pPr algn="just" eaLnBrk="1" hangingPunct="1"/>
            <a:r>
              <a:rPr lang="zh-CN" altLang="en-US" sz="2400" dirty="0"/>
              <a:t>这种方法既可以用来对项目进行可行性分析，也可以在项目确定以后，对项目的实施方案进行评选 </a:t>
            </a:r>
          </a:p>
        </p:txBody>
      </p:sp>
      <p:sp>
        <p:nvSpPr>
          <p:cNvPr id="23556" name="Rectangle 4">
            <a:extLst>
              <a:ext uri="{FF2B5EF4-FFF2-40B4-BE49-F238E27FC236}">
                <a16:creationId xmlns:a16="http://schemas.microsoft.com/office/drawing/2014/main" id="{17328EF0-744A-46BF-8329-C65D690DF1AE}"/>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3557" name="Line 5">
            <a:extLst>
              <a:ext uri="{FF2B5EF4-FFF2-40B4-BE49-F238E27FC236}">
                <a16:creationId xmlns:a16="http://schemas.microsoft.com/office/drawing/2014/main" id="{F388401E-F14D-4E17-BDBA-026DFF771ED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EA8336E-E701-45F0-B842-17765486A4CA}"/>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pic>
        <p:nvPicPr>
          <p:cNvPr id="25603" name="Picture 3">
            <a:extLst>
              <a:ext uri="{FF2B5EF4-FFF2-40B4-BE49-F238E27FC236}">
                <a16:creationId xmlns:a16="http://schemas.microsoft.com/office/drawing/2014/main" id="{EF3CC3E7-9FF2-448D-A309-BDC59656A27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827584" y="1674169"/>
            <a:ext cx="6901236" cy="3816421"/>
          </a:xfrm>
        </p:spPr>
      </p:pic>
      <p:sp>
        <p:nvSpPr>
          <p:cNvPr id="25604" name="Rectangle 4">
            <a:extLst>
              <a:ext uri="{FF2B5EF4-FFF2-40B4-BE49-F238E27FC236}">
                <a16:creationId xmlns:a16="http://schemas.microsoft.com/office/drawing/2014/main" id="{D9B14585-D2A9-4BCA-9C75-50F4E5E0E1EE}"/>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5605" name="Line 5">
            <a:extLst>
              <a:ext uri="{FF2B5EF4-FFF2-40B4-BE49-F238E27FC236}">
                <a16:creationId xmlns:a16="http://schemas.microsoft.com/office/drawing/2014/main" id="{BC1A7B95-9660-4AA0-BA95-0A9BC176D07B}"/>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6" name="Text Box 6">
            <a:extLst>
              <a:ext uri="{FF2B5EF4-FFF2-40B4-BE49-F238E27FC236}">
                <a16:creationId xmlns:a16="http://schemas.microsoft.com/office/drawing/2014/main" id="{2CA0CE5C-79D6-45E0-A488-2418D23C230C}"/>
              </a:ext>
            </a:extLst>
          </p:cNvPr>
          <p:cNvSpPr txBox="1">
            <a:spLocks noChangeArrowheads="1"/>
          </p:cNvSpPr>
          <p:nvPr/>
        </p:nvSpPr>
        <p:spPr bwMode="auto">
          <a:xfrm>
            <a:off x="2123728" y="5661248"/>
            <a:ext cx="45367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dirty="0"/>
              <a:t>图</a:t>
            </a:r>
            <a:r>
              <a:rPr lang="en-US" altLang="zh-CN" sz="2800" b="1" dirty="0"/>
              <a:t>2.1 </a:t>
            </a:r>
            <a:r>
              <a:rPr lang="zh-CN" altLang="en-US" sz="2800" b="1" dirty="0"/>
              <a:t>要素加权分析法图示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50A30B-1CF8-49CB-9BF0-7E8D407F5CAE}"/>
              </a:ext>
            </a:extLst>
          </p:cNvPr>
          <p:cNvSpPr>
            <a:spLocks noGrp="1" noChangeArrowheads="1"/>
          </p:cNvSpPr>
          <p:nvPr>
            <p:ph type="title"/>
          </p:nvPr>
        </p:nvSpPr>
        <p:spPr/>
        <p:txBody>
          <a:bodyPr/>
          <a:lstStyle/>
          <a:p>
            <a:pPr algn="l" eaLnBrk="1" hangingPunct="1"/>
            <a:r>
              <a:rPr lang="en-US" altLang="zh-CN" sz="4000" b="1"/>
              <a:t>2.2.1  </a:t>
            </a:r>
            <a:r>
              <a:rPr lang="zh-CN" altLang="en-US" sz="4000" b="1"/>
              <a:t>可行性研究的内容与方法</a:t>
            </a:r>
          </a:p>
        </p:txBody>
      </p:sp>
      <p:sp>
        <p:nvSpPr>
          <p:cNvPr id="27651" name="Rectangle 3">
            <a:extLst>
              <a:ext uri="{FF2B5EF4-FFF2-40B4-BE49-F238E27FC236}">
                <a16:creationId xmlns:a16="http://schemas.microsoft.com/office/drawing/2014/main" id="{8F9B1CF9-3356-4DF7-9351-E36AE131E061}"/>
              </a:ext>
            </a:extLst>
          </p:cNvPr>
          <p:cNvSpPr>
            <a:spLocks noGrp="1" noChangeArrowheads="1"/>
          </p:cNvSpPr>
          <p:nvPr>
            <p:ph idx="1"/>
          </p:nvPr>
        </p:nvSpPr>
        <p:spPr>
          <a:xfrm>
            <a:off x="457200" y="1412876"/>
            <a:ext cx="8229600" cy="5079998"/>
          </a:xfrm>
        </p:spPr>
        <p:txBody>
          <a:bodyPr/>
          <a:lstStyle/>
          <a:p>
            <a:pPr eaLnBrk="1" hangingPunct="1">
              <a:lnSpc>
                <a:spcPct val="90000"/>
              </a:lnSpc>
            </a:pPr>
            <a:r>
              <a:rPr lang="zh-CN" altLang="en-US" sz="2400" dirty="0"/>
              <a:t>要素加权分析方法包括如下步骤：</a:t>
            </a:r>
          </a:p>
          <a:p>
            <a:pPr lvl="1" eaLnBrk="1" hangingPunct="1">
              <a:lnSpc>
                <a:spcPct val="90000"/>
              </a:lnSpc>
            </a:pPr>
            <a:r>
              <a:rPr lang="zh-CN" altLang="en-US" sz="2400" dirty="0"/>
              <a:t>首先，确定所要考虑和比较的项目或项目方案；</a:t>
            </a:r>
          </a:p>
          <a:p>
            <a:pPr lvl="1" eaLnBrk="1" hangingPunct="1">
              <a:lnSpc>
                <a:spcPct val="90000"/>
              </a:lnSpc>
            </a:pPr>
            <a:r>
              <a:rPr lang="zh-CN" altLang="en-US" sz="2400" dirty="0"/>
              <a:t>第二，挑出在选择项目或选择方案时最重要的因素，并将所有要素（指标）按其重要性大小降序排列；</a:t>
            </a:r>
          </a:p>
          <a:p>
            <a:pPr lvl="1" eaLnBrk="1" hangingPunct="1">
              <a:lnSpc>
                <a:spcPct val="90000"/>
              </a:lnSpc>
            </a:pPr>
            <a:r>
              <a:rPr lang="zh-CN" altLang="en-US" sz="2400" dirty="0"/>
              <a:t>第三，赋予每项要素一个权重数值，以便采用该数值后使各指标能进行互相比较；</a:t>
            </a:r>
          </a:p>
          <a:p>
            <a:pPr lvl="1" eaLnBrk="1" hangingPunct="1">
              <a:lnSpc>
                <a:spcPct val="90000"/>
              </a:lnSpc>
            </a:pPr>
            <a:r>
              <a:rPr lang="zh-CN" altLang="en-US" sz="2400" dirty="0"/>
              <a:t>第四，暂时先不考虑权重因素，仅对单个指标进行打分；</a:t>
            </a:r>
          </a:p>
          <a:p>
            <a:pPr lvl="1" eaLnBrk="1" hangingPunct="1">
              <a:lnSpc>
                <a:spcPct val="90000"/>
              </a:lnSpc>
            </a:pPr>
            <a:r>
              <a:rPr lang="zh-CN" altLang="en-US" sz="2400" dirty="0"/>
              <a:t>第五，将每一个单个指标得分与权重数值相乘，所得结果填入加权得分栏，</a:t>
            </a:r>
          </a:p>
          <a:p>
            <a:pPr lvl="1" eaLnBrk="1" hangingPunct="1">
              <a:lnSpc>
                <a:spcPct val="90000"/>
              </a:lnSpc>
            </a:pPr>
            <a:r>
              <a:rPr lang="zh-CN" altLang="en-US" sz="2400" dirty="0"/>
              <a:t>第六，把所有的加权得分分别相加，得出备选项目的总加权得分；</a:t>
            </a:r>
          </a:p>
          <a:p>
            <a:pPr lvl="1" eaLnBrk="1" hangingPunct="1">
              <a:lnSpc>
                <a:spcPct val="90000"/>
              </a:lnSpc>
            </a:pPr>
            <a:r>
              <a:rPr lang="zh-CN" altLang="en-US" sz="2400" dirty="0"/>
              <a:t>最后，对项目的总加权与设定的分值进行比较，决定项目是否可行。 </a:t>
            </a:r>
          </a:p>
        </p:txBody>
      </p:sp>
      <p:sp>
        <p:nvSpPr>
          <p:cNvPr id="27652" name="Rectangle 4">
            <a:extLst>
              <a:ext uri="{FF2B5EF4-FFF2-40B4-BE49-F238E27FC236}">
                <a16:creationId xmlns:a16="http://schemas.microsoft.com/office/drawing/2014/main" id="{39580002-29A8-4E61-ADCB-8D1F2EB8BCD7}"/>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7653" name="Line 5">
            <a:extLst>
              <a:ext uri="{FF2B5EF4-FFF2-40B4-BE49-F238E27FC236}">
                <a16:creationId xmlns:a16="http://schemas.microsoft.com/office/drawing/2014/main" id="{C2EFDFAC-2FED-4906-A063-9507233B6AC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5B39AAE-04FC-40FC-A23D-65378986E9A7}"/>
              </a:ext>
            </a:extLst>
          </p:cNvPr>
          <p:cNvSpPr>
            <a:spLocks noGrp="1" noChangeArrowheads="1"/>
          </p:cNvSpPr>
          <p:nvPr>
            <p:ph type="title"/>
          </p:nvPr>
        </p:nvSpPr>
        <p:spPr/>
        <p:txBody>
          <a:bodyPr/>
          <a:lstStyle/>
          <a:p>
            <a:pPr algn="l" eaLnBrk="1" hangingPunct="1"/>
            <a:r>
              <a:rPr lang="en-US" altLang="zh-CN" sz="4000" b="1" dirty="0"/>
              <a:t>2.2.1  </a:t>
            </a:r>
            <a:r>
              <a:rPr lang="zh-CN" altLang="en-US" sz="4000" b="1" dirty="0"/>
              <a:t>可行性研究的内容与方法</a:t>
            </a:r>
          </a:p>
        </p:txBody>
      </p:sp>
      <p:sp>
        <p:nvSpPr>
          <p:cNvPr id="23555" name="Rectangle 3">
            <a:extLst>
              <a:ext uri="{FF2B5EF4-FFF2-40B4-BE49-F238E27FC236}">
                <a16:creationId xmlns:a16="http://schemas.microsoft.com/office/drawing/2014/main" id="{18B23A89-376F-4572-A151-A9C1921A6ACB}"/>
              </a:ext>
            </a:extLst>
          </p:cNvPr>
          <p:cNvSpPr>
            <a:spLocks noGrp="1" noChangeArrowheads="1"/>
          </p:cNvSpPr>
          <p:nvPr>
            <p:ph idx="1"/>
          </p:nvPr>
        </p:nvSpPr>
        <p:spPr>
          <a:xfrm>
            <a:off x="250825" y="1600200"/>
            <a:ext cx="8569325" cy="3917028"/>
          </a:xfrm>
        </p:spPr>
        <p:txBody>
          <a:bodyPr/>
          <a:lstStyle/>
          <a:p>
            <a:pPr algn="just" eaLnBrk="1" hangingPunct="1"/>
            <a:r>
              <a:rPr lang="en-US" altLang="zh-CN" sz="2400" dirty="0"/>
              <a:t>2</a:t>
            </a:r>
            <a:r>
              <a:rPr lang="zh-CN" altLang="en-US" sz="2400" dirty="0"/>
              <a:t>．可行性研究的方法：</a:t>
            </a:r>
            <a:r>
              <a:rPr lang="zh-CN" altLang="en-US" sz="2400" dirty="0">
                <a:solidFill>
                  <a:srgbClr val="FF0000"/>
                </a:solidFill>
              </a:rPr>
              <a:t>增量净效益法</a:t>
            </a:r>
            <a:r>
              <a:rPr lang="en-US" altLang="zh-CN" sz="2400" dirty="0">
                <a:solidFill>
                  <a:srgbClr val="FF0000"/>
                </a:solidFill>
              </a:rPr>
              <a:t>(</a:t>
            </a:r>
            <a:r>
              <a:rPr lang="zh-CN" altLang="en-US" sz="2400" dirty="0">
                <a:solidFill>
                  <a:srgbClr val="FF0000"/>
                </a:solidFill>
              </a:rPr>
              <a:t>有无对比法</a:t>
            </a:r>
            <a:r>
              <a:rPr lang="en-US" altLang="zh-CN" sz="2400" dirty="0">
                <a:solidFill>
                  <a:srgbClr val="FF0000"/>
                </a:solidFill>
              </a:rPr>
              <a:t>)</a:t>
            </a:r>
          </a:p>
          <a:p>
            <a:pPr algn="just" eaLnBrk="1" hangingPunct="1"/>
            <a:r>
              <a:rPr lang="zh-CN" altLang="en-US" sz="2400" dirty="0"/>
              <a:t>将有项目时的成本</a:t>
            </a:r>
            <a:r>
              <a:rPr lang="en-US" altLang="zh-CN" sz="2400" dirty="0"/>
              <a:t>(</a:t>
            </a:r>
            <a:r>
              <a:rPr lang="zh-CN" altLang="en-US" sz="2400" dirty="0"/>
              <a:t>效益</a:t>
            </a:r>
            <a:r>
              <a:rPr lang="en-US" altLang="zh-CN" sz="2400" dirty="0"/>
              <a:t>)</a:t>
            </a:r>
            <a:r>
              <a:rPr lang="zh-CN" altLang="en-US" sz="2400" dirty="0"/>
              <a:t>与无项目时的成本</a:t>
            </a:r>
            <a:r>
              <a:rPr lang="en-US" altLang="zh-CN" sz="2400" dirty="0"/>
              <a:t>(</a:t>
            </a:r>
            <a:r>
              <a:rPr lang="zh-CN" altLang="en-US" sz="2400" dirty="0"/>
              <a:t>效益</a:t>
            </a:r>
            <a:r>
              <a:rPr lang="en-US" altLang="zh-CN" sz="2400" dirty="0"/>
              <a:t>)</a:t>
            </a:r>
            <a:r>
              <a:rPr lang="zh-CN" altLang="en-US" sz="2400" dirty="0"/>
              <a:t>进行比较，求得两者差额即为增量成本</a:t>
            </a:r>
            <a:r>
              <a:rPr lang="en-US" altLang="zh-CN" sz="2400" dirty="0"/>
              <a:t>(</a:t>
            </a:r>
            <a:r>
              <a:rPr lang="zh-CN" altLang="en-US" sz="2400" dirty="0"/>
              <a:t>效益</a:t>
            </a:r>
            <a:r>
              <a:rPr lang="en-US" altLang="zh-CN" sz="2400" dirty="0"/>
              <a:t>)</a:t>
            </a:r>
            <a:r>
              <a:rPr lang="zh-CN" altLang="en-US" sz="2400" dirty="0"/>
              <a:t>。</a:t>
            </a:r>
            <a:endParaRPr lang="en-US" altLang="zh-CN" sz="2400" dirty="0"/>
          </a:p>
          <a:p>
            <a:pPr algn="just"/>
            <a:r>
              <a:rPr lang="zh-CN" altLang="en-US" sz="2400" dirty="0">
                <a:solidFill>
                  <a:srgbClr val="FF0000"/>
                </a:solidFill>
              </a:rPr>
              <a:t>前后对比法</a:t>
            </a:r>
            <a:r>
              <a:rPr lang="zh-CN" altLang="en-US" sz="2400" dirty="0"/>
              <a:t>：是比较项目引入前的成本</a:t>
            </a:r>
            <a:r>
              <a:rPr lang="en-US" altLang="zh-CN" sz="2400" dirty="0"/>
              <a:t>(</a:t>
            </a:r>
            <a:r>
              <a:rPr lang="zh-CN" altLang="en-US" sz="2400" dirty="0"/>
              <a:t>效益</a:t>
            </a:r>
            <a:r>
              <a:rPr lang="en-US" altLang="zh-CN" sz="2400" dirty="0"/>
              <a:t>)</a:t>
            </a:r>
            <a:r>
              <a:rPr lang="zh-CN" altLang="en-US" sz="2400" dirty="0"/>
              <a:t>与项目引入后时的成本</a:t>
            </a:r>
            <a:r>
              <a:rPr lang="en-US" altLang="zh-CN" sz="2400" dirty="0"/>
              <a:t>(</a:t>
            </a:r>
            <a:r>
              <a:rPr lang="zh-CN" altLang="en-US" sz="2400" dirty="0"/>
              <a:t>效益</a:t>
            </a:r>
            <a:r>
              <a:rPr lang="en-US" altLang="zh-CN" sz="2400" dirty="0"/>
              <a:t>)</a:t>
            </a:r>
            <a:r>
              <a:rPr lang="zh-CN" altLang="en-US" sz="2400" dirty="0"/>
              <a:t>。该方法不考虑不上项目时的项目变化趋势，会人为夸大或者低估项目的效益；求得两者差额即为增量成本</a:t>
            </a:r>
            <a:r>
              <a:rPr lang="en-US" altLang="zh-CN" sz="2400" dirty="0"/>
              <a:t>(</a:t>
            </a:r>
            <a:r>
              <a:rPr lang="zh-CN" altLang="en-US" sz="2400" dirty="0"/>
              <a:t>效益</a:t>
            </a:r>
            <a:r>
              <a:rPr lang="en-US" altLang="zh-CN" sz="2400" dirty="0"/>
              <a:t>)</a:t>
            </a:r>
            <a:r>
              <a:rPr lang="zh-CN" altLang="en-US" sz="2400" dirty="0"/>
              <a:t>。</a:t>
            </a:r>
            <a:endParaRPr lang="en-US" altLang="zh-CN" sz="2400" dirty="0"/>
          </a:p>
          <a:p>
            <a:pPr algn="just"/>
            <a:r>
              <a:rPr lang="zh-CN" altLang="en-US" sz="2400" dirty="0"/>
              <a:t>因此，</a:t>
            </a:r>
            <a:r>
              <a:rPr lang="zh-CN" altLang="en-US" sz="2400" dirty="0">
                <a:solidFill>
                  <a:srgbClr val="FF0000"/>
                </a:solidFill>
              </a:rPr>
              <a:t>有无对比法</a:t>
            </a:r>
            <a:r>
              <a:rPr lang="zh-CN" altLang="en-US" sz="2400" dirty="0"/>
              <a:t>得出的结论更加科学、更合理。</a:t>
            </a:r>
          </a:p>
        </p:txBody>
      </p:sp>
      <p:sp>
        <p:nvSpPr>
          <p:cNvPr id="23556" name="Rectangle 4">
            <a:extLst>
              <a:ext uri="{FF2B5EF4-FFF2-40B4-BE49-F238E27FC236}">
                <a16:creationId xmlns:a16="http://schemas.microsoft.com/office/drawing/2014/main" id="{17328EF0-744A-46BF-8329-C65D690DF1AE}"/>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3557" name="Line 5">
            <a:extLst>
              <a:ext uri="{FF2B5EF4-FFF2-40B4-BE49-F238E27FC236}">
                <a16:creationId xmlns:a16="http://schemas.microsoft.com/office/drawing/2014/main" id="{F388401E-F14D-4E17-BDBA-026DFF771ED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4133828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内容占位符 1">
            <a:extLst>
              <a:ext uri="{FF2B5EF4-FFF2-40B4-BE49-F238E27FC236}">
                <a16:creationId xmlns:a16="http://schemas.microsoft.com/office/drawing/2014/main" id="{1874879A-2F8E-4484-BE5D-11FFBD2F9F6C}"/>
              </a:ext>
            </a:extLst>
          </p:cNvPr>
          <p:cNvGraphicFramePr>
            <a:graphicFrameLocks noGrp="1"/>
          </p:cNvGraphicFramePr>
          <p:nvPr>
            <p:ph idx="1"/>
            <p:extLst>
              <p:ext uri="{D42A27DB-BD31-4B8C-83A1-F6EECF244321}">
                <p14:modId xmlns:p14="http://schemas.microsoft.com/office/powerpoint/2010/main" val="2058286217"/>
              </p:ext>
            </p:extLst>
          </p:nvPr>
        </p:nvGraphicFramePr>
        <p:xfrm>
          <a:off x="1757131" y="2502237"/>
          <a:ext cx="5125680" cy="1181790"/>
        </p:xfrm>
        <a:graphic>
          <a:graphicData uri="http://schemas.openxmlformats.org/drawingml/2006/table">
            <a:tbl>
              <a:tblPr>
                <a:tableStyleId>{5C22544A-7EE6-4342-B048-85BDC9FD1C3A}</a:tableStyleId>
              </a:tblPr>
              <a:tblGrid>
                <a:gridCol w="822325">
                  <a:extLst>
                    <a:ext uri="{9D8B030D-6E8A-4147-A177-3AD203B41FA5}">
                      <a16:colId xmlns:a16="http://schemas.microsoft.com/office/drawing/2014/main" val="3296022368"/>
                    </a:ext>
                  </a:extLst>
                </a:gridCol>
                <a:gridCol w="1270999">
                  <a:extLst>
                    <a:ext uri="{9D8B030D-6E8A-4147-A177-3AD203B41FA5}">
                      <a16:colId xmlns:a16="http://schemas.microsoft.com/office/drawing/2014/main" val="3368181510"/>
                    </a:ext>
                  </a:extLst>
                </a:gridCol>
                <a:gridCol w="1484198">
                  <a:extLst>
                    <a:ext uri="{9D8B030D-6E8A-4147-A177-3AD203B41FA5}">
                      <a16:colId xmlns:a16="http://schemas.microsoft.com/office/drawing/2014/main" val="2079319027"/>
                    </a:ext>
                  </a:extLst>
                </a:gridCol>
                <a:gridCol w="1548158">
                  <a:extLst>
                    <a:ext uri="{9D8B030D-6E8A-4147-A177-3AD203B41FA5}">
                      <a16:colId xmlns:a16="http://schemas.microsoft.com/office/drawing/2014/main" val="2206713604"/>
                    </a:ext>
                  </a:extLst>
                </a:gridCol>
              </a:tblGrid>
              <a:tr h="382084">
                <a:tc>
                  <a:txBody>
                    <a:bodyPr/>
                    <a:lstStyle/>
                    <a:p>
                      <a:pPr algn="ctr">
                        <a:spcAft>
                          <a:spcPts val="0"/>
                        </a:spcAft>
                      </a:pPr>
                      <a:r>
                        <a:rPr lang="zh-CN" sz="1000">
                          <a:effectLst/>
                        </a:rPr>
                        <a:t>指标</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a:effectLst/>
                        </a:rPr>
                        <a:t>项目前</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a:effectLst/>
                        </a:rPr>
                        <a:t>项目后</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a:effectLst/>
                        </a:rPr>
                        <a:t>变化</a:t>
                      </a:r>
                      <a:endParaRPr lang="zh-CN" sz="120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2249897285"/>
                  </a:ext>
                </a:extLst>
              </a:tr>
              <a:tr h="382084">
                <a:tc>
                  <a:txBody>
                    <a:bodyPr/>
                    <a:lstStyle/>
                    <a:p>
                      <a:pPr algn="ctr">
                        <a:spcAft>
                          <a:spcPts val="0"/>
                        </a:spcAft>
                      </a:pPr>
                      <a:r>
                        <a:rPr lang="zh-CN" sz="1000">
                          <a:effectLst/>
                        </a:rPr>
                        <a:t>年粮食产量</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a:effectLst/>
                        </a:rPr>
                        <a:t>500</a:t>
                      </a:r>
                      <a:r>
                        <a:rPr lang="zh-CN" sz="1000">
                          <a:effectLst/>
                        </a:rPr>
                        <a:t>吨</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a:effectLst/>
                        </a:rPr>
                        <a:t>650</a:t>
                      </a:r>
                      <a:r>
                        <a:rPr lang="zh-CN" sz="1000">
                          <a:effectLst/>
                        </a:rPr>
                        <a:t>吨</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+150</a:t>
                      </a:r>
                      <a:r>
                        <a:rPr lang="zh-CN" sz="1000" dirty="0">
                          <a:effectLst/>
                        </a:rPr>
                        <a:t>吨</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3858933131"/>
                  </a:ext>
                </a:extLst>
              </a:tr>
              <a:tr h="417622">
                <a:tc>
                  <a:txBody>
                    <a:bodyPr/>
                    <a:lstStyle/>
                    <a:p>
                      <a:pPr algn="ctr">
                        <a:spcAft>
                          <a:spcPts val="0"/>
                        </a:spcAft>
                      </a:pPr>
                      <a:r>
                        <a:rPr lang="zh-CN" sz="1000">
                          <a:effectLst/>
                        </a:rPr>
                        <a:t>灌溉用水量</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100</a:t>
                      </a:r>
                      <a:r>
                        <a:rPr lang="zh-CN" sz="1000" dirty="0">
                          <a:effectLst/>
                        </a:rPr>
                        <a:t>万</a:t>
                      </a:r>
                      <a:r>
                        <a:rPr lang="en-US" sz="1000" dirty="0">
                          <a:effectLst/>
                        </a:rPr>
                        <a:t>m³</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a:effectLst/>
                        </a:rPr>
                        <a:t>60</a:t>
                      </a:r>
                      <a:r>
                        <a:rPr lang="zh-CN" sz="1000">
                          <a:effectLst/>
                        </a:rPr>
                        <a:t>万</a:t>
                      </a:r>
                      <a:r>
                        <a:rPr lang="en-US" sz="1000">
                          <a:effectLst/>
                        </a:rPr>
                        <a:t>m³</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-40</a:t>
                      </a:r>
                      <a:r>
                        <a:rPr lang="zh-CN" sz="1000" dirty="0">
                          <a:effectLst/>
                        </a:rPr>
                        <a:t>万</a:t>
                      </a:r>
                      <a:r>
                        <a:rPr lang="en-US" sz="1000" dirty="0">
                          <a:effectLst/>
                        </a:rPr>
                        <a:t>m³</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1497951832"/>
                  </a:ext>
                </a:extLst>
              </a:tr>
            </a:tbl>
          </a:graphicData>
        </a:graphic>
      </p:graphicFrame>
      <p:sp>
        <p:nvSpPr>
          <p:cNvPr id="23556" name="Rectangle 4">
            <a:extLst>
              <a:ext uri="{FF2B5EF4-FFF2-40B4-BE49-F238E27FC236}">
                <a16:creationId xmlns:a16="http://schemas.microsoft.com/office/drawing/2014/main" id="{17328EF0-744A-46BF-8329-C65D690DF1AE}"/>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23557" name="Line 5">
            <a:extLst>
              <a:ext uri="{FF2B5EF4-FFF2-40B4-BE49-F238E27FC236}">
                <a16:creationId xmlns:a16="http://schemas.microsoft.com/office/drawing/2014/main" id="{F388401E-F14D-4E17-BDBA-026DFF771ED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Rectangle 1">
            <a:extLst>
              <a:ext uri="{FF2B5EF4-FFF2-40B4-BE49-F238E27FC236}">
                <a16:creationId xmlns:a16="http://schemas.microsoft.com/office/drawing/2014/main" id="{C4AA3F5E-5601-497C-B21C-8ABB6454D0A9}"/>
              </a:ext>
            </a:extLst>
          </p:cNvPr>
          <p:cNvSpPr>
            <a:spLocks noChangeArrowheads="1"/>
          </p:cNvSpPr>
          <p:nvPr/>
        </p:nvSpPr>
        <p:spPr bwMode="auto">
          <a:xfrm>
            <a:off x="-36513" y="822325"/>
            <a:ext cx="8640961" cy="1513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101568" numCol="1"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u="none" strike="noStrike" cap="none" normalizeH="0" dirty="0">
                <a:ln>
                  <a:noFill/>
                </a:ln>
                <a:effectLst/>
                <a:latin typeface="Times New Roman" panose="02020603050405020304" pitchFamily="18" charset="0"/>
                <a:ea typeface="黑体" panose="02010609060101010101" pitchFamily="49" charset="-122"/>
              </a:rPr>
              <a:t>例子：</a:t>
            </a:r>
            <a:r>
              <a:rPr kumimoji="0" lang="zh-CN" altLang="zh-CN" sz="2000" u="none" strike="noStrike" cap="none" normalizeH="0" dirty="0">
                <a:ln>
                  <a:noFill/>
                </a:ln>
                <a:effectLst/>
                <a:latin typeface="Times New Roman" panose="02020603050405020304" pitchFamily="18" charset="0"/>
                <a:ea typeface="黑体" panose="02010609060101010101" pitchFamily="49" charset="-122"/>
              </a:rPr>
              <a:t>某农村地区现有旧灌溉系统，已老化且效率低下，计划投资建设新型节水灌溉系统。</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u="none" strike="noStrike" cap="none" normalizeH="0" dirty="0">
                <a:ln>
                  <a:noFill/>
                </a:ln>
                <a:solidFill>
                  <a:srgbClr val="FF0000"/>
                </a:solidFill>
                <a:effectLst/>
                <a:latin typeface="Times New Roman" panose="02020603050405020304" pitchFamily="18" charset="0"/>
                <a:ea typeface="黑体" panose="02010609060101010101" pitchFamily="49" charset="-122"/>
              </a:rPr>
              <a:t>前后对比法</a:t>
            </a:r>
            <a:endParaRPr kumimoji="0" lang="zh-CN" altLang="en-US" sz="2000" u="none" strike="noStrike" cap="none" normalizeH="0" dirty="0">
              <a:ln>
                <a:noFill/>
              </a:ln>
              <a:solidFill>
                <a:srgbClr val="FF0000"/>
              </a:solidFill>
              <a:effectLst/>
              <a:latin typeface="Times New Roman" panose="02020603050405020304" pitchFamily="18" charset="0"/>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u="none" strike="noStrike" cap="none" normalizeH="0" dirty="0">
                <a:ln>
                  <a:noFill/>
                </a:ln>
                <a:solidFill>
                  <a:schemeClr val="tx1"/>
                </a:solidFill>
                <a:effectLst/>
                <a:latin typeface="Times New Roman" panose="02020603050405020304" pitchFamily="18" charset="0"/>
                <a:ea typeface="黑体" panose="02010609060101010101" pitchFamily="49" charset="-122"/>
              </a:rPr>
              <a:t>直接比较项目实施前后的指标变化：</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u="none" strike="noStrike" cap="none" normalizeH="0" dirty="0">
                <a:ln>
                  <a:noFill/>
                </a:ln>
                <a:solidFill>
                  <a:schemeClr val="tx1"/>
                </a:solidFill>
                <a:effectLst/>
                <a:latin typeface="Times New Roman" panose="02020603050405020304" pitchFamily="18" charset="0"/>
                <a:ea typeface="黑体" panose="02010609060101010101" pitchFamily="49" charset="-122"/>
              </a:rPr>
              <a:t>得出结论：项目带来了</a:t>
            </a:r>
            <a:r>
              <a:rPr kumimoji="0" lang="en-US" altLang="zh-CN" sz="2000" u="none" strike="noStrike" cap="none" normalizeH="0" dirty="0">
                <a:ln>
                  <a:noFill/>
                </a:ln>
                <a:solidFill>
                  <a:schemeClr val="tx1"/>
                </a:solidFill>
                <a:effectLst/>
                <a:latin typeface="Times New Roman" panose="02020603050405020304" pitchFamily="18" charset="0"/>
                <a:ea typeface="黑体" panose="02010609060101010101" pitchFamily="49" charset="-122"/>
              </a:rPr>
              <a:t>150</a:t>
            </a:r>
            <a:r>
              <a:rPr kumimoji="0" lang="zh-CN" altLang="en-US" sz="2000" u="none" strike="noStrike" cap="none" normalizeH="0" dirty="0">
                <a:ln>
                  <a:noFill/>
                </a:ln>
                <a:solidFill>
                  <a:schemeClr val="tx1"/>
                </a:solidFill>
                <a:effectLst/>
                <a:latin typeface="Times New Roman" panose="02020603050405020304" pitchFamily="18" charset="0"/>
                <a:ea typeface="黑体" panose="02010609060101010101" pitchFamily="49" charset="-122"/>
              </a:rPr>
              <a:t>吨的增产效益。</a:t>
            </a:r>
          </a:p>
        </p:txBody>
      </p:sp>
      <p:graphicFrame>
        <p:nvGraphicFramePr>
          <p:cNvPr id="4" name="表格 3">
            <a:extLst>
              <a:ext uri="{FF2B5EF4-FFF2-40B4-BE49-F238E27FC236}">
                <a16:creationId xmlns:a16="http://schemas.microsoft.com/office/drawing/2014/main" id="{41AE8D02-ADBA-45FC-BC19-6B57234F4125}"/>
              </a:ext>
            </a:extLst>
          </p:cNvPr>
          <p:cNvGraphicFramePr>
            <a:graphicFrameLocks noGrp="1"/>
          </p:cNvGraphicFramePr>
          <p:nvPr>
            <p:extLst>
              <p:ext uri="{D42A27DB-BD31-4B8C-83A1-F6EECF244321}">
                <p14:modId xmlns:p14="http://schemas.microsoft.com/office/powerpoint/2010/main" val="682259459"/>
              </p:ext>
            </p:extLst>
          </p:nvPr>
        </p:nvGraphicFramePr>
        <p:xfrm>
          <a:off x="1547664" y="5317478"/>
          <a:ext cx="5335148" cy="1207866"/>
        </p:xfrm>
        <a:graphic>
          <a:graphicData uri="http://schemas.openxmlformats.org/drawingml/2006/table">
            <a:tbl>
              <a:tblPr>
                <a:tableStyleId>{5C22544A-7EE6-4342-B048-85BDC9FD1C3A}</a:tableStyleId>
              </a:tblPr>
              <a:tblGrid>
                <a:gridCol w="1092268">
                  <a:extLst>
                    <a:ext uri="{9D8B030D-6E8A-4147-A177-3AD203B41FA5}">
                      <a16:colId xmlns:a16="http://schemas.microsoft.com/office/drawing/2014/main" val="2600408771"/>
                    </a:ext>
                  </a:extLst>
                </a:gridCol>
                <a:gridCol w="1634568">
                  <a:extLst>
                    <a:ext uri="{9D8B030D-6E8A-4147-A177-3AD203B41FA5}">
                      <a16:colId xmlns:a16="http://schemas.microsoft.com/office/drawing/2014/main" val="2582752715"/>
                    </a:ext>
                  </a:extLst>
                </a:gridCol>
                <a:gridCol w="929591">
                  <a:extLst>
                    <a:ext uri="{9D8B030D-6E8A-4147-A177-3AD203B41FA5}">
                      <a16:colId xmlns:a16="http://schemas.microsoft.com/office/drawing/2014/main" val="2949165596"/>
                    </a:ext>
                  </a:extLst>
                </a:gridCol>
                <a:gridCol w="1678721">
                  <a:extLst>
                    <a:ext uri="{9D8B030D-6E8A-4147-A177-3AD203B41FA5}">
                      <a16:colId xmlns:a16="http://schemas.microsoft.com/office/drawing/2014/main" val="1537554625"/>
                    </a:ext>
                  </a:extLst>
                </a:gridCol>
              </a:tblGrid>
              <a:tr h="402622">
                <a:tc>
                  <a:txBody>
                    <a:bodyPr/>
                    <a:lstStyle/>
                    <a:p>
                      <a:pPr algn="ctr">
                        <a:spcAft>
                          <a:spcPts val="0"/>
                        </a:spcAft>
                      </a:pPr>
                      <a:r>
                        <a:rPr lang="zh-CN" sz="1000">
                          <a:effectLst/>
                        </a:rPr>
                        <a:t>指标</a:t>
                      </a:r>
                      <a:endParaRPr lang="zh-CN" sz="120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dirty="0">
                          <a:effectLst/>
                        </a:rPr>
                        <a:t>无项目情景（基准线）</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dirty="0">
                          <a:effectLst/>
                        </a:rPr>
                        <a:t>有项目情景</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ctr">
                        <a:spcAft>
                          <a:spcPts val="0"/>
                        </a:spcAft>
                      </a:pPr>
                      <a:r>
                        <a:rPr lang="zh-CN" sz="1000" dirty="0">
                          <a:effectLst/>
                        </a:rPr>
                        <a:t>真实净效益</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2076092000"/>
                  </a:ext>
                </a:extLst>
              </a:tr>
              <a:tr h="402622">
                <a:tc>
                  <a:txBody>
                    <a:bodyPr/>
                    <a:lstStyle/>
                    <a:p>
                      <a:pPr algn="ctr">
                        <a:spcAft>
                          <a:spcPts val="0"/>
                        </a:spcAft>
                      </a:pPr>
                      <a:r>
                        <a:rPr lang="zh-CN" sz="1000" dirty="0">
                          <a:effectLst/>
                        </a:rPr>
                        <a:t>年粮食产量</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580</a:t>
                      </a:r>
                      <a:r>
                        <a:rPr lang="zh-CN" sz="1000" dirty="0">
                          <a:effectLst/>
                        </a:rPr>
                        <a:t>吨（自然增长）</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650</a:t>
                      </a:r>
                      <a:r>
                        <a:rPr lang="zh-CN" sz="1000" dirty="0">
                          <a:effectLst/>
                        </a:rPr>
                        <a:t>吨</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+70</a:t>
                      </a:r>
                      <a:r>
                        <a:rPr lang="zh-CN" sz="1000" dirty="0">
                          <a:effectLst/>
                        </a:rPr>
                        <a:t>吨</a:t>
                      </a:r>
                      <a:r>
                        <a:rPr lang="en-US" sz="1000" dirty="0">
                          <a:effectLst/>
                        </a:rPr>
                        <a:t> </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697916947"/>
                  </a:ext>
                </a:extLst>
              </a:tr>
              <a:tr h="402622">
                <a:tc>
                  <a:txBody>
                    <a:bodyPr/>
                    <a:lstStyle/>
                    <a:p>
                      <a:pPr algn="ctr">
                        <a:spcAft>
                          <a:spcPts val="0"/>
                        </a:spcAft>
                      </a:pPr>
                      <a:r>
                        <a:rPr lang="zh-CN" sz="1000" dirty="0">
                          <a:effectLst/>
                        </a:rPr>
                        <a:t>灌溉用水量</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90</a:t>
                      </a:r>
                      <a:r>
                        <a:rPr lang="zh-CN" sz="1000" dirty="0">
                          <a:effectLst/>
                        </a:rPr>
                        <a:t>万</a:t>
                      </a:r>
                      <a:r>
                        <a:rPr lang="en-US" sz="1000" dirty="0">
                          <a:effectLst/>
                        </a:rPr>
                        <a:t>m³</a:t>
                      </a:r>
                      <a:r>
                        <a:rPr lang="zh-CN" sz="1000" dirty="0">
                          <a:effectLst/>
                        </a:rPr>
                        <a:t>（自然老化加剧）</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60</a:t>
                      </a:r>
                      <a:r>
                        <a:rPr lang="zh-CN" sz="1000" dirty="0">
                          <a:effectLst/>
                        </a:rPr>
                        <a:t>万</a:t>
                      </a:r>
                      <a:r>
                        <a:rPr lang="en-US" sz="1000" dirty="0">
                          <a:effectLst/>
                        </a:rPr>
                        <a:t>m³</a:t>
                      </a:r>
                      <a:endParaRPr lang="zh-CN" sz="1200" dirty="0">
                        <a:effectLst/>
                        <a:latin typeface="Arial" panose="020B0604020202020204" pitchFamily="34" charset="0"/>
                        <a:ea typeface="等线" panose="02010600030101010101" pitchFamily="2" charset="-122"/>
                      </a:endParaRPr>
                    </a:p>
                  </a:txBody>
                  <a:tcPr marL="76200" marR="76200" marT="50800" marB="50800" anchor="ctr"/>
                </a:tc>
                <a:tc>
                  <a:txBody>
                    <a:bodyPr/>
                    <a:lstStyle/>
                    <a:p>
                      <a:pPr algn="l">
                        <a:spcAft>
                          <a:spcPts val="0"/>
                        </a:spcAft>
                      </a:pPr>
                      <a:r>
                        <a:rPr lang="en-US" sz="1000" dirty="0">
                          <a:effectLst/>
                        </a:rPr>
                        <a:t>-30</a:t>
                      </a:r>
                      <a:r>
                        <a:rPr lang="zh-CN" sz="1000" dirty="0">
                          <a:effectLst/>
                        </a:rPr>
                        <a:t>万</a:t>
                      </a:r>
                      <a:r>
                        <a:rPr lang="en-US" sz="1000" dirty="0">
                          <a:effectLst/>
                        </a:rPr>
                        <a:t>m³ </a:t>
                      </a:r>
                      <a:endParaRPr lang="zh-CN" sz="1200" dirty="0">
                        <a:effectLst/>
                        <a:latin typeface="Arial" panose="020B0604020202020204" pitchFamily="34" charset="0"/>
                        <a:ea typeface="等线" panose="02010600030101010101" pitchFamily="2" charset="-122"/>
                      </a:endParaRPr>
                    </a:p>
                  </a:txBody>
                  <a:tcPr marL="76200" marR="76200" marT="50800" marB="50800" anchor="ctr"/>
                </a:tc>
                <a:extLst>
                  <a:ext uri="{0D108BD9-81ED-4DB2-BD59-A6C34878D82A}">
                    <a16:rowId xmlns:a16="http://schemas.microsoft.com/office/drawing/2014/main" val="2567753262"/>
                  </a:ext>
                </a:extLst>
              </a:tr>
            </a:tbl>
          </a:graphicData>
        </a:graphic>
      </p:graphicFrame>
      <p:sp>
        <p:nvSpPr>
          <p:cNvPr id="5" name="Rectangle 2">
            <a:extLst>
              <a:ext uri="{FF2B5EF4-FFF2-40B4-BE49-F238E27FC236}">
                <a16:creationId xmlns:a16="http://schemas.microsoft.com/office/drawing/2014/main" id="{DD544F49-376A-42E6-8632-FE68F6D5D771}"/>
              </a:ext>
            </a:extLst>
          </p:cNvPr>
          <p:cNvSpPr>
            <a:spLocks noChangeArrowheads="1"/>
          </p:cNvSpPr>
          <p:nvPr/>
        </p:nvSpPr>
        <p:spPr bwMode="auto">
          <a:xfrm>
            <a:off x="-36513" y="3831566"/>
            <a:ext cx="8928993" cy="151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101568" numCol="1" anchor="ctr" anchorCtr="0" compatLnSpc="1">
            <a:prstTxWarp prst="textNoShape">
              <a:avLst/>
            </a:prstTxWarp>
            <a:noAutofit/>
          </a:bodyPr>
          <a:lstStyle/>
          <a:p>
            <a:r>
              <a:rPr lang="zh-CN" altLang="zh-CN" sz="2000" dirty="0">
                <a:solidFill>
                  <a:srgbClr val="FF0000"/>
                </a:solidFill>
                <a:latin typeface="Times New Roman" panose="02020603050405020304" pitchFamily="18" charset="0"/>
                <a:ea typeface="黑体" panose="02010609060101010101" pitchFamily="49" charset="-122"/>
              </a:rPr>
              <a:t>有无对比法</a:t>
            </a:r>
            <a:endParaRPr lang="en-US" altLang="zh-CN" sz="2000" dirty="0">
              <a:solidFill>
                <a:srgbClr val="FF0000"/>
              </a:solidFill>
              <a:latin typeface="Times New Roman" panose="02020603050405020304" pitchFamily="18" charset="0"/>
              <a:ea typeface="黑体" panose="02010609060101010101" pitchFamily="49" charset="-122"/>
            </a:endParaRPr>
          </a:p>
          <a:p>
            <a:r>
              <a:rPr lang="zh-CN" altLang="en-US" sz="2000" dirty="0">
                <a:latin typeface="Times New Roman" panose="02020603050405020304" pitchFamily="18" charset="0"/>
                <a:ea typeface="黑体" panose="02010609060101010101" pitchFamily="49" charset="-122"/>
              </a:rPr>
              <a:t>即使不做新项目，由于近年推广新品种、化肥改良等外部因素，产量本来也会自然增长到 </a:t>
            </a:r>
            <a:r>
              <a:rPr lang="en-US" altLang="zh-CN" sz="2000" dirty="0">
                <a:latin typeface="Times New Roman" panose="02020603050405020304" pitchFamily="18" charset="0"/>
                <a:ea typeface="黑体" panose="02010609060101010101" pitchFamily="49" charset="-122"/>
              </a:rPr>
              <a:t>580</a:t>
            </a:r>
            <a:r>
              <a:rPr lang="zh-CN" altLang="en-US" sz="2000" dirty="0">
                <a:latin typeface="Times New Roman" panose="02020603050405020304" pitchFamily="18" charset="0"/>
                <a:ea typeface="黑体" panose="02010609060101010101" pitchFamily="49" charset="-122"/>
              </a:rPr>
              <a:t>吨。</a:t>
            </a:r>
          </a:p>
          <a:p>
            <a:r>
              <a:rPr lang="zh-CN" altLang="en-US" sz="2000" dirty="0">
                <a:solidFill>
                  <a:srgbClr val="2E75B6"/>
                </a:solidFill>
                <a:latin typeface="Times New Roman" panose="02020603050405020304" pitchFamily="18" charset="0"/>
                <a:ea typeface="黑体" panose="02010609060101010101" pitchFamily="49" charset="-122"/>
              </a:rPr>
              <a:t>得出结论：</a:t>
            </a:r>
            <a:r>
              <a:rPr lang="zh-CN" altLang="en-US" sz="2000" dirty="0">
                <a:latin typeface="Times New Roman" panose="02020603050405020304" pitchFamily="18" charset="0"/>
                <a:ea typeface="黑体" panose="02010609060101010101" pitchFamily="49" charset="-122"/>
              </a:rPr>
              <a:t>项目真正带来的净增产仅为</a:t>
            </a:r>
            <a:r>
              <a:rPr lang="en-US" altLang="zh-CN" sz="2000" dirty="0">
                <a:latin typeface="Times New Roman" panose="02020603050405020304" pitchFamily="18" charset="0"/>
                <a:ea typeface="黑体" panose="02010609060101010101" pitchFamily="49" charset="-122"/>
              </a:rPr>
              <a:t>70</a:t>
            </a:r>
            <a:r>
              <a:rPr lang="zh-CN" altLang="en-US" sz="2000" dirty="0">
                <a:latin typeface="Times New Roman" panose="02020603050405020304" pitchFamily="18" charset="0"/>
                <a:ea typeface="黑体" panose="02010609060101010101" pitchFamily="49" charset="-122"/>
              </a:rPr>
              <a:t>吨，而非前后对比法得出的</a:t>
            </a:r>
            <a:r>
              <a:rPr lang="en-US" altLang="zh-CN" sz="2000" dirty="0">
                <a:latin typeface="Times New Roman" panose="02020603050405020304" pitchFamily="18" charset="0"/>
                <a:ea typeface="黑体" panose="02010609060101010101" pitchFamily="49" charset="-122"/>
              </a:rPr>
              <a:t>150</a:t>
            </a:r>
            <a:r>
              <a:rPr lang="zh-CN" altLang="en-US" sz="2000" dirty="0">
                <a:latin typeface="Times New Roman" panose="02020603050405020304" pitchFamily="18" charset="0"/>
                <a:ea typeface="黑体" panose="02010609060101010101" pitchFamily="49" charset="-122"/>
              </a:rPr>
              <a:t>吨。</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29456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BF97D9A-363D-48D8-99A3-51F773EE6C7B}"/>
              </a:ext>
            </a:extLst>
          </p:cNvPr>
          <p:cNvSpPr>
            <a:spLocks noGrp="1" noChangeArrowheads="1"/>
          </p:cNvSpPr>
          <p:nvPr>
            <p:ph type="title"/>
          </p:nvPr>
        </p:nvSpPr>
        <p:spPr/>
        <p:txBody>
          <a:bodyPr/>
          <a:lstStyle/>
          <a:p>
            <a:pPr algn="l" eaLnBrk="1" hangingPunct="1"/>
            <a:r>
              <a:rPr lang="en-US" altLang="zh-CN" sz="4000" b="1"/>
              <a:t>2.2.2  </a:t>
            </a:r>
            <a:r>
              <a:rPr lang="zh-CN" altLang="en-US" sz="4000" b="1"/>
              <a:t>需求调研的内容与方法</a:t>
            </a:r>
          </a:p>
        </p:txBody>
      </p:sp>
      <p:sp>
        <p:nvSpPr>
          <p:cNvPr id="29699" name="Rectangle 3">
            <a:extLst>
              <a:ext uri="{FF2B5EF4-FFF2-40B4-BE49-F238E27FC236}">
                <a16:creationId xmlns:a16="http://schemas.microsoft.com/office/drawing/2014/main" id="{E63A52D9-0EFC-48AD-B9B3-8E598218FE3B}"/>
              </a:ext>
            </a:extLst>
          </p:cNvPr>
          <p:cNvSpPr>
            <a:spLocks noGrp="1" noChangeArrowheads="1"/>
          </p:cNvSpPr>
          <p:nvPr>
            <p:ph idx="1"/>
          </p:nvPr>
        </p:nvSpPr>
        <p:spPr>
          <a:xfrm>
            <a:off x="323528" y="1661789"/>
            <a:ext cx="8352928" cy="2323454"/>
          </a:xfrm>
        </p:spPr>
        <p:txBody>
          <a:bodyPr>
            <a:normAutofit/>
          </a:bodyPr>
          <a:lstStyle/>
          <a:p>
            <a:pPr eaLnBrk="1" hangingPunct="1"/>
            <a:r>
              <a:rPr lang="zh-CN" altLang="en-US" sz="2400" dirty="0"/>
              <a:t>信息系统项目普遍存在开始时“需求说不清”，项目结束时“需求说不完”的现象。</a:t>
            </a:r>
            <a:endParaRPr lang="en-US" altLang="zh-CN" sz="2400" dirty="0"/>
          </a:p>
          <a:p>
            <a:pPr eaLnBrk="1" hangingPunct="1"/>
            <a:r>
              <a:rPr lang="zh-CN" altLang="en-US" sz="2400" dirty="0">
                <a:solidFill>
                  <a:srgbClr val="FF0000"/>
                </a:solidFill>
              </a:rPr>
              <a:t>需求分析</a:t>
            </a:r>
            <a:r>
              <a:rPr lang="zh-CN" altLang="en-US" sz="2400" dirty="0"/>
              <a:t>就是要确定对目标系统的综合要求，并提出这些需求的实现条件，以及需求应达到的标准，也就是解决要求所开发的信息系统做什么，做到什么程度的问题。 </a:t>
            </a:r>
          </a:p>
        </p:txBody>
      </p:sp>
      <p:sp>
        <p:nvSpPr>
          <p:cNvPr id="29700" name="Rectangle 4">
            <a:extLst>
              <a:ext uri="{FF2B5EF4-FFF2-40B4-BE49-F238E27FC236}">
                <a16:creationId xmlns:a16="http://schemas.microsoft.com/office/drawing/2014/main" id="{3AD0CCE7-36F8-4DF1-A8DF-656CB440F33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29701" name="Line 5">
            <a:extLst>
              <a:ext uri="{FF2B5EF4-FFF2-40B4-BE49-F238E27FC236}">
                <a16:creationId xmlns:a16="http://schemas.microsoft.com/office/drawing/2014/main" id="{5B59369D-6E9F-45F3-812C-9E930ABAF51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9D436F7-993D-404B-AC08-B7895433F6F4}"/>
              </a:ext>
            </a:extLst>
          </p:cNvPr>
          <p:cNvSpPr>
            <a:spLocks noGrp="1" noChangeArrowheads="1"/>
          </p:cNvSpPr>
          <p:nvPr>
            <p:ph type="title"/>
          </p:nvPr>
        </p:nvSpPr>
        <p:spPr/>
        <p:txBody>
          <a:bodyPr/>
          <a:lstStyle/>
          <a:p>
            <a:pPr algn="l" eaLnBrk="1" hangingPunct="1"/>
            <a:r>
              <a:rPr lang="en-US" altLang="zh-CN" sz="4000" b="1"/>
              <a:t>2.2.2  </a:t>
            </a:r>
            <a:r>
              <a:rPr lang="zh-CN" altLang="en-US" sz="4000" b="1"/>
              <a:t>需求调研的内容与方法</a:t>
            </a:r>
          </a:p>
        </p:txBody>
      </p:sp>
      <p:sp>
        <p:nvSpPr>
          <p:cNvPr id="31747" name="Rectangle 3">
            <a:extLst>
              <a:ext uri="{FF2B5EF4-FFF2-40B4-BE49-F238E27FC236}">
                <a16:creationId xmlns:a16="http://schemas.microsoft.com/office/drawing/2014/main" id="{B06DBD9F-16FF-4D6D-8A44-8C3027BDD619}"/>
              </a:ext>
            </a:extLst>
          </p:cNvPr>
          <p:cNvSpPr>
            <a:spLocks noGrp="1" noChangeArrowheads="1"/>
          </p:cNvSpPr>
          <p:nvPr>
            <p:ph idx="1"/>
          </p:nvPr>
        </p:nvSpPr>
        <p:spPr>
          <a:xfrm>
            <a:off x="457200" y="1600200"/>
            <a:ext cx="8229600" cy="4924425"/>
          </a:xfrm>
        </p:spPr>
        <p:txBody>
          <a:bodyPr>
            <a:normAutofit lnSpcReduction="10000"/>
          </a:bodyPr>
          <a:lstStyle/>
          <a:p>
            <a:pPr marL="0" indent="0" eaLnBrk="1" hangingPunct="1">
              <a:lnSpc>
                <a:spcPct val="90000"/>
              </a:lnSpc>
              <a:buNone/>
            </a:pPr>
            <a:r>
              <a:rPr lang="zh-CN" altLang="en-US" sz="2400" dirty="0">
                <a:solidFill>
                  <a:srgbClr val="FF0000"/>
                </a:solidFill>
              </a:rPr>
              <a:t>需求分析内容：</a:t>
            </a:r>
            <a:endParaRPr lang="en-US" altLang="zh-CN" sz="2400" dirty="0">
              <a:solidFill>
                <a:srgbClr val="FF0000"/>
              </a:solidFill>
            </a:endParaRPr>
          </a:p>
          <a:p>
            <a:pPr marL="609600" indent="-609600" eaLnBrk="1" hangingPunct="1">
              <a:lnSpc>
                <a:spcPct val="90000"/>
              </a:lnSpc>
            </a:pPr>
            <a:r>
              <a:rPr lang="en-US" altLang="zh-CN" sz="2400" dirty="0"/>
              <a:t>1</a:t>
            </a:r>
            <a:r>
              <a:rPr lang="zh-CN" altLang="en-US" sz="2400" dirty="0"/>
              <a:t>．功能需求与非功能需求 </a:t>
            </a:r>
          </a:p>
          <a:p>
            <a:pPr marL="990600" lvl="1" indent="-533400" eaLnBrk="1" hangingPunct="1">
              <a:lnSpc>
                <a:spcPct val="90000"/>
              </a:lnSpc>
            </a:pPr>
            <a:r>
              <a:rPr lang="zh-CN" altLang="en-US" sz="2400" dirty="0"/>
              <a:t>（</a:t>
            </a:r>
            <a:r>
              <a:rPr lang="en-US" altLang="zh-CN" sz="2400" dirty="0"/>
              <a:t>1</a:t>
            </a:r>
            <a:r>
              <a:rPr lang="zh-CN" altLang="en-US" sz="2400" dirty="0"/>
              <a:t>）功能需求：</a:t>
            </a:r>
            <a:endParaRPr lang="en-US" altLang="zh-CN" sz="2400" dirty="0"/>
          </a:p>
          <a:p>
            <a:pPr marL="1447800" lvl="2" indent="-533400"/>
            <a:r>
              <a:rPr lang="zh-CN" altLang="en-US" dirty="0"/>
              <a:t>必备功能，必须做；</a:t>
            </a:r>
            <a:endParaRPr lang="en-US" altLang="zh-CN" dirty="0"/>
          </a:p>
          <a:p>
            <a:pPr marL="1447800" lvl="2" indent="-533400"/>
            <a:r>
              <a:rPr lang="zh-CN" altLang="en-US" dirty="0"/>
              <a:t>可选功能，应该做；</a:t>
            </a:r>
            <a:endParaRPr lang="en-US" altLang="zh-CN" dirty="0"/>
          </a:p>
          <a:p>
            <a:pPr marL="1447800" lvl="2" indent="-533400"/>
            <a:r>
              <a:rPr lang="zh-CN" altLang="en-US" dirty="0"/>
              <a:t>附加功能，可以做；</a:t>
            </a:r>
          </a:p>
          <a:p>
            <a:pPr marL="990600" lvl="1" indent="-533400" eaLnBrk="1" hangingPunct="1">
              <a:lnSpc>
                <a:spcPct val="90000"/>
              </a:lnSpc>
            </a:pPr>
            <a:r>
              <a:rPr lang="zh-CN" altLang="en-US" sz="2400" dirty="0"/>
              <a:t>（</a:t>
            </a:r>
            <a:r>
              <a:rPr lang="en-US" altLang="zh-CN" sz="2400" dirty="0"/>
              <a:t>2</a:t>
            </a:r>
            <a:r>
              <a:rPr lang="zh-CN" altLang="en-US" sz="2400" dirty="0"/>
              <a:t>）技术性能需求 </a:t>
            </a:r>
          </a:p>
          <a:p>
            <a:pPr marL="990600" lvl="1" indent="-533400" eaLnBrk="1" hangingPunct="1">
              <a:lnSpc>
                <a:spcPct val="90000"/>
              </a:lnSpc>
            </a:pPr>
            <a:r>
              <a:rPr lang="zh-CN" altLang="en-US" sz="2400" dirty="0"/>
              <a:t>（</a:t>
            </a:r>
            <a:r>
              <a:rPr lang="en-US" altLang="zh-CN" sz="2400" dirty="0"/>
              <a:t>3</a:t>
            </a:r>
            <a:r>
              <a:rPr lang="zh-CN" altLang="en-US" sz="2400" dirty="0"/>
              <a:t>）可靠性需求 </a:t>
            </a:r>
          </a:p>
          <a:p>
            <a:pPr marL="990600" lvl="1" indent="-533400" eaLnBrk="1" hangingPunct="1">
              <a:lnSpc>
                <a:spcPct val="90000"/>
              </a:lnSpc>
            </a:pPr>
            <a:r>
              <a:rPr lang="zh-CN" altLang="en-US" sz="2400" dirty="0"/>
              <a:t>（</a:t>
            </a:r>
            <a:r>
              <a:rPr lang="en-US" altLang="zh-CN" sz="2400" dirty="0"/>
              <a:t>4</a:t>
            </a:r>
            <a:r>
              <a:rPr lang="zh-CN" altLang="en-US" sz="2400" dirty="0"/>
              <a:t>）安全保密要求 </a:t>
            </a:r>
          </a:p>
          <a:p>
            <a:pPr marL="990600" lvl="1" indent="-533400" eaLnBrk="1" hangingPunct="1">
              <a:lnSpc>
                <a:spcPct val="90000"/>
              </a:lnSpc>
            </a:pPr>
            <a:r>
              <a:rPr lang="zh-CN" altLang="en-US" sz="2400" dirty="0"/>
              <a:t>（</a:t>
            </a:r>
            <a:r>
              <a:rPr lang="en-US" altLang="zh-CN" sz="2400" dirty="0"/>
              <a:t>5</a:t>
            </a:r>
            <a:r>
              <a:rPr lang="zh-CN" altLang="en-US" sz="2400" dirty="0"/>
              <a:t>）用户界面需求 </a:t>
            </a:r>
          </a:p>
          <a:p>
            <a:pPr marL="990600" lvl="1" indent="-533400" eaLnBrk="1" hangingPunct="1">
              <a:lnSpc>
                <a:spcPct val="90000"/>
              </a:lnSpc>
            </a:pPr>
            <a:r>
              <a:rPr lang="zh-CN" altLang="en-US" sz="2400" dirty="0"/>
              <a:t>（</a:t>
            </a:r>
            <a:r>
              <a:rPr lang="en-US" altLang="zh-CN" sz="2400" dirty="0"/>
              <a:t>6</a:t>
            </a:r>
            <a:r>
              <a:rPr lang="zh-CN" altLang="en-US" sz="2400" dirty="0"/>
              <a:t>）使用人员技能的需求 </a:t>
            </a:r>
          </a:p>
          <a:p>
            <a:pPr marL="990600" lvl="1" indent="-533400" eaLnBrk="1" hangingPunct="1">
              <a:lnSpc>
                <a:spcPct val="90000"/>
              </a:lnSpc>
            </a:pPr>
            <a:r>
              <a:rPr lang="zh-CN" altLang="en-US" sz="2400" dirty="0"/>
              <a:t>（</a:t>
            </a:r>
            <a:r>
              <a:rPr lang="en-US" altLang="zh-CN" sz="2400" dirty="0"/>
              <a:t>7</a:t>
            </a:r>
            <a:r>
              <a:rPr lang="zh-CN" altLang="en-US" sz="2400" dirty="0"/>
              <a:t>）成本与进度需求 </a:t>
            </a:r>
          </a:p>
          <a:p>
            <a:pPr marL="990600" lvl="1" indent="-533400" eaLnBrk="1" hangingPunct="1">
              <a:lnSpc>
                <a:spcPct val="90000"/>
              </a:lnSpc>
            </a:pPr>
            <a:r>
              <a:rPr lang="zh-CN" altLang="en-US" sz="2400" dirty="0"/>
              <a:t>（</a:t>
            </a:r>
            <a:r>
              <a:rPr lang="en-US" altLang="zh-CN" sz="2400" dirty="0"/>
              <a:t>8</a:t>
            </a:r>
            <a:r>
              <a:rPr lang="zh-CN" altLang="en-US" sz="2400" dirty="0"/>
              <a:t>）可扩展性需求 </a:t>
            </a:r>
          </a:p>
          <a:p>
            <a:pPr marL="1371600" lvl="2" indent="-457200" eaLnBrk="1" hangingPunct="1">
              <a:lnSpc>
                <a:spcPct val="90000"/>
              </a:lnSpc>
            </a:pPr>
            <a:endParaRPr lang="en-US" altLang="zh-CN" b="1" dirty="0"/>
          </a:p>
        </p:txBody>
      </p:sp>
      <p:sp>
        <p:nvSpPr>
          <p:cNvPr id="31748" name="Rectangle 4">
            <a:extLst>
              <a:ext uri="{FF2B5EF4-FFF2-40B4-BE49-F238E27FC236}">
                <a16:creationId xmlns:a16="http://schemas.microsoft.com/office/drawing/2014/main" id="{5E3B5C63-E8D7-4EDB-BB87-6901B1A3358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1749" name="Line 5">
            <a:extLst>
              <a:ext uri="{FF2B5EF4-FFF2-40B4-BE49-F238E27FC236}">
                <a16:creationId xmlns:a16="http://schemas.microsoft.com/office/drawing/2014/main" id="{32AE0DD4-175E-48B8-89BB-0EB2F3DBDDD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74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74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74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747">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747">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747">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174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E272FA3-B5BE-47F9-BF36-0CDD308036A0}"/>
              </a:ext>
            </a:extLst>
          </p:cNvPr>
          <p:cNvSpPr>
            <a:spLocks noGrp="1" noChangeArrowheads="1"/>
          </p:cNvSpPr>
          <p:nvPr>
            <p:ph type="title"/>
          </p:nvPr>
        </p:nvSpPr>
        <p:spPr/>
        <p:txBody>
          <a:bodyPr/>
          <a:lstStyle/>
          <a:p>
            <a:pPr algn="l" eaLnBrk="1" hangingPunct="1">
              <a:defRPr/>
            </a:pPr>
            <a:r>
              <a:rPr lang="en-US" altLang="zh-CN" sz="4000" b="1" dirty="0">
                <a:latin typeface="+mn-lt"/>
              </a:rPr>
              <a:t>2.2.2  </a:t>
            </a:r>
            <a:r>
              <a:rPr lang="zh-CN" altLang="en-US" sz="4000" b="1" dirty="0">
                <a:latin typeface="+mn-lt"/>
              </a:rPr>
              <a:t>需求调研的内容与方法</a:t>
            </a:r>
          </a:p>
        </p:txBody>
      </p:sp>
      <p:sp>
        <p:nvSpPr>
          <p:cNvPr id="33795" name="Rectangle 3">
            <a:extLst>
              <a:ext uri="{FF2B5EF4-FFF2-40B4-BE49-F238E27FC236}">
                <a16:creationId xmlns:a16="http://schemas.microsoft.com/office/drawing/2014/main" id="{C52A20EE-25AB-4F49-BCF6-E53FF09AFE19}"/>
              </a:ext>
            </a:extLst>
          </p:cNvPr>
          <p:cNvSpPr>
            <a:spLocks noGrp="1" noChangeArrowheads="1"/>
          </p:cNvSpPr>
          <p:nvPr>
            <p:ph idx="1"/>
          </p:nvPr>
        </p:nvSpPr>
        <p:spPr/>
        <p:txBody>
          <a:bodyPr/>
          <a:lstStyle/>
          <a:p>
            <a:pPr algn="just" eaLnBrk="1" hangingPunct="1"/>
            <a:r>
              <a:rPr lang="en-US" altLang="zh-CN" sz="2400" dirty="0"/>
              <a:t>2</a:t>
            </a:r>
            <a:r>
              <a:rPr lang="zh-CN" altLang="en-US" sz="2400" dirty="0"/>
              <a:t>．需求调研的方法和步骤</a:t>
            </a:r>
          </a:p>
          <a:p>
            <a:pPr lvl="1" eaLnBrk="1" hangingPunct="1"/>
            <a:r>
              <a:rPr lang="zh-CN" altLang="en-US" sz="2400" dirty="0"/>
              <a:t>（</a:t>
            </a:r>
            <a:r>
              <a:rPr lang="en-US" altLang="zh-CN" sz="2400" dirty="0"/>
              <a:t>1</a:t>
            </a:r>
            <a:r>
              <a:rPr lang="zh-CN" altLang="en-US" sz="2400" dirty="0"/>
              <a:t>）文献阅读</a:t>
            </a:r>
          </a:p>
          <a:p>
            <a:pPr lvl="1" eaLnBrk="1" hangingPunct="1"/>
            <a:r>
              <a:rPr lang="zh-CN" altLang="en-US" sz="2400" dirty="0"/>
              <a:t>（</a:t>
            </a:r>
            <a:r>
              <a:rPr lang="en-US" altLang="zh-CN" sz="2400" dirty="0"/>
              <a:t>2</a:t>
            </a:r>
            <a:r>
              <a:rPr lang="zh-CN" altLang="en-US" sz="2400" dirty="0"/>
              <a:t>）实地考察（直接观察法）</a:t>
            </a:r>
          </a:p>
          <a:p>
            <a:pPr lvl="1" eaLnBrk="1" hangingPunct="1"/>
            <a:r>
              <a:rPr lang="zh-CN" altLang="en-US" sz="2400" dirty="0"/>
              <a:t>（</a:t>
            </a:r>
            <a:r>
              <a:rPr lang="en-US" altLang="zh-CN" sz="2400" dirty="0"/>
              <a:t>3</a:t>
            </a:r>
            <a:r>
              <a:rPr lang="zh-CN" altLang="en-US" sz="2400" dirty="0"/>
              <a:t>）用户访谈</a:t>
            </a:r>
            <a:endParaRPr lang="en-US" altLang="zh-CN" sz="2400" dirty="0"/>
          </a:p>
          <a:p>
            <a:pPr lvl="2"/>
            <a:r>
              <a:rPr lang="zh-CN" altLang="en-US" dirty="0"/>
              <a:t>获得信息；</a:t>
            </a:r>
            <a:endParaRPr lang="en-US" altLang="zh-CN" dirty="0"/>
          </a:p>
          <a:p>
            <a:pPr lvl="2"/>
            <a:r>
              <a:rPr lang="zh-CN" altLang="en-US" dirty="0"/>
              <a:t>对书面资料、观察而获得信息进行验证</a:t>
            </a:r>
          </a:p>
          <a:p>
            <a:pPr lvl="1" eaLnBrk="1" hangingPunct="1"/>
            <a:r>
              <a:rPr lang="zh-CN" altLang="en-US" sz="2400" dirty="0"/>
              <a:t>（</a:t>
            </a:r>
            <a:r>
              <a:rPr lang="en-US" altLang="zh-CN" sz="2400" dirty="0"/>
              <a:t>4</a:t>
            </a:r>
            <a:r>
              <a:rPr lang="zh-CN" altLang="en-US" sz="2400" dirty="0"/>
              <a:t>）发放调查问卷</a:t>
            </a:r>
          </a:p>
          <a:p>
            <a:pPr lvl="1" eaLnBrk="1" hangingPunct="1"/>
            <a:r>
              <a:rPr lang="zh-CN" altLang="en-US" sz="2400" dirty="0"/>
              <a:t>（</a:t>
            </a:r>
            <a:r>
              <a:rPr lang="en-US" altLang="zh-CN" sz="2400" dirty="0"/>
              <a:t>5</a:t>
            </a:r>
            <a:r>
              <a:rPr lang="zh-CN" altLang="en-US" sz="2400" dirty="0"/>
              <a:t>）业务专题报告 </a:t>
            </a:r>
          </a:p>
        </p:txBody>
      </p:sp>
      <p:sp>
        <p:nvSpPr>
          <p:cNvPr id="33796" name="Rectangle 4">
            <a:extLst>
              <a:ext uri="{FF2B5EF4-FFF2-40B4-BE49-F238E27FC236}">
                <a16:creationId xmlns:a16="http://schemas.microsoft.com/office/drawing/2014/main" id="{F58CF4D8-7442-47DE-A872-7751C24E679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3797" name="Line 5">
            <a:extLst>
              <a:ext uri="{FF2B5EF4-FFF2-40B4-BE49-F238E27FC236}">
                <a16:creationId xmlns:a16="http://schemas.microsoft.com/office/drawing/2014/main" id="{115528B7-18C1-4885-A7A9-C0FDEBE0568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7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FEA64BF-BBE3-46B3-9EAB-A6A372DF2618}"/>
              </a:ext>
            </a:extLst>
          </p:cNvPr>
          <p:cNvSpPr>
            <a:spLocks noGrp="1" noChangeArrowheads="1"/>
          </p:cNvSpPr>
          <p:nvPr>
            <p:ph type="title"/>
          </p:nvPr>
        </p:nvSpPr>
        <p:spPr/>
        <p:txBody>
          <a:bodyPr/>
          <a:lstStyle/>
          <a:p>
            <a:pPr algn="l" eaLnBrk="1" hangingPunct="1"/>
            <a:r>
              <a:rPr lang="en-US" altLang="zh-CN" sz="4000" b="1"/>
              <a:t>2.2.3  </a:t>
            </a:r>
            <a:r>
              <a:rPr lang="zh-CN" altLang="en-US" sz="4000" b="1"/>
              <a:t>信息系统项目的建设方式</a:t>
            </a:r>
          </a:p>
        </p:txBody>
      </p:sp>
      <p:sp>
        <p:nvSpPr>
          <p:cNvPr id="35843" name="Rectangle 3">
            <a:extLst>
              <a:ext uri="{FF2B5EF4-FFF2-40B4-BE49-F238E27FC236}">
                <a16:creationId xmlns:a16="http://schemas.microsoft.com/office/drawing/2014/main" id="{1D142C68-6F86-41C9-83C2-1238C7E559C5}"/>
              </a:ext>
            </a:extLst>
          </p:cNvPr>
          <p:cNvSpPr>
            <a:spLocks noGrp="1" noChangeArrowheads="1"/>
          </p:cNvSpPr>
          <p:nvPr>
            <p:ph idx="1"/>
          </p:nvPr>
        </p:nvSpPr>
        <p:spPr/>
        <p:txBody>
          <a:bodyPr/>
          <a:lstStyle/>
          <a:p>
            <a:pPr eaLnBrk="1" hangingPunct="1"/>
            <a:endParaRPr lang="en-US" altLang="zh-CN" sz="2400" dirty="0"/>
          </a:p>
          <a:p>
            <a:pPr eaLnBrk="1" hangingPunct="1"/>
            <a:r>
              <a:rPr lang="en-US" altLang="zh-CN" sz="2400" dirty="0"/>
              <a:t>1.</a:t>
            </a:r>
            <a:r>
              <a:rPr lang="zh-CN" altLang="en-US" sz="2400" dirty="0"/>
              <a:t>组织自行开发模式</a:t>
            </a:r>
            <a:endParaRPr lang="en-US" altLang="zh-CN" sz="2400" dirty="0"/>
          </a:p>
          <a:p>
            <a:pPr eaLnBrk="1" hangingPunct="1"/>
            <a:endParaRPr lang="zh-CN" altLang="en-US" sz="2400" dirty="0"/>
          </a:p>
          <a:p>
            <a:pPr eaLnBrk="1" hangingPunct="1"/>
            <a:r>
              <a:rPr lang="en-US" altLang="zh-CN" sz="2400" dirty="0"/>
              <a:t>2.</a:t>
            </a:r>
            <a:r>
              <a:rPr lang="zh-CN" altLang="en-US" sz="2400" dirty="0"/>
              <a:t>外购现成系统模式</a:t>
            </a:r>
            <a:endParaRPr lang="en-US" altLang="zh-CN" sz="2400" dirty="0"/>
          </a:p>
          <a:p>
            <a:pPr eaLnBrk="1" hangingPunct="1"/>
            <a:endParaRPr lang="zh-CN" altLang="en-US" sz="2400" dirty="0"/>
          </a:p>
          <a:p>
            <a:pPr eaLnBrk="1" hangingPunct="1"/>
            <a:r>
              <a:rPr lang="en-US" altLang="zh-CN" sz="2400" dirty="0"/>
              <a:t>3.</a:t>
            </a:r>
            <a:r>
              <a:rPr lang="zh-CN" altLang="en-US" sz="2400" dirty="0"/>
              <a:t>外包（</a:t>
            </a:r>
            <a:r>
              <a:rPr lang="en-US" altLang="zh-CN" sz="2400" dirty="0"/>
              <a:t>Outsourcing</a:t>
            </a:r>
            <a:r>
              <a:rPr lang="zh-CN" altLang="en-US" sz="2400" dirty="0"/>
              <a:t>）模式 </a:t>
            </a:r>
          </a:p>
        </p:txBody>
      </p:sp>
      <p:sp>
        <p:nvSpPr>
          <p:cNvPr id="35844" name="Rectangle 4">
            <a:extLst>
              <a:ext uri="{FF2B5EF4-FFF2-40B4-BE49-F238E27FC236}">
                <a16:creationId xmlns:a16="http://schemas.microsoft.com/office/drawing/2014/main" id="{DF70631C-A39C-41C3-B2F7-20E6D6E0AB3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5845" name="Line 5">
            <a:extLst>
              <a:ext uri="{FF2B5EF4-FFF2-40B4-BE49-F238E27FC236}">
                <a16:creationId xmlns:a16="http://schemas.microsoft.com/office/drawing/2014/main" id="{C159A565-E2FC-411D-8AEB-DD3CA153926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A097C93-4C3C-4396-84C5-0943FFB53034}"/>
              </a:ext>
            </a:extLst>
          </p:cNvPr>
          <p:cNvSpPr>
            <a:spLocks noGrp="1" noChangeArrowheads="1"/>
          </p:cNvSpPr>
          <p:nvPr>
            <p:ph type="title"/>
          </p:nvPr>
        </p:nvSpPr>
        <p:spPr/>
        <p:txBody>
          <a:bodyPr/>
          <a:lstStyle/>
          <a:p>
            <a:pPr eaLnBrk="1" hangingPunct="1"/>
            <a:r>
              <a:rPr lang="en-US" altLang="zh-CN" b="1"/>
              <a:t>2.2.3  </a:t>
            </a:r>
            <a:r>
              <a:rPr lang="zh-CN" altLang="en-US" b="1"/>
              <a:t>信息系统项目的建设方式</a:t>
            </a:r>
          </a:p>
        </p:txBody>
      </p:sp>
      <p:sp>
        <p:nvSpPr>
          <p:cNvPr id="37891" name="Rectangle 3">
            <a:extLst>
              <a:ext uri="{FF2B5EF4-FFF2-40B4-BE49-F238E27FC236}">
                <a16:creationId xmlns:a16="http://schemas.microsoft.com/office/drawing/2014/main" id="{12FA72CE-CA17-4E0B-8746-67E882CEDF2E}"/>
              </a:ext>
            </a:extLst>
          </p:cNvPr>
          <p:cNvSpPr>
            <a:spLocks noGrp="1" noChangeArrowheads="1"/>
          </p:cNvSpPr>
          <p:nvPr>
            <p:ph idx="1"/>
          </p:nvPr>
        </p:nvSpPr>
        <p:spPr/>
        <p:txBody>
          <a:bodyPr>
            <a:normAutofit/>
          </a:bodyPr>
          <a:lstStyle/>
          <a:p>
            <a:pPr eaLnBrk="1" hangingPunct="1"/>
            <a:r>
              <a:rPr lang="en-US" altLang="zh-CN" sz="2400" dirty="0"/>
              <a:t>1.</a:t>
            </a:r>
            <a:r>
              <a:rPr lang="zh-CN" altLang="en-US" sz="2400" dirty="0"/>
              <a:t>组织自行开发模式</a:t>
            </a:r>
          </a:p>
          <a:p>
            <a:pPr lvl="1" eaLnBrk="1" hangingPunct="1"/>
            <a:r>
              <a:rPr lang="zh-CN" altLang="en-US" sz="2400" dirty="0"/>
              <a:t>这种模式通常由组织内部自己组建信息化队伍，在采购成熟软硬件设备基础上，主要依靠组织自身力量从事信息系统建设 </a:t>
            </a:r>
          </a:p>
          <a:p>
            <a:pPr eaLnBrk="1" hangingPunct="1"/>
            <a:r>
              <a:rPr lang="zh-CN" altLang="en-US" sz="2400" dirty="0">
                <a:solidFill>
                  <a:srgbClr val="FF0000"/>
                </a:solidFill>
              </a:rPr>
              <a:t>优势</a:t>
            </a:r>
            <a:r>
              <a:rPr lang="zh-CN" altLang="en-US" sz="2400" dirty="0"/>
              <a:t>：组织能够控制其全过程，开发出的系统能够真实、充分的放映组织的实际业务需求。风险低，留有全部资料，后续维护比较简单。</a:t>
            </a:r>
            <a:endParaRPr lang="en-US" altLang="zh-CN" sz="2400" dirty="0"/>
          </a:p>
          <a:p>
            <a:pPr eaLnBrk="1" hangingPunct="1"/>
            <a:r>
              <a:rPr lang="zh-CN" altLang="en-US" sz="2400" dirty="0">
                <a:solidFill>
                  <a:srgbClr val="FF0000"/>
                </a:solidFill>
              </a:rPr>
              <a:t>问题</a:t>
            </a:r>
            <a:r>
              <a:rPr lang="zh-CN" altLang="en-US" sz="2400" dirty="0"/>
              <a:t>：</a:t>
            </a:r>
          </a:p>
          <a:p>
            <a:pPr lvl="1" eaLnBrk="1" hangingPunct="1"/>
            <a:r>
              <a:rPr lang="zh-CN" altLang="en-US" sz="2400" dirty="0"/>
              <a:t>（</a:t>
            </a:r>
            <a:r>
              <a:rPr lang="en-US" altLang="zh-CN" sz="2400" dirty="0"/>
              <a:t>1</a:t>
            </a:r>
            <a:r>
              <a:rPr lang="zh-CN" altLang="en-US" sz="2400" dirty="0"/>
              <a:t>）形成庞大的</a:t>
            </a:r>
            <a:r>
              <a:rPr lang="en-US" altLang="zh-CN" sz="2400" dirty="0"/>
              <a:t>IT</a:t>
            </a:r>
            <a:r>
              <a:rPr lang="zh-CN" altLang="en-US" sz="2400" dirty="0"/>
              <a:t>队伍</a:t>
            </a:r>
          </a:p>
          <a:p>
            <a:pPr lvl="1" eaLnBrk="1" hangingPunct="1"/>
            <a:r>
              <a:rPr lang="zh-CN" altLang="en-US" sz="2400" dirty="0"/>
              <a:t>（</a:t>
            </a:r>
            <a:r>
              <a:rPr lang="en-US" altLang="zh-CN" sz="2400" dirty="0"/>
              <a:t>2</a:t>
            </a:r>
            <a:r>
              <a:rPr lang="zh-CN" altLang="en-US" sz="2400" dirty="0"/>
              <a:t>）要靠组织自身的</a:t>
            </a:r>
            <a:r>
              <a:rPr lang="en-US" altLang="zh-CN" sz="2400" dirty="0"/>
              <a:t>IT</a:t>
            </a:r>
            <a:r>
              <a:rPr lang="zh-CN" altLang="en-US" sz="2400" dirty="0"/>
              <a:t>队伍跟上</a:t>
            </a:r>
            <a:r>
              <a:rPr lang="en-US" altLang="zh-CN" sz="2400" dirty="0"/>
              <a:t>IT</a:t>
            </a:r>
            <a:r>
              <a:rPr lang="zh-CN" altLang="en-US" sz="2400" dirty="0"/>
              <a:t>技术发展的潮流非常困难 </a:t>
            </a:r>
          </a:p>
        </p:txBody>
      </p:sp>
      <p:sp>
        <p:nvSpPr>
          <p:cNvPr id="37892" name="Rectangle 4">
            <a:extLst>
              <a:ext uri="{FF2B5EF4-FFF2-40B4-BE49-F238E27FC236}">
                <a16:creationId xmlns:a16="http://schemas.microsoft.com/office/drawing/2014/main" id="{0E990060-A933-4BD9-9E03-E5EB6A079E35}"/>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7893" name="Line 5">
            <a:extLst>
              <a:ext uri="{FF2B5EF4-FFF2-40B4-BE49-F238E27FC236}">
                <a16:creationId xmlns:a16="http://schemas.microsoft.com/office/drawing/2014/main" id="{08EA22F3-FE03-4FD7-9896-ED7DEF1383F2}"/>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89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BB145E3-BAF1-486F-8E73-B98213A5B45F}"/>
              </a:ext>
            </a:extLst>
          </p:cNvPr>
          <p:cNvSpPr>
            <a:spLocks noGrp="1" noChangeArrowheads="1"/>
          </p:cNvSpPr>
          <p:nvPr>
            <p:ph type="title"/>
          </p:nvPr>
        </p:nvSpPr>
        <p:spPr/>
        <p:txBody>
          <a:bodyPr/>
          <a:lstStyle/>
          <a:p>
            <a:pPr eaLnBrk="1" hangingPunct="1"/>
            <a:r>
              <a:rPr lang="en-US" altLang="zh-CN" b="1"/>
              <a:t>2.2.3  </a:t>
            </a:r>
            <a:r>
              <a:rPr lang="zh-CN" altLang="en-US" b="1"/>
              <a:t>信息系统项目的建设方式</a:t>
            </a:r>
          </a:p>
        </p:txBody>
      </p:sp>
      <p:sp>
        <p:nvSpPr>
          <p:cNvPr id="39939" name="Rectangle 3">
            <a:extLst>
              <a:ext uri="{FF2B5EF4-FFF2-40B4-BE49-F238E27FC236}">
                <a16:creationId xmlns:a16="http://schemas.microsoft.com/office/drawing/2014/main" id="{9CDB03A6-437D-4978-9A6B-7013C5BE80CB}"/>
              </a:ext>
            </a:extLst>
          </p:cNvPr>
          <p:cNvSpPr>
            <a:spLocks noGrp="1" noChangeArrowheads="1"/>
          </p:cNvSpPr>
          <p:nvPr>
            <p:ph idx="1"/>
          </p:nvPr>
        </p:nvSpPr>
        <p:spPr/>
        <p:txBody>
          <a:bodyPr/>
          <a:lstStyle/>
          <a:p>
            <a:pPr eaLnBrk="1" hangingPunct="1"/>
            <a:r>
              <a:rPr lang="en-US" altLang="zh-CN" sz="2400" dirty="0"/>
              <a:t>2.</a:t>
            </a:r>
            <a:r>
              <a:rPr lang="zh-CN" altLang="en-US" sz="2400" dirty="0"/>
              <a:t>外购现成系统模式</a:t>
            </a:r>
            <a:endParaRPr lang="en-US" altLang="zh-CN" sz="2400" dirty="0"/>
          </a:p>
          <a:p>
            <a:pPr eaLnBrk="1" hangingPunct="1"/>
            <a:endParaRPr lang="zh-CN" altLang="en-US" sz="2400" dirty="0"/>
          </a:p>
          <a:p>
            <a:pPr lvl="1" eaLnBrk="1" hangingPunct="1"/>
            <a:r>
              <a:rPr lang="zh-CN" altLang="en-US" sz="2400" dirty="0"/>
              <a:t>直接采购市场上成熟的商品软件 </a:t>
            </a:r>
          </a:p>
          <a:p>
            <a:pPr lvl="1" eaLnBrk="1" hangingPunct="1"/>
            <a:endParaRPr lang="en-US" altLang="zh-CN" sz="2400" dirty="0"/>
          </a:p>
          <a:p>
            <a:pPr lvl="1" eaLnBrk="1" hangingPunct="1"/>
            <a:r>
              <a:rPr lang="zh-CN" altLang="en-US" dirty="0">
                <a:solidFill>
                  <a:srgbClr val="FF0000"/>
                </a:solidFill>
              </a:rPr>
              <a:t>优势</a:t>
            </a:r>
            <a:r>
              <a:rPr lang="zh-CN" altLang="en-US" dirty="0"/>
              <a:t>：成熟稳定，质量有所保证，升级维护方面的支持比较及时，有利于组织信息系统的更新；</a:t>
            </a:r>
            <a:endParaRPr lang="en-US" altLang="zh-CN" dirty="0"/>
          </a:p>
          <a:p>
            <a:pPr lvl="1" eaLnBrk="1" hangingPunct="1"/>
            <a:r>
              <a:rPr lang="zh-CN" altLang="en-US" sz="2400" dirty="0">
                <a:solidFill>
                  <a:srgbClr val="FF0000"/>
                </a:solidFill>
              </a:rPr>
              <a:t>劣势</a:t>
            </a:r>
            <a:r>
              <a:rPr lang="zh-CN" altLang="en-US" sz="2400" dirty="0"/>
              <a:t>：商品软件追求销售数量，功能一般都会通用化，其功能无论在范围上还是在深度上都只能使组织的需求得到部分满足，系统的适应性可能比较差。不便于组织进行二次开发； </a:t>
            </a:r>
          </a:p>
        </p:txBody>
      </p:sp>
      <p:sp>
        <p:nvSpPr>
          <p:cNvPr id="39940" name="Rectangle 4">
            <a:extLst>
              <a:ext uri="{FF2B5EF4-FFF2-40B4-BE49-F238E27FC236}">
                <a16:creationId xmlns:a16="http://schemas.microsoft.com/office/drawing/2014/main" id="{2AB78CA5-6134-4A96-A8C4-48620DD621A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39941" name="Line 5">
            <a:extLst>
              <a:ext uri="{FF2B5EF4-FFF2-40B4-BE49-F238E27FC236}">
                <a16:creationId xmlns:a16="http://schemas.microsoft.com/office/drawing/2014/main" id="{A7262C26-D7D9-472C-955D-50FC54EB4F8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0516216-0544-490E-BCCE-723D3E8A5D46}"/>
              </a:ext>
            </a:extLst>
          </p:cNvPr>
          <p:cNvSpPr>
            <a:spLocks noGrp="1" noChangeArrowheads="1"/>
          </p:cNvSpPr>
          <p:nvPr>
            <p:ph type="title"/>
          </p:nvPr>
        </p:nvSpPr>
        <p:spPr/>
        <p:txBody>
          <a:bodyPr/>
          <a:lstStyle/>
          <a:p>
            <a:pPr eaLnBrk="1" hangingPunct="1"/>
            <a:r>
              <a:rPr lang="en-US" altLang="zh-CN" b="1"/>
              <a:t>2.2.3  </a:t>
            </a:r>
            <a:r>
              <a:rPr lang="zh-CN" altLang="en-US" b="1"/>
              <a:t>信息系统项目的建设方式</a:t>
            </a:r>
          </a:p>
        </p:txBody>
      </p:sp>
      <p:sp>
        <p:nvSpPr>
          <p:cNvPr id="41987" name="Rectangle 3">
            <a:extLst>
              <a:ext uri="{FF2B5EF4-FFF2-40B4-BE49-F238E27FC236}">
                <a16:creationId xmlns:a16="http://schemas.microsoft.com/office/drawing/2014/main" id="{F4C0D36C-DA24-4479-84C1-D5034855E8E9}"/>
              </a:ext>
            </a:extLst>
          </p:cNvPr>
          <p:cNvSpPr>
            <a:spLocks noGrp="1" noChangeArrowheads="1"/>
          </p:cNvSpPr>
          <p:nvPr>
            <p:ph idx="1"/>
          </p:nvPr>
        </p:nvSpPr>
        <p:spPr/>
        <p:txBody>
          <a:bodyPr/>
          <a:lstStyle/>
          <a:p>
            <a:pPr eaLnBrk="1" hangingPunct="1"/>
            <a:r>
              <a:rPr lang="en-US" altLang="zh-CN" sz="2400" dirty="0"/>
              <a:t>3.</a:t>
            </a:r>
            <a:r>
              <a:rPr lang="zh-CN" altLang="en-US" sz="2400" dirty="0"/>
              <a:t>外包（</a:t>
            </a:r>
            <a:r>
              <a:rPr lang="en-US" altLang="zh-CN" sz="2400" dirty="0"/>
              <a:t>Outsourcing</a:t>
            </a:r>
            <a:r>
              <a:rPr lang="zh-CN" altLang="en-US" sz="2400" dirty="0"/>
              <a:t>）模式 </a:t>
            </a:r>
            <a:endParaRPr lang="en-US" altLang="zh-CN" sz="2400" dirty="0"/>
          </a:p>
          <a:p>
            <a:pPr lvl="1"/>
            <a:r>
              <a:rPr lang="en-US" altLang="zh-CN" dirty="0"/>
              <a:t>IT</a:t>
            </a:r>
            <a:r>
              <a:rPr lang="zh-CN" altLang="en-US" dirty="0"/>
              <a:t>外包是指组织将部分或者全部的</a:t>
            </a:r>
            <a:r>
              <a:rPr lang="en-US" altLang="zh-CN" dirty="0"/>
              <a:t>IT</a:t>
            </a:r>
            <a:r>
              <a:rPr lang="zh-CN" altLang="en-US" dirty="0"/>
              <a:t>工作外包给专业性公司完成的服务模式；</a:t>
            </a:r>
          </a:p>
          <a:p>
            <a:pPr lvl="1" eaLnBrk="1" hangingPunct="1"/>
            <a:r>
              <a:rPr lang="zh-CN" altLang="en-US" sz="2400" dirty="0"/>
              <a:t>信息系统建设的外包是</a:t>
            </a:r>
            <a:r>
              <a:rPr lang="en-US" altLang="zh-CN" sz="2400" dirty="0"/>
              <a:t>IT</a:t>
            </a:r>
            <a:r>
              <a:rPr lang="zh-CN" altLang="en-US" sz="2400" dirty="0"/>
              <a:t>外包的一种主要形式，就是将信息系统项目的建设交给外部的专业的外包服务提供商完成。</a:t>
            </a:r>
          </a:p>
          <a:p>
            <a:pPr eaLnBrk="1" hangingPunct="1"/>
            <a:endParaRPr lang="en-US" altLang="zh-CN" sz="2400" dirty="0"/>
          </a:p>
          <a:p>
            <a:pPr eaLnBrk="1" hangingPunct="1"/>
            <a:r>
              <a:rPr lang="zh-CN" altLang="en-US" sz="2400" dirty="0"/>
              <a:t>信息系统建设外包一般包括三个连续的过程：</a:t>
            </a:r>
          </a:p>
          <a:p>
            <a:pPr lvl="1" eaLnBrk="1" hangingPunct="1"/>
            <a:r>
              <a:rPr lang="zh-CN" altLang="en-US" sz="2400" dirty="0"/>
              <a:t>外包的决策过程：即考虑是否外包，外包什么？</a:t>
            </a:r>
          </a:p>
          <a:p>
            <a:pPr lvl="1" eaLnBrk="1" hangingPunct="1"/>
            <a:r>
              <a:rPr lang="zh-CN" altLang="en-US" sz="2400" dirty="0"/>
              <a:t>外包商的选择过程</a:t>
            </a:r>
          </a:p>
          <a:p>
            <a:pPr lvl="1" eaLnBrk="1" hangingPunct="1"/>
            <a:r>
              <a:rPr lang="zh-CN" altLang="en-US" sz="2400" dirty="0"/>
              <a:t>外包商的管理过程</a:t>
            </a:r>
          </a:p>
        </p:txBody>
      </p:sp>
      <p:sp>
        <p:nvSpPr>
          <p:cNvPr id="41988" name="Rectangle 4">
            <a:extLst>
              <a:ext uri="{FF2B5EF4-FFF2-40B4-BE49-F238E27FC236}">
                <a16:creationId xmlns:a16="http://schemas.microsoft.com/office/drawing/2014/main" id="{25C87CC1-861B-4272-8E2A-DC4F4AEC8FA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1989" name="Line 5">
            <a:extLst>
              <a:ext uri="{FF2B5EF4-FFF2-40B4-BE49-F238E27FC236}">
                <a16:creationId xmlns:a16="http://schemas.microsoft.com/office/drawing/2014/main" id="{C9F75B20-F261-424D-951E-8600DE442FB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98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9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0516216-0544-490E-BCCE-723D3E8A5D46}"/>
              </a:ext>
            </a:extLst>
          </p:cNvPr>
          <p:cNvSpPr>
            <a:spLocks noGrp="1" noChangeArrowheads="1"/>
          </p:cNvSpPr>
          <p:nvPr>
            <p:ph type="title"/>
          </p:nvPr>
        </p:nvSpPr>
        <p:spPr/>
        <p:txBody>
          <a:bodyPr/>
          <a:lstStyle/>
          <a:p>
            <a:pPr eaLnBrk="1" hangingPunct="1"/>
            <a:r>
              <a:rPr lang="en-US" altLang="zh-CN" b="1"/>
              <a:t>2.2.3  </a:t>
            </a:r>
            <a:r>
              <a:rPr lang="zh-CN" altLang="en-US" b="1"/>
              <a:t>信息系统项目的建设方式</a:t>
            </a:r>
          </a:p>
        </p:txBody>
      </p:sp>
      <p:sp>
        <p:nvSpPr>
          <p:cNvPr id="41987" name="Rectangle 3">
            <a:extLst>
              <a:ext uri="{FF2B5EF4-FFF2-40B4-BE49-F238E27FC236}">
                <a16:creationId xmlns:a16="http://schemas.microsoft.com/office/drawing/2014/main" id="{F4C0D36C-DA24-4479-84C1-D5034855E8E9}"/>
              </a:ext>
            </a:extLst>
          </p:cNvPr>
          <p:cNvSpPr>
            <a:spLocks noGrp="1" noChangeArrowheads="1"/>
          </p:cNvSpPr>
          <p:nvPr>
            <p:ph idx="1"/>
          </p:nvPr>
        </p:nvSpPr>
        <p:spPr>
          <a:xfrm>
            <a:off x="539552" y="1484784"/>
            <a:ext cx="7886700" cy="4351338"/>
          </a:xfrm>
        </p:spPr>
        <p:txBody>
          <a:bodyPr/>
          <a:lstStyle/>
          <a:p>
            <a:pPr eaLnBrk="1" hangingPunct="1"/>
            <a:r>
              <a:rPr lang="zh-CN" altLang="en-US" sz="2400" dirty="0"/>
              <a:t>信息系统建设外包的原因：</a:t>
            </a:r>
            <a:endParaRPr lang="en-US" altLang="zh-CN" sz="2400" dirty="0"/>
          </a:p>
          <a:p>
            <a:pPr lvl="1" eaLnBrk="1" hangingPunct="1"/>
            <a:r>
              <a:rPr lang="en-US" altLang="zh-CN" dirty="0"/>
              <a:t>(1)</a:t>
            </a:r>
            <a:r>
              <a:rPr lang="zh-CN" altLang="en-US" dirty="0"/>
              <a:t>涉及战略优势的外包原因</a:t>
            </a:r>
            <a:endParaRPr lang="en-US" altLang="zh-CN" dirty="0"/>
          </a:p>
          <a:p>
            <a:pPr lvl="2"/>
            <a:r>
              <a:rPr lang="zh-CN" altLang="en-US" dirty="0"/>
              <a:t>企业可以通过有经验的外包服务商的帮助再造企业业务流程；</a:t>
            </a:r>
            <a:endParaRPr lang="en-US" altLang="zh-CN" dirty="0"/>
          </a:p>
          <a:p>
            <a:pPr lvl="1" eaLnBrk="1" hangingPunct="1"/>
            <a:r>
              <a:rPr lang="en-US" altLang="zh-CN" dirty="0"/>
              <a:t>(2)</a:t>
            </a:r>
            <a:r>
              <a:rPr lang="zh-CN" altLang="en-US" dirty="0"/>
              <a:t>涉及组织财务的动因；</a:t>
            </a:r>
            <a:endParaRPr lang="en-US" altLang="zh-CN" dirty="0"/>
          </a:p>
          <a:p>
            <a:pPr lvl="2"/>
            <a:r>
              <a:rPr lang="zh-CN" altLang="en-US" dirty="0"/>
              <a:t>外包可以一定程度上降低成本或者控制成本；</a:t>
            </a:r>
            <a:endParaRPr lang="en-US" altLang="zh-CN" dirty="0"/>
          </a:p>
          <a:p>
            <a:pPr lvl="1" eaLnBrk="1" hangingPunct="1"/>
            <a:r>
              <a:rPr lang="en-US" altLang="zh-CN" dirty="0"/>
              <a:t>(3)</a:t>
            </a:r>
            <a:r>
              <a:rPr lang="zh-CN" altLang="en-US" dirty="0"/>
              <a:t>获取先进的技术</a:t>
            </a:r>
            <a:endParaRPr lang="en-US" altLang="zh-CN" dirty="0"/>
          </a:p>
          <a:p>
            <a:pPr lvl="2"/>
            <a:r>
              <a:rPr lang="zh-CN" altLang="en-US" dirty="0"/>
              <a:t>外包服务商通常具有丰富的经验和特殊的才能，外包可以使组织使用前沿技术和技能，并从中获益去</a:t>
            </a:r>
          </a:p>
        </p:txBody>
      </p:sp>
      <p:sp>
        <p:nvSpPr>
          <p:cNvPr id="41988" name="Rectangle 4">
            <a:extLst>
              <a:ext uri="{FF2B5EF4-FFF2-40B4-BE49-F238E27FC236}">
                <a16:creationId xmlns:a16="http://schemas.microsoft.com/office/drawing/2014/main" id="{25C87CC1-861B-4272-8E2A-DC4F4AEC8FA3}"/>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1989" name="Line 5">
            <a:extLst>
              <a:ext uri="{FF2B5EF4-FFF2-40B4-BE49-F238E27FC236}">
                <a16:creationId xmlns:a16="http://schemas.microsoft.com/office/drawing/2014/main" id="{C9F75B20-F261-424D-951E-8600DE442FB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6741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98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01D8071-2EAB-456E-BF10-F5BA398C9F36}"/>
              </a:ext>
            </a:extLst>
          </p:cNvPr>
          <p:cNvSpPr>
            <a:spLocks noGrp="1" noChangeArrowheads="1"/>
          </p:cNvSpPr>
          <p:nvPr>
            <p:ph type="title"/>
          </p:nvPr>
        </p:nvSpPr>
        <p:spPr/>
        <p:txBody>
          <a:bodyPr/>
          <a:lstStyle/>
          <a:p>
            <a:pPr marL="838200" indent="-838200" algn="l" eaLnBrk="1" hangingPunct="1"/>
            <a:r>
              <a:rPr lang="en-US" altLang="zh-CN" sz="4000" b="1" dirty="0"/>
              <a:t>2.2.4  </a:t>
            </a:r>
            <a:r>
              <a:rPr lang="en-US" altLang="zh-CN" sz="4000" dirty="0"/>
              <a:t> </a:t>
            </a:r>
            <a:r>
              <a:rPr lang="zh-CN" altLang="en-US" sz="4000" b="1" dirty="0"/>
              <a:t>可行性研究报告的撰写</a:t>
            </a:r>
          </a:p>
        </p:txBody>
      </p:sp>
      <p:sp>
        <p:nvSpPr>
          <p:cNvPr id="44035" name="Rectangle 3">
            <a:extLst>
              <a:ext uri="{FF2B5EF4-FFF2-40B4-BE49-F238E27FC236}">
                <a16:creationId xmlns:a16="http://schemas.microsoft.com/office/drawing/2014/main" id="{B0BBD5CB-D02E-46C6-87DE-B24F43DC723D}"/>
              </a:ext>
            </a:extLst>
          </p:cNvPr>
          <p:cNvSpPr>
            <a:spLocks noGrp="1" noChangeArrowheads="1"/>
          </p:cNvSpPr>
          <p:nvPr>
            <p:ph idx="1"/>
          </p:nvPr>
        </p:nvSpPr>
        <p:spPr>
          <a:xfrm>
            <a:off x="307441" y="1412776"/>
            <a:ext cx="8229600" cy="4781550"/>
          </a:xfrm>
        </p:spPr>
        <p:txBody>
          <a:bodyPr/>
          <a:lstStyle/>
          <a:p>
            <a:pPr marL="0" indent="0" eaLnBrk="1" hangingPunct="1">
              <a:lnSpc>
                <a:spcPct val="80000"/>
              </a:lnSpc>
              <a:buNone/>
            </a:pPr>
            <a:r>
              <a:rPr lang="zh-CN" altLang="en-US" sz="2400" dirty="0"/>
              <a:t>在对一个拟建的信息系统项目进行上述的可行性研究步骤后，下一步需要编制</a:t>
            </a:r>
            <a:r>
              <a:rPr lang="zh-CN" altLang="en-US" sz="2400" dirty="0">
                <a:solidFill>
                  <a:srgbClr val="FF0000"/>
                </a:solidFill>
              </a:rPr>
              <a:t>可行性研究报告</a:t>
            </a:r>
            <a:r>
              <a:rPr lang="zh-CN" altLang="en-US" sz="2400" dirty="0"/>
              <a:t>。</a:t>
            </a:r>
            <a:endParaRPr lang="en-US" altLang="zh-CN" sz="2400" dirty="0"/>
          </a:p>
          <a:p>
            <a:pPr marL="457200" indent="-457200" eaLnBrk="1" hangingPunct="1">
              <a:lnSpc>
                <a:spcPct val="80000"/>
              </a:lnSpc>
            </a:pPr>
            <a:r>
              <a:rPr lang="zh-CN" altLang="en-US" sz="2400" dirty="0"/>
              <a:t>可行性分析报告包含以下主要内容：</a:t>
            </a:r>
          </a:p>
          <a:p>
            <a:pPr marL="838200" lvl="1" indent="-381000" eaLnBrk="1" hangingPunct="1">
              <a:lnSpc>
                <a:spcPct val="80000"/>
              </a:lnSpc>
              <a:buFontTx/>
              <a:buAutoNum type="circleNumDbPlain"/>
            </a:pPr>
            <a:r>
              <a:rPr lang="zh-CN" altLang="en-US" sz="2400" dirty="0"/>
              <a:t>现行系统的目标、功能、范围、关键信息需求及存在的主要问题。</a:t>
            </a:r>
          </a:p>
          <a:p>
            <a:pPr marL="838200" lvl="1" indent="-381000" eaLnBrk="1" hangingPunct="1">
              <a:lnSpc>
                <a:spcPct val="80000"/>
              </a:lnSpc>
              <a:buFontTx/>
              <a:buAutoNum type="circleNumDbPlain"/>
            </a:pPr>
            <a:r>
              <a:rPr lang="zh-CN" altLang="en-US" sz="2400" dirty="0"/>
              <a:t>拟建新系统的总体方案；总体方案至少提供两套，并对方案进行分析对比。</a:t>
            </a:r>
          </a:p>
          <a:p>
            <a:pPr marL="838200" lvl="1" indent="-381000" eaLnBrk="1" hangingPunct="1">
              <a:lnSpc>
                <a:spcPct val="80000"/>
              </a:lnSpc>
              <a:buFontTx/>
              <a:buAutoNum type="circleNumDbPlain"/>
            </a:pPr>
            <a:r>
              <a:rPr lang="zh-CN" altLang="en-US" sz="2400" dirty="0"/>
              <a:t>系统开发的分阶段投资计划与投资总额；系统正常运行后日常维护、材料消耗等方面的年费用投入；系统投运后所产生的经济与社会效益分析。</a:t>
            </a:r>
          </a:p>
          <a:p>
            <a:pPr marL="838200" lvl="1" indent="-381000" eaLnBrk="1" hangingPunct="1">
              <a:lnSpc>
                <a:spcPct val="80000"/>
              </a:lnSpc>
              <a:buFontTx/>
              <a:buAutoNum type="circleNumDbPlain"/>
            </a:pPr>
            <a:r>
              <a:rPr lang="zh-CN" altLang="en-US" sz="2400" dirty="0"/>
              <a:t>开发系统所具有的技术条件和对技术能力的评估。</a:t>
            </a:r>
          </a:p>
          <a:p>
            <a:pPr marL="838200" lvl="1" indent="-381000" eaLnBrk="1" hangingPunct="1">
              <a:lnSpc>
                <a:spcPct val="80000"/>
              </a:lnSpc>
              <a:buFontTx/>
              <a:buAutoNum type="circleNumDbPlain"/>
            </a:pPr>
            <a:r>
              <a:rPr lang="zh-CN" altLang="en-US" sz="2400" dirty="0"/>
              <a:t>系统环境的整改方案与整改计划，包括人员培训计划。</a:t>
            </a:r>
          </a:p>
          <a:p>
            <a:pPr marL="838200" lvl="1" indent="-381000" eaLnBrk="1" hangingPunct="1">
              <a:lnSpc>
                <a:spcPct val="80000"/>
              </a:lnSpc>
              <a:buFontTx/>
              <a:buAutoNum type="circleNumDbPlain"/>
            </a:pPr>
            <a:r>
              <a:rPr lang="zh-CN" altLang="en-US" sz="2400" dirty="0"/>
              <a:t>信息系统开发的结论意见，</a:t>
            </a:r>
            <a:r>
              <a:rPr lang="zh-CN" altLang="en-US" sz="2400" dirty="0">
                <a:solidFill>
                  <a:srgbClr val="FF0000"/>
                </a:solidFill>
              </a:rPr>
              <a:t>可行性报告必须提出明确的分析结论。 </a:t>
            </a:r>
          </a:p>
        </p:txBody>
      </p:sp>
      <p:sp>
        <p:nvSpPr>
          <p:cNvPr id="44036" name="Rectangle 4">
            <a:extLst>
              <a:ext uri="{FF2B5EF4-FFF2-40B4-BE49-F238E27FC236}">
                <a16:creationId xmlns:a16="http://schemas.microsoft.com/office/drawing/2014/main" id="{E7C275CE-D812-4C63-A279-03FD49F2B32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4037" name="Line 5">
            <a:extLst>
              <a:ext uri="{FF2B5EF4-FFF2-40B4-BE49-F238E27FC236}">
                <a16:creationId xmlns:a16="http://schemas.microsoft.com/office/drawing/2014/main" id="{EFA57425-EC63-4C28-8BF3-85F239D4EB1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03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03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03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03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0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4351338"/>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1. </a:t>
            </a:r>
            <a:r>
              <a:rPr lang="zh-CN" altLang="zh-CN" sz="2000" b="1" dirty="0"/>
              <a:t>引言</a:t>
            </a:r>
          </a:p>
          <a:p>
            <a:r>
              <a:rPr lang="en-US" altLang="zh-CN" sz="2000" b="1" dirty="0"/>
              <a:t>1.1 </a:t>
            </a:r>
            <a:r>
              <a:rPr lang="zh-CN" altLang="zh-CN" sz="2000" b="1" dirty="0"/>
              <a:t>编写目的</a:t>
            </a:r>
          </a:p>
          <a:p>
            <a:r>
              <a:rPr lang="zh-CN" altLang="zh-CN" sz="2000" dirty="0"/>
              <a:t>说明编写本可行性研究报告的目的。</a:t>
            </a:r>
          </a:p>
          <a:p>
            <a:r>
              <a:rPr lang="en-US" altLang="zh-CN" sz="2000" b="1" dirty="0"/>
              <a:t>1.2 </a:t>
            </a:r>
            <a:r>
              <a:rPr lang="zh-CN" altLang="zh-CN" sz="2000" b="1" dirty="0"/>
              <a:t>背景</a:t>
            </a:r>
          </a:p>
          <a:p>
            <a:r>
              <a:rPr lang="zh-CN" altLang="zh-CN" sz="2000" dirty="0"/>
              <a:t>说明：</a:t>
            </a:r>
            <a:r>
              <a:rPr lang="en-US" altLang="zh-CN" sz="2000" dirty="0"/>
              <a:t>A. </a:t>
            </a:r>
            <a:r>
              <a:rPr lang="zh-CN" altLang="zh-CN" sz="2000" dirty="0"/>
              <a:t>所建议建设的信息系统的名称；</a:t>
            </a:r>
            <a:r>
              <a:rPr lang="en-US" altLang="zh-CN" sz="2000" dirty="0"/>
              <a:t>B. </a:t>
            </a:r>
            <a:r>
              <a:rPr lang="zh-CN" altLang="zh-CN" sz="2000" dirty="0"/>
              <a:t>本项目的任务提出者、建设者、用户；</a:t>
            </a:r>
            <a:r>
              <a:rPr lang="en-US" altLang="zh-CN" sz="2000" dirty="0"/>
              <a:t>C. </a:t>
            </a:r>
            <a:r>
              <a:rPr lang="zh-CN" altLang="zh-CN" sz="2000" dirty="0"/>
              <a:t>该信息系统同其他系统或其他机构的基本的相互来往关系。</a:t>
            </a:r>
          </a:p>
          <a:p>
            <a:r>
              <a:rPr lang="en-US" altLang="zh-CN" sz="2000" b="1" dirty="0"/>
              <a:t>1.3 </a:t>
            </a:r>
            <a:r>
              <a:rPr lang="zh-CN" altLang="zh-CN" sz="2000" b="1" dirty="0"/>
              <a:t>定义</a:t>
            </a:r>
          </a:p>
          <a:p>
            <a:r>
              <a:rPr lang="zh-CN" altLang="zh-CN" sz="2000" dirty="0"/>
              <a:t>列出本文件中用到的专门术语的定义和外文首字母组词的原词组。</a:t>
            </a:r>
          </a:p>
          <a:p>
            <a:r>
              <a:rPr lang="en-US" altLang="zh-CN" sz="2000" b="1" dirty="0"/>
              <a:t>1.4 </a:t>
            </a:r>
            <a:r>
              <a:rPr lang="zh-CN" altLang="zh-CN" sz="2000" b="1" dirty="0"/>
              <a:t>参考资料</a:t>
            </a:r>
          </a:p>
          <a:p>
            <a:r>
              <a:rPr lang="zh-CN" altLang="zh-CN" sz="2000" dirty="0"/>
              <a:t>列出用得着的参考资料，如：</a:t>
            </a:r>
            <a:r>
              <a:rPr lang="en-US" altLang="zh-CN" sz="2000" dirty="0"/>
              <a:t>(1) </a:t>
            </a:r>
            <a:r>
              <a:rPr lang="zh-CN" altLang="zh-CN" sz="2000" dirty="0"/>
              <a:t>本项目的经核准的计划任务书或合同、上级机关的批文；</a:t>
            </a:r>
            <a:r>
              <a:rPr lang="en-US" altLang="zh-CN" sz="2000" dirty="0"/>
              <a:t>(2) </a:t>
            </a:r>
            <a:r>
              <a:rPr lang="zh-CN" altLang="zh-CN" sz="2000" dirty="0"/>
              <a:t>属于本项目的其他已发表的文件；</a:t>
            </a:r>
            <a:r>
              <a:rPr lang="en-US" altLang="zh-CN" sz="2000" dirty="0"/>
              <a:t>(3) </a:t>
            </a:r>
            <a:r>
              <a:rPr lang="zh-CN" altLang="zh-CN" sz="2000" dirty="0"/>
              <a:t>本文件中各处引用的文件、资料，包括所需用到的信息系统开发标准。列出这些文件资料的标题、文件编号、发表日期和出版单位，说明能够得到这些文件资料的来源。</a:t>
            </a:r>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409407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79"/>
            <a:ext cx="7886700" cy="5616623"/>
          </a:xfrm>
        </p:spPr>
        <p:txBody>
          <a:bodyPr>
            <a:noAutofit/>
          </a:bodyPr>
          <a:lstStyle/>
          <a:p>
            <a:pPr marL="0" indent="0" algn="just" eaLnBrk="1" hangingPunct="1">
              <a:buNone/>
            </a:pPr>
            <a:r>
              <a:rPr lang="zh-CN" altLang="en-US" sz="2400" dirty="0"/>
              <a:t>可行性研究报告内容框架：</a:t>
            </a:r>
          </a:p>
          <a:p>
            <a:r>
              <a:rPr lang="en-US" altLang="zh-CN" sz="2000" b="1" dirty="0"/>
              <a:t>2. </a:t>
            </a:r>
            <a:r>
              <a:rPr lang="zh-CN" altLang="en-US" sz="2000" b="1" dirty="0"/>
              <a:t>可行性研究的前提</a:t>
            </a:r>
          </a:p>
          <a:p>
            <a:r>
              <a:rPr lang="zh-CN" altLang="en-US" sz="2000" dirty="0"/>
              <a:t>说明对所建议的项目进行可行性研究的前提，如要求、目标、条件、假定、限制等。</a:t>
            </a:r>
          </a:p>
          <a:p>
            <a:r>
              <a:rPr lang="en-US" altLang="zh-CN" sz="2000" b="1" dirty="0"/>
              <a:t>2.1 </a:t>
            </a:r>
            <a:r>
              <a:rPr lang="zh-CN" altLang="en-US" sz="2000" b="1" dirty="0"/>
              <a:t>要求</a:t>
            </a:r>
          </a:p>
          <a:p>
            <a:r>
              <a:rPr lang="zh-CN" altLang="en-US" sz="2000" dirty="0"/>
              <a:t>说明对所建议开发的系统的基本要求，例如：</a:t>
            </a:r>
            <a:r>
              <a:rPr lang="en-US" altLang="zh-CN" sz="2000" dirty="0"/>
              <a:t>"A. </a:t>
            </a:r>
            <a:r>
              <a:rPr lang="zh-CN" altLang="en-US" sz="2000" dirty="0"/>
              <a:t>功能；</a:t>
            </a:r>
            <a:r>
              <a:rPr lang="en-US" altLang="zh-CN" sz="2000" dirty="0"/>
              <a:t>B. </a:t>
            </a:r>
            <a:r>
              <a:rPr lang="zh-CN" altLang="en-US" sz="2000" dirty="0"/>
              <a:t>性能；</a:t>
            </a:r>
            <a:r>
              <a:rPr lang="en-US" altLang="zh-CN" sz="2000" dirty="0"/>
              <a:t>C. </a:t>
            </a:r>
            <a:r>
              <a:rPr lang="zh-CN" altLang="en-US" sz="2000" dirty="0"/>
              <a:t>输出（如报告、文件或数据，对每项输出要说明其特征，如用途、产生频度、接口以及分发对象）；</a:t>
            </a:r>
            <a:r>
              <a:rPr lang="en-US" altLang="zh-CN" sz="2000" dirty="0"/>
              <a:t>D. </a:t>
            </a:r>
            <a:r>
              <a:rPr lang="zh-CN" altLang="en-US" sz="2000" dirty="0"/>
              <a:t>输入（说明系统的输入，包括数据的来源、类型、数量、数据的组织以及提供的频度）；</a:t>
            </a:r>
            <a:r>
              <a:rPr lang="en-US" altLang="zh-CN" sz="2000" dirty="0"/>
              <a:t>E. </a:t>
            </a:r>
            <a:r>
              <a:rPr lang="zh-CN" altLang="en-US" sz="2000" dirty="0"/>
              <a:t>处理（处理流程和数据流程用图表的方式表示出最基本的数据流程和处理流程，并辅之以叙述）；</a:t>
            </a:r>
            <a:r>
              <a:rPr lang="en-US" altLang="zh-CN" sz="2000" dirty="0"/>
              <a:t>F. </a:t>
            </a:r>
            <a:r>
              <a:rPr lang="zh-CN" altLang="en-US" sz="2000" dirty="0"/>
              <a:t>在安全与保密方面的要求；</a:t>
            </a:r>
            <a:r>
              <a:rPr lang="en-US" altLang="zh-CN" sz="2000" dirty="0"/>
              <a:t>G. </a:t>
            </a:r>
            <a:r>
              <a:rPr lang="zh-CN" altLang="en-US" sz="2000" dirty="0"/>
              <a:t>同本系统相连接的其他系统；</a:t>
            </a:r>
            <a:r>
              <a:rPr lang="en-US" altLang="zh-CN" sz="2000" dirty="0"/>
              <a:t>H. </a:t>
            </a:r>
            <a:r>
              <a:rPr lang="zh-CN" altLang="en-US" sz="2000" dirty="0"/>
              <a:t>完成期限。</a:t>
            </a:r>
            <a:r>
              <a:rPr lang="en-US" altLang="zh-CN" sz="2000" dirty="0"/>
              <a:t>"</a:t>
            </a:r>
          </a:p>
          <a:p>
            <a:r>
              <a:rPr lang="en-US" altLang="zh-CN" sz="2000" b="1" dirty="0"/>
              <a:t>2.2 </a:t>
            </a:r>
            <a:r>
              <a:rPr lang="zh-CN" altLang="en-US" sz="2000" b="1" dirty="0"/>
              <a:t>目标</a:t>
            </a:r>
          </a:p>
          <a:p>
            <a:r>
              <a:rPr lang="zh-CN" altLang="en-US" sz="2000" dirty="0"/>
              <a:t>说明所建议系统的主要目标，例如：</a:t>
            </a:r>
            <a:r>
              <a:rPr lang="en-US" altLang="zh-CN" sz="2000" dirty="0"/>
              <a:t>"A. </a:t>
            </a:r>
            <a:r>
              <a:rPr lang="zh-CN" altLang="en-US" sz="2000" dirty="0"/>
              <a:t>人力与设备费用的减少；</a:t>
            </a:r>
            <a:r>
              <a:rPr lang="en-US" altLang="zh-CN" sz="2000" dirty="0"/>
              <a:t>B. </a:t>
            </a:r>
            <a:r>
              <a:rPr lang="zh-CN" altLang="en-US" sz="2000" dirty="0"/>
              <a:t>处理速度的提高；</a:t>
            </a:r>
            <a:r>
              <a:rPr lang="en-US" altLang="zh-CN" sz="2000" dirty="0"/>
              <a:t>C. </a:t>
            </a:r>
            <a:r>
              <a:rPr lang="zh-CN" altLang="en-US" sz="2000" dirty="0"/>
              <a:t>控制精度或生产能力的提高；</a:t>
            </a:r>
            <a:r>
              <a:rPr lang="en-US" altLang="zh-CN" sz="2000" dirty="0"/>
              <a:t>D. </a:t>
            </a:r>
            <a:r>
              <a:rPr lang="zh-CN" altLang="en-US" sz="2000" dirty="0"/>
              <a:t>管理信息服务的改进；</a:t>
            </a:r>
            <a:r>
              <a:rPr lang="en-US" altLang="zh-CN" sz="2000" dirty="0"/>
              <a:t>E. </a:t>
            </a:r>
            <a:r>
              <a:rPr lang="zh-CN" altLang="en-US" sz="2000" dirty="0"/>
              <a:t>自动决策系统的改进；</a:t>
            </a:r>
            <a:r>
              <a:rPr lang="en-US" altLang="zh-CN" sz="2000" dirty="0"/>
              <a:t>F. </a:t>
            </a:r>
            <a:r>
              <a:rPr lang="zh-CN" altLang="en-US" sz="2000" dirty="0"/>
              <a:t>人员利用率的改进等。</a:t>
            </a:r>
            <a:r>
              <a:rPr lang="en-US" altLang="zh-CN" sz="2000" dirty="0"/>
              <a:t>"</a:t>
            </a:r>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123603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79"/>
            <a:ext cx="7886700" cy="5256581"/>
          </a:xfrm>
        </p:spPr>
        <p:txBody>
          <a:bodyPr>
            <a:noAutofit/>
          </a:bodyPr>
          <a:lstStyle/>
          <a:p>
            <a:pPr marL="0" indent="0" algn="just" eaLnBrk="1" hangingPunct="1">
              <a:buNone/>
            </a:pPr>
            <a:r>
              <a:rPr lang="zh-CN" altLang="en-US" sz="2400" dirty="0"/>
              <a:t>可行性研究报告内容框架：</a:t>
            </a:r>
          </a:p>
          <a:p>
            <a:r>
              <a:rPr lang="en-US" altLang="zh-CN" sz="2000" b="1" dirty="0"/>
              <a:t>2. </a:t>
            </a:r>
            <a:r>
              <a:rPr lang="zh-CN" altLang="en-US" sz="2000" b="1" dirty="0"/>
              <a:t>可行性研究的前提</a:t>
            </a:r>
          </a:p>
          <a:p>
            <a:r>
              <a:rPr lang="en-US" altLang="zh-CN" sz="2000" b="1" dirty="0"/>
              <a:t>2.3 </a:t>
            </a:r>
            <a:r>
              <a:rPr lang="zh-CN" altLang="en-US" sz="2000" b="1" dirty="0"/>
              <a:t>条件、假定和限制</a:t>
            </a:r>
          </a:p>
          <a:p>
            <a:r>
              <a:rPr lang="zh-CN" altLang="en-US" sz="2000" dirty="0"/>
              <a:t>说明该项目建设的条件、假定和所受到的限制，例如：</a:t>
            </a:r>
            <a:r>
              <a:rPr lang="en-US" altLang="zh-CN" sz="2000" dirty="0"/>
              <a:t>"A. </a:t>
            </a:r>
            <a:r>
              <a:rPr lang="zh-CN" altLang="en-US" sz="2000" dirty="0"/>
              <a:t>所建议系统的运行寿命的最小值；</a:t>
            </a:r>
            <a:r>
              <a:rPr lang="en-US" altLang="zh-CN" sz="2000" dirty="0"/>
              <a:t>B. </a:t>
            </a:r>
            <a:r>
              <a:rPr lang="zh-CN" altLang="en-US" sz="2000" dirty="0"/>
              <a:t>进行系统方案选择比较的时间；</a:t>
            </a:r>
            <a:r>
              <a:rPr lang="en-US" altLang="zh-CN" sz="2000" dirty="0"/>
              <a:t>C. </a:t>
            </a:r>
            <a:r>
              <a:rPr lang="zh-CN" altLang="en-US" sz="2000" dirty="0"/>
              <a:t>经费、投资方面的来源和限制；</a:t>
            </a:r>
            <a:r>
              <a:rPr lang="en-US" altLang="zh-CN" sz="2000" dirty="0"/>
              <a:t>D. </a:t>
            </a:r>
            <a:r>
              <a:rPr lang="zh-CN" altLang="en-US" sz="2000" dirty="0"/>
              <a:t>法律和政策方面的限制；</a:t>
            </a:r>
            <a:r>
              <a:rPr lang="en-US" altLang="zh-CN" sz="2000" dirty="0"/>
              <a:t>E. </a:t>
            </a:r>
            <a:r>
              <a:rPr lang="zh-CN" altLang="en-US" sz="2000" dirty="0"/>
              <a:t>硬件、软件、运行环境和开发环境方面的条件和限制；</a:t>
            </a:r>
            <a:r>
              <a:rPr lang="en-US" altLang="zh-CN" sz="2000" dirty="0"/>
              <a:t>F. </a:t>
            </a:r>
            <a:r>
              <a:rPr lang="zh-CN" altLang="en-US" sz="2000" dirty="0"/>
              <a:t>可利用的信息和资源；</a:t>
            </a:r>
            <a:r>
              <a:rPr lang="en-US" altLang="zh-CN" sz="2000" dirty="0"/>
              <a:t>G. </a:t>
            </a:r>
            <a:r>
              <a:rPr lang="zh-CN" altLang="en-US" sz="2000" dirty="0"/>
              <a:t>系统投入使用的最晚时间。</a:t>
            </a:r>
            <a:r>
              <a:rPr lang="en-US" altLang="zh-CN" sz="2000" dirty="0"/>
              <a:t>"</a:t>
            </a:r>
          </a:p>
          <a:p>
            <a:r>
              <a:rPr lang="en-US" altLang="zh-CN" sz="2000" b="1" dirty="0"/>
              <a:t>2.4 </a:t>
            </a:r>
            <a:r>
              <a:rPr lang="zh-CN" altLang="en-US" sz="2000" b="1" dirty="0"/>
              <a:t>进行可行性研究的方法</a:t>
            </a:r>
          </a:p>
          <a:p>
            <a:r>
              <a:rPr lang="zh-CN" altLang="en-US" sz="2000" dirty="0"/>
              <a:t>说明这项可行性研究将是如何进行的，所建议的系统将是如何评价的。摘要说明所使用的基本方法和策略，如调查、加权、确定模型、建立基准点或仿真等。</a:t>
            </a:r>
          </a:p>
          <a:p>
            <a:r>
              <a:rPr lang="en-US" altLang="zh-CN" sz="2000" b="1" dirty="0"/>
              <a:t>2.5 </a:t>
            </a:r>
            <a:r>
              <a:rPr lang="zh-CN" altLang="en-US" sz="2000" b="1" dirty="0"/>
              <a:t>评价尺度</a:t>
            </a:r>
          </a:p>
          <a:p>
            <a:r>
              <a:rPr lang="zh-CN" altLang="en-US" sz="2000" dirty="0"/>
              <a:t>说明对系统进行评价时所使用的主要尺度，比如费用的多少、各项功能的优先次序、开发时间的长短及使用中的难易程度。</a:t>
            </a:r>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034628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4351338"/>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3. </a:t>
            </a:r>
            <a:r>
              <a:rPr lang="zh-CN" altLang="en-US" sz="2000" b="1" dirty="0"/>
              <a:t>对现有系统的分析</a:t>
            </a:r>
          </a:p>
          <a:p>
            <a:r>
              <a:rPr lang="zh-CN" altLang="en-US" sz="2000" dirty="0"/>
              <a:t>这里的现有系统是指当前实际使用的系统，这个系统可能是计算机系统，也可能是一个机械系统甚至是一个人工系统。分析现有系统的目的是为了进一步阐明建议中的新系统或修改现有系统的必要性。</a:t>
            </a:r>
          </a:p>
          <a:p>
            <a:r>
              <a:rPr lang="en-US" altLang="zh-CN" sz="2000" b="1" dirty="0"/>
              <a:t>3.1 </a:t>
            </a:r>
            <a:r>
              <a:rPr lang="zh-CN" altLang="en-US" sz="2000" b="1" dirty="0"/>
              <a:t>处理流程和数据流程</a:t>
            </a:r>
          </a:p>
          <a:p>
            <a:r>
              <a:rPr lang="zh-CN" altLang="en-US" sz="2000" dirty="0"/>
              <a:t>说明现有系统的基本的处理流程和数据流程。此流程可用图表即流程图的形式表示，并加以叙述。</a:t>
            </a:r>
          </a:p>
          <a:p>
            <a:r>
              <a:rPr lang="en-US" altLang="zh-CN" sz="2000" b="1" dirty="0"/>
              <a:t>3.2 </a:t>
            </a:r>
            <a:r>
              <a:rPr lang="zh-CN" altLang="en-US" sz="2000" b="1" dirty="0"/>
              <a:t>工作负荷</a:t>
            </a:r>
          </a:p>
          <a:p>
            <a:r>
              <a:rPr lang="zh-CN" altLang="en-US" sz="2000" dirty="0"/>
              <a:t>列出现有系统所承担的工作及工作量。</a:t>
            </a:r>
          </a:p>
          <a:p>
            <a:r>
              <a:rPr lang="en-US" altLang="zh-CN" sz="2000" b="1" dirty="0"/>
              <a:t>3.3 </a:t>
            </a:r>
            <a:r>
              <a:rPr lang="zh-CN" altLang="en-US" sz="2000" b="1" dirty="0"/>
              <a:t>费用开支</a:t>
            </a:r>
          </a:p>
          <a:p>
            <a:r>
              <a:rPr lang="zh-CN" altLang="en-US" sz="2000" dirty="0"/>
              <a:t>列出由于运行现有系统所引起的费用开支，如人力、设备、空间、支持性服务、材料等项开支以及开支总额。</a:t>
            </a:r>
          </a:p>
          <a:p>
            <a:pPr marL="0" indent="0">
              <a:buNone/>
            </a:pPr>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026436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3.4 </a:t>
            </a:r>
            <a:r>
              <a:rPr lang="zh-CN" altLang="en-US" sz="2000" b="1" dirty="0"/>
              <a:t>人员</a:t>
            </a:r>
          </a:p>
          <a:p>
            <a:r>
              <a:rPr lang="zh-CN" altLang="en-US" sz="2000" dirty="0"/>
              <a:t>列出为了现有系统的运行和维护所需要的人员的专业技术类别和数量。</a:t>
            </a:r>
          </a:p>
          <a:p>
            <a:r>
              <a:rPr lang="en-US" altLang="zh-CN" sz="2000" b="1" dirty="0"/>
              <a:t>3.5 </a:t>
            </a:r>
            <a:r>
              <a:rPr lang="zh-CN" altLang="en-US" sz="2000" b="1" dirty="0"/>
              <a:t>设备</a:t>
            </a:r>
          </a:p>
          <a:p>
            <a:r>
              <a:rPr lang="zh-CN" altLang="en-US" sz="2000" dirty="0"/>
              <a:t>列出现有系统所使用的各种设备。</a:t>
            </a:r>
          </a:p>
          <a:p>
            <a:r>
              <a:rPr lang="en-US" altLang="zh-CN" sz="2000" b="1" dirty="0"/>
              <a:t>3.6 </a:t>
            </a:r>
            <a:r>
              <a:rPr lang="zh-CN" altLang="en-US" sz="2000" b="1" dirty="0"/>
              <a:t>局限性</a:t>
            </a:r>
          </a:p>
          <a:p>
            <a:r>
              <a:rPr lang="zh-CN" altLang="en-US" sz="2000" dirty="0"/>
              <a:t>列出本系统的主要的局限性，例如处理时间赶不上需要，响应不及时，数据存储能力不足，处理功能不够等。并且要说明，为什么对现有系统的改进性维护已经不能解决问题。</a:t>
            </a:r>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809274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79"/>
            <a:ext cx="7886700" cy="4176459"/>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4. </a:t>
            </a:r>
            <a:r>
              <a:rPr lang="zh-CN" altLang="en-US" sz="2000" b="1" dirty="0"/>
              <a:t>所建议的系统</a:t>
            </a:r>
          </a:p>
          <a:p>
            <a:r>
              <a:rPr lang="zh-CN" altLang="en-US" sz="2000" dirty="0"/>
              <a:t>说明所建议系统的目标和要求将如何被满足。</a:t>
            </a:r>
          </a:p>
          <a:p>
            <a:r>
              <a:rPr lang="en-US" altLang="zh-CN" sz="2000" b="1" dirty="0"/>
              <a:t>4.1 </a:t>
            </a:r>
            <a:r>
              <a:rPr lang="zh-CN" altLang="en-US" sz="2000" b="1" dirty="0"/>
              <a:t>对所建议系统的说明</a:t>
            </a:r>
          </a:p>
          <a:p>
            <a:r>
              <a:rPr lang="zh-CN" altLang="en-US" sz="2000" dirty="0"/>
              <a:t>概括地说明所建议系统，并说明在可行性报告第</a:t>
            </a:r>
            <a:r>
              <a:rPr lang="en-US" altLang="zh-CN" sz="2000" dirty="0"/>
              <a:t>2</a:t>
            </a:r>
            <a:r>
              <a:rPr lang="zh-CN" altLang="en-US" sz="2000" dirty="0"/>
              <a:t>部分中列出的那些要求将如何得到满足，说明所使用的基本方法及理论依据。</a:t>
            </a:r>
          </a:p>
          <a:p>
            <a:r>
              <a:rPr lang="en-US" altLang="zh-CN" sz="2000" b="1" dirty="0"/>
              <a:t>4.2 </a:t>
            </a:r>
            <a:r>
              <a:rPr lang="zh-CN" altLang="en-US" sz="2000" b="1" dirty="0"/>
              <a:t>处理流程和数据流程</a:t>
            </a:r>
          </a:p>
          <a:p>
            <a:r>
              <a:rPr lang="zh-CN" altLang="en-US" sz="2000" dirty="0"/>
              <a:t>给出所建议系统的处理流程和数据流程。</a:t>
            </a:r>
          </a:p>
          <a:p>
            <a:r>
              <a:rPr lang="en-US" altLang="zh-CN" sz="2000" b="1" dirty="0"/>
              <a:t>4.3 </a:t>
            </a:r>
            <a:r>
              <a:rPr lang="zh-CN" altLang="en-US" sz="2000" b="1" dirty="0"/>
              <a:t>改进之处</a:t>
            </a:r>
          </a:p>
          <a:p>
            <a:r>
              <a:rPr lang="zh-CN" altLang="en-US" sz="2000" dirty="0"/>
              <a:t>按</a:t>
            </a:r>
            <a:r>
              <a:rPr lang="en-US" altLang="zh-CN" sz="2000" dirty="0"/>
              <a:t>2.2</a:t>
            </a:r>
            <a:r>
              <a:rPr lang="zh-CN" altLang="en-US" sz="2000" dirty="0"/>
              <a:t>条中列出的目标，逐项说明所建议系统相对于现存系统具有的改进。</a:t>
            </a:r>
          </a:p>
          <a:p>
            <a:pPr marL="0" indent="0">
              <a:buNone/>
            </a:pPr>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785849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4.4 </a:t>
            </a:r>
            <a:r>
              <a:rPr lang="zh-CN" altLang="en-US" sz="2000" b="1" dirty="0"/>
              <a:t>影响</a:t>
            </a:r>
          </a:p>
          <a:p>
            <a:r>
              <a:rPr lang="zh-CN" altLang="en-US" sz="2000" dirty="0"/>
              <a:t>说明在建立所建议系统时，预期将带来的影响。</a:t>
            </a:r>
          </a:p>
          <a:p>
            <a:r>
              <a:rPr lang="en-US" altLang="zh-CN" sz="2000" b="1" dirty="0"/>
              <a:t>4.5 </a:t>
            </a:r>
            <a:r>
              <a:rPr lang="zh-CN" altLang="en-US" sz="2000" b="1" dirty="0"/>
              <a:t>局限性</a:t>
            </a:r>
          </a:p>
          <a:p>
            <a:r>
              <a:rPr lang="zh-CN" altLang="en-US" sz="2000" dirty="0"/>
              <a:t>说明所建议系统尚存在的局限性以及这些问题未能消除的原因。</a:t>
            </a:r>
          </a:p>
          <a:p>
            <a:r>
              <a:rPr lang="en-US" altLang="zh-CN" sz="2000" b="1" dirty="0"/>
              <a:t>4.6 </a:t>
            </a:r>
            <a:r>
              <a:rPr lang="zh-CN" altLang="en-US" sz="2000" b="1" dirty="0"/>
              <a:t>技术条件方面的可行性</a:t>
            </a:r>
          </a:p>
          <a:p>
            <a:r>
              <a:rPr lang="zh-CN" altLang="en-US" sz="2000" dirty="0"/>
              <a:t>本节应说明技术条件方面的可行性，例如：</a:t>
            </a:r>
            <a:r>
              <a:rPr lang="en-US" altLang="zh-CN" sz="2000" dirty="0"/>
              <a:t>A. </a:t>
            </a:r>
            <a:r>
              <a:rPr lang="zh-CN" altLang="en-US" sz="2000" dirty="0"/>
              <a:t>在当前的限制条件下，该系统的功能目标能否达到；</a:t>
            </a:r>
            <a:r>
              <a:rPr lang="en-US" altLang="zh-CN" sz="2000" dirty="0"/>
              <a:t>B. </a:t>
            </a:r>
            <a:r>
              <a:rPr lang="zh-CN" altLang="en-US" sz="2000" dirty="0"/>
              <a:t>利用现有的技术，该系统的功能能否实现；</a:t>
            </a:r>
            <a:r>
              <a:rPr lang="en-US" altLang="zh-CN" sz="2000" dirty="0"/>
              <a:t>C. </a:t>
            </a:r>
            <a:r>
              <a:rPr lang="zh-CN" altLang="en-US" sz="2000" dirty="0"/>
              <a:t>对建设人员的数量和质量的要求并说明这些要求能否满足；</a:t>
            </a:r>
            <a:r>
              <a:rPr lang="en-US" altLang="zh-CN" sz="2000" dirty="0"/>
              <a:t>D. </a:t>
            </a:r>
            <a:r>
              <a:rPr lang="zh-CN" altLang="en-US" sz="2000" dirty="0"/>
              <a:t>在规定的期限内，本系统的建设能否完成。</a:t>
            </a:r>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609565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5. </a:t>
            </a:r>
            <a:r>
              <a:rPr lang="zh-CN" altLang="en-US" sz="2000" b="1" dirty="0"/>
              <a:t>可选择的其他系统方案</a:t>
            </a:r>
          </a:p>
          <a:p>
            <a:r>
              <a:rPr lang="zh-CN" altLang="en-US" sz="2000" dirty="0"/>
              <a:t>扼要说明曾考虑过的每一种可选择的系统方案，包括需建设的、可从国内国外直接购买的或外包的，如果没有供选择的系统方案可考虑，则说明这一点。</a:t>
            </a:r>
          </a:p>
          <a:p>
            <a:r>
              <a:rPr lang="en-US" altLang="zh-CN" sz="2000" b="1" dirty="0"/>
              <a:t>5.1 </a:t>
            </a:r>
            <a:r>
              <a:rPr lang="zh-CN" altLang="en-US" sz="2000" b="1" dirty="0"/>
              <a:t>可选择的系统方案</a:t>
            </a:r>
            <a:r>
              <a:rPr lang="en-US" altLang="zh-CN" sz="2000" b="1" dirty="0"/>
              <a:t>1</a:t>
            </a:r>
          </a:p>
          <a:p>
            <a:r>
              <a:rPr lang="zh-CN" altLang="en-US" sz="2000" dirty="0"/>
              <a:t>说明可选择的系统方案</a:t>
            </a:r>
            <a:r>
              <a:rPr lang="en-US" altLang="zh-CN" sz="2000" dirty="0"/>
              <a:t>1</a:t>
            </a:r>
            <a:r>
              <a:rPr lang="zh-CN" altLang="en-US" sz="2000" dirty="0"/>
              <a:t>，并说明它选中或未被选中的理由。</a:t>
            </a:r>
          </a:p>
          <a:p>
            <a:r>
              <a:rPr lang="en-US" altLang="zh-CN" sz="2000" b="1" dirty="0"/>
              <a:t>5.2 </a:t>
            </a:r>
            <a:r>
              <a:rPr lang="zh-CN" altLang="en-US" sz="2000" b="1" dirty="0"/>
              <a:t>可选择的系统方案</a:t>
            </a:r>
            <a:r>
              <a:rPr lang="en-US" altLang="zh-CN" sz="2000" b="1" dirty="0"/>
              <a:t>2</a:t>
            </a:r>
          </a:p>
          <a:p>
            <a:r>
              <a:rPr lang="zh-CN" altLang="en-US" sz="2000" dirty="0"/>
              <a:t>按类似</a:t>
            </a:r>
            <a:r>
              <a:rPr lang="en-US" altLang="zh-CN" sz="2000" dirty="0"/>
              <a:t>5.1</a:t>
            </a:r>
            <a:r>
              <a:rPr lang="zh-CN" altLang="en-US" sz="2000" dirty="0"/>
              <a:t>条的方式说明第</a:t>
            </a:r>
            <a:r>
              <a:rPr lang="en-US" altLang="zh-CN" sz="2000" dirty="0"/>
              <a:t>2</a:t>
            </a:r>
            <a:r>
              <a:rPr lang="zh-CN" altLang="en-US" sz="2000" dirty="0"/>
              <a:t>个乃至第</a:t>
            </a:r>
            <a:r>
              <a:rPr lang="en-US" altLang="zh-CN" sz="2000" dirty="0"/>
              <a:t>n</a:t>
            </a:r>
            <a:r>
              <a:rPr lang="zh-CN" altLang="en-US" sz="2000" dirty="0"/>
              <a:t>个可选择的系统方案。</a:t>
            </a:r>
          </a:p>
          <a:p>
            <a:endParaRPr lang="zh-CN" altLang="en-US" sz="2000" dirty="0"/>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286184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6. </a:t>
            </a:r>
            <a:r>
              <a:rPr lang="zh-CN" altLang="en-US" sz="2000" b="1" dirty="0"/>
              <a:t>投资及效益分析</a:t>
            </a:r>
          </a:p>
          <a:p>
            <a:r>
              <a:rPr lang="en-US" altLang="zh-CN" sz="2000" b="1" dirty="0"/>
              <a:t>6.1 </a:t>
            </a:r>
            <a:r>
              <a:rPr lang="zh-CN" altLang="en-US" sz="2000" b="1" dirty="0"/>
              <a:t>支出</a:t>
            </a:r>
          </a:p>
          <a:p>
            <a:r>
              <a:rPr lang="zh-CN" altLang="en-US" sz="2000" dirty="0"/>
              <a:t>对于所选择的方案，说明所需的费用。如果已有一个现存系统，则包括该系统继续运行期间所需的费用，包括基本建设投资、其他一次性支出、非一次性支出。</a:t>
            </a:r>
          </a:p>
          <a:p>
            <a:r>
              <a:rPr lang="en-US" altLang="zh-CN" sz="2000" b="1" dirty="0"/>
              <a:t>6.2 </a:t>
            </a:r>
            <a:r>
              <a:rPr lang="zh-CN" altLang="en-US" sz="2000" b="1" dirty="0"/>
              <a:t>收益</a:t>
            </a:r>
          </a:p>
          <a:p>
            <a:r>
              <a:rPr lang="zh-CN" altLang="en-US" sz="2000" dirty="0"/>
              <a:t>对于所选择的方案，说明能够带来的收益，这里所说的收益，表现为开支用的减少或避免差错、灵活性的增加、动作速度的提高和管理计划方面的改进等，包括一次性收益、非一次性收益、不可定量的收益等。</a:t>
            </a:r>
          </a:p>
          <a:p>
            <a:r>
              <a:rPr lang="en-US" altLang="zh-CN" sz="2000" b="1" dirty="0"/>
              <a:t>6.3 </a:t>
            </a:r>
            <a:r>
              <a:rPr lang="zh-CN" altLang="en-US" sz="2000" b="1" dirty="0"/>
              <a:t>收益</a:t>
            </a:r>
            <a:r>
              <a:rPr lang="en-US" altLang="zh-CN" sz="2000" b="1" dirty="0"/>
              <a:t>/</a:t>
            </a:r>
            <a:r>
              <a:rPr lang="zh-CN" altLang="en-US" sz="2000" b="1" dirty="0"/>
              <a:t>投资比</a:t>
            </a:r>
          </a:p>
          <a:p>
            <a:r>
              <a:rPr lang="zh-CN" altLang="en-US" sz="2000" dirty="0"/>
              <a:t>求出整个系统生命期的收益</a:t>
            </a:r>
            <a:r>
              <a:rPr lang="en-US" altLang="zh-CN" sz="2000" dirty="0"/>
              <a:t>/</a:t>
            </a:r>
            <a:r>
              <a:rPr lang="zh-CN" altLang="en-US" sz="2000" dirty="0"/>
              <a:t>投资比值。</a:t>
            </a:r>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827997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6.4 </a:t>
            </a:r>
            <a:r>
              <a:rPr lang="zh-CN" altLang="en-US" sz="2000" b="1" dirty="0"/>
              <a:t>投资回收周期</a:t>
            </a:r>
          </a:p>
          <a:p>
            <a:r>
              <a:rPr lang="zh-CN" altLang="en-US" sz="2000" dirty="0"/>
              <a:t>求出收益的累计数开始超过支出的累计数的时间。</a:t>
            </a:r>
          </a:p>
          <a:p>
            <a:r>
              <a:rPr lang="en-US" altLang="zh-CN" sz="2000" b="1" dirty="0"/>
              <a:t>6.5 </a:t>
            </a:r>
            <a:r>
              <a:rPr lang="zh-CN" altLang="en-US" sz="2000" b="1" dirty="0"/>
              <a:t>敏感性分析</a:t>
            </a:r>
          </a:p>
          <a:p>
            <a:r>
              <a:rPr lang="zh-CN" altLang="en-US" sz="2000" dirty="0"/>
              <a:t>所谓敏感性分析是指一些关键性因素如系统生命期长度、系统的工作负荷量、工作负荷的类型与这些不同类型之间的合理搭配、处理速度要求、设备和软件的配置等变化时，对开支和收益的影响最灵敏的范围的估计。在敏感性分析的基础上做出的选择当然会比单一选择的结果要好一些。</a:t>
            </a:r>
          </a:p>
          <a:p>
            <a:endParaRPr lang="zh-CN" altLang="en-US" sz="2000" dirty="0"/>
          </a:p>
          <a:p>
            <a:endParaRPr lang="zh-CN" altLang="en-US" sz="2000" dirty="0"/>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90236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80"/>
            <a:ext cx="7886700" cy="3888432"/>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7. </a:t>
            </a:r>
            <a:r>
              <a:rPr lang="zh-CN" altLang="en-US" sz="2000" b="1" dirty="0"/>
              <a:t>社会因素方面的可行性</a:t>
            </a:r>
          </a:p>
          <a:p>
            <a:r>
              <a:rPr lang="zh-CN" altLang="en-US" sz="2000" dirty="0"/>
              <a:t>用来说明对社会因素方面的可行性分析的结果，包括以下两方面。</a:t>
            </a:r>
          </a:p>
          <a:p>
            <a:r>
              <a:rPr lang="en-US" altLang="zh-CN" sz="2000" b="1" dirty="0"/>
              <a:t>7.1 </a:t>
            </a:r>
            <a:r>
              <a:rPr lang="zh-CN" altLang="en-US" sz="2000" b="1" dirty="0"/>
              <a:t>法律方面的可行性</a:t>
            </a:r>
          </a:p>
          <a:p>
            <a:r>
              <a:rPr lang="zh-CN" altLang="en-US" sz="2000" dirty="0"/>
              <a:t>法律方面的可行性问题很多，如合同责任、侵犯专利权、侵犯版权等，信息系统建设人员通常是不熟悉的，有可能陷入陷阱，务必要注意研究。</a:t>
            </a:r>
          </a:p>
          <a:p>
            <a:r>
              <a:rPr lang="en-US" altLang="zh-CN" sz="2000" b="1" dirty="0"/>
              <a:t>7.2 </a:t>
            </a:r>
            <a:r>
              <a:rPr lang="zh-CN" altLang="en-US" sz="2000" b="1" dirty="0"/>
              <a:t>使用方面的可行性</a:t>
            </a:r>
          </a:p>
          <a:p>
            <a:r>
              <a:rPr lang="zh-CN" altLang="en-US" sz="2000" dirty="0"/>
              <a:t>例如从用户单位的行政管理、工作制度等方面来看，是否能够使用该信息系统；从用户单位的工作人员的素质来看，是否能满足使用该系统的要求等，都是要考虑的。</a:t>
            </a:r>
          </a:p>
          <a:p>
            <a:endParaRPr lang="zh-CN" altLang="en-US" sz="2000" dirty="0"/>
          </a:p>
          <a:p>
            <a:endParaRPr lang="zh-CN" altLang="en-US" sz="2000" dirty="0"/>
          </a:p>
          <a:p>
            <a:endParaRPr lang="zh-CN" altLang="en-US" sz="2000" dirty="0"/>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141520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a:xfrm>
            <a:off x="251520" y="548679"/>
            <a:ext cx="8424936" cy="4968549"/>
          </a:xfrm>
        </p:spPr>
        <p:txBody>
          <a:bodyPr>
            <a:noAutofit/>
          </a:bodyPr>
          <a:lstStyle/>
          <a:p>
            <a:pPr marL="0" indent="0" algn="just" eaLnBrk="1" hangingPunct="1">
              <a:buNone/>
            </a:pPr>
            <a:r>
              <a:rPr lang="zh-CN" altLang="en-US" sz="2400" dirty="0"/>
              <a:t>可行性研究报告内容框架：</a:t>
            </a:r>
            <a:endParaRPr lang="en-US" altLang="zh-CN" sz="2400" dirty="0"/>
          </a:p>
          <a:p>
            <a:r>
              <a:rPr lang="en-US" altLang="zh-CN" sz="2000" b="1" dirty="0"/>
              <a:t>8. </a:t>
            </a:r>
            <a:r>
              <a:rPr lang="zh-CN" altLang="en-US" sz="2000" b="1" dirty="0"/>
              <a:t>可行性研究结论与建议</a:t>
            </a:r>
          </a:p>
          <a:p>
            <a:r>
              <a:rPr lang="zh-CN" altLang="en-US" sz="2000" dirty="0"/>
              <a:t>根据前面的研究结果，对项目在技术、财务、社会因素上进行全面的评价，对建设方案进行总结，提出结论性意见和建议。</a:t>
            </a:r>
            <a:endParaRPr lang="en-US" altLang="zh-CN" sz="2000" dirty="0"/>
          </a:p>
          <a:p>
            <a:r>
              <a:rPr lang="en-US" altLang="zh-CN" sz="2000" dirty="0"/>
              <a:t>A. </a:t>
            </a:r>
            <a:r>
              <a:rPr lang="zh-CN" altLang="en-US" sz="2000" dirty="0"/>
              <a:t>可以立即开始进行；</a:t>
            </a:r>
            <a:endParaRPr lang="en-US" altLang="zh-CN" sz="2000" dirty="0"/>
          </a:p>
          <a:p>
            <a:r>
              <a:rPr lang="en-US" altLang="zh-CN" sz="2000" dirty="0"/>
              <a:t>B. </a:t>
            </a:r>
            <a:r>
              <a:rPr lang="zh-CN" altLang="en-US" sz="2000" dirty="0"/>
              <a:t>需要推迟到某些条件（例如资金、人力、设备等）落实之后才能开始进行；</a:t>
            </a:r>
            <a:endParaRPr lang="en-US" altLang="zh-CN" sz="2000" dirty="0"/>
          </a:p>
          <a:p>
            <a:r>
              <a:rPr lang="en-US" altLang="zh-CN" sz="2000" dirty="0"/>
              <a:t>C. </a:t>
            </a:r>
            <a:r>
              <a:rPr lang="zh-CN" altLang="en-US" sz="2000" dirty="0"/>
              <a:t>需要对开发目标进行某些修改之后才能开始进行；</a:t>
            </a:r>
            <a:endParaRPr lang="en-US" altLang="zh-CN" sz="2000" dirty="0"/>
          </a:p>
          <a:p>
            <a:r>
              <a:rPr lang="en-US" altLang="zh-CN" sz="2000" dirty="0"/>
              <a:t>D. </a:t>
            </a:r>
            <a:r>
              <a:rPr lang="zh-CN" altLang="en-US" sz="2000" dirty="0"/>
              <a:t>不能进行或不必进行（例如因技术不成熟、经济上不合算等）。</a:t>
            </a:r>
          </a:p>
          <a:p>
            <a:r>
              <a:rPr lang="zh-CN" altLang="en-US" sz="2000" dirty="0"/>
              <a:t>可行性报告的结果并不一定可行，也有可能是得出在目前条件下不可行的结论，这是完全正常的。如果限定必须证明可行，那么可行性分析就没有意义了。甚至可以说，判断不可行性比判断可行性的收获还大，因为这避免了巨大的浪费。</a:t>
            </a:r>
          </a:p>
          <a:p>
            <a:endParaRPr lang="zh-CN" altLang="en-US" sz="2000" dirty="0"/>
          </a:p>
          <a:p>
            <a:endParaRPr lang="zh-CN" altLang="en-US" sz="2000" dirty="0"/>
          </a:p>
          <a:p>
            <a:endParaRPr lang="zh-CN" altLang="en-US" sz="2000" dirty="0"/>
          </a:p>
          <a:p>
            <a:endParaRPr lang="zh-CN" altLang="en-US" sz="2000" dirty="0"/>
          </a:p>
          <a:p>
            <a:endParaRPr lang="zh-CN" altLang="zh-CN" sz="2000"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dirty="0">
                <a:solidFill>
                  <a:srgbClr val="0000FF"/>
                </a:solidFill>
              </a:rPr>
              <a:t>十一五规划教材                                          </a:t>
            </a:r>
            <a:r>
              <a:rPr lang="en-US" altLang="zh-CN" sz="2000" b="1" dirty="0">
                <a:solidFill>
                  <a:srgbClr val="0000FF"/>
                </a:solidFill>
              </a:rPr>
              <a:t>《</a:t>
            </a:r>
            <a:r>
              <a:rPr lang="zh-CN" altLang="en-US" sz="2000" b="1" dirty="0">
                <a:solidFill>
                  <a:srgbClr val="0000FF"/>
                </a:solidFill>
              </a:rPr>
              <a:t>信息系统项目管理</a:t>
            </a:r>
            <a:r>
              <a:rPr lang="en-US" altLang="zh-CN" sz="2000" b="1" dirty="0">
                <a:solidFill>
                  <a:srgbClr val="0000FF"/>
                </a:solidFill>
              </a:rPr>
              <a:t>》</a:t>
            </a:r>
            <a:r>
              <a:rPr lang="zh-CN" altLang="en-US" sz="2000" b="1" dirty="0">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42415198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7F47244-0DF2-412F-92DE-6BB9A98B8CEA}"/>
              </a:ext>
            </a:extLst>
          </p:cNvPr>
          <p:cNvSpPr>
            <a:spLocks noGrp="1" noChangeArrowheads="1"/>
          </p:cNvSpPr>
          <p:nvPr>
            <p:ph type="title"/>
          </p:nvPr>
        </p:nvSpPr>
        <p:spPr/>
        <p:txBody>
          <a:bodyPr/>
          <a:lstStyle/>
          <a:p>
            <a:pPr algn="l" eaLnBrk="1" hangingPunct="1"/>
            <a:r>
              <a:rPr lang="en-US" altLang="zh-CN" b="1"/>
              <a:t>2.3 </a:t>
            </a:r>
            <a:r>
              <a:rPr lang="zh-CN" altLang="en-US" b="1"/>
              <a:t>信息系统项目的招标与评价</a:t>
            </a:r>
            <a:r>
              <a:rPr lang="zh-CN" altLang="en-US"/>
              <a:t> </a:t>
            </a:r>
          </a:p>
        </p:txBody>
      </p:sp>
      <p:sp>
        <p:nvSpPr>
          <p:cNvPr id="46083" name="Rectangle 3">
            <a:extLst>
              <a:ext uri="{FF2B5EF4-FFF2-40B4-BE49-F238E27FC236}">
                <a16:creationId xmlns:a16="http://schemas.microsoft.com/office/drawing/2014/main" id="{D5C6C53B-F9C5-46C7-B59F-7F05F42AC729}"/>
              </a:ext>
            </a:extLst>
          </p:cNvPr>
          <p:cNvSpPr>
            <a:spLocks noGrp="1" noChangeArrowheads="1"/>
          </p:cNvSpPr>
          <p:nvPr>
            <p:ph idx="1"/>
          </p:nvPr>
        </p:nvSpPr>
        <p:spPr/>
        <p:txBody>
          <a:bodyPr/>
          <a:lstStyle/>
          <a:p>
            <a:pPr marL="609600" indent="-609600" algn="just" eaLnBrk="1" hangingPunct="1"/>
            <a:r>
              <a:rPr lang="en-US" altLang="zh-CN" sz="2400" dirty="0"/>
              <a:t>2.3.1  </a:t>
            </a:r>
            <a:r>
              <a:rPr lang="zh-CN" altLang="en-US" sz="2400" dirty="0"/>
              <a:t>信息系统项目的招标流程</a:t>
            </a:r>
          </a:p>
          <a:p>
            <a:pPr marL="609600" indent="-609600" algn="just" eaLnBrk="1" hangingPunct="1"/>
            <a:endParaRPr lang="en-US" altLang="zh-CN" sz="2400" dirty="0"/>
          </a:p>
          <a:p>
            <a:pPr marL="609600" indent="-609600" algn="just" eaLnBrk="1" hangingPunct="1"/>
            <a:r>
              <a:rPr lang="en-US" altLang="zh-CN" sz="2400" dirty="0"/>
              <a:t>2.3.2  </a:t>
            </a:r>
            <a:r>
              <a:rPr lang="zh-CN" altLang="en-US" sz="2400" dirty="0"/>
              <a:t>信息系统项目的招标书 </a:t>
            </a:r>
          </a:p>
          <a:p>
            <a:pPr marL="609600" indent="-609600" algn="just" eaLnBrk="1" hangingPunct="1"/>
            <a:endParaRPr lang="en-US" altLang="zh-CN" sz="2400" dirty="0"/>
          </a:p>
          <a:p>
            <a:pPr marL="609600" indent="-609600" algn="just" eaLnBrk="1" hangingPunct="1"/>
            <a:r>
              <a:rPr lang="en-US" altLang="zh-CN" sz="2400" dirty="0"/>
              <a:t>2.3.3  </a:t>
            </a:r>
            <a:r>
              <a:rPr lang="zh-CN" altLang="en-US" sz="2400" dirty="0"/>
              <a:t>信息系统项目的投标书</a:t>
            </a:r>
          </a:p>
          <a:p>
            <a:pPr marL="609600" indent="-609600" algn="just" eaLnBrk="1" hangingPunct="1"/>
            <a:endParaRPr lang="en-US" altLang="zh-CN" sz="2400" dirty="0"/>
          </a:p>
          <a:p>
            <a:pPr marL="609600" indent="-609600" algn="just" eaLnBrk="1" hangingPunct="1"/>
            <a:r>
              <a:rPr lang="en-US" altLang="zh-CN" sz="2400" dirty="0"/>
              <a:t>2.3.4  </a:t>
            </a:r>
            <a:r>
              <a:rPr lang="zh-CN" altLang="en-US" sz="2400" dirty="0"/>
              <a:t>信息系统项目承包商的选择</a:t>
            </a:r>
          </a:p>
          <a:p>
            <a:pPr marL="609600" indent="-609600" algn="just" eaLnBrk="1" hangingPunct="1"/>
            <a:endParaRPr lang="en-US" altLang="zh-CN" sz="2400" dirty="0"/>
          </a:p>
          <a:p>
            <a:pPr marL="609600" indent="-609600" algn="just" eaLnBrk="1" hangingPunct="1"/>
            <a:r>
              <a:rPr lang="en-US" altLang="zh-CN" sz="2400" dirty="0"/>
              <a:t>2.3.5  </a:t>
            </a:r>
            <a:r>
              <a:rPr lang="zh-CN" altLang="en-US" sz="2400" dirty="0"/>
              <a:t>信息系统项目效益的评价</a:t>
            </a:r>
          </a:p>
          <a:p>
            <a:pPr marL="609600" indent="-609600" algn="just" eaLnBrk="1" hangingPunct="1"/>
            <a:endParaRPr lang="zh-CN" altLang="en-US" b="1" dirty="0"/>
          </a:p>
          <a:p>
            <a:pPr marL="609600" indent="-609600" algn="just" eaLnBrk="1" hangingPunct="1"/>
            <a:endParaRPr lang="en-US" altLang="zh-CN" dirty="0"/>
          </a:p>
        </p:txBody>
      </p:sp>
      <p:sp>
        <p:nvSpPr>
          <p:cNvPr id="46084" name="Rectangle 4">
            <a:extLst>
              <a:ext uri="{FF2B5EF4-FFF2-40B4-BE49-F238E27FC236}">
                <a16:creationId xmlns:a16="http://schemas.microsoft.com/office/drawing/2014/main" id="{85C6C180-1FEC-4704-8678-A131ABDA6BC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6085" name="Line 5">
            <a:extLst>
              <a:ext uri="{FF2B5EF4-FFF2-40B4-BE49-F238E27FC236}">
                <a16:creationId xmlns:a16="http://schemas.microsoft.com/office/drawing/2014/main" id="{5060C4EB-D880-4EB6-9834-6B880A4BE53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F9F77244-25E5-495F-8C00-1B263A8BD956}"/>
              </a:ext>
            </a:extLst>
          </p:cNvPr>
          <p:cNvSpPr>
            <a:spLocks noGrp="1" noChangeArrowheads="1"/>
          </p:cNvSpPr>
          <p:nvPr>
            <p:ph type="title"/>
          </p:nvPr>
        </p:nvSpPr>
        <p:spPr/>
        <p:txBody>
          <a:bodyPr/>
          <a:lstStyle/>
          <a:p>
            <a:pPr eaLnBrk="1" hangingPunct="1"/>
            <a:r>
              <a:rPr lang="en-US" altLang="zh-CN" b="1"/>
              <a:t>2.3 </a:t>
            </a:r>
            <a:r>
              <a:rPr lang="zh-CN" altLang="en-US" b="1"/>
              <a:t>信息系统项目的招标与评价</a:t>
            </a:r>
            <a:r>
              <a:rPr lang="zh-CN" altLang="en-US"/>
              <a:t> </a:t>
            </a:r>
          </a:p>
        </p:txBody>
      </p:sp>
      <p:sp>
        <p:nvSpPr>
          <p:cNvPr id="48131" name="Rectangle 3">
            <a:extLst>
              <a:ext uri="{FF2B5EF4-FFF2-40B4-BE49-F238E27FC236}">
                <a16:creationId xmlns:a16="http://schemas.microsoft.com/office/drawing/2014/main" id="{BD6FD4B9-9A76-4E7E-91C7-1DB695061CB2}"/>
              </a:ext>
            </a:extLst>
          </p:cNvPr>
          <p:cNvSpPr>
            <a:spLocks noGrp="1" noChangeArrowheads="1"/>
          </p:cNvSpPr>
          <p:nvPr>
            <p:ph idx="1"/>
          </p:nvPr>
        </p:nvSpPr>
        <p:spPr>
          <a:xfrm>
            <a:off x="539552" y="1556792"/>
            <a:ext cx="8064896" cy="3168347"/>
          </a:xfrm>
        </p:spPr>
        <p:txBody>
          <a:bodyPr/>
          <a:lstStyle/>
          <a:p>
            <a:pPr marL="609600" indent="-609600" algn="just" eaLnBrk="1" hangingPunct="1"/>
            <a:r>
              <a:rPr lang="en-US" altLang="zh-CN" b="1" dirty="0"/>
              <a:t>2.3.1  </a:t>
            </a:r>
            <a:r>
              <a:rPr lang="zh-CN" altLang="en-US" b="1" dirty="0"/>
              <a:t>信息系统项目的招标流程</a:t>
            </a:r>
          </a:p>
          <a:p>
            <a:pPr marL="990600" lvl="1" indent="-533400" algn="just" eaLnBrk="1" hangingPunct="1"/>
            <a:r>
              <a:rPr lang="en-US" altLang="zh-CN" sz="2400" dirty="0"/>
              <a:t>1</a:t>
            </a:r>
            <a:r>
              <a:rPr lang="zh-CN" altLang="en-US" sz="2400" dirty="0"/>
              <a:t>．招标 </a:t>
            </a:r>
          </a:p>
          <a:p>
            <a:pPr marL="990600" lvl="1" indent="-533400" algn="just" eaLnBrk="1" hangingPunct="1"/>
            <a:r>
              <a:rPr lang="en-US" altLang="zh-CN" sz="2400" dirty="0"/>
              <a:t>2</a:t>
            </a:r>
            <a:r>
              <a:rPr lang="zh-CN" altLang="en-US" sz="2400" dirty="0"/>
              <a:t>．投标 </a:t>
            </a:r>
          </a:p>
          <a:p>
            <a:pPr marL="990600" lvl="1" indent="-533400" algn="just" eaLnBrk="1" hangingPunct="1"/>
            <a:r>
              <a:rPr lang="en-US" altLang="zh-CN" sz="2400" dirty="0"/>
              <a:t>3</a:t>
            </a:r>
            <a:r>
              <a:rPr lang="zh-CN" altLang="en-US" sz="2400" dirty="0"/>
              <a:t>．开标 </a:t>
            </a:r>
          </a:p>
          <a:p>
            <a:pPr marL="990600" lvl="1" indent="-533400" algn="just" eaLnBrk="1" hangingPunct="1"/>
            <a:r>
              <a:rPr lang="en-US" altLang="zh-CN" sz="2400" dirty="0"/>
              <a:t>4</a:t>
            </a:r>
            <a:r>
              <a:rPr lang="zh-CN" altLang="en-US" sz="2400" dirty="0"/>
              <a:t>．评标 </a:t>
            </a:r>
          </a:p>
          <a:p>
            <a:pPr marL="990600" lvl="1" indent="-533400" algn="just" eaLnBrk="1" hangingPunct="1"/>
            <a:r>
              <a:rPr lang="en-US" altLang="zh-CN" sz="2400" dirty="0"/>
              <a:t>5</a:t>
            </a:r>
            <a:r>
              <a:rPr lang="zh-CN" altLang="en-US" sz="2400" dirty="0"/>
              <a:t>．定标 </a:t>
            </a:r>
          </a:p>
          <a:p>
            <a:pPr marL="990600" lvl="1" indent="-533400" algn="just" eaLnBrk="1" hangingPunct="1"/>
            <a:r>
              <a:rPr lang="en-US" altLang="zh-CN" sz="2400" dirty="0"/>
              <a:t>6</a:t>
            </a:r>
            <a:r>
              <a:rPr lang="zh-CN" altLang="en-US" sz="2400" dirty="0"/>
              <a:t>．签订合同 </a:t>
            </a:r>
          </a:p>
        </p:txBody>
      </p:sp>
      <p:sp>
        <p:nvSpPr>
          <p:cNvPr id="48132" name="Rectangle 4">
            <a:extLst>
              <a:ext uri="{FF2B5EF4-FFF2-40B4-BE49-F238E27FC236}">
                <a16:creationId xmlns:a16="http://schemas.microsoft.com/office/drawing/2014/main" id="{DC065783-17D7-4EA2-BC7E-AF55E1EFBD16}"/>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48133" name="Line 5">
            <a:extLst>
              <a:ext uri="{FF2B5EF4-FFF2-40B4-BE49-F238E27FC236}">
                <a16:creationId xmlns:a16="http://schemas.microsoft.com/office/drawing/2014/main" id="{FA417A51-B601-4555-9CFB-D16B553EA74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93D4A432-CF75-45F6-B882-1E9F7BF20252}"/>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0179" name="Rectangle 3">
            <a:extLst>
              <a:ext uri="{FF2B5EF4-FFF2-40B4-BE49-F238E27FC236}">
                <a16:creationId xmlns:a16="http://schemas.microsoft.com/office/drawing/2014/main" id="{4523252A-EDAB-4CB7-912C-BF374C214BE7}"/>
              </a:ext>
            </a:extLst>
          </p:cNvPr>
          <p:cNvSpPr>
            <a:spLocks noGrp="1" noChangeArrowheads="1"/>
          </p:cNvSpPr>
          <p:nvPr>
            <p:ph idx="1"/>
          </p:nvPr>
        </p:nvSpPr>
        <p:spPr>
          <a:xfrm>
            <a:off x="539552" y="1556792"/>
            <a:ext cx="7886700" cy="4351338"/>
          </a:xfrm>
        </p:spPr>
        <p:txBody>
          <a:bodyPr/>
          <a:lstStyle/>
          <a:p>
            <a:pPr marL="609600" indent="-609600" algn="just" eaLnBrk="1" hangingPunct="1">
              <a:lnSpc>
                <a:spcPct val="80000"/>
              </a:lnSpc>
            </a:pPr>
            <a:r>
              <a:rPr lang="en-US" altLang="zh-CN" b="1" dirty="0"/>
              <a:t>2.3.2  </a:t>
            </a:r>
            <a:r>
              <a:rPr lang="zh-CN" altLang="en-US" b="1" dirty="0"/>
              <a:t>信息系统项目的</a:t>
            </a:r>
            <a:r>
              <a:rPr lang="zh-CN" altLang="en-US" b="1" dirty="0">
                <a:solidFill>
                  <a:srgbClr val="FF0000"/>
                </a:solidFill>
              </a:rPr>
              <a:t>招标书</a:t>
            </a:r>
          </a:p>
          <a:p>
            <a:pPr marL="609600" indent="-609600" eaLnBrk="1" hangingPunct="1">
              <a:lnSpc>
                <a:spcPct val="80000"/>
              </a:lnSpc>
            </a:pPr>
            <a:r>
              <a:rPr lang="zh-CN" altLang="en-US" sz="2400" dirty="0"/>
              <a:t>招标书的主要内容包括：</a:t>
            </a:r>
          </a:p>
          <a:p>
            <a:pPr marL="990600" lvl="1" indent="-533400" eaLnBrk="1" hangingPunct="1">
              <a:lnSpc>
                <a:spcPct val="80000"/>
              </a:lnSpc>
              <a:buFontTx/>
              <a:buAutoNum type="circleNumDbPlain"/>
            </a:pPr>
            <a:r>
              <a:rPr lang="zh-CN" altLang="en-US" sz="2400" dirty="0"/>
              <a:t>介绍与概述</a:t>
            </a:r>
          </a:p>
          <a:p>
            <a:pPr marL="990600" lvl="1" indent="-533400" eaLnBrk="1" hangingPunct="1">
              <a:lnSpc>
                <a:spcPct val="80000"/>
              </a:lnSpc>
              <a:buFontTx/>
              <a:buAutoNum type="circleNumDbPlain"/>
            </a:pPr>
            <a:r>
              <a:rPr lang="zh-CN" altLang="en-US" sz="2400" dirty="0"/>
              <a:t>客户信息</a:t>
            </a:r>
          </a:p>
          <a:p>
            <a:pPr marL="990600" lvl="1" indent="-533400" eaLnBrk="1" hangingPunct="1">
              <a:lnSpc>
                <a:spcPct val="80000"/>
              </a:lnSpc>
              <a:buFontTx/>
              <a:buAutoNum type="circleNumDbPlain"/>
            </a:pPr>
            <a:r>
              <a:rPr lang="zh-CN" altLang="en-US" sz="2400" dirty="0"/>
              <a:t>信息系统项目的需求</a:t>
            </a:r>
          </a:p>
          <a:p>
            <a:pPr marL="990600" lvl="1" indent="-533400" eaLnBrk="1" hangingPunct="1">
              <a:lnSpc>
                <a:spcPct val="80000"/>
              </a:lnSpc>
              <a:buFontTx/>
              <a:buAutoNum type="circleNumDbPlain"/>
            </a:pPr>
            <a:r>
              <a:rPr lang="zh-CN" altLang="en-US" sz="2400" dirty="0"/>
              <a:t>定价</a:t>
            </a:r>
          </a:p>
          <a:p>
            <a:pPr marL="990600" lvl="1" indent="-533400" eaLnBrk="1" hangingPunct="1">
              <a:lnSpc>
                <a:spcPct val="80000"/>
              </a:lnSpc>
              <a:buFontTx/>
              <a:buAutoNum type="circleNumDbPlain"/>
            </a:pPr>
            <a:r>
              <a:rPr lang="zh-CN" altLang="en-US" sz="2400" dirty="0"/>
              <a:t>项目的管理</a:t>
            </a:r>
          </a:p>
          <a:p>
            <a:pPr marL="990600" lvl="1" indent="-533400" eaLnBrk="1" hangingPunct="1">
              <a:lnSpc>
                <a:spcPct val="80000"/>
              </a:lnSpc>
              <a:buFontTx/>
              <a:buAutoNum type="circleNumDbPlain"/>
            </a:pPr>
            <a:r>
              <a:rPr lang="zh-CN" altLang="en-US" sz="2400" dirty="0"/>
              <a:t>合同到期与终止</a:t>
            </a:r>
          </a:p>
          <a:p>
            <a:pPr marL="990600" lvl="1" indent="-533400" eaLnBrk="1" hangingPunct="1">
              <a:lnSpc>
                <a:spcPct val="80000"/>
              </a:lnSpc>
              <a:buFontTx/>
              <a:buAutoNum type="circleNumDbPlain"/>
            </a:pPr>
            <a:r>
              <a:rPr lang="zh-CN" altLang="en-US" sz="2400" dirty="0"/>
              <a:t>合同条款</a:t>
            </a:r>
          </a:p>
          <a:p>
            <a:pPr marL="990600" lvl="1" indent="-533400" eaLnBrk="1" hangingPunct="1">
              <a:lnSpc>
                <a:spcPct val="80000"/>
              </a:lnSpc>
              <a:buFontTx/>
              <a:buAutoNum type="circleNumDbPlain"/>
            </a:pPr>
            <a:r>
              <a:rPr lang="zh-CN" altLang="en-US" sz="2400" dirty="0"/>
              <a:t>承包商信息</a:t>
            </a:r>
          </a:p>
          <a:p>
            <a:pPr marL="990600" lvl="1" indent="-533400" eaLnBrk="1" hangingPunct="1">
              <a:lnSpc>
                <a:spcPct val="80000"/>
              </a:lnSpc>
              <a:buFontTx/>
              <a:buAutoNum type="circleNumDbPlain"/>
            </a:pPr>
            <a:r>
              <a:rPr lang="zh-CN" altLang="en-US" sz="2400" dirty="0"/>
              <a:t>附录和其他条款或条件 </a:t>
            </a:r>
          </a:p>
          <a:p>
            <a:pPr marL="609600" indent="-609600" algn="just" eaLnBrk="1" hangingPunct="1">
              <a:lnSpc>
                <a:spcPct val="80000"/>
              </a:lnSpc>
            </a:pPr>
            <a:endParaRPr lang="zh-CN" altLang="en-US" sz="2800" dirty="0"/>
          </a:p>
          <a:p>
            <a:pPr marL="609600" indent="-609600" algn="just" eaLnBrk="1" hangingPunct="1">
              <a:lnSpc>
                <a:spcPct val="80000"/>
              </a:lnSpc>
            </a:pPr>
            <a:endParaRPr lang="zh-CN" altLang="en-US" sz="2800" b="1" dirty="0"/>
          </a:p>
          <a:p>
            <a:pPr marL="609600" indent="-609600" algn="just" eaLnBrk="1" hangingPunct="1">
              <a:lnSpc>
                <a:spcPct val="80000"/>
              </a:lnSpc>
            </a:pPr>
            <a:endParaRPr lang="en-US" altLang="zh-CN" sz="2800" dirty="0"/>
          </a:p>
        </p:txBody>
      </p:sp>
      <p:sp>
        <p:nvSpPr>
          <p:cNvPr id="50180" name="Rectangle 4">
            <a:extLst>
              <a:ext uri="{FF2B5EF4-FFF2-40B4-BE49-F238E27FC236}">
                <a16:creationId xmlns:a16="http://schemas.microsoft.com/office/drawing/2014/main" id="{93295724-4142-455E-97F2-A7F888EAA5B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0181" name="Line 5">
            <a:extLst>
              <a:ext uri="{FF2B5EF4-FFF2-40B4-BE49-F238E27FC236}">
                <a16:creationId xmlns:a16="http://schemas.microsoft.com/office/drawing/2014/main" id="{FA0E948F-D0B8-4671-81C8-850F36C63540}"/>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1D6BE3-493C-4351-9D21-38F5F69471B5}"/>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2227" name="Rectangle 3">
            <a:extLst>
              <a:ext uri="{FF2B5EF4-FFF2-40B4-BE49-F238E27FC236}">
                <a16:creationId xmlns:a16="http://schemas.microsoft.com/office/drawing/2014/main" id="{CB92FD96-D420-4AE1-8FA8-05750A778E1C}"/>
              </a:ext>
            </a:extLst>
          </p:cNvPr>
          <p:cNvSpPr>
            <a:spLocks noGrp="1" noChangeArrowheads="1"/>
          </p:cNvSpPr>
          <p:nvPr>
            <p:ph idx="1"/>
          </p:nvPr>
        </p:nvSpPr>
        <p:spPr>
          <a:xfrm>
            <a:off x="323528" y="1628800"/>
            <a:ext cx="7886700" cy="2952323"/>
          </a:xfrm>
        </p:spPr>
        <p:txBody>
          <a:bodyPr/>
          <a:lstStyle/>
          <a:p>
            <a:pPr marL="609600" indent="-609600" algn="just" eaLnBrk="1" hangingPunct="1"/>
            <a:r>
              <a:rPr lang="en-US" altLang="zh-CN" b="1" dirty="0"/>
              <a:t>2.3.3  </a:t>
            </a:r>
            <a:r>
              <a:rPr lang="zh-CN" altLang="en-US" b="1" dirty="0"/>
              <a:t>信息系统项目的</a:t>
            </a:r>
            <a:r>
              <a:rPr lang="zh-CN" altLang="en-US" b="1" dirty="0">
                <a:solidFill>
                  <a:srgbClr val="FF0000"/>
                </a:solidFill>
              </a:rPr>
              <a:t>投标书</a:t>
            </a:r>
          </a:p>
          <a:p>
            <a:pPr marL="990600" lvl="1" indent="-533400" algn="just" eaLnBrk="1" hangingPunct="1"/>
            <a:r>
              <a:rPr lang="zh-CN" altLang="en-US" sz="2400" dirty="0"/>
              <a:t>投标书必须按照招标书要求的格式进行组织以便发标方进行分析和评估。每一部分必须按照要求的格式进行标记和编号。标书必须清晰、完整、准确和详尽，以便于发包方能够确定投标书中建议的服务和方法是否适当、可行和符合要求。在投标书中，承包商可以根据自己的需要使用叙述的文字或图表进行说明。 </a:t>
            </a:r>
          </a:p>
        </p:txBody>
      </p:sp>
      <p:sp>
        <p:nvSpPr>
          <p:cNvPr id="52228" name="Rectangle 4">
            <a:extLst>
              <a:ext uri="{FF2B5EF4-FFF2-40B4-BE49-F238E27FC236}">
                <a16:creationId xmlns:a16="http://schemas.microsoft.com/office/drawing/2014/main" id="{5323CC5D-68F3-4FD3-91FC-AC597BBF8FD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2229" name="Line 5">
            <a:extLst>
              <a:ext uri="{FF2B5EF4-FFF2-40B4-BE49-F238E27FC236}">
                <a16:creationId xmlns:a16="http://schemas.microsoft.com/office/drawing/2014/main" id="{A233DD7E-B128-4FA8-A3D8-F4444F7B45A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089501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1D6BE3-493C-4351-9D21-38F5F69471B5}"/>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2227" name="Rectangle 3">
            <a:extLst>
              <a:ext uri="{FF2B5EF4-FFF2-40B4-BE49-F238E27FC236}">
                <a16:creationId xmlns:a16="http://schemas.microsoft.com/office/drawing/2014/main" id="{CB92FD96-D420-4AE1-8FA8-05750A778E1C}"/>
              </a:ext>
            </a:extLst>
          </p:cNvPr>
          <p:cNvSpPr>
            <a:spLocks noGrp="1" noChangeArrowheads="1"/>
          </p:cNvSpPr>
          <p:nvPr>
            <p:ph idx="1"/>
          </p:nvPr>
        </p:nvSpPr>
        <p:spPr>
          <a:xfrm>
            <a:off x="323528" y="1628800"/>
            <a:ext cx="7886700" cy="4320477"/>
          </a:xfrm>
        </p:spPr>
        <p:txBody>
          <a:bodyPr>
            <a:noAutofit/>
          </a:bodyPr>
          <a:lstStyle/>
          <a:p>
            <a:pPr marL="0" indent="0" algn="just" eaLnBrk="1" hangingPunct="1">
              <a:buNone/>
            </a:pPr>
            <a:r>
              <a:rPr lang="zh-CN" altLang="en-US" b="1" dirty="0"/>
              <a:t>投标书主要内容：</a:t>
            </a:r>
            <a:endParaRPr lang="en-US" altLang="zh-CN" b="1" dirty="0"/>
          </a:p>
          <a:p>
            <a:pPr marL="0" indent="0" algn="just">
              <a:buNone/>
            </a:pPr>
            <a:r>
              <a:rPr lang="zh-CN" altLang="en-US" sz="2400" dirty="0"/>
              <a:t>第一部分 同意的约定范围</a:t>
            </a:r>
          </a:p>
          <a:p>
            <a:pPr marL="0" indent="0" algn="just">
              <a:buNone/>
            </a:pPr>
            <a:r>
              <a:rPr lang="zh-CN" altLang="en-US" sz="2400" dirty="0"/>
              <a:t>第二部分 技术建议</a:t>
            </a:r>
          </a:p>
          <a:p>
            <a:pPr marL="0" indent="0" algn="just">
              <a:buNone/>
            </a:pPr>
            <a:r>
              <a:rPr lang="en-US" altLang="zh-CN" sz="2400" dirty="0"/>
              <a:t>         2.1 </a:t>
            </a:r>
            <a:r>
              <a:rPr lang="zh-CN" altLang="en-US" sz="2400" dirty="0"/>
              <a:t>服务提供的方式</a:t>
            </a:r>
          </a:p>
          <a:p>
            <a:pPr marL="0" indent="0" algn="just">
              <a:buNone/>
            </a:pPr>
            <a:r>
              <a:rPr lang="en-US" altLang="zh-CN" sz="2400" dirty="0"/>
              <a:t>         2.2 </a:t>
            </a:r>
            <a:r>
              <a:rPr lang="zh-CN" altLang="en-US" sz="2400" dirty="0"/>
              <a:t>信息系统技术解决方案</a:t>
            </a:r>
          </a:p>
          <a:p>
            <a:pPr marL="0" indent="0" algn="just">
              <a:buNone/>
            </a:pPr>
            <a:r>
              <a:rPr lang="en-US" altLang="zh-CN" sz="2400" dirty="0"/>
              <a:t>	2.3 </a:t>
            </a:r>
            <a:r>
              <a:rPr lang="zh-CN" altLang="en-US" sz="2400" dirty="0"/>
              <a:t>建议的技术环境（硬件、软件、通信、网络等）</a:t>
            </a:r>
          </a:p>
          <a:p>
            <a:pPr marL="0" indent="0" algn="just">
              <a:buNone/>
            </a:pPr>
            <a:r>
              <a:rPr lang="en-US" altLang="zh-CN" sz="2400" dirty="0"/>
              <a:t>         2.4 </a:t>
            </a:r>
            <a:r>
              <a:rPr lang="zh-CN" altLang="en-US" sz="2400" dirty="0"/>
              <a:t>人员计划和工作场所要求</a:t>
            </a:r>
          </a:p>
          <a:p>
            <a:pPr marL="0" indent="0" algn="just">
              <a:buNone/>
            </a:pPr>
            <a:r>
              <a:rPr lang="en-US" altLang="zh-CN" sz="2400" dirty="0"/>
              <a:t> 	2.4.1 </a:t>
            </a:r>
            <a:r>
              <a:rPr lang="zh-CN" altLang="en-US" sz="2400" dirty="0"/>
              <a:t>人员安排</a:t>
            </a:r>
          </a:p>
          <a:p>
            <a:pPr marL="0" indent="0" algn="just">
              <a:buNone/>
            </a:pPr>
            <a:r>
              <a:rPr lang="en-US" altLang="zh-CN" sz="2400" dirty="0"/>
              <a:t>	2.4.2 </a:t>
            </a:r>
            <a:r>
              <a:rPr lang="zh-CN" altLang="en-US" sz="2400" dirty="0"/>
              <a:t>工作场所要求</a:t>
            </a:r>
            <a:r>
              <a:rPr lang="en-US" altLang="zh-CN" sz="2400" dirty="0"/>
              <a:t>/</a:t>
            </a:r>
            <a:r>
              <a:rPr lang="zh-CN" altLang="en-US" sz="2400" dirty="0"/>
              <a:t>设施</a:t>
            </a:r>
          </a:p>
        </p:txBody>
      </p:sp>
      <p:sp>
        <p:nvSpPr>
          <p:cNvPr id="52228" name="Rectangle 4">
            <a:extLst>
              <a:ext uri="{FF2B5EF4-FFF2-40B4-BE49-F238E27FC236}">
                <a16:creationId xmlns:a16="http://schemas.microsoft.com/office/drawing/2014/main" id="{5323CC5D-68F3-4FD3-91FC-AC597BBF8FD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2229" name="Line 5">
            <a:extLst>
              <a:ext uri="{FF2B5EF4-FFF2-40B4-BE49-F238E27FC236}">
                <a16:creationId xmlns:a16="http://schemas.microsoft.com/office/drawing/2014/main" id="{A233DD7E-B128-4FA8-A3D8-F4444F7B45A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578891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1D6BE3-493C-4351-9D21-38F5F69471B5}"/>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2227" name="Rectangle 3">
            <a:extLst>
              <a:ext uri="{FF2B5EF4-FFF2-40B4-BE49-F238E27FC236}">
                <a16:creationId xmlns:a16="http://schemas.microsoft.com/office/drawing/2014/main" id="{CB92FD96-D420-4AE1-8FA8-05750A778E1C}"/>
              </a:ext>
            </a:extLst>
          </p:cNvPr>
          <p:cNvSpPr>
            <a:spLocks noGrp="1" noChangeArrowheads="1"/>
          </p:cNvSpPr>
          <p:nvPr>
            <p:ph idx="1"/>
          </p:nvPr>
        </p:nvSpPr>
        <p:spPr>
          <a:xfrm>
            <a:off x="323528" y="1412776"/>
            <a:ext cx="7886700" cy="4824535"/>
          </a:xfrm>
        </p:spPr>
        <p:txBody>
          <a:bodyPr>
            <a:noAutofit/>
          </a:bodyPr>
          <a:lstStyle/>
          <a:p>
            <a:pPr marL="0" indent="0" algn="just" eaLnBrk="1" hangingPunct="1">
              <a:buNone/>
            </a:pPr>
            <a:r>
              <a:rPr lang="zh-CN" altLang="en-US" b="1" dirty="0"/>
              <a:t>投标书主要内容：</a:t>
            </a:r>
            <a:endParaRPr lang="en-US" altLang="zh-CN" b="1" dirty="0"/>
          </a:p>
          <a:p>
            <a:pPr marL="0" indent="0" algn="just">
              <a:buNone/>
            </a:pPr>
            <a:r>
              <a:rPr lang="en-US" altLang="zh-CN" sz="2400" dirty="0"/>
              <a:t>     2.5 </a:t>
            </a:r>
            <a:r>
              <a:rPr lang="zh-CN" altLang="en-US" sz="2400" dirty="0"/>
              <a:t>项目管理和质量保证实施</a:t>
            </a:r>
          </a:p>
          <a:p>
            <a:pPr marL="0" indent="0" algn="just">
              <a:buNone/>
            </a:pPr>
            <a:r>
              <a:rPr lang="en-US" altLang="zh-CN" sz="2400" dirty="0"/>
              <a:t>	2.5.1 </a:t>
            </a:r>
            <a:r>
              <a:rPr lang="zh-CN" altLang="en-US" sz="2400" dirty="0"/>
              <a:t>项目管理</a:t>
            </a:r>
            <a:endParaRPr lang="en-US" altLang="zh-CN" sz="2400" dirty="0"/>
          </a:p>
          <a:p>
            <a:pPr marL="0" indent="0" algn="just">
              <a:buNone/>
            </a:pPr>
            <a:r>
              <a:rPr lang="en-US" altLang="zh-CN" sz="2400" dirty="0"/>
              <a:t>	2.5.2 </a:t>
            </a:r>
            <a:r>
              <a:rPr lang="zh-CN" altLang="en-US" sz="2400" dirty="0"/>
              <a:t>质量保证</a:t>
            </a:r>
          </a:p>
          <a:p>
            <a:pPr marL="0" indent="0" algn="just">
              <a:buNone/>
            </a:pPr>
            <a:r>
              <a:rPr lang="en-US" altLang="zh-CN" sz="2400" dirty="0"/>
              <a:t>	2.5.3 </a:t>
            </a:r>
            <a:r>
              <a:rPr lang="zh-CN" altLang="en-US" sz="2400" dirty="0"/>
              <a:t>质量控制</a:t>
            </a:r>
          </a:p>
          <a:p>
            <a:pPr marL="0" indent="0" algn="just">
              <a:buNone/>
            </a:pPr>
            <a:r>
              <a:rPr lang="en-US" altLang="zh-CN" sz="2400" dirty="0"/>
              <a:t>     2.6 </a:t>
            </a:r>
            <a:r>
              <a:rPr lang="zh-CN" altLang="en-US" sz="2400" dirty="0"/>
              <a:t>质量测评</a:t>
            </a:r>
          </a:p>
          <a:p>
            <a:pPr marL="0" indent="0" algn="just">
              <a:buNone/>
            </a:pPr>
            <a:r>
              <a:rPr lang="zh-CN" altLang="en-US" sz="2400" dirty="0"/>
              <a:t>第三部分 资质和参考</a:t>
            </a:r>
            <a:r>
              <a:rPr lang="en-US" altLang="zh-CN" sz="2400" dirty="0"/>
              <a:t> </a:t>
            </a:r>
          </a:p>
          <a:p>
            <a:pPr marL="0" indent="0" algn="just">
              <a:buNone/>
            </a:pPr>
            <a:r>
              <a:rPr lang="en-US" altLang="zh-CN" sz="2400" dirty="0"/>
              <a:t>     3.1 </a:t>
            </a:r>
            <a:r>
              <a:rPr lang="zh-CN" altLang="en-US" sz="2400" dirty="0"/>
              <a:t>投标工作的资质</a:t>
            </a:r>
          </a:p>
          <a:p>
            <a:pPr marL="0" indent="0" algn="just">
              <a:buNone/>
            </a:pPr>
            <a:r>
              <a:rPr lang="en-US" altLang="zh-CN" sz="2400" dirty="0"/>
              <a:t>     3.2 </a:t>
            </a:r>
            <a:r>
              <a:rPr lang="zh-CN" altLang="en-US" sz="2400" dirty="0"/>
              <a:t>通用业务情况</a:t>
            </a:r>
            <a:endParaRPr lang="en-US" altLang="zh-CN" sz="2400" dirty="0"/>
          </a:p>
          <a:p>
            <a:pPr marL="0" indent="0" algn="just">
              <a:buNone/>
            </a:pPr>
            <a:r>
              <a:rPr lang="en-US" altLang="zh-CN" sz="2400" dirty="0"/>
              <a:t>     3.3 </a:t>
            </a:r>
            <a:r>
              <a:rPr lang="zh-CN" altLang="en-US" sz="2400" dirty="0"/>
              <a:t>参考</a:t>
            </a:r>
          </a:p>
        </p:txBody>
      </p:sp>
      <p:sp>
        <p:nvSpPr>
          <p:cNvPr id="52228" name="Rectangle 4">
            <a:extLst>
              <a:ext uri="{FF2B5EF4-FFF2-40B4-BE49-F238E27FC236}">
                <a16:creationId xmlns:a16="http://schemas.microsoft.com/office/drawing/2014/main" id="{5323CC5D-68F3-4FD3-91FC-AC597BBF8FD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2229" name="Line 5">
            <a:extLst>
              <a:ext uri="{FF2B5EF4-FFF2-40B4-BE49-F238E27FC236}">
                <a16:creationId xmlns:a16="http://schemas.microsoft.com/office/drawing/2014/main" id="{A233DD7E-B128-4FA8-A3D8-F4444F7B45A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571D6BE3-493C-4351-9D21-38F5F69471B5}"/>
              </a:ext>
            </a:extLst>
          </p:cNvPr>
          <p:cNvSpPr>
            <a:spLocks noGrp="1" noChangeArrowheads="1"/>
          </p:cNvSpPr>
          <p:nvPr>
            <p:ph type="title"/>
          </p:nvPr>
        </p:nvSpPr>
        <p:spPr/>
        <p:txBody>
          <a:bodyPr/>
          <a:lstStyle/>
          <a:p>
            <a:pPr eaLnBrk="1" hangingPunct="1"/>
            <a:r>
              <a:rPr lang="en-US" altLang="zh-CN" b="1" dirty="0"/>
              <a:t>2.3 </a:t>
            </a:r>
            <a:r>
              <a:rPr lang="zh-CN" altLang="en-US" b="1" dirty="0"/>
              <a:t>信息系统项目的招标与评价</a:t>
            </a:r>
            <a:r>
              <a:rPr lang="zh-CN" altLang="en-US" dirty="0"/>
              <a:t> </a:t>
            </a:r>
          </a:p>
        </p:txBody>
      </p:sp>
      <p:sp>
        <p:nvSpPr>
          <p:cNvPr id="52227" name="Rectangle 3">
            <a:extLst>
              <a:ext uri="{FF2B5EF4-FFF2-40B4-BE49-F238E27FC236}">
                <a16:creationId xmlns:a16="http://schemas.microsoft.com/office/drawing/2014/main" id="{CB92FD96-D420-4AE1-8FA8-05750A778E1C}"/>
              </a:ext>
            </a:extLst>
          </p:cNvPr>
          <p:cNvSpPr>
            <a:spLocks noGrp="1" noChangeArrowheads="1"/>
          </p:cNvSpPr>
          <p:nvPr>
            <p:ph idx="1"/>
          </p:nvPr>
        </p:nvSpPr>
        <p:spPr>
          <a:xfrm>
            <a:off x="323528" y="1412776"/>
            <a:ext cx="7886700" cy="2952323"/>
          </a:xfrm>
        </p:spPr>
        <p:txBody>
          <a:bodyPr>
            <a:noAutofit/>
          </a:bodyPr>
          <a:lstStyle/>
          <a:p>
            <a:pPr marL="0" indent="0" algn="just" eaLnBrk="1" hangingPunct="1">
              <a:buNone/>
            </a:pPr>
            <a:r>
              <a:rPr lang="zh-CN" altLang="en-US" b="1" dirty="0"/>
              <a:t>投标书主要内容：</a:t>
            </a:r>
            <a:endParaRPr lang="en-US" altLang="zh-CN" b="1" dirty="0"/>
          </a:p>
          <a:p>
            <a:pPr marL="0" indent="0" algn="just" eaLnBrk="1" hangingPunct="1">
              <a:buNone/>
            </a:pPr>
            <a:r>
              <a:rPr lang="zh-CN" altLang="en-US" sz="2400" dirty="0"/>
              <a:t>第四部分 合同的管理程序</a:t>
            </a:r>
            <a:endParaRPr lang="en-US" altLang="zh-CN" sz="2400" dirty="0"/>
          </a:p>
          <a:p>
            <a:pPr marL="0" indent="0" algn="just">
              <a:buNone/>
            </a:pPr>
            <a:r>
              <a:rPr lang="zh-CN" altLang="en-US" sz="2400" dirty="0"/>
              <a:t>第五部分 报价</a:t>
            </a:r>
          </a:p>
          <a:p>
            <a:pPr marL="0" indent="0" algn="just">
              <a:buNone/>
            </a:pPr>
            <a:r>
              <a:rPr lang="en-US" altLang="zh-CN" sz="2400" dirty="0"/>
              <a:t>	5.1 </a:t>
            </a:r>
            <a:r>
              <a:rPr lang="zh-CN" altLang="en-US" sz="2400" dirty="0"/>
              <a:t>各项功能的报价</a:t>
            </a:r>
          </a:p>
          <a:p>
            <a:pPr marL="0" indent="0" algn="just">
              <a:buNone/>
            </a:pPr>
            <a:r>
              <a:rPr lang="en-US" altLang="zh-CN" sz="2400" dirty="0"/>
              <a:t>	5.2 </a:t>
            </a:r>
            <a:r>
              <a:rPr lang="zh-CN" altLang="en-US" sz="2400" dirty="0"/>
              <a:t>总报价</a:t>
            </a:r>
          </a:p>
          <a:p>
            <a:pPr marL="0" indent="0" algn="just">
              <a:buNone/>
            </a:pPr>
            <a:r>
              <a:rPr lang="zh-CN" altLang="en-US" sz="2400" dirty="0"/>
              <a:t>合同样本（作为标书的附录）</a:t>
            </a:r>
            <a:endParaRPr lang="zh-CN" altLang="en-US" dirty="0"/>
          </a:p>
        </p:txBody>
      </p:sp>
      <p:sp>
        <p:nvSpPr>
          <p:cNvPr id="52228" name="Rectangle 4">
            <a:extLst>
              <a:ext uri="{FF2B5EF4-FFF2-40B4-BE49-F238E27FC236}">
                <a16:creationId xmlns:a16="http://schemas.microsoft.com/office/drawing/2014/main" id="{5323CC5D-68F3-4FD3-91FC-AC597BBF8FD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2229" name="Line 5">
            <a:extLst>
              <a:ext uri="{FF2B5EF4-FFF2-40B4-BE49-F238E27FC236}">
                <a16:creationId xmlns:a16="http://schemas.microsoft.com/office/drawing/2014/main" id="{A233DD7E-B128-4FA8-A3D8-F4444F7B45A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7869907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BCC46EE-4427-44DD-A652-20FA1D01B3E2}"/>
              </a:ext>
            </a:extLst>
          </p:cNvPr>
          <p:cNvSpPr>
            <a:spLocks noGrp="1" noChangeArrowheads="1"/>
          </p:cNvSpPr>
          <p:nvPr>
            <p:ph type="title"/>
          </p:nvPr>
        </p:nvSpPr>
        <p:spPr/>
        <p:txBody>
          <a:bodyPr/>
          <a:lstStyle/>
          <a:p>
            <a:pPr eaLnBrk="1" hangingPunct="1"/>
            <a:r>
              <a:rPr lang="en-US" altLang="zh-CN" b="1"/>
              <a:t>2.3 </a:t>
            </a:r>
            <a:r>
              <a:rPr lang="zh-CN" altLang="en-US" b="1"/>
              <a:t>信息系统项目的招标与评价</a:t>
            </a:r>
            <a:r>
              <a:rPr lang="zh-CN" altLang="en-US"/>
              <a:t> </a:t>
            </a:r>
          </a:p>
        </p:txBody>
      </p:sp>
      <p:sp>
        <p:nvSpPr>
          <p:cNvPr id="54275" name="Rectangle 3">
            <a:extLst>
              <a:ext uri="{FF2B5EF4-FFF2-40B4-BE49-F238E27FC236}">
                <a16:creationId xmlns:a16="http://schemas.microsoft.com/office/drawing/2014/main" id="{BB77284A-6666-4F89-A743-0EF843196062}"/>
              </a:ext>
            </a:extLst>
          </p:cNvPr>
          <p:cNvSpPr>
            <a:spLocks noGrp="1" noChangeArrowheads="1"/>
          </p:cNvSpPr>
          <p:nvPr>
            <p:ph idx="1"/>
          </p:nvPr>
        </p:nvSpPr>
        <p:spPr>
          <a:xfrm>
            <a:off x="467544" y="1556792"/>
            <a:ext cx="7886700" cy="4351338"/>
          </a:xfrm>
        </p:spPr>
        <p:txBody>
          <a:bodyPr/>
          <a:lstStyle/>
          <a:p>
            <a:pPr marL="609600" indent="-609600" algn="just" eaLnBrk="1" hangingPunct="1"/>
            <a:r>
              <a:rPr lang="en-US" altLang="zh-CN" b="1" dirty="0"/>
              <a:t>2.3.4 </a:t>
            </a:r>
            <a:r>
              <a:rPr lang="en-US" altLang="zh-CN" dirty="0"/>
              <a:t> </a:t>
            </a:r>
            <a:r>
              <a:rPr lang="zh-CN" altLang="en-US" b="1" dirty="0"/>
              <a:t>信息系统项目承包商的选择</a:t>
            </a:r>
          </a:p>
          <a:p>
            <a:pPr marL="609600" indent="-609600" algn="just" eaLnBrk="1" hangingPunct="1"/>
            <a:endParaRPr lang="zh-CN" altLang="en-US" b="1" dirty="0"/>
          </a:p>
          <a:p>
            <a:pPr marL="609600" indent="-609600" algn="just" eaLnBrk="1" hangingPunct="1"/>
            <a:endParaRPr lang="en-US" altLang="zh-CN" dirty="0"/>
          </a:p>
        </p:txBody>
      </p:sp>
      <p:sp>
        <p:nvSpPr>
          <p:cNvPr id="54276" name="Rectangle 4">
            <a:extLst>
              <a:ext uri="{FF2B5EF4-FFF2-40B4-BE49-F238E27FC236}">
                <a16:creationId xmlns:a16="http://schemas.microsoft.com/office/drawing/2014/main" id="{CA1B6ED9-16D1-4B6A-88D6-543336361A42}"/>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4277" name="Line 5">
            <a:extLst>
              <a:ext uri="{FF2B5EF4-FFF2-40B4-BE49-F238E27FC236}">
                <a16:creationId xmlns:a16="http://schemas.microsoft.com/office/drawing/2014/main" id="{B6AC7CB8-A069-4AEB-BBB9-49F07449F1E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4278" name="Picture 6">
            <a:extLst>
              <a:ext uri="{FF2B5EF4-FFF2-40B4-BE49-F238E27FC236}">
                <a16:creationId xmlns:a16="http://schemas.microsoft.com/office/drawing/2014/main" id="{8571F2A7-112D-4F2F-A358-D133BA3E1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5" y="2094431"/>
            <a:ext cx="860425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0A9D9009-417E-4E22-95CD-03446A45B9DF}"/>
              </a:ext>
            </a:extLst>
          </p:cNvPr>
          <p:cNvSpPr>
            <a:spLocks noGrp="1" noChangeArrowheads="1"/>
          </p:cNvSpPr>
          <p:nvPr>
            <p:ph type="title"/>
          </p:nvPr>
        </p:nvSpPr>
        <p:spPr/>
        <p:txBody>
          <a:bodyPr/>
          <a:lstStyle/>
          <a:p>
            <a:pPr eaLnBrk="1" hangingPunct="1"/>
            <a:r>
              <a:rPr lang="en-US" altLang="zh-CN" b="1"/>
              <a:t>2.3 </a:t>
            </a:r>
            <a:r>
              <a:rPr lang="zh-CN" altLang="en-US" b="1"/>
              <a:t>信息系统项目的招标与评价</a:t>
            </a:r>
            <a:r>
              <a:rPr lang="zh-CN" altLang="en-US"/>
              <a:t> </a:t>
            </a:r>
          </a:p>
        </p:txBody>
      </p:sp>
      <p:sp>
        <p:nvSpPr>
          <p:cNvPr id="56323" name="Rectangle 3">
            <a:extLst>
              <a:ext uri="{FF2B5EF4-FFF2-40B4-BE49-F238E27FC236}">
                <a16:creationId xmlns:a16="http://schemas.microsoft.com/office/drawing/2014/main" id="{EE8F22A4-BFFD-44FC-99C8-62FF03F0BF4A}"/>
              </a:ext>
            </a:extLst>
          </p:cNvPr>
          <p:cNvSpPr>
            <a:spLocks noGrp="1" noChangeArrowheads="1"/>
          </p:cNvSpPr>
          <p:nvPr>
            <p:ph idx="1"/>
          </p:nvPr>
        </p:nvSpPr>
        <p:spPr>
          <a:xfrm>
            <a:off x="467544" y="1690689"/>
            <a:ext cx="7886700" cy="4351338"/>
          </a:xfrm>
        </p:spPr>
        <p:txBody>
          <a:bodyPr/>
          <a:lstStyle/>
          <a:p>
            <a:pPr marL="609600" indent="-609600" algn="just" eaLnBrk="1" hangingPunct="1">
              <a:lnSpc>
                <a:spcPct val="90000"/>
              </a:lnSpc>
            </a:pPr>
            <a:r>
              <a:rPr lang="en-US" altLang="zh-CN" b="1" dirty="0"/>
              <a:t>2.3.5 </a:t>
            </a:r>
            <a:r>
              <a:rPr lang="en-US" altLang="zh-CN" dirty="0"/>
              <a:t> </a:t>
            </a:r>
            <a:r>
              <a:rPr lang="zh-CN" altLang="en-US" b="1" dirty="0"/>
              <a:t>信息系统项目效益的评价</a:t>
            </a:r>
          </a:p>
          <a:p>
            <a:pPr marL="609600" indent="-609600" algn="just" eaLnBrk="1" hangingPunct="1">
              <a:lnSpc>
                <a:spcPct val="90000"/>
              </a:lnSpc>
            </a:pPr>
            <a:endParaRPr lang="en-US" altLang="zh-CN" sz="2400" dirty="0"/>
          </a:p>
          <a:p>
            <a:pPr marL="609600" indent="-609600" algn="just" eaLnBrk="1" hangingPunct="1">
              <a:lnSpc>
                <a:spcPct val="90000"/>
              </a:lnSpc>
            </a:pPr>
            <a:r>
              <a:rPr lang="en-US" altLang="zh-CN" sz="2400" dirty="0"/>
              <a:t>1. </a:t>
            </a:r>
            <a:r>
              <a:rPr lang="zh-CN" altLang="en-US" sz="2400" dirty="0"/>
              <a:t>前后对比法</a:t>
            </a:r>
          </a:p>
          <a:p>
            <a:pPr marL="990600" lvl="1" indent="-533400" algn="just" eaLnBrk="1" hangingPunct="1">
              <a:lnSpc>
                <a:spcPct val="90000"/>
              </a:lnSpc>
            </a:pPr>
            <a:r>
              <a:rPr lang="zh-CN" altLang="en-US" sz="2400" dirty="0"/>
              <a:t>前后对比是对于信息系统项目“建成并投入使用后”和该项目“建设前”组织的实际绩效进行对比，求得差值得到信息系统项目建设效益的一种方法。 </a:t>
            </a:r>
          </a:p>
          <a:p>
            <a:pPr marL="609600" indent="-609600" algn="just" eaLnBrk="1" hangingPunct="1">
              <a:lnSpc>
                <a:spcPct val="90000"/>
              </a:lnSpc>
            </a:pPr>
            <a:endParaRPr lang="en-US" altLang="zh-CN" sz="2400" dirty="0"/>
          </a:p>
          <a:p>
            <a:pPr marL="609600" indent="-609600" algn="just" eaLnBrk="1" hangingPunct="1">
              <a:lnSpc>
                <a:spcPct val="90000"/>
              </a:lnSpc>
            </a:pPr>
            <a:r>
              <a:rPr lang="en-US" altLang="zh-CN" sz="2400" dirty="0"/>
              <a:t>2. </a:t>
            </a:r>
            <a:r>
              <a:rPr lang="zh-CN" altLang="en-US" sz="2400" dirty="0"/>
              <a:t>有无对比法</a:t>
            </a:r>
          </a:p>
          <a:p>
            <a:pPr marL="990600" lvl="1" indent="-533400" algn="just" eaLnBrk="1" hangingPunct="1">
              <a:lnSpc>
                <a:spcPct val="90000"/>
              </a:lnSpc>
            </a:pPr>
            <a:r>
              <a:rPr lang="zh-CN" altLang="en-US" sz="2400" dirty="0"/>
              <a:t>有无对比是对于项目建设后产生的实际影响和效果，和假设没有本项目可能发生的情况进行对比。</a:t>
            </a:r>
          </a:p>
          <a:p>
            <a:pPr marL="609600" indent="-609600" algn="just" eaLnBrk="1" hangingPunct="1">
              <a:lnSpc>
                <a:spcPct val="90000"/>
              </a:lnSpc>
            </a:pPr>
            <a:endParaRPr lang="en-US" altLang="zh-CN" dirty="0"/>
          </a:p>
        </p:txBody>
      </p:sp>
      <p:sp>
        <p:nvSpPr>
          <p:cNvPr id="56324" name="Rectangle 4">
            <a:extLst>
              <a:ext uri="{FF2B5EF4-FFF2-40B4-BE49-F238E27FC236}">
                <a16:creationId xmlns:a16="http://schemas.microsoft.com/office/drawing/2014/main" id="{0ECF949C-29AD-40EC-B33B-0310CDEAD7C6}"/>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6325" name="Line 5">
            <a:extLst>
              <a:ext uri="{FF2B5EF4-FFF2-40B4-BE49-F238E27FC236}">
                <a16:creationId xmlns:a16="http://schemas.microsoft.com/office/drawing/2014/main" id="{1BC09C3B-01FB-48A2-80BC-287DAB5A6981}"/>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9F70DEAE-EB27-4FA9-A4A8-5089D554BC37}"/>
              </a:ext>
            </a:extLst>
          </p:cNvPr>
          <p:cNvSpPr>
            <a:spLocks noGrp="1" noChangeArrowheads="1"/>
          </p:cNvSpPr>
          <p:nvPr>
            <p:ph type="title"/>
          </p:nvPr>
        </p:nvSpPr>
        <p:spPr/>
        <p:txBody>
          <a:bodyPr/>
          <a:lstStyle/>
          <a:p>
            <a:pPr algn="l" eaLnBrk="1" hangingPunct="1"/>
            <a:r>
              <a:rPr lang="en-US" altLang="zh-CN" b="1"/>
              <a:t>2.4 </a:t>
            </a:r>
            <a:r>
              <a:rPr lang="zh-CN" altLang="en-US" b="1"/>
              <a:t>信息系统项目的合同</a:t>
            </a:r>
          </a:p>
        </p:txBody>
      </p:sp>
      <p:sp>
        <p:nvSpPr>
          <p:cNvPr id="58371" name="Rectangle 3">
            <a:extLst>
              <a:ext uri="{FF2B5EF4-FFF2-40B4-BE49-F238E27FC236}">
                <a16:creationId xmlns:a16="http://schemas.microsoft.com/office/drawing/2014/main" id="{7A2689C9-2410-40D5-BCA9-50BF7251F332}"/>
              </a:ext>
            </a:extLst>
          </p:cNvPr>
          <p:cNvSpPr>
            <a:spLocks noGrp="1" noChangeArrowheads="1"/>
          </p:cNvSpPr>
          <p:nvPr>
            <p:ph idx="1"/>
          </p:nvPr>
        </p:nvSpPr>
        <p:spPr>
          <a:xfrm>
            <a:off x="628650" y="1825625"/>
            <a:ext cx="7886700" cy="3403575"/>
          </a:xfrm>
        </p:spPr>
        <p:txBody>
          <a:bodyPr>
            <a:noAutofit/>
          </a:bodyPr>
          <a:lstStyle/>
          <a:p>
            <a:pPr eaLnBrk="1" hangingPunct="1"/>
            <a:r>
              <a:rPr lang="zh-CN" altLang="en-US" sz="2400" dirty="0"/>
              <a:t>信息系统项目的建设方选定之后，项目的投资方就必须尽快和建设方签订合同，并且尽快启动项目。</a:t>
            </a:r>
            <a:endParaRPr lang="en-US" altLang="zh-CN" sz="2400" dirty="0"/>
          </a:p>
          <a:p>
            <a:pPr eaLnBrk="1" hangingPunct="1"/>
            <a:r>
              <a:rPr lang="zh-CN" altLang="en-US" sz="2400" dirty="0"/>
              <a:t>一份完善的合同对信息系统项目的成功至关重要。</a:t>
            </a:r>
          </a:p>
          <a:p>
            <a:pPr lvl="1" eaLnBrk="1" hangingPunct="1"/>
            <a:r>
              <a:rPr lang="zh-CN" altLang="en-US" sz="2400" dirty="0"/>
              <a:t>合同应当保障实现客户和承包商二者的目标，对待双方都应公平合理</a:t>
            </a:r>
          </a:p>
          <a:p>
            <a:pPr lvl="1" eaLnBrk="1" hangingPunct="1"/>
            <a:r>
              <a:rPr lang="zh-CN" altLang="en-US" sz="2400" dirty="0"/>
              <a:t>合同的内容要清楚明了</a:t>
            </a:r>
            <a:r>
              <a:rPr lang="en-US" altLang="zh-CN" sz="2400" dirty="0"/>
              <a:t>,</a:t>
            </a:r>
            <a:r>
              <a:rPr lang="zh-CN" altLang="en-US" sz="2400" dirty="0"/>
              <a:t>合同必须是客户和承包商双赢的结果</a:t>
            </a:r>
          </a:p>
          <a:p>
            <a:pPr lvl="1" eaLnBrk="1" hangingPunct="1"/>
            <a:r>
              <a:rPr lang="zh-CN" altLang="en-US" sz="2400" dirty="0"/>
              <a:t>必须有足够的柔性，以涵盖业务中的变化</a:t>
            </a:r>
          </a:p>
        </p:txBody>
      </p:sp>
      <p:sp>
        <p:nvSpPr>
          <p:cNvPr id="58372" name="Rectangle 4">
            <a:extLst>
              <a:ext uri="{FF2B5EF4-FFF2-40B4-BE49-F238E27FC236}">
                <a16:creationId xmlns:a16="http://schemas.microsoft.com/office/drawing/2014/main" id="{3D6D1A40-1A3B-4658-82C9-5CF6A4A8795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58373" name="Line 5">
            <a:extLst>
              <a:ext uri="{FF2B5EF4-FFF2-40B4-BE49-F238E27FC236}">
                <a16:creationId xmlns:a16="http://schemas.microsoft.com/office/drawing/2014/main" id="{9D255847-9805-41CE-ACA8-5CE12516D80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AF3BCB7-C990-4034-BDB8-AEA4C4C403D7}"/>
              </a:ext>
            </a:extLst>
          </p:cNvPr>
          <p:cNvSpPr>
            <a:spLocks noGrp="1" noChangeArrowheads="1"/>
          </p:cNvSpPr>
          <p:nvPr>
            <p:ph type="title"/>
          </p:nvPr>
        </p:nvSpPr>
        <p:spPr/>
        <p:txBody>
          <a:bodyPr/>
          <a:lstStyle/>
          <a:p>
            <a:pPr algn="l" eaLnBrk="1" hangingPunct="1"/>
            <a:r>
              <a:rPr lang="en-US" altLang="zh-CN" sz="4000" b="1"/>
              <a:t>2.4.1</a:t>
            </a:r>
            <a:r>
              <a:rPr lang="zh-CN" altLang="en-US" sz="4000" b="1"/>
              <a:t>合同的一般格式与主要内容</a:t>
            </a:r>
            <a:r>
              <a:rPr lang="zh-CN" altLang="en-US" sz="4000"/>
              <a:t> </a:t>
            </a:r>
          </a:p>
        </p:txBody>
      </p:sp>
      <p:sp>
        <p:nvSpPr>
          <p:cNvPr id="60419" name="Rectangle 3">
            <a:extLst>
              <a:ext uri="{FF2B5EF4-FFF2-40B4-BE49-F238E27FC236}">
                <a16:creationId xmlns:a16="http://schemas.microsoft.com/office/drawing/2014/main" id="{5F238CE0-6F94-4CB1-AB2C-DFE13BAA7111}"/>
              </a:ext>
            </a:extLst>
          </p:cNvPr>
          <p:cNvSpPr>
            <a:spLocks noGrp="1" noChangeArrowheads="1"/>
          </p:cNvSpPr>
          <p:nvPr>
            <p:ph idx="1"/>
          </p:nvPr>
        </p:nvSpPr>
        <p:spPr/>
        <p:txBody>
          <a:bodyPr/>
          <a:lstStyle/>
          <a:p>
            <a:pPr eaLnBrk="1" hangingPunct="1">
              <a:lnSpc>
                <a:spcPct val="90000"/>
              </a:lnSpc>
            </a:pPr>
            <a:r>
              <a:rPr lang="en-US" altLang="zh-CN" sz="2400" dirty="0"/>
              <a:t>1 .</a:t>
            </a:r>
            <a:r>
              <a:rPr lang="zh-CN" altLang="en-US" sz="2400" dirty="0"/>
              <a:t>标定的范围</a:t>
            </a:r>
          </a:p>
          <a:p>
            <a:pPr eaLnBrk="1" hangingPunct="1">
              <a:lnSpc>
                <a:spcPct val="90000"/>
              </a:lnSpc>
            </a:pPr>
            <a:r>
              <a:rPr lang="en-US" altLang="zh-CN" sz="2400" dirty="0"/>
              <a:t>2. </a:t>
            </a:r>
            <a:r>
              <a:rPr lang="zh-CN" altLang="en-US" sz="2400" dirty="0"/>
              <a:t>合同期限 </a:t>
            </a:r>
          </a:p>
          <a:p>
            <a:pPr eaLnBrk="1" hangingPunct="1">
              <a:lnSpc>
                <a:spcPct val="90000"/>
              </a:lnSpc>
            </a:pPr>
            <a:r>
              <a:rPr lang="en-US" altLang="zh-CN" sz="2400" dirty="0"/>
              <a:t>3. </a:t>
            </a:r>
            <a:r>
              <a:rPr lang="zh-CN" altLang="en-US" sz="2400" dirty="0"/>
              <a:t>费用</a:t>
            </a:r>
          </a:p>
          <a:p>
            <a:pPr eaLnBrk="1" hangingPunct="1">
              <a:lnSpc>
                <a:spcPct val="90000"/>
              </a:lnSpc>
            </a:pPr>
            <a:r>
              <a:rPr lang="en-US" altLang="zh-CN" sz="2400" dirty="0"/>
              <a:t>4. </a:t>
            </a:r>
            <a:r>
              <a:rPr lang="zh-CN" altLang="en-US" sz="2400" dirty="0"/>
              <a:t>进度和质量</a:t>
            </a:r>
          </a:p>
          <a:p>
            <a:pPr eaLnBrk="1" hangingPunct="1">
              <a:lnSpc>
                <a:spcPct val="90000"/>
              </a:lnSpc>
            </a:pPr>
            <a:r>
              <a:rPr lang="en-US" altLang="zh-CN" sz="2400" dirty="0"/>
              <a:t>5. </a:t>
            </a:r>
            <a:r>
              <a:rPr lang="zh-CN" altLang="en-US" sz="2400" dirty="0"/>
              <a:t>争议的解决</a:t>
            </a:r>
          </a:p>
          <a:p>
            <a:pPr eaLnBrk="1" hangingPunct="1">
              <a:lnSpc>
                <a:spcPct val="90000"/>
              </a:lnSpc>
            </a:pPr>
            <a:r>
              <a:rPr lang="en-US" altLang="zh-CN" sz="2400" dirty="0"/>
              <a:t>6. </a:t>
            </a:r>
            <a:r>
              <a:rPr lang="zh-CN" altLang="en-US" sz="2400" dirty="0"/>
              <a:t>保证和责任的限定</a:t>
            </a:r>
          </a:p>
          <a:p>
            <a:pPr eaLnBrk="1" hangingPunct="1">
              <a:lnSpc>
                <a:spcPct val="90000"/>
              </a:lnSpc>
            </a:pPr>
            <a:r>
              <a:rPr lang="en-US" altLang="zh-CN" sz="2400" dirty="0"/>
              <a:t>7. </a:t>
            </a:r>
            <a:r>
              <a:rPr lang="zh-CN" altLang="en-US" sz="2400" dirty="0"/>
              <a:t>合同到期和终止</a:t>
            </a:r>
          </a:p>
          <a:p>
            <a:pPr eaLnBrk="1" hangingPunct="1">
              <a:lnSpc>
                <a:spcPct val="90000"/>
              </a:lnSpc>
            </a:pPr>
            <a:r>
              <a:rPr lang="en-US" altLang="zh-CN" sz="2400" dirty="0"/>
              <a:t>8. </a:t>
            </a:r>
            <a:r>
              <a:rPr lang="zh-CN" altLang="en-US" sz="2400" dirty="0"/>
              <a:t>其他条款。变更、知识产权、分包、保密、不可抗力等  条款。 </a:t>
            </a:r>
          </a:p>
        </p:txBody>
      </p:sp>
      <p:sp>
        <p:nvSpPr>
          <p:cNvPr id="60420" name="Rectangle 4">
            <a:extLst>
              <a:ext uri="{FF2B5EF4-FFF2-40B4-BE49-F238E27FC236}">
                <a16:creationId xmlns:a16="http://schemas.microsoft.com/office/drawing/2014/main" id="{D627E07A-F408-4E0A-96F1-FBB38F236BA0}"/>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0421" name="Line 5">
            <a:extLst>
              <a:ext uri="{FF2B5EF4-FFF2-40B4-BE49-F238E27FC236}">
                <a16:creationId xmlns:a16="http://schemas.microsoft.com/office/drawing/2014/main" id="{7104A8EB-3E2F-4FD9-AA07-86D820CC79F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49876202-6847-43A8-B49F-FBB5398CC2EB}"/>
              </a:ext>
            </a:extLst>
          </p:cNvPr>
          <p:cNvSpPr>
            <a:spLocks noGrp="1" noChangeArrowheads="1"/>
          </p:cNvSpPr>
          <p:nvPr>
            <p:ph type="title"/>
          </p:nvPr>
        </p:nvSpPr>
        <p:spPr/>
        <p:txBody>
          <a:bodyPr/>
          <a:lstStyle/>
          <a:p>
            <a:pPr algn="l" eaLnBrk="1" hangingPunct="1"/>
            <a:r>
              <a:rPr lang="en-US" altLang="zh-CN" sz="4000" b="1"/>
              <a:t>2.4.2  </a:t>
            </a:r>
            <a:r>
              <a:rPr lang="zh-CN" altLang="en-US" sz="4000" b="1"/>
              <a:t>合同中的非价格条款</a:t>
            </a:r>
          </a:p>
        </p:txBody>
      </p:sp>
      <p:sp>
        <p:nvSpPr>
          <p:cNvPr id="62467" name="Rectangle 3">
            <a:extLst>
              <a:ext uri="{FF2B5EF4-FFF2-40B4-BE49-F238E27FC236}">
                <a16:creationId xmlns:a16="http://schemas.microsoft.com/office/drawing/2014/main" id="{79FC0E04-05ED-441D-8BCB-9136C76106F4}"/>
              </a:ext>
            </a:extLst>
          </p:cNvPr>
          <p:cNvSpPr>
            <a:spLocks noGrp="1" noChangeArrowheads="1"/>
          </p:cNvSpPr>
          <p:nvPr>
            <p:ph idx="1"/>
          </p:nvPr>
        </p:nvSpPr>
        <p:spPr/>
        <p:txBody>
          <a:bodyPr/>
          <a:lstStyle/>
          <a:p>
            <a:pPr eaLnBrk="1" hangingPunct="1">
              <a:lnSpc>
                <a:spcPct val="90000"/>
              </a:lnSpc>
            </a:pPr>
            <a:r>
              <a:rPr lang="zh-CN" altLang="en-US" sz="2400" dirty="0"/>
              <a:t>（</a:t>
            </a:r>
            <a:r>
              <a:rPr lang="en-US" altLang="zh-CN" sz="2400" dirty="0"/>
              <a:t>1</a:t>
            </a:r>
            <a:r>
              <a:rPr lang="zh-CN" altLang="en-US" sz="2400" dirty="0"/>
              <a:t>）成本超支或进度延迟的通知条款</a:t>
            </a:r>
          </a:p>
          <a:p>
            <a:pPr eaLnBrk="1" hangingPunct="1">
              <a:lnSpc>
                <a:spcPct val="90000"/>
              </a:lnSpc>
            </a:pPr>
            <a:r>
              <a:rPr lang="zh-CN" altLang="en-US" sz="2400" dirty="0"/>
              <a:t>（</a:t>
            </a:r>
            <a:r>
              <a:rPr lang="en-US" altLang="zh-CN" sz="2400" dirty="0"/>
              <a:t>2</a:t>
            </a:r>
            <a:r>
              <a:rPr lang="zh-CN" altLang="en-US" sz="2400" dirty="0"/>
              <a:t>）分包的限制条款</a:t>
            </a:r>
          </a:p>
          <a:p>
            <a:pPr eaLnBrk="1" hangingPunct="1">
              <a:lnSpc>
                <a:spcPct val="90000"/>
              </a:lnSpc>
            </a:pPr>
            <a:r>
              <a:rPr lang="zh-CN" altLang="en-US" sz="2400" dirty="0"/>
              <a:t>（</a:t>
            </a:r>
            <a:r>
              <a:rPr lang="en-US" altLang="zh-CN" sz="2400" dirty="0"/>
              <a:t>3</a:t>
            </a:r>
            <a:r>
              <a:rPr lang="zh-CN" altLang="en-US" sz="2400" dirty="0"/>
              <a:t>）明确用户承担配合义务的条款</a:t>
            </a:r>
          </a:p>
          <a:p>
            <a:pPr eaLnBrk="1" hangingPunct="1">
              <a:lnSpc>
                <a:spcPct val="90000"/>
              </a:lnSpc>
            </a:pPr>
            <a:r>
              <a:rPr lang="zh-CN" altLang="en-US" sz="2400" dirty="0"/>
              <a:t>（</a:t>
            </a:r>
            <a:r>
              <a:rPr lang="en-US" altLang="zh-CN" sz="2400" dirty="0"/>
              <a:t>4</a:t>
            </a:r>
            <a:r>
              <a:rPr lang="zh-CN" altLang="en-US" sz="2400" dirty="0"/>
              <a:t>）有关知识产权的条款。在建设信息系统过程中产生的知识或软件的所有权的问题必须明确。</a:t>
            </a:r>
          </a:p>
          <a:p>
            <a:pPr eaLnBrk="1" hangingPunct="1">
              <a:lnSpc>
                <a:spcPct val="90000"/>
              </a:lnSpc>
            </a:pPr>
            <a:r>
              <a:rPr lang="zh-CN" altLang="en-US" sz="2400" dirty="0"/>
              <a:t>（</a:t>
            </a:r>
            <a:r>
              <a:rPr lang="en-US" altLang="zh-CN" sz="2400" dirty="0"/>
              <a:t>5</a:t>
            </a:r>
            <a:r>
              <a:rPr lang="zh-CN" altLang="en-US" sz="2400" dirty="0"/>
              <a:t>）有关保密协议的条款</a:t>
            </a:r>
          </a:p>
          <a:p>
            <a:pPr eaLnBrk="1" hangingPunct="1">
              <a:lnSpc>
                <a:spcPct val="90000"/>
              </a:lnSpc>
            </a:pPr>
            <a:r>
              <a:rPr lang="zh-CN" altLang="en-US" sz="2400" dirty="0"/>
              <a:t>（</a:t>
            </a:r>
            <a:r>
              <a:rPr lang="en-US" altLang="zh-CN" sz="2400" dirty="0"/>
              <a:t>6</a:t>
            </a:r>
            <a:r>
              <a:rPr lang="zh-CN" altLang="en-US" sz="2400" dirty="0"/>
              <a:t>）付款方式的条款</a:t>
            </a:r>
          </a:p>
          <a:p>
            <a:pPr eaLnBrk="1" hangingPunct="1">
              <a:lnSpc>
                <a:spcPct val="90000"/>
              </a:lnSpc>
            </a:pPr>
            <a:r>
              <a:rPr lang="zh-CN" altLang="en-US" sz="2400" dirty="0"/>
              <a:t>（</a:t>
            </a:r>
            <a:r>
              <a:rPr lang="en-US" altLang="zh-CN" sz="2400" dirty="0"/>
              <a:t>7</a:t>
            </a:r>
            <a:r>
              <a:rPr lang="zh-CN" altLang="en-US" sz="2400" dirty="0"/>
              <a:t>）有关奖罚的条款。 </a:t>
            </a:r>
          </a:p>
        </p:txBody>
      </p:sp>
      <p:sp>
        <p:nvSpPr>
          <p:cNvPr id="62468" name="Rectangle 4">
            <a:extLst>
              <a:ext uri="{FF2B5EF4-FFF2-40B4-BE49-F238E27FC236}">
                <a16:creationId xmlns:a16="http://schemas.microsoft.com/office/drawing/2014/main" id="{86EFF758-EF57-450D-8CD2-15E54C0BD48D}"/>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2469" name="Line 5">
            <a:extLst>
              <a:ext uri="{FF2B5EF4-FFF2-40B4-BE49-F238E27FC236}">
                <a16:creationId xmlns:a16="http://schemas.microsoft.com/office/drawing/2014/main" id="{7A78C5CB-AD2C-42F0-B480-24E37993120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p:txBody>
          <a:bodyPr/>
          <a:lstStyle/>
          <a:p>
            <a:pPr algn="just" eaLnBrk="1" hangingPunct="1"/>
            <a:r>
              <a:rPr lang="en-US" altLang="zh-CN" sz="2400" dirty="0"/>
              <a:t>1. </a:t>
            </a:r>
            <a:r>
              <a:rPr lang="zh-CN" altLang="en-US" sz="2400" dirty="0"/>
              <a:t>项目章程的颁布</a:t>
            </a:r>
            <a:endParaRPr lang="en-US" altLang="zh-CN" sz="2400" dirty="0"/>
          </a:p>
          <a:p>
            <a:pPr algn="just" eaLnBrk="1" hangingPunct="1"/>
            <a:r>
              <a:rPr lang="en-US" altLang="zh-CN" sz="2400" dirty="0"/>
              <a:t>2. </a:t>
            </a:r>
            <a:r>
              <a:rPr lang="zh-CN" altLang="en-US" sz="2400" dirty="0"/>
              <a:t>合同的管理</a:t>
            </a:r>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539552" y="1825624"/>
            <a:ext cx="8280920" cy="4483695"/>
          </a:xfrm>
        </p:spPr>
        <p:txBody>
          <a:bodyPr>
            <a:noAutofit/>
          </a:bodyPr>
          <a:lstStyle/>
          <a:p>
            <a:pPr algn="just" eaLnBrk="1" hangingPunct="1"/>
            <a:r>
              <a:rPr lang="en-US" altLang="zh-CN" sz="2400" dirty="0"/>
              <a:t>1. </a:t>
            </a:r>
            <a:r>
              <a:rPr lang="zh-CN" altLang="en-US" sz="2400" dirty="0"/>
              <a:t>项目章程的颁布</a:t>
            </a:r>
            <a:endParaRPr lang="en-US" altLang="zh-CN" sz="2400" dirty="0"/>
          </a:p>
          <a:p>
            <a:pPr marL="0" indent="0" algn="just" eaLnBrk="1" hangingPunct="1">
              <a:buNone/>
            </a:pPr>
            <a:r>
              <a:rPr lang="zh-CN" altLang="en-US" sz="2400" dirty="0"/>
              <a:t>立项完成的标志就是</a:t>
            </a:r>
            <a:r>
              <a:rPr lang="zh-CN" altLang="en-US" sz="2400" dirty="0">
                <a:solidFill>
                  <a:srgbClr val="FF0000"/>
                </a:solidFill>
              </a:rPr>
              <a:t>项目章程的颁布</a:t>
            </a:r>
            <a:r>
              <a:rPr lang="zh-CN" altLang="en-US" sz="2400" dirty="0"/>
              <a:t>，同时执行项目，开始对项目进行管理。</a:t>
            </a:r>
            <a:endParaRPr lang="en-US" altLang="zh-CN" sz="2400" dirty="0"/>
          </a:p>
          <a:p>
            <a:pPr marL="0" indent="0" algn="just">
              <a:buNone/>
            </a:pPr>
            <a:r>
              <a:rPr lang="zh-CN" altLang="en-US" sz="2400" dirty="0"/>
              <a:t>项目管理的十大知识领域：</a:t>
            </a:r>
            <a:r>
              <a:rPr lang="zh-CN" altLang="en-US" sz="2400" dirty="0">
                <a:solidFill>
                  <a:srgbClr val="FF0000"/>
                </a:solidFill>
              </a:rPr>
              <a:t>项目整体管理、项目范围管理、项目时间管理、项目费用管理、项目质量管理、项目人力资源管理、项目沟通管理、项目风险管理、项目采购管理和项目干系人管理</a:t>
            </a:r>
            <a:r>
              <a:rPr lang="zh-CN" altLang="en-US" sz="2400" dirty="0"/>
              <a:t>；</a:t>
            </a:r>
            <a:endParaRPr lang="en-US" altLang="zh-CN" sz="2400" dirty="0"/>
          </a:p>
          <a:p>
            <a:pPr marL="0" indent="0" algn="just" eaLnBrk="1" hangingPunct="1">
              <a:buNone/>
            </a:pPr>
            <a:endParaRPr lang="en-US" altLang="zh-CN" sz="2400" dirty="0"/>
          </a:p>
          <a:p>
            <a:pPr marL="0" indent="0" algn="just" eaLnBrk="1" hangingPunct="1">
              <a:buNone/>
            </a:pPr>
            <a:endParaRPr lang="en-US" altLang="zh-CN" sz="2400" dirty="0"/>
          </a:p>
          <a:p>
            <a:pPr marL="0" indent="0" algn="just" eaLnBrk="1" hangingPunct="1">
              <a:buNone/>
            </a:pPr>
            <a:endParaRPr lang="en-US" altLang="zh-CN" sz="2400" dirty="0"/>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03343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a:extLst>
              <a:ext uri="{FF2B5EF4-FFF2-40B4-BE49-F238E27FC236}">
                <a16:creationId xmlns:a16="http://schemas.microsoft.com/office/drawing/2014/main" id="{B7A2561F-AD9C-406D-9BF4-2B91723B9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44463"/>
            <a:ext cx="6624637"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53B5B17-9D6B-4719-A7C5-1EF85B482316}"/>
              </a:ext>
            </a:extLst>
          </p:cNvPr>
          <p:cNvSpPr/>
          <p:nvPr/>
        </p:nvSpPr>
        <p:spPr>
          <a:xfrm>
            <a:off x="1331640" y="1268760"/>
            <a:ext cx="1656000" cy="288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427845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 name="图片 1">
            <a:extLst>
              <a:ext uri="{FF2B5EF4-FFF2-40B4-BE49-F238E27FC236}">
                <a16:creationId xmlns:a16="http://schemas.microsoft.com/office/drawing/2014/main" id="{DD108EB2-B96F-47F7-8965-57C43C0761C7}"/>
              </a:ext>
            </a:extLst>
          </p:cNvPr>
          <p:cNvPicPr>
            <a:picLocks noChangeAspect="1"/>
          </p:cNvPicPr>
          <p:nvPr/>
        </p:nvPicPr>
        <p:blipFill>
          <a:blip r:embed="rId3"/>
          <a:stretch>
            <a:fillRect/>
          </a:stretch>
        </p:blipFill>
        <p:spPr>
          <a:xfrm>
            <a:off x="1475656" y="552720"/>
            <a:ext cx="5904656" cy="6142605"/>
          </a:xfrm>
          <a:prstGeom prst="rect">
            <a:avLst/>
          </a:prstGeom>
        </p:spPr>
      </p:pic>
    </p:spTree>
    <p:extLst>
      <p:ext uri="{BB962C8B-B14F-4D97-AF65-F5344CB8AC3E}">
        <p14:creationId xmlns:p14="http://schemas.microsoft.com/office/powerpoint/2010/main" val="28767407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539552" y="1825624"/>
            <a:ext cx="8280920" cy="4483695"/>
          </a:xfrm>
        </p:spPr>
        <p:txBody>
          <a:bodyPr>
            <a:noAutofit/>
          </a:bodyPr>
          <a:lstStyle/>
          <a:p>
            <a:pPr marL="0" indent="0" algn="just">
              <a:buNone/>
            </a:pPr>
            <a:r>
              <a:rPr lang="zh-CN" altLang="en-US" sz="2400" dirty="0"/>
              <a:t>五大管理过程组：</a:t>
            </a:r>
            <a:endParaRPr lang="en-US" altLang="zh-CN" sz="2400" dirty="0"/>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(1)</a:t>
            </a:r>
            <a:r>
              <a:rPr lang="zh-CN" altLang="en-US" sz="2400" dirty="0">
                <a:solidFill>
                  <a:srgbClr val="FF0000"/>
                </a:solidFill>
                <a:latin typeface="Times New Roman" panose="02020603050405020304" pitchFamily="18" charset="0"/>
                <a:ea typeface="黑体" panose="02010609060101010101" pitchFamily="49" charset="-122"/>
              </a:rPr>
              <a:t>启动过程组</a:t>
            </a:r>
            <a:r>
              <a:rPr lang="zh-CN" altLang="en-US" sz="2400" dirty="0">
                <a:latin typeface="Times New Roman" panose="02020603050405020304" pitchFamily="18" charset="0"/>
                <a:ea typeface="黑体" panose="02010609060101010101" pitchFamily="49" charset="-122"/>
              </a:rPr>
              <a:t>：定义了新项目或者现有项目的新阶段，启动过程组授权一个项目或者阶段的开始；</a:t>
            </a:r>
            <a:endParaRPr lang="en-US" altLang="zh-CN" sz="2400" dirty="0">
              <a:latin typeface="Times New Roman" panose="02020603050405020304" pitchFamily="18" charset="0"/>
              <a:ea typeface="黑体" panose="02010609060101010101" pitchFamily="49" charset="-122"/>
            </a:endParaRPr>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(2)</a:t>
            </a:r>
            <a:r>
              <a:rPr lang="zh-CN" altLang="en-US" sz="2400" dirty="0">
                <a:solidFill>
                  <a:srgbClr val="FF0000"/>
                </a:solidFill>
                <a:latin typeface="Times New Roman" panose="02020603050405020304" pitchFamily="18" charset="0"/>
                <a:ea typeface="黑体" panose="02010609060101010101" pitchFamily="49" charset="-122"/>
              </a:rPr>
              <a:t>计划过程组</a:t>
            </a:r>
            <a:r>
              <a:rPr lang="zh-CN" altLang="en-US" sz="2400" dirty="0">
                <a:latin typeface="Times New Roman" panose="02020603050405020304" pitchFamily="18" charset="0"/>
                <a:ea typeface="黑体" panose="02010609060101010101" pitchFamily="49" charset="-122"/>
              </a:rPr>
              <a:t>：明确项目范围、优化目标，并为实现目标制定行动计划；</a:t>
            </a:r>
            <a:endParaRPr lang="en-US" altLang="zh-CN" sz="2400" dirty="0">
              <a:latin typeface="Times New Roman" panose="02020603050405020304" pitchFamily="18" charset="0"/>
              <a:ea typeface="黑体" panose="02010609060101010101" pitchFamily="49" charset="-122"/>
            </a:endParaRPr>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(3)</a:t>
            </a:r>
            <a:r>
              <a:rPr lang="zh-CN" altLang="en-US" sz="2400" dirty="0">
                <a:solidFill>
                  <a:srgbClr val="FF0000"/>
                </a:solidFill>
                <a:latin typeface="Times New Roman" panose="02020603050405020304" pitchFamily="18" charset="0"/>
                <a:ea typeface="黑体" panose="02010609060101010101" pitchFamily="49" charset="-122"/>
              </a:rPr>
              <a:t>执行过程组</a:t>
            </a:r>
            <a:r>
              <a:rPr lang="zh-CN" altLang="en-US" sz="2400" dirty="0">
                <a:latin typeface="Times New Roman" panose="02020603050405020304" pitchFamily="18" charset="0"/>
                <a:ea typeface="黑体" panose="02010609060101010101" pitchFamily="49" charset="-122"/>
              </a:rPr>
              <a:t>：完成项目管理计划中明确的工作，以满足项目要求；</a:t>
            </a:r>
            <a:endParaRPr lang="en-US" altLang="zh-CN" sz="2400" dirty="0">
              <a:latin typeface="Times New Roman" panose="02020603050405020304" pitchFamily="18" charset="0"/>
              <a:ea typeface="黑体" panose="02010609060101010101" pitchFamily="49" charset="-122"/>
            </a:endParaRPr>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(4)</a:t>
            </a:r>
            <a:r>
              <a:rPr lang="zh-CN" altLang="en-US" sz="2400" dirty="0">
                <a:solidFill>
                  <a:srgbClr val="FF0000"/>
                </a:solidFill>
                <a:latin typeface="Times New Roman" panose="02020603050405020304" pitchFamily="18" charset="0"/>
                <a:ea typeface="黑体" panose="02010609060101010101" pitchFamily="49" charset="-122"/>
              </a:rPr>
              <a:t>控制过程组</a:t>
            </a:r>
            <a:r>
              <a:rPr lang="zh-CN" altLang="en-US" sz="2400" dirty="0">
                <a:latin typeface="Times New Roman" panose="02020603050405020304" pitchFamily="18" charset="0"/>
                <a:ea typeface="黑体" panose="02010609060101010101" pitchFamily="49" charset="-122"/>
              </a:rPr>
              <a:t>：跟踪、审查和调整项目进度和绩效，识别变更并启动相应的变更；</a:t>
            </a:r>
            <a:endParaRPr lang="en-US" altLang="zh-CN" sz="2400" dirty="0">
              <a:latin typeface="Times New Roman" panose="02020603050405020304" pitchFamily="18" charset="0"/>
              <a:ea typeface="黑体" panose="02010609060101010101" pitchFamily="49" charset="-122"/>
            </a:endParaRPr>
          </a:p>
          <a:p>
            <a:pPr marL="0" indent="0" algn="just">
              <a:buNone/>
            </a:pPr>
            <a:r>
              <a:rPr lang="en-US" altLang="zh-CN" sz="2400" dirty="0">
                <a:solidFill>
                  <a:srgbClr val="FF0000"/>
                </a:solidFill>
                <a:latin typeface="Times New Roman" panose="02020603050405020304" pitchFamily="18" charset="0"/>
                <a:ea typeface="黑体" panose="02010609060101010101" pitchFamily="49" charset="-122"/>
              </a:rPr>
              <a:t>(5)</a:t>
            </a:r>
            <a:r>
              <a:rPr lang="zh-CN" altLang="en-US" sz="2400" dirty="0">
                <a:solidFill>
                  <a:srgbClr val="FF0000"/>
                </a:solidFill>
                <a:latin typeface="Times New Roman" panose="02020603050405020304" pitchFamily="18" charset="0"/>
                <a:ea typeface="黑体" panose="02010609060101010101" pitchFamily="49" charset="-122"/>
              </a:rPr>
              <a:t>收尾过程组</a:t>
            </a:r>
            <a:r>
              <a:rPr lang="zh-CN" altLang="en-US" sz="2400" dirty="0">
                <a:latin typeface="Times New Roman" panose="02020603050405020304" pitchFamily="18" charset="0"/>
                <a:ea typeface="黑体" panose="02010609060101010101" pitchFamily="49" charset="-122"/>
              </a:rPr>
              <a:t>：正式完成或者结束项目、阶段和合同。</a:t>
            </a:r>
            <a:endParaRPr lang="en-US" altLang="zh-CN" sz="2400" b="1" dirty="0"/>
          </a:p>
          <a:p>
            <a:pPr marL="0" indent="0" algn="just" eaLnBrk="1" hangingPunct="1">
              <a:buNone/>
            </a:pPr>
            <a:endParaRPr lang="en-US" altLang="zh-CN" sz="2400" dirty="0"/>
          </a:p>
          <a:p>
            <a:pPr marL="0" indent="0" algn="just" eaLnBrk="1" hangingPunct="1">
              <a:buNone/>
            </a:pPr>
            <a:endParaRPr lang="en-US" altLang="zh-CN" sz="2400" dirty="0"/>
          </a:p>
          <a:p>
            <a:pPr marL="0" indent="0" algn="just" eaLnBrk="1" hangingPunct="1">
              <a:buNone/>
            </a:pPr>
            <a:endParaRPr lang="en-US" altLang="zh-CN" sz="2400" dirty="0"/>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2918895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 name="图片 1">
            <a:extLst>
              <a:ext uri="{FF2B5EF4-FFF2-40B4-BE49-F238E27FC236}">
                <a16:creationId xmlns:a16="http://schemas.microsoft.com/office/drawing/2014/main" id="{DD108EB2-B96F-47F7-8965-57C43C0761C7}"/>
              </a:ext>
            </a:extLst>
          </p:cNvPr>
          <p:cNvPicPr>
            <a:picLocks noChangeAspect="1"/>
          </p:cNvPicPr>
          <p:nvPr/>
        </p:nvPicPr>
        <p:blipFill>
          <a:blip r:embed="rId3"/>
          <a:stretch>
            <a:fillRect/>
          </a:stretch>
        </p:blipFill>
        <p:spPr>
          <a:xfrm>
            <a:off x="2510062" y="0"/>
            <a:ext cx="4566980" cy="4751023"/>
          </a:xfrm>
          <a:prstGeom prst="rect">
            <a:avLst/>
          </a:prstGeom>
        </p:spPr>
      </p:pic>
      <p:pic>
        <p:nvPicPr>
          <p:cNvPr id="3" name="图片 2">
            <a:extLst>
              <a:ext uri="{FF2B5EF4-FFF2-40B4-BE49-F238E27FC236}">
                <a16:creationId xmlns:a16="http://schemas.microsoft.com/office/drawing/2014/main" id="{1A749E4C-03EA-4745-A1AF-35AB1BE2D171}"/>
              </a:ext>
            </a:extLst>
          </p:cNvPr>
          <p:cNvPicPr>
            <a:picLocks noChangeAspect="1"/>
          </p:cNvPicPr>
          <p:nvPr/>
        </p:nvPicPr>
        <p:blipFill>
          <a:blip r:embed="rId4"/>
          <a:stretch>
            <a:fillRect/>
          </a:stretch>
        </p:blipFill>
        <p:spPr>
          <a:xfrm>
            <a:off x="2497242" y="4751023"/>
            <a:ext cx="4566980" cy="2021736"/>
          </a:xfrm>
          <a:prstGeom prst="rect">
            <a:avLst/>
          </a:prstGeom>
        </p:spPr>
      </p:pic>
    </p:spTree>
    <p:extLst>
      <p:ext uri="{BB962C8B-B14F-4D97-AF65-F5344CB8AC3E}">
        <p14:creationId xmlns:p14="http://schemas.microsoft.com/office/powerpoint/2010/main" val="15150288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466076" y="1700809"/>
            <a:ext cx="8280920" cy="1008112"/>
          </a:xfrm>
        </p:spPr>
        <p:txBody>
          <a:bodyPr>
            <a:noAutofit/>
          </a:bodyPr>
          <a:lstStyle/>
          <a:p>
            <a:pPr marL="0" indent="0" algn="just">
              <a:buNone/>
            </a:pPr>
            <a:r>
              <a:rPr lang="zh-CN" altLang="en-US" sz="2400" dirty="0"/>
              <a:t>项目章程的颁布属于十大知识领域中的</a:t>
            </a:r>
            <a:r>
              <a:rPr lang="zh-CN" altLang="en-US" sz="2400" dirty="0">
                <a:solidFill>
                  <a:srgbClr val="FF0000"/>
                </a:solidFill>
              </a:rPr>
              <a:t>项目整体管理</a:t>
            </a:r>
            <a:r>
              <a:rPr lang="zh-CN" altLang="en-US" sz="2400" dirty="0"/>
              <a:t>、五大管理过程组的</a:t>
            </a:r>
            <a:r>
              <a:rPr lang="zh-CN" altLang="en-US" sz="2400" dirty="0">
                <a:solidFill>
                  <a:srgbClr val="FF0000"/>
                </a:solidFill>
              </a:rPr>
              <a:t>启动过程</a:t>
            </a:r>
            <a:r>
              <a:rPr lang="zh-CN" altLang="en-US" sz="2400" dirty="0"/>
              <a:t>组。</a:t>
            </a:r>
            <a:endParaRPr lang="en-US" altLang="zh-CN" sz="2400" dirty="0"/>
          </a:p>
          <a:p>
            <a:pPr marL="0" indent="0" algn="just">
              <a:buNone/>
            </a:pPr>
            <a:r>
              <a:rPr lang="zh-CN" altLang="en-US" sz="2400" dirty="0"/>
              <a:t>具体的项目章程制定过程如下图所示：</a:t>
            </a:r>
            <a:endParaRPr lang="en-US" altLang="zh-CN" sz="2400" dirty="0"/>
          </a:p>
          <a:p>
            <a:pPr marL="0" indent="0" algn="just">
              <a:buNone/>
            </a:pPr>
            <a:endParaRPr lang="en-US" altLang="zh-CN" sz="2400" dirty="0"/>
          </a:p>
          <a:p>
            <a:pPr marL="0" indent="0" algn="just" eaLnBrk="1" hangingPunct="1">
              <a:buNone/>
            </a:pPr>
            <a:endParaRPr lang="en-US" altLang="zh-CN" sz="2400" dirty="0"/>
          </a:p>
          <a:p>
            <a:pPr marL="0" indent="0" algn="just" eaLnBrk="1" hangingPunct="1">
              <a:buNone/>
            </a:pPr>
            <a:endParaRPr lang="en-US" altLang="zh-CN" sz="2400" dirty="0"/>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 name="图片 3">
            <a:extLst>
              <a:ext uri="{FF2B5EF4-FFF2-40B4-BE49-F238E27FC236}">
                <a16:creationId xmlns:a16="http://schemas.microsoft.com/office/drawing/2014/main" id="{731E42DB-516C-451C-B72F-E30160528144}"/>
              </a:ext>
            </a:extLst>
          </p:cNvPr>
          <p:cNvPicPr>
            <a:picLocks noChangeAspect="1"/>
          </p:cNvPicPr>
          <p:nvPr/>
        </p:nvPicPr>
        <p:blipFill>
          <a:blip r:embed="rId3"/>
          <a:stretch>
            <a:fillRect/>
          </a:stretch>
        </p:blipFill>
        <p:spPr>
          <a:xfrm>
            <a:off x="1323340" y="2965777"/>
            <a:ext cx="6497319" cy="3762048"/>
          </a:xfrm>
          <a:prstGeom prst="rect">
            <a:avLst/>
          </a:prstGeom>
        </p:spPr>
      </p:pic>
    </p:spTree>
    <p:extLst>
      <p:ext uri="{BB962C8B-B14F-4D97-AF65-F5344CB8AC3E}">
        <p14:creationId xmlns:p14="http://schemas.microsoft.com/office/powerpoint/2010/main" val="174385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466076" y="1700808"/>
            <a:ext cx="8280920" cy="4392483"/>
          </a:xfrm>
        </p:spPr>
        <p:txBody>
          <a:bodyPr>
            <a:noAutofit/>
          </a:bodyPr>
          <a:lstStyle/>
          <a:p>
            <a:pPr marL="0" indent="0" algn="just">
              <a:buNone/>
            </a:pPr>
            <a:r>
              <a:rPr lang="zh-CN" altLang="en-US" sz="2400" dirty="0">
                <a:solidFill>
                  <a:srgbClr val="FF0000"/>
                </a:solidFill>
              </a:rPr>
              <a:t>事业环境因素</a:t>
            </a:r>
            <a:endParaRPr lang="en-US" altLang="zh-CN" sz="2400" dirty="0">
              <a:solidFill>
                <a:srgbClr val="FF0000"/>
              </a:solidFill>
            </a:endParaRPr>
          </a:p>
          <a:p>
            <a:pPr marL="0" indent="0" algn="just">
              <a:buNone/>
            </a:pPr>
            <a:r>
              <a:rPr lang="zh-CN" altLang="en-US" sz="2400" dirty="0"/>
              <a:t>政府或行业标准</a:t>
            </a:r>
            <a:r>
              <a:rPr lang="en-US" altLang="zh-CN" sz="2400" dirty="0"/>
              <a:t>(</a:t>
            </a:r>
            <a:r>
              <a:rPr lang="zh-CN" altLang="en-US" sz="2400" dirty="0"/>
              <a:t>如产品标准、质量标准、安全标准和工艺标准</a:t>
            </a:r>
            <a:r>
              <a:rPr lang="en-US" altLang="zh-CN" sz="2400" dirty="0"/>
              <a:t>)</a:t>
            </a:r>
            <a:r>
              <a:rPr lang="zh-CN" altLang="en-US" sz="2400" dirty="0"/>
              <a:t>；法律法规要求和相关制约因素；市场条件；组织文化和氛围；组织治理框架</a:t>
            </a:r>
            <a:r>
              <a:rPr lang="en-US" altLang="zh-CN" sz="2400" dirty="0"/>
              <a:t>(</a:t>
            </a:r>
            <a:r>
              <a:rPr lang="zh-CN" altLang="en-US" sz="2400" dirty="0"/>
              <a:t>通过安排人员、制定政策和确定过程，以结构化的方式实施控制、指导和协调，以实现组织的战略和目标</a:t>
            </a:r>
            <a:r>
              <a:rPr lang="en-US" altLang="zh-CN" sz="2400" dirty="0"/>
              <a:t>)</a:t>
            </a:r>
            <a:r>
              <a:rPr lang="zh-CN" altLang="en-US" sz="2400" dirty="0"/>
              <a:t>；干系人的期望和风险临界值等。</a:t>
            </a:r>
            <a:endParaRPr lang="en-US" altLang="zh-CN" sz="2400" dirty="0"/>
          </a:p>
          <a:p>
            <a:pPr marL="0" indent="0" algn="just">
              <a:buNone/>
            </a:pPr>
            <a:r>
              <a:rPr lang="zh-CN" altLang="en-US" sz="2400" dirty="0">
                <a:solidFill>
                  <a:srgbClr val="FF0000"/>
                </a:solidFill>
              </a:rPr>
              <a:t>组织过程资产</a:t>
            </a:r>
            <a:endParaRPr lang="en-US" altLang="zh-CN" sz="2400" dirty="0">
              <a:solidFill>
                <a:srgbClr val="FF0000"/>
              </a:solidFill>
            </a:endParaRPr>
          </a:p>
          <a:p>
            <a:pPr marL="0" indent="0" algn="just">
              <a:buNone/>
            </a:pPr>
            <a:r>
              <a:rPr lang="zh-CN" altLang="en-US" sz="2400" dirty="0"/>
              <a:t>组织的标准政策、流程和程序；项目组合、项目集和项目的治理框架</a:t>
            </a:r>
            <a:r>
              <a:rPr lang="en-US" altLang="zh-CN" sz="2400" dirty="0"/>
              <a:t>(</a:t>
            </a:r>
            <a:r>
              <a:rPr lang="zh-CN" altLang="en-US" sz="2400" dirty="0"/>
              <a:t>用于提供指导和制定决策的治理职能和过程</a:t>
            </a:r>
            <a:r>
              <a:rPr lang="en-US" altLang="zh-CN" sz="2400" dirty="0"/>
              <a:t>)</a:t>
            </a:r>
            <a:r>
              <a:rPr lang="zh-CN" altLang="en-US" sz="2400" dirty="0"/>
              <a:t>；监督和报告的方法；模板</a:t>
            </a:r>
            <a:r>
              <a:rPr lang="en-US" altLang="zh-CN" sz="2400" dirty="0"/>
              <a:t>(</a:t>
            </a:r>
            <a:r>
              <a:rPr lang="zh-CN" altLang="en-US" sz="2400" dirty="0"/>
              <a:t>如项目章程模板</a:t>
            </a:r>
            <a:r>
              <a:rPr lang="en-US" altLang="zh-CN" sz="2400" dirty="0"/>
              <a:t>)</a:t>
            </a:r>
            <a:r>
              <a:rPr lang="zh-CN" altLang="en-US" sz="2400" dirty="0"/>
              <a:t>；历史信息与经验教训知识库 </a:t>
            </a:r>
            <a:r>
              <a:rPr lang="en-US" altLang="zh-CN" sz="2400" dirty="0"/>
              <a:t>(</a:t>
            </a:r>
            <a:r>
              <a:rPr lang="zh-CN" altLang="en-US" sz="2400" dirty="0"/>
              <a:t>如项目记录与文件、关于以往项目选择决策的结果及以往项目绩效的信息</a:t>
            </a:r>
            <a:r>
              <a:rPr lang="en-US" altLang="zh-CN" sz="2400" dirty="0"/>
              <a:t>)</a:t>
            </a:r>
            <a:r>
              <a:rPr lang="zh-CN" altLang="en-US" sz="2400" dirty="0"/>
              <a:t>等。</a:t>
            </a:r>
          </a:p>
          <a:p>
            <a:pPr marL="0" indent="0" algn="just" eaLnBrk="1" hangingPunct="1">
              <a:buNone/>
            </a:pPr>
            <a:endParaRPr lang="en-US" altLang="zh-CN" sz="2400" dirty="0"/>
          </a:p>
          <a:p>
            <a:pPr marL="0" indent="0" algn="just" eaLnBrk="1" hangingPunct="1">
              <a:buNone/>
            </a:pPr>
            <a:endParaRPr lang="en-US" altLang="zh-CN" sz="2400" dirty="0"/>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5433690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C9B6BD9-3FA1-4CA2-8312-7B390F0B4FB1}"/>
              </a:ext>
            </a:extLst>
          </p:cNvPr>
          <p:cNvSpPr>
            <a:spLocks noGrp="1" noChangeArrowheads="1"/>
          </p:cNvSpPr>
          <p:nvPr>
            <p:ph type="title"/>
          </p:nvPr>
        </p:nvSpPr>
        <p:spPr>
          <a:xfrm>
            <a:off x="457200" y="510081"/>
            <a:ext cx="8229600" cy="1325563"/>
          </a:xfrm>
        </p:spPr>
        <p:txBody>
          <a:bodyPr/>
          <a:lstStyle/>
          <a:p>
            <a:pPr algn="l" eaLnBrk="1" hangingPunct="1"/>
            <a:r>
              <a:rPr lang="en-US" altLang="zh-CN" sz="4000" b="1" dirty="0"/>
              <a:t>2.4.3  </a:t>
            </a:r>
            <a:r>
              <a:rPr lang="zh-CN" altLang="en-US" sz="4000" b="1" dirty="0"/>
              <a:t>项目章程的颁布和合同的管理</a:t>
            </a:r>
          </a:p>
        </p:txBody>
      </p:sp>
      <p:sp>
        <p:nvSpPr>
          <p:cNvPr id="64515" name="Rectangle 3">
            <a:extLst>
              <a:ext uri="{FF2B5EF4-FFF2-40B4-BE49-F238E27FC236}">
                <a16:creationId xmlns:a16="http://schemas.microsoft.com/office/drawing/2014/main" id="{085F0872-A2C2-4008-81F8-2EB948266EDF}"/>
              </a:ext>
            </a:extLst>
          </p:cNvPr>
          <p:cNvSpPr>
            <a:spLocks noGrp="1" noChangeArrowheads="1"/>
          </p:cNvSpPr>
          <p:nvPr>
            <p:ph idx="1"/>
          </p:nvPr>
        </p:nvSpPr>
        <p:spPr>
          <a:xfrm>
            <a:off x="404887" y="1700808"/>
            <a:ext cx="8280920" cy="4392483"/>
          </a:xfrm>
        </p:spPr>
        <p:txBody>
          <a:bodyPr>
            <a:noAutofit/>
          </a:bodyPr>
          <a:lstStyle/>
          <a:p>
            <a:pPr marL="0" indent="0" algn="just">
              <a:buNone/>
            </a:pPr>
            <a:r>
              <a:rPr lang="zh-CN" altLang="en-US" sz="2400" dirty="0"/>
              <a:t>项目管理章程记录了关于项目和项目预期交付的产品、服务或成果的高层及信息：</a:t>
            </a:r>
            <a:endParaRPr lang="en-US" altLang="zh-CN" sz="2400" dirty="0"/>
          </a:p>
          <a:p>
            <a:pPr marL="0" indent="0" algn="just">
              <a:buNone/>
            </a:pPr>
            <a:r>
              <a:rPr lang="zh-CN" altLang="en-US" sz="2400" dirty="0"/>
              <a:t>①项目目的；②可测量的项目目标和相关的成功标准；③高层级需求、高层级项目描述、边界定义以及主要可交付成果；</a:t>
            </a:r>
            <a:endParaRPr lang="en-US" altLang="zh-CN" sz="2400" dirty="0"/>
          </a:p>
          <a:p>
            <a:pPr marL="0" indent="0" algn="just">
              <a:buNone/>
            </a:pPr>
            <a:r>
              <a:rPr lang="zh-CN" altLang="en-US" sz="2400" dirty="0"/>
              <a:t>④整体项目风险；⑤总体里程碑进度计划；⑥预先批准的财务资源；⑦关键干系人名单；⑧项目审批要求</a:t>
            </a:r>
            <a:r>
              <a:rPr lang="en-US" altLang="zh-CN" sz="2400" dirty="0"/>
              <a:t>(</a:t>
            </a:r>
            <a:r>
              <a:rPr lang="zh-CN" altLang="en-US" sz="2400" dirty="0"/>
              <a:t>例如，评价项目成功的标准，由谁对项目成功下结论，由谁签署项目结束</a:t>
            </a:r>
            <a:r>
              <a:rPr lang="en-US" altLang="zh-CN" sz="2400" dirty="0"/>
              <a:t>)</a:t>
            </a:r>
            <a:r>
              <a:rPr lang="zh-CN" altLang="en-US" sz="2400" dirty="0"/>
              <a:t>；⑨项目退出标准</a:t>
            </a:r>
            <a:r>
              <a:rPr lang="en-US" altLang="zh-CN" sz="2400" dirty="0"/>
              <a:t>(</a:t>
            </a:r>
            <a:r>
              <a:rPr lang="zh-CN" altLang="en-US" sz="2400" dirty="0"/>
              <a:t>例如，在何种条件下才能关闭或取消项目或阶段</a:t>
            </a:r>
            <a:r>
              <a:rPr lang="en-US" altLang="zh-CN" sz="2400" dirty="0"/>
              <a:t>)</a:t>
            </a:r>
            <a:r>
              <a:rPr lang="zh-CN" altLang="en-US" sz="2400" dirty="0"/>
              <a:t>；⑩委派的项目经理及其职责和职权；⑪发起人或其他批准项目章程的人员的姓名和职权等。</a:t>
            </a:r>
          </a:p>
        </p:txBody>
      </p:sp>
      <p:sp>
        <p:nvSpPr>
          <p:cNvPr id="64516" name="Rectangle 4">
            <a:extLst>
              <a:ext uri="{FF2B5EF4-FFF2-40B4-BE49-F238E27FC236}">
                <a16:creationId xmlns:a16="http://schemas.microsoft.com/office/drawing/2014/main" id="{952CBE8A-464E-4568-8040-E58AE0D21881}"/>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4517" name="Line 5">
            <a:extLst>
              <a:ext uri="{FF2B5EF4-FFF2-40B4-BE49-F238E27FC236}">
                <a16:creationId xmlns:a16="http://schemas.microsoft.com/office/drawing/2014/main" id="{EFFAC4BB-5621-4E3A-84C5-C8A27146567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38158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0501DB5-196D-46F8-8844-34CD6174ABC1}"/>
              </a:ext>
            </a:extLst>
          </p:cNvPr>
          <p:cNvSpPr>
            <a:spLocks noGrp="1" noChangeArrowheads="1"/>
          </p:cNvSpPr>
          <p:nvPr>
            <p:ph type="title"/>
          </p:nvPr>
        </p:nvSpPr>
        <p:spPr/>
        <p:txBody>
          <a:bodyPr/>
          <a:lstStyle/>
          <a:p>
            <a:pPr marL="838200" indent="-838200" algn="l" eaLnBrk="1" hangingPunct="1"/>
            <a:r>
              <a:rPr lang="en-US" altLang="zh-CN" sz="3200" b="1"/>
              <a:t>2.4.4 </a:t>
            </a:r>
            <a:r>
              <a:rPr lang="zh-CN" altLang="en-US" sz="3200" b="1"/>
              <a:t>案例：学院网站建设项目的项目章程</a:t>
            </a:r>
          </a:p>
        </p:txBody>
      </p:sp>
      <p:sp>
        <p:nvSpPr>
          <p:cNvPr id="66563" name="Rectangle 3">
            <a:extLst>
              <a:ext uri="{FF2B5EF4-FFF2-40B4-BE49-F238E27FC236}">
                <a16:creationId xmlns:a16="http://schemas.microsoft.com/office/drawing/2014/main" id="{7796420C-5F49-477E-9E2F-A17189C940F2}"/>
              </a:ext>
            </a:extLst>
          </p:cNvPr>
          <p:cNvSpPr>
            <a:spLocks noGrp="1" noChangeArrowheads="1"/>
          </p:cNvSpPr>
          <p:nvPr>
            <p:ph idx="1"/>
          </p:nvPr>
        </p:nvSpPr>
        <p:spPr>
          <a:xfrm>
            <a:off x="467544" y="1412776"/>
            <a:ext cx="8352928" cy="4896544"/>
          </a:xfrm>
        </p:spPr>
        <p:txBody>
          <a:bodyPr>
            <a:noAutofit/>
          </a:bodyPr>
          <a:lstStyle/>
          <a:p>
            <a:pPr eaLnBrk="1" hangingPunct="1">
              <a:lnSpc>
                <a:spcPct val="90000"/>
              </a:lnSpc>
            </a:pPr>
            <a:r>
              <a:rPr lang="en-US" altLang="zh-CN" sz="2400" dirty="0"/>
              <a:t>1. </a:t>
            </a:r>
            <a:r>
              <a:rPr lang="zh-CN" altLang="en-US" sz="2400" dirty="0"/>
              <a:t>项目名称 </a:t>
            </a:r>
            <a:endParaRPr lang="en-US" altLang="zh-CN" sz="2400" dirty="0"/>
          </a:p>
          <a:p>
            <a:pPr eaLnBrk="1" hangingPunct="1">
              <a:lnSpc>
                <a:spcPct val="90000"/>
              </a:lnSpc>
            </a:pPr>
            <a:r>
              <a:rPr lang="en-US" altLang="zh-CN" sz="1600" dirty="0"/>
              <a:t>××</a:t>
            </a:r>
            <a:r>
              <a:rPr lang="zh-CN" altLang="en-US" sz="1600" dirty="0"/>
              <a:t>大学商学院网站的建设</a:t>
            </a:r>
            <a:endParaRPr lang="zh-CN" altLang="en-US" sz="2400" dirty="0"/>
          </a:p>
          <a:p>
            <a:pPr eaLnBrk="1" hangingPunct="1">
              <a:lnSpc>
                <a:spcPct val="90000"/>
              </a:lnSpc>
            </a:pPr>
            <a:r>
              <a:rPr lang="en-US" altLang="zh-CN" sz="2400" dirty="0"/>
              <a:t>2. </a:t>
            </a:r>
            <a:r>
              <a:rPr lang="zh-CN" altLang="en-US" sz="2400" dirty="0"/>
              <a:t>项目背景</a:t>
            </a:r>
            <a:endParaRPr lang="en-US" altLang="zh-CN" sz="2400" dirty="0"/>
          </a:p>
          <a:p>
            <a:pPr eaLnBrk="1" hangingPunct="1">
              <a:lnSpc>
                <a:spcPct val="90000"/>
              </a:lnSpc>
            </a:pPr>
            <a:r>
              <a:rPr lang="zh-CN" altLang="en-US" sz="1600" dirty="0"/>
              <a:t>近年来，随着信息技术的飞速发展，</a:t>
            </a:r>
            <a:r>
              <a:rPr lang="en-US" altLang="zh-CN" sz="1600" dirty="0"/>
              <a:t>××</a:t>
            </a:r>
            <a:r>
              <a:rPr lang="zh-CN" altLang="en-US" sz="1600" dirty="0"/>
              <a:t>大学积极开展信息化建设，信息化水平始终走在我国高校的前列。</a:t>
            </a:r>
            <a:r>
              <a:rPr lang="en-US" altLang="zh-CN" sz="1600" dirty="0"/>
              <a:t>2013</a:t>
            </a:r>
            <a:r>
              <a:rPr lang="zh-CN" altLang="en-US" sz="1600" dirty="0"/>
              <a:t>年，该校启动了“数字校园”项目，计划用五年时间建成一个便于资源共享的个性化服务数字校园网。该校商学院网站的建设需要与全校信息化总体规划接轨，服从此框架，并为本院学生提供技术上集成的、内容上更贴近学生需求的服务。而 </a:t>
            </a:r>
            <a:r>
              <a:rPr lang="en-US" altLang="zh-CN" sz="1600" dirty="0"/>
              <a:t>Web 2.0</a:t>
            </a:r>
            <a:r>
              <a:rPr lang="zh-CN" altLang="en-US" sz="1600" dirty="0"/>
              <a:t>、云计算、大数据等技术的广泛应用，也为网站功能和形式的完善提供了可靠的技术支持，使得建设一个集数据收集、共享为一体的耳目一新、广受欢迎的学院网站成为可能。</a:t>
            </a:r>
            <a:endParaRPr lang="en-US" altLang="zh-CN" sz="1600" dirty="0"/>
          </a:p>
          <a:p>
            <a:r>
              <a:rPr lang="zh-CN" altLang="en-US" sz="1600" dirty="0"/>
              <a:t>该商学院现有的网站虽然在很大程度上满足了各方面的信息需求，但仍存在如下几点不足。 （</a:t>
            </a:r>
            <a:r>
              <a:rPr lang="en-US" altLang="zh-CN" sz="1600" dirty="0"/>
              <a:t>1</a:t>
            </a:r>
            <a:r>
              <a:rPr lang="zh-CN" altLang="en-US" sz="1600" dirty="0"/>
              <a:t>）网站响应速度较慢； （</a:t>
            </a:r>
            <a:r>
              <a:rPr lang="en-US" altLang="zh-CN" sz="1600" dirty="0"/>
              <a:t>2</a:t>
            </a:r>
            <a:r>
              <a:rPr lang="zh-CN" altLang="en-US" sz="1600" dirty="0"/>
              <a:t>）网站更新较慢，信息时效性较差； （</a:t>
            </a:r>
            <a:r>
              <a:rPr lang="en-US" altLang="zh-CN" sz="1600" dirty="0"/>
              <a:t>3</a:t>
            </a:r>
            <a:r>
              <a:rPr lang="zh-CN" altLang="en-US" sz="1600" dirty="0"/>
              <a:t>）网站功能较少、缺乏互动性； （</a:t>
            </a:r>
            <a:r>
              <a:rPr lang="en-US" altLang="zh-CN" sz="1600" dirty="0"/>
              <a:t>4</a:t>
            </a:r>
            <a:r>
              <a:rPr lang="zh-CN" altLang="en-US" sz="1600" dirty="0"/>
              <a:t>）网站不能整合学院现有的教学资源并为教学互动提供良好支持。</a:t>
            </a:r>
          </a:p>
          <a:p>
            <a:r>
              <a:rPr lang="zh-CN" altLang="en-US" sz="1600" dirty="0"/>
              <a:t>总之，新的服务理念、新的应用技术都对原有网站提出了更高要求，迫切需要建设一个全新的网站，为该校商学院师生和其他访问者提供更好的服务。</a:t>
            </a:r>
          </a:p>
        </p:txBody>
      </p:sp>
      <p:sp>
        <p:nvSpPr>
          <p:cNvPr id="66564" name="Rectangle 4">
            <a:extLst>
              <a:ext uri="{FF2B5EF4-FFF2-40B4-BE49-F238E27FC236}">
                <a16:creationId xmlns:a16="http://schemas.microsoft.com/office/drawing/2014/main" id="{CAB7742A-B051-4A63-8F6B-96215A3A531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6565" name="Line 5">
            <a:extLst>
              <a:ext uri="{FF2B5EF4-FFF2-40B4-BE49-F238E27FC236}">
                <a16:creationId xmlns:a16="http://schemas.microsoft.com/office/drawing/2014/main" id="{1544192B-DD46-4BAA-BA33-7A4170E2C93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0501DB5-196D-46F8-8844-34CD6174ABC1}"/>
              </a:ext>
            </a:extLst>
          </p:cNvPr>
          <p:cNvSpPr>
            <a:spLocks noGrp="1" noChangeArrowheads="1"/>
          </p:cNvSpPr>
          <p:nvPr>
            <p:ph type="title"/>
          </p:nvPr>
        </p:nvSpPr>
        <p:spPr/>
        <p:txBody>
          <a:bodyPr/>
          <a:lstStyle/>
          <a:p>
            <a:pPr marL="838200" indent="-838200" algn="l" eaLnBrk="1" hangingPunct="1"/>
            <a:r>
              <a:rPr lang="en-US" altLang="zh-CN" sz="3200" b="1"/>
              <a:t>2.4.4 </a:t>
            </a:r>
            <a:r>
              <a:rPr lang="zh-CN" altLang="en-US" sz="3200" b="1"/>
              <a:t>案例：学院网站建设项目的项目章程</a:t>
            </a:r>
          </a:p>
        </p:txBody>
      </p:sp>
      <p:sp>
        <p:nvSpPr>
          <p:cNvPr id="66563" name="Rectangle 3">
            <a:extLst>
              <a:ext uri="{FF2B5EF4-FFF2-40B4-BE49-F238E27FC236}">
                <a16:creationId xmlns:a16="http://schemas.microsoft.com/office/drawing/2014/main" id="{7796420C-5F49-477E-9E2F-A17189C940F2}"/>
              </a:ext>
            </a:extLst>
          </p:cNvPr>
          <p:cNvSpPr>
            <a:spLocks noGrp="1" noChangeArrowheads="1"/>
          </p:cNvSpPr>
          <p:nvPr>
            <p:ph idx="1"/>
          </p:nvPr>
        </p:nvSpPr>
        <p:spPr>
          <a:xfrm>
            <a:off x="628650" y="1825625"/>
            <a:ext cx="7886700" cy="3619599"/>
          </a:xfrm>
        </p:spPr>
        <p:txBody>
          <a:bodyPr>
            <a:noAutofit/>
          </a:bodyPr>
          <a:lstStyle/>
          <a:p>
            <a:pPr eaLnBrk="1" hangingPunct="1">
              <a:lnSpc>
                <a:spcPct val="90000"/>
              </a:lnSpc>
            </a:pPr>
            <a:r>
              <a:rPr lang="en-US" altLang="zh-CN" sz="2400" dirty="0"/>
              <a:t>3. </a:t>
            </a:r>
            <a:r>
              <a:rPr lang="zh-CN" altLang="en-US" sz="2400" dirty="0"/>
              <a:t>项目目标 </a:t>
            </a:r>
            <a:endParaRPr lang="en-US" altLang="zh-CN" sz="2400" dirty="0"/>
          </a:p>
          <a:p>
            <a:pPr eaLnBrk="1" hangingPunct="1">
              <a:lnSpc>
                <a:spcPct val="90000"/>
              </a:lnSpc>
            </a:pPr>
            <a:r>
              <a:rPr lang="zh-CN" altLang="en-US" sz="1600" dirty="0"/>
              <a:t>本项目目标是为商学院建设一个全新的网站，对外打造一个宣传沟通、交流合作的信息平台，对内为师生互动、学习交流、资源共享提供一个方便快捷的方式。网站把众多分散的资源统一集成，展示到通用的学院门户平台框架之中；根据行政人员、教师、学生三种用户角色的不同，形成个性化的应用界面，建立一站式的信息服务平台、事务处理平台与互动沟通平台；同时实现网站的用户自我维护功能，节省网站的运维费用。</a:t>
            </a:r>
            <a:endParaRPr lang="zh-CN" altLang="en-US" sz="2400" dirty="0"/>
          </a:p>
          <a:p>
            <a:pPr eaLnBrk="1" hangingPunct="1">
              <a:lnSpc>
                <a:spcPct val="90000"/>
              </a:lnSpc>
            </a:pPr>
            <a:r>
              <a:rPr lang="en-US" altLang="zh-CN" sz="2400" dirty="0"/>
              <a:t>4. </a:t>
            </a:r>
            <a:r>
              <a:rPr lang="zh-CN" altLang="en-US" sz="2400" dirty="0"/>
              <a:t>项目主要内容</a:t>
            </a:r>
            <a:endParaRPr lang="en-US" altLang="zh-CN" sz="2400" dirty="0"/>
          </a:p>
          <a:p>
            <a:pPr eaLnBrk="1" hangingPunct="1">
              <a:lnSpc>
                <a:spcPct val="90000"/>
              </a:lnSpc>
            </a:pPr>
            <a:r>
              <a:rPr lang="zh-CN" altLang="en-US" sz="1600" dirty="0"/>
              <a:t>（</a:t>
            </a:r>
            <a:r>
              <a:rPr lang="en-US" altLang="zh-CN" sz="1600" dirty="0"/>
              <a:t>1</a:t>
            </a:r>
            <a:r>
              <a:rPr lang="zh-CN" altLang="en-US" sz="1600" dirty="0"/>
              <a:t>）实现信息的发布、展示、动态更新等功能，向校内外提供一个信息交流窗口； （</a:t>
            </a:r>
            <a:r>
              <a:rPr lang="en-US" altLang="zh-CN" sz="1600" dirty="0"/>
              <a:t>2</a:t>
            </a:r>
            <a:r>
              <a:rPr lang="zh-CN" altLang="en-US" sz="1600" dirty="0"/>
              <a:t>）实现学院内教学资源共享，学院事务处理的平台； （</a:t>
            </a:r>
            <a:r>
              <a:rPr lang="en-US" altLang="zh-CN" sz="1600" dirty="0"/>
              <a:t>3</a:t>
            </a:r>
            <a:r>
              <a:rPr lang="zh-CN" altLang="en-US" sz="1600" dirty="0"/>
              <a:t>）实现学院内师生互动沟通等功能，为学院师生打造一个教学互动的平台； （</a:t>
            </a:r>
            <a:r>
              <a:rPr lang="en-US" altLang="zh-CN" sz="1600" dirty="0"/>
              <a:t>4</a:t>
            </a:r>
            <a:r>
              <a:rPr lang="zh-CN" altLang="en-US" sz="1600" dirty="0"/>
              <a:t>）实现用户自助管理和维护，节约后期运维费用。</a:t>
            </a:r>
            <a:endParaRPr lang="zh-CN" altLang="en-US" sz="2400" dirty="0"/>
          </a:p>
        </p:txBody>
      </p:sp>
      <p:sp>
        <p:nvSpPr>
          <p:cNvPr id="66564" name="Rectangle 4">
            <a:extLst>
              <a:ext uri="{FF2B5EF4-FFF2-40B4-BE49-F238E27FC236}">
                <a16:creationId xmlns:a16="http://schemas.microsoft.com/office/drawing/2014/main" id="{CAB7742A-B051-4A63-8F6B-96215A3A531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6565" name="Line 5">
            <a:extLst>
              <a:ext uri="{FF2B5EF4-FFF2-40B4-BE49-F238E27FC236}">
                <a16:creationId xmlns:a16="http://schemas.microsoft.com/office/drawing/2014/main" id="{1544192B-DD46-4BAA-BA33-7A4170E2C93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844914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0501DB5-196D-46F8-8844-34CD6174ABC1}"/>
              </a:ext>
            </a:extLst>
          </p:cNvPr>
          <p:cNvSpPr>
            <a:spLocks noGrp="1" noChangeArrowheads="1"/>
          </p:cNvSpPr>
          <p:nvPr>
            <p:ph type="title"/>
          </p:nvPr>
        </p:nvSpPr>
        <p:spPr/>
        <p:txBody>
          <a:bodyPr/>
          <a:lstStyle/>
          <a:p>
            <a:pPr marL="838200" indent="-838200" algn="l" eaLnBrk="1" hangingPunct="1"/>
            <a:r>
              <a:rPr lang="en-US" altLang="zh-CN" sz="3200" b="1"/>
              <a:t>2.4.4 </a:t>
            </a:r>
            <a:r>
              <a:rPr lang="zh-CN" altLang="en-US" sz="3200" b="1"/>
              <a:t>案例：学院网站建设项目的项目章程</a:t>
            </a:r>
          </a:p>
        </p:txBody>
      </p:sp>
      <p:sp>
        <p:nvSpPr>
          <p:cNvPr id="66563" name="Rectangle 3">
            <a:extLst>
              <a:ext uri="{FF2B5EF4-FFF2-40B4-BE49-F238E27FC236}">
                <a16:creationId xmlns:a16="http://schemas.microsoft.com/office/drawing/2014/main" id="{7796420C-5F49-477E-9E2F-A17189C940F2}"/>
              </a:ext>
            </a:extLst>
          </p:cNvPr>
          <p:cNvSpPr>
            <a:spLocks noGrp="1" noChangeArrowheads="1"/>
          </p:cNvSpPr>
          <p:nvPr>
            <p:ph idx="1"/>
          </p:nvPr>
        </p:nvSpPr>
        <p:spPr>
          <a:xfrm>
            <a:off x="628650" y="1825625"/>
            <a:ext cx="7886700" cy="3619599"/>
          </a:xfrm>
        </p:spPr>
        <p:txBody>
          <a:bodyPr>
            <a:noAutofit/>
          </a:bodyPr>
          <a:lstStyle/>
          <a:p>
            <a:pPr eaLnBrk="1" hangingPunct="1">
              <a:lnSpc>
                <a:spcPct val="90000"/>
              </a:lnSpc>
            </a:pPr>
            <a:r>
              <a:rPr lang="en-US" altLang="zh-CN" sz="2400" dirty="0"/>
              <a:t>5. </a:t>
            </a:r>
            <a:r>
              <a:rPr lang="zh-CN" altLang="en-US" sz="2400" dirty="0"/>
              <a:t>项目的约束条件</a:t>
            </a:r>
            <a:endParaRPr lang="en-US" altLang="zh-CN" sz="2400" dirty="0"/>
          </a:p>
          <a:p>
            <a:pPr eaLnBrk="1" hangingPunct="1">
              <a:lnSpc>
                <a:spcPct val="90000"/>
              </a:lnSpc>
            </a:pPr>
            <a:r>
              <a:rPr lang="zh-CN" altLang="en-US" sz="1600" dirty="0"/>
              <a:t>（</a:t>
            </a:r>
            <a:r>
              <a:rPr lang="en-US" altLang="zh-CN" sz="1600" dirty="0"/>
              <a:t>1</a:t>
            </a:r>
            <a:r>
              <a:rPr lang="zh-CN" altLang="en-US" sz="1600" dirty="0"/>
              <a:t>）时间约束：本项目从 </a:t>
            </a:r>
            <a:r>
              <a:rPr lang="en-US" altLang="zh-CN" sz="1600" dirty="0"/>
              <a:t>2013 </a:t>
            </a:r>
            <a:r>
              <a:rPr lang="zh-CN" altLang="en-US" sz="1600" dirty="0"/>
              <a:t>年 </a:t>
            </a:r>
            <a:r>
              <a:rPr lang="en-US" altLang="zh-CN" sz="1600" dirty="0"/>
              <a:t>10 </a:t>
            </a:r>
            <a:r>
              <a:rPr lang="zh-CN" altLang="en-US" sz="1600" dirty="0"/>
              <a:t>月 </a:t>
            </a:r>
            <a:r>
              <a:rPr lang="en-US" altLang="zh-CN" sz="1600" dirty="0"/>
              <a:t>1 </a:t>
            </a:r>
            <a:r>
              <a:rPr lang="zh-CN" altLang="en-US" sz="1600" dirty="0"/>
              <a:t>日开始到 </a:t>
            </a:r>
            <a:r>
              <a:rPr lang="en-US" altLang="zh-CN" sz="1600" dirty="0"/>
              <a:t>2013 </a:t>
            </a:r>
            <a:r>
              <a:rPr lang="zh-CN" altLang="en-US" sz="1600" dirty="0"/>
              <a:t>年 </a:t>
            </a:r>
            <a:r>
              <a:rPr lang="en-US" altLang="zh-CN" sz="1600" dirty="0"/>
              <a:t>12 </a:t>
            </a:r>
            <a:r>
              <a:rPr lang="zh-CN" altLang="en-US" sz="1600" dirty="0"/>
              <a:t>月 </a:t>
            </a:r>
            <a:r>
              <a:rPr lang="en-US" altLang="zh-CN" sz="1600" dirty="0"/>
              <a:t>20 </a:t>
            </a:r>
            <a:r>
              <a:rPr lang="zh-CN" altLang="en-US" sz="1600" dirty="0"/>
              <a:t>日结束并交付最终成果。 （</a:t>
            </a:r>
            <a:r>
              <a:rPr lang="en-US" altLang="zh-CN" sz="1600" dirty="0"/>
              <a:t>2</a:t>
            </a:r>
            <a:r>
              <a:rPr lang="zh-CN" altLang="en-US" sz="1600" dirty="0"/>
              <a:t>）质量约束： ① 操作简便、界面友好，用户满意度比现有网站提高 </a:t>
            </a:r>
            <a:r>
              <a:rPr lang="en-US" altLang="zh-CN" sz="1600" dirty="0"/>
              <a:t>30%</a:t>
            </a:r>
            <a:r>
              <a:rPr lang="zh-CN" altLang="en-US" sz="1600" dirty="0"/>
              <a:t>，访问满意率提高 </a:t>
            </a:r>
            <a:r>
              <a:rPr lang="en-US" altLang="zh-CN" sz="1600" dirty="0"/>
              <a:t>50%</a:t>
            </a:r>
            <a:r>
              <a:rPr lang="zh-CN" altLang="en-US" sz="1600" dirty="0"/>
              <a:t>； ② 系统正式上线后运行故障率低于 </a:t>
            </a:r>
            <a:r>
              <a:rPr lang="en-US" altLang="zh-CN" sz="1600" dirty="0"/>
              <a:t>5%</a:t>
            </a:r>
            <a:r>
              <a:rPr lang="zh-CN" altLang="en-US" sz="1600" dirty="0"/>
              <a:t>，并能持续运行三个月无重大软件故障； ③ 系统可承受的并发连接数达到 </a:t>
            </a:r>
            <a:r>
              <a:rPr lang="en-US" altLang="zh-CN" sz="1600" dirty="0"/>
              <a:t>500 </a:t>
            </a:r>
            <a:r>
              <a:rPr lang="zh-CN" altLang="en-US" sz="1600" dirty="0"/>
              <a:t>个； ④ 项目进行中所确立的各文档版本清晰，内容完整、明确； ⑤ 系统编码的一致性，便于推广重用和自维护。 （</a:t>
            </a:r>
            <a:r>
              <a:rPr lang="en-US" altLang="zh-CN" sz="1600" dirty="0"/>
              <a:t>3</a:t>
            </a:r>
            <a:r>
              <a:rPr lang="zh-CN" altLang="en-US" sz="1600" dirty="0"/>
              <a:t>）费用预算：项目总费用 </a:t>
            </a:r>
            <a:r>
              <a:rPr lang="en-US" altLang="zh-CN" sz="1600" dirty="0"/>
              <a:t>30 000 </a:t>
            </a:r>
            <a:r>
              <a:rPr lang="zh-CN" altLang="en-US" sz="1600" dirty="0"/>
              <a:t>元人民币，其中软件开发费用 </a:t>
            </a:r>
            <a:r>
              <a:rPr lang="en-US" altLang="zh-CN" sz="1600" dirty="0"/>
              <a:t>10 000 </a:t>
            </a:r>
            <a:r>
              <a:rPr lang="zh-CN" altLang="en-US" sz="1600" dirty="0"/>
              <a:t>元，硬件采购费用 </a:t>
            </a:r>
            <a:r>
              <a:rPr lang="en-US" altLang="zh-CN" sz="1600" dirty="0"/>
              <a:t>15 000 </a:t>
            </a:r>
            <a:r>
              <a:rPr lang="zh-CN" altLang="en-US" sz="1600" dirty="0"/>
              <a:t>元，维护费用 </a:t>
            </a:r>
            <a:r>
              <a:rPr lang="en-US" altLang="zh-CN" sz="1600" dirty="0"/>
              <a:t>5000 </a:t>
            </a:r>
            <a:r>
              <a:rPr lang="zh-CN" altLang="en-US" sz="1600" dirty="0"/>
              <a:t>元。因而开发合同金额为 </a:t>
            </a:r>
            <a:r>
              <a:rPr lang="en-US" altLang="zh-CN" sz="1600" dirty="0"/>
              <a:t>25 000 </a:t>
            </a:r>
            <a:r>
              <a:rPr lang="zh-CN" altLang="en-US" sz="1600" dirty="0"/>
              <a:t>元人民币。</a:t>
            </a:r>
            <a:endParaRPr lang="zh-CN" altLang="en-US" sz="2400" dirty="0"/>
          </a:p>
          <a:p>
            <a:pPr eaLnBrk="1" hangingPunct="1">
              <a:lnSpc>
                <a:spcPct val="90000"/>
              </a:lnSpc>
            </a:pPr>
            <a:endParaRPr lang="zh-CN" altLang="en-US" sz="2400" dirty="0"/>
          </a:p>
        </p:txBody>
      </p:sp>
      <p:sp>
        <p:nvSpPr>
          <p:cNvPr id="66564" name="Rectangle 4">
            <a:extLst>
              <a:ext uri="{FF2B5EF4-FFF2-40B4-BE49-F238E27FC236}">
                <a16:creationId xmlns:a16="http://schemas.microsoft.com/office/drawing/2014/main" id="{CAB7742A-B051-4A63-8F6B-96215A3A531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6565" name="Line 5">
            <a:extLst>
              <a:ext uri="{FF2B5EF4-FFF2-40B4-BE49-F238E27FC236}">
                <a16:creationId xmlns:a16="http://schemas.microsoft.com/office/drawing/2014/main" id="{1544192B-DD46-4BAA-BA33-7A4170E2C93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1166045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0501DB5-196D-46F8-8844-34CD6174ABC1}"/>
              </a:ext>
            </a:extLst>
          </p:cNvPr>
          <p:cNvSpPr>
            <a:spLocks noGrp="1" noChangeArrowheads="1"/>
          </p:cNvSpPr>
          <p:nvPr>
            <p:ph type="title"/>
          </p:nvPr>
        </p:nvSpPr>
        <p:spPr/>
        <p:txBody>
          <a:bodyPr/>
          <a:lstStyle/>
          <a:p>
            <a:pPr marL="838200" indent="-838200" algn="l" eaLnBrk="1" hangingPunct="1"/>
            <a:r>
              <a:rPr lang="en-US" altLang="zh-CN" sz="3200" b="1"/>
              <a:t>2.4.4 </a:t>
            </a:r>
            <a:r>
              <a:rPr lang="zh-CN" altLang="en-US" sz="3200" b="1"/>
              <a:t>案例：学院网站建设项目的项目章程</a:t>
            </a:r>
          </a:p>
        </p:txBody>
      </p:sp>
      <p:sp>
        <p:nvSpPr>
          <p:cNvPr id="66563" name="Rectangle 3">
            <a:extLst>
              <a:ext uri="{FF2B5EF4-FFF2-40B4-BE49-F238E27FC236}">
                <a16:creationId xmlns:a16="http://schemas.microsoft.com/office/drawing/2014/main" id="{7796420C-5F49-477E-9E2F-A17189C940F2}"/>
              </a:ext>
            </a:extLst>
          </p:cNvPr>
          <p:cNvSpPr>
            <a:spLocks noGrp="1" noChangeArrowheads="1"/>
          </p:cNvSpPr>
          <p:nvPr>
            <p:ph idx="1"/>
          </p:nvPr>
        </p:nvSpPr>
        <p:spPr>
          <a:xfrm>
            <a:off x="395536" y="1556793"/>
            <a:ext cx="7886700" cy="1325563"/>
          </a:xfrm>
        </p:spPr>
        <p:txBody>
          <a:bodyPr>
            <a:noAutofit/>
          </a:bodyPr>
          <a:lstStyle/>
          <a:p>
            <a:pPr eaLnBrk="1" hangingPunct="1">
              <a:lnSpc>
                <a:spcPct val="90000"/>
              </a:lnSpc>
            </a:pPr>
            <a:r>
              <a:rPr lang="en-US" altLang="zh-CN" sz="2400" dirty="0"/>
              <a:t>6. </a:t>
            </a:r>
            <a:r>
              <a:rPr lang="zh-CN" altLang="en-US" sz="2400" dirty="0"/>
              <a:t>项目的人员组成与职责分配 </a:t>
            </a:r>
            <a:endParaRPr lang="en-US" altLang="zh-CN" sz="2400" dirty="0"/>
          </a:p>
          <a:p>
            <a:r>
              <a:rPr lang="zh-CN" altLang="en-US" sz="1600" dirty="0"/>
              <a:t>本项目的人员组成与职责分配如表 </a:t>
            </a:r>
            <a:r>
              <a:rPr lang="en-US" altLang="zh-CN" sz="1600" dirty="0"/>
              <a:t>2.1 </a:t>
            </a:r>
            <a:r>
              <a:rPr lang="zh-CN" altLang="en-US" sz="1600" dirty="0"/>
              <a:t>所示。</a:t>
            </a:r>
          </a:p>
          <a:p>
            <a:r>
              <a:rPr lang="zh-CN" altLang="en-US" sz="1600" b="1" dirty="0"/>
              <a:t>表 </a:t>
            </a:r>
            <a:r>
              <a:rPr lang="en-US" altLang="zh-CN" sz="1600" b="1" dirty="0"/>
              <a:t>2.1 </a:t>
            </a:r>
            <a:r>
              <a:rPr lang="zh-CN" altLang="en-US" sz="1600" b="1" dirty="0"/>
              <a:t>项目的人员组成与职责分配</a:t>
            </a:r>
            <a:endParaRPr lang="zh-CN" altLang="en-US" sz="1600" dirty="0"/>
          </a:p>
          <a:p>
            <a:pPr eaLnBrk="1" hangingPunct="1">
              <a:lnSpc>
                <a:spcPct val="90000"/>
              </a:lnSpc>
            </a:pPr>
            <a:endParaRPr lang="zh-CN" altLang="en-US" sz="2400" dirty="0"/>
          </a:p>
        </p:txBody>
      </p:sp>
      <p:sp>
        <p:nvSpPr>
          <p:cNvPr id="66564" name="Rectangle 4">
            <a:extLst>
              <a:ext uri="{FF2B5EF4-FFF2-40B4-BE49-F238E27FC236}">
                <a16:creationId xmlns:a16="http://schemas.microsoft.com/office/drawing/2014/main" id="{CAB7742A-B051-4A63-8F6B-96215A3A531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6565" name="Line 5">
            <a:extLst>
              <a:ext uri="{FF2B5EF4-FFF2-40B4-BE49-F238E27FC236}">
                <a16:creationId xmlns:a16="http://schemas.microsoft.com/office/drawing/2014/main" id="{1544192B-DD46-4BAA-BA33-7A4170E2C93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 name="表格 1">
            <a:extLst>
              <a:ext uri="{FF2B5EF4-FFF2-40B4-BE49-F238E27FC236}">
                <a16:creationId xmlns:a16="http://schemas.microsoft.com/office/drawing/2014/main" id="{8C82312A-EC36-4A5E-91A1-520B6615C90D}"/>
              </a:ext>
            </a:extLst>
          </p:cNvPr>
          <p:cNvGraphicFramePr>
            <a:graphicFrameLocks noGrp="1"/>
          </p:cNvGraphicFramePr>
          <p:nvPr>
            <p:extLst>
              <p:ext uri="{D42A27DB-BD31-4B8C-83A1-F6EECF244321}">
                <p14:modId xmlns:p14="http://schemas.microsoft.com/office/powerpoint/2010/main" val="2444928128"/>
              </p:ext>
            </p:extLst>
          </p:nvPr>
        </p:nvGraphicFramePr>
        <p:xfrm>
          <a:off x="1187624" y="2818809"/>
          <a:ext cx="7632849" cy="3656794"/>
        </p:xfrm>
        <a:graphic>
          <a:graphicData uri="http://schemas.openxmlformats.org/drawingml/2006/table">
            <a:tbl>
              <a:tblPr/>
              <a:tblGrid>
                <a:gridCol w="2112235">
                  <a:extLst>
                    <a:ext uri="{9D8B030D-6E8A-4147-A177-3AD203B41FA5}">
                      <a16:colId xmlns:a16="http://schemas.microsoft.com/office/drawing/2014/main" val="2141437941"/>
                    </a:ext>
                  </a:extLst>
                </a:gridCol>
                <a:gridCol w="1488165">
                  <a:extLst>
                    <a:ext uri="{9D8B030D-6E8A-4147-A177-3AD203B41FA5}">
                      <a16:colId xmlns:a16="http://schemas.microsoft.com/office/drawing/2014/main" val="3258643619"/>
                    </a:ext>
                  </a:extLst>
                </a:gridCol>
                <a:gridCol w="4032449">
                  <a:extLst>
                    <a:ext uri="{9D8B030D-6E8A-4147-A177-3AD203B41FA5}">
                      <a16:colId xmlns:a16="http://schemas.microsoft.com/office/drawing/2014/main" val="604642985"/>
                    </a:ext>
                  </a:extLst>
                </a:gridCol>
              </a:tblGrid>
              <a:tr h="328862">
                <a:tc>
                  <a:txBody>
                    <a:bodyPr/>
                    <a:lstStyle/>
                    <a:p>
                      <a:r>
                        <a:rPr lang="zh-CN" altLang="en-US" b="1" dirty="0">
                          <a:effectLst/>
                          <a:latin typeface="Google Sans Text"/>
                        </a:rPr>
                        <a:t>人员组成</a:t>
                      </a:r>
                      <a:endParaRPr lang="zh-CN" altLang="en-US" dirty="0">
                        <a:effectLst/>
                        <a:latin typeface="Google Sans Text"/>
                      </a:endParaRP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b="1" dirty="0">
                          <a:effectLst/>
                          <a:latin typeface="Google Sans Text"/>
                        </a:rPr>
                        <a:t>姓名</a:t>
                      </a:r>
                      <a:endParaRPr lang="zh-CN" altLang="en-US" dirty="0">
                        <a:effectLst/>
                        <a:latin typeface="Google Sans Text"/>
                      </a:endParaRP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b="1">
                          <a:effectLst/>
                          <a:latin typeface="Google Sans Text"/>
                        </a:rPr>
                        <a:t>职责</a:t>
                      </a:r>
                      <a:endParaRPr lang="zh-CN" altLang="en-US">
                        <a:effectLst/>
                        <a:latin typeface="Google Sans Text"/>
                      </a:endParaRP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34915313"/>
                  </a:ext>
                </a:extLst>
              </a:tr>
              <a:tr h="822154">
                <a:tc>
                  <a:txBody>
                    <a:bodyPr/>
                    <a:lstStyle/>
                    <a:p>
                      <a:r>
                        <a:rPr lang="zh-CN" altLang="en-US">
                          <a:effectLst/>
                          <a:latin typeface="Google Sans Text"/>
                        </a:rPr>
                        <a:t>项目经理</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靳</a:t>
                      </a:r>
                      <a:r>
                        <a:rPr lang="en-US" altLang="zh-CN">
                          <a:effectLst/>
                          <a:latin typeface="Google Sans Text"/>
                        </a:rPr>
                        <a:t>××</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负责项目分工、预算资金的分配、项目总体把握、召开主持例会等</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42431550"/>
                  </a:ext>
                </a:extLst>
              </a:tr>
              <a:tr h="575508">
                <a:tc>
                  <a:txBody>
                    <a:bodyPr/>
                    <a:lstStyle/>
                    <a:p>
                      <a:r>
                        <a:rPr lang="zh-CN" altLang="en-US">
                          <a:effectLst/>
                          <a:latin typeface="Google Sans Text"/>
                        </a:rPr>
                        <a:t>项目组员</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张</a:t>
                      </a:r>
                      <a:r>
                        <a:rPr lang="en-US" altLang="zh-CN">
                          <a:effectLst/>
                          <a:latin typeface="Google Sans Text"/>
                        </a:rPr>
                        <a:t>××</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项目信息员，负责联系客户等外部干系人</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05925176"/>
                  </a:ext>
                </a:extLst>
              </a:tr>
              <a:tr h="328862">
                <a:tc>
                  <a:txBody>
                    <a:bodyPr/>
                    <a:lstStyle/>
                    <a:p>
                      <a:endParaRPr lang="zh-CN" altLang="en-US">
                        <a:effectLst/>
                        <a:latin typeface="Google Sans Text"/>
                      </a:endParaRP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朱</a:t>
                      </a:r>
                      <a:r>
                        <a:rPr lang="en-US" altLang="zh-CN">
                          <a:effectLst/>
                          <a:latin typeface="Google Sans Text"/>
                        </a:rPr>
                        <a:t>××</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需求调研，总体设计</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3087215"/>
                  </a:ext>
                </a:extLst>
              </a:tr>
              <a:tr h="328862">
                <a:tc>
                  <a:txBody>
                    <a:bodyPr/>
                    <a:lstStyle/>
                    <a:p>
                      <a:endParaRPr lang="zh-CN" altLang="en-US">
                        <a:effectLst/>
                        <a:latin typeface="Google Sans Text"/>
                      </a:endParaRP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尹</a:t>
                      </a:r>
                      <a:r>
                        <a:rPr lang="en-US" altLang="zh-CN">
                          <a:effectLst/>
                          <a:latin typeface="Google Sans Text"/>
                        </a:rPr>
                        <a:t>××</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需求调研，总体设计</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83640633"/>
                  </a:ext>
                </a:extLst>
              </a:tr>
              <a:tr h="328862">
                <a:tc>
                  <a:txBody>
                    <a:bodyPr/>
                    <a:lstStyle/>
                    <a:p>
                      <a:endParaRPr lang="zh-CN" altLang="en-US">
                        <a:effectLst/>
                        <a:latin typeface="Google Sans Text"/>
                      </a:endParaRP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蔡</a:t>
                      </a:r>
                      <a:r>
                        <a:rPr lang="en-US" altLang="zh-CN">
                          <a:effectLst/>
                          <a:latin typeface="Google Sans Text"/>
                        </a:rPr>
                        <a:t>××</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dirty="0">
                          <a:effectLst/>
                          <a:latin typeface="Google Sans Text"/>
                        </a:rPr>
                        <a:t>详细设计，系统实施</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1101050"/>
                  </a:ext>
                </a:extLst>
              </a:tr>
              <a:tr h="328862">
                <a:tc>
                  <a:txBody>
                    <a:bodyPr/>
                    <a:lstStyle/>
                    <a:p>
                      <a:endParaRPr lang="zh-CN" altLang="en-US">
                        <a:effectLst/>
                        <a:latin typeface="Google Sans Text"/>
                      </a:endParaRP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a:effectLst/>
                          <a:latin typeface="Google Sans Text"/>
                        </a:rPr>
                        <a:t>王</a:t>
                      </a:r>
                      <a:r>
                        <a:rPr lang="en-US" altLang="zh-CN">
                          <a:effectLst/>
                          <a:latin typeface="Google Sans Text"/>
                        </a:rPr>
                        <a:t>××</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dirty="0">
                          <a:effectLst/>
                          <a:latin typeface="Google Sans Text"/>
                        </a:rPr>
                        <a:t>详细设计，系统实施</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82584457"/>
                  </a:ext>
                </a:extLst>
              </a:tr>
              <a:tr h="328862">
                <a:tc>
                  <a:txBody>
                    <a:bodyPr/>
                    <a:lstStyle/>
                    <a:p>
                      <a:endParaRPr lang="zh-CN" altLang="en-US" dirty="0">
                        <a:effectLst/>
                        <a:latin typeface="Google Sans Text"/>
                      </a:endParaRP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dirty="0">
                          <a:effectLst/>
                          <a:latin typeface="Google Sans Text"/>
                        </a:rPr>
                        <a:t>李</a:t>
                      </a:r>
                      <a:r>
                        <a:rPr lang="en-US" altLang="zh-CN" dirty="0">
                          <a:effectLst/>
                          <a:latin typeface="Google Sans Text"/>
                        </a:rPr>
                        <a:t>××</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tc>
                  <a:txBody>
                    <a:bodyPr/>
                    <a:lstStyle/>
                    <a:p>
                      <a:r>
                        <a:rPr lang="zh-CN" altLang="en-US" dirty="0">
                          <a:effectLst/>
                          <a:latin typeface="Google Sans Text"/>
                        </a:rPr>
                        <a:t>详细设计，系统实施</a:t>
                      </a:r>
                    </a:p>
                  </a:txBody>
                  <a:tcPr anchor="ctr">
                    <a:lnL w="5443" cap="flat" cmpd="sng" algn="ctr">
                      <a:solidFill>
                        <a:schemeClr val="bg1"/>
                      </a:solidFill>
                      <a:prstDash val="solid"/>
                      <a:round/>
                      <a:headEnd type="none" w="med" len="med"/>
                      <a:tailEnd type="none" w="med" len="med"/>
                    </a:lnL>
                    <a:lnR w="5443" cap="flat" cmpd="sng" algn="ctr">
                      <a:solidFill>
                        <a:schemeClr val="bg1"/>
                      </a:solidFill>
                      <a:prstDash val="solid"/>
                      <a:round/>
                      <a:headEnd type="none" w="med" len="med"/>
                      <a:tailEnd type="none" w="med" len="med"/>
                    </a:lnR>
                    <a:lnT w="5443" cap="flat" cmpd="sng" algn="ctr">
                      <a:solidFill>
                        <a:schemeClr val="bg1"/>
                      </a:solidFill>
                      <a:prstDash val="solid"/>
                      <a:round/>
                      <a:headEnd type="none" w="med" len="med"/>
                      <a:tailEnd type="none" w="med" len="med"/>
                    </a:lnT>
                    <a:lnB w="5443"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97305901"/>
                  </a:ext>
                </a:extLst>
              </a:tr>
            </a:tbl>
          </a:graphicData>
        </a:graphic>
      </p:graphicFrame>
    </p:spTree>
    <p:extLst>
      <p:ext uri="{BB962C8B-B14F-4D97-AF65-F5344CB8AC3E}">
        <p14:creationId xmlns:p14="http://schemas.microsoft.com/office/powerpoint/2010/main" val="24065654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B0501DB5-196D-46F8-8844-34CD6174ABC1}"/>
              </a:ext>
            </a:extLst>
          </p:cNvPr>
          <p:cNvSpPr>
            <a:spLocks noGrp="1" noChangeArrowheads="1"/>
          </p:cNvSpPr>
          <p:nvPr>
            <p:ph type="title"/>
          </p:nvPr>
        </p:nvSpPr>
        <p:spPr/>
        <p:txBody>
          <a:bodyPr/>
          <a:lstStyle/>
          <a:p>
            <a:pPr marL="838200" indent="-838200" algn="l" eaLnBrk="1" hangingPunct="1"/>
            <a:r>
              <a:rPr lang="en-US" altLang="zh-CN" sz="3200" b="1"/>
              <a:t>2.4.4 </a:t>
            </a:r>
            <a:r>
              <a:rPr lang="zh-CN" altLang="en-US" sz="3200" b="1"/>
              <a:t>案例：学院网站建设项目的项目章程</a:t>
            </a:r>
          </a:p>
        </p:txBody>
      </p:sp>
      <p:sp>
        <p:nvSpPr>
          <p:cNvPr id="66563" name="Rectangle 3">
            <a:extLst>
              <a:ext uri="{FF2B5EF4-FFF2-40B4-BE49-F238E27FC236}">
                <a16:creationId xmlns:a16="http://schemas.microsoft.com/office/drawing/2014/main" id="{7796420C-5F49-477E-9E2F-A17189C940F2}"/>
              </a:ext>
            </a:extLst>
          </p:cNvPr>
          <p:cNvSpPr>
            <a:spLocks noGrp="1" noChangeArrowheads="1"/>
          </p:cNvSpPr>
          <p:nvPr>
            <p:ph idx="1"/>
          </p:nvPr>
        </p:nvSpPr>
        <p:spPr>
          <a:xfrm>
            <a:off x="628650" y="1825625"/>
            <a:ext cx="7886700" cy="3619599"/>
          </a:xfrm>
        </p:spPr>
        <p:txBody>
          <a:bodyPr>
            <a:noAutofit/>
          </a:bodyPr>
          <a:lstStyle/>
          <a:p>
            <a:pPr eaLnBrk="1" hangingPunct="1">
              <a:lnSpc>
                <a:spcPct val="90000"/>
              </a:lnSpc>
            </a:pPr>
            <a:r>
              <a:rPr lang="en-US" altLang="zh-CN" sz="2400" dirty="0"/>
              <a:t>7. </a:t>
            </a:r>
            <a:r>
              <a:rPr lang="zh-CN" altLang="en-US" sz="2400" dirty="0"/>
              <a:t>相关部门的支持</a:t>
            </a:r>
            <a:endParaRPr lang="en-US" altLang="zh-CN" sz="2400" dirty="0"/>
          </a:p>
          <a:p>
            <a:pPr eaLnBrk="1" hangingPunct="1">
              <a:lnSpc>
                <a:spcPct val="90000"/>
              </a:lnSpc>
            </a:pPr>
            <a:r>
              <a:rPr lang="zh-CN" altLang="en-US" sz="1600" dirty="0"/>
              <a:t>由于项目组主要成员为本学院研究生，导师每周提供同学用于项目开发的时间不少于五小时；实验室应提供硬件支持，机器不少于七台；负责该项目领导工作的商学院党委应组织和配合本项目的需求调研。</a:t>
            </a:r>
            <a:endParaRPr lang="zh-CN" altLang="en-US" sz="2400" dirty="0"/>
          </a:p>
          <a:p>
            <a:pPr eaLnBrk="1" hangingPunct="1">
              <a:lnSpc>
                <a:spcPct val="90000"/>
              </a:lnSpc>
            </a:pPr>
            <a:r>
              <a:rPr lang="en-US" altLang="zh-CN" sz="2400" dirty="0"/>
              <a:t>8. </a:t>
            </a:r>
            <a:r>
              <a:rPr lang="zh-CN" altLang="en-US" sz="2400" dirty="0"/>
              <a:t>签发人和签发日期</a:t>
            </a:r>
            <a:endParaRPr lang="en-US" altLang="zh-CN" sz="2400" dirty="0"/>
          </a:p>
          <a:p>
            <a:pPr eaLnBrk="1" hangingPunct="1">
              <a:lnSpc>
                <a:spcPct val="90000"/>
              </a:lnSpc>
            </a:pPr>
            <a:r>
              <a:rPr lang="zh-CN" altLang="en-US" sz="1600" dirty="0"/>
              <a:t>签发人应是该项目发起方或组织方的代表，本项目由商学院党委书记签发。签发日期：</a:t>
            </a:r>
            <a:r>
              <a:rPr lang="en-US" altLang="zh-CN" sz="1600" dirty="0"/>
              <a:t>2013 </a:t>
            </a:r>
            <a:r>
              <a:rPr lang="zh-CN" altLang="en-US" sz="1600" dirty="0"/>
              <a:t>年 </a:t>
            </a:r>
            <a:r>
              <a:rPr lang="en-US" altLang="zh-CN" sz="1600" dirty="0"/>
              <a:t>9 </a:t>
            </a:r>
            <a:r>
              <a:rPr lang="zh-CN" altLang="en-US" sz="1600" dirty="0"/>
              <a:t>月 </a:t>
            </a:r>
            <a:r>
              <a:rPr lang="en-US" altLang="zh-CN" sz="1600" dirty="0"/>
              <a:t>25 </a:t>
            </a:r>
            <a:r>
              <a:rPr lang="zh-CN" altLang="en-US" sz="1600" dirty="0"/>
              <a:t>日。</a:t>
            </a:r>
            <a:endParaRPr lang="zh-CN" altLang="en-US" sz="2400" dirty="0"/>
          </a:p>
        </p:txBody>
      </p:sp>
      <p:sp>
        <p:nvSpPr>
          <p:cNvPr id="66564" name="Rectangle 4">
            <a:extLst>
              <a:ext uri="{FF2B5EF4-FFF2-40B4-BE49-F238E27FC236}">
                <a16:creationId xmlns:a16="http://schemas.microsoft.com/office/drawing/2014/main" id="{CAB7742A-B051-4A63-8F6B-96215A3A531F}"/>
              </a:ext>
            </a:extLst>
          </p:cNvPr>
          <p:cNvSpPr>
            <a:spLocks noGrp="1" noChangeArrowheads="1"/>
          </p:cNvSpPr>
          <p:nvPr>
            <p:ph type="title" idx="4294967295"/>
          </p:nvPr>
        </p:nvSpPr>
        <p:spPr>
          <a:xfrm>
            <a:off x="914400" y="130175"/>
            <a:ext cx="8229600" cy="346075"/>
          </a:xfrm>
          <a:noFill/>
        </p:spPr>
        <p:txBody>
          <a:bodyPr>
            <a:normAutofit fontScale="90000"/>
          </a:bodyPr>
          <a:lstStyle/>
          <a:p>
            <a:pPr eaLnBrk="1" hangingPunct="1"/>
            <a:r>
              <a:rPr lang="zh-CN" altLang="en-US" sz="2000" b="1">
                <a:solidFill>
                  <a:srgbClr val="0000FF"/>
                </a:solidFill>
              </a:rPr>
              <a:t>十一五规划教材                                          </a:t>
            </a:r>
            <a:r>
              <a:rPr lang="en-US" altLang="zh-CN" sz="2000" b="1">
                <a:solidFill>
                  <a:srgbClr val="0000FF"/>
                </a:solidFill>
              </a:rPr>
              <a:t>《</a:t>
            </a:r>
            <a:r>
              <a:rPr lang="zh-CN" altLang="en-US" sz="2000" b="1">
                <a:solidFill>
                  <a:srgbClr val="0000FF"/>
                </a:solidFill>
              </a:rPr>
              <a:t>信息系统项目管理</a:t>
            </a:r>
            <a:r>
              <a:rPr lang="en-US" altLang="zh-CN" sz="2000" b="1">
                <a:solidFill>
                  <a:srgbClr val="0000FF"/>
                </a:solidFill>
              </a:rPr>
              <a:t>》</a:t>
            </a:r>
            <a:r>
              <a:rPr lang="zh-CN" altLang="en-US" sz="2000" b="1">
                <a:solidFill>
                  <a:srgbClr val="0000FF"/>
                </a:solidFill>
              </a:rPr>
              <a:t>讲义</a:t>
            </a:r>
          </a:p>
        </p:txBody>
      </p:sp>
      <p:sp>
        <p:nvSpPr>
          <p:cNvPr id="66565" name="Line 5">
            <a:extLst>
              <a:ext uri="{FF2B5EF4-FFF2-40B4-BE49-F238E27FC236}">
                <a16:creationId xmlns:a16="http://schemas.microsoft.com/office/drawing/2014/main" id="{1544192B-DD46-4BAA-BA33-7A4170E2C93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1619096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WordArt 4">
            <a:extLst>
              <a:ext uri="{FF2B5EF4-FFF2-40B4-BE49-F238E27FC236}">
                <a16:creationId xmlns:a16="http://schemas.microsoft.com/office/drawing/2014/main" id="{BC5E390A-87FF-4A22-9247-206CB6FEE59F}"/>
              </a:ext>
            </a:extLst>
          </p:cNvPr>
          <p:cNvSpPr>
            <a:spLocks noChangeArrowheads="1" noChangeShapeType="1" noTextEdit="1"/>
          </p:cNvSpPr>
          <p:nvPr/>
        </p:nvSpPr>
        <p:spPr bwMode="auto">
          <a:xfrm>
            <a:off x="3205163" y="2997200"/>
            <a:ext cx="2879725" cy="1163638"/>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sz="3600" kern="10">
                <a:gradFill rotWithShape="1">
                  <a:gsLst>
                    <a:gs pos="0">
                      <a:srgbClr val="FFFF00"/>
                    </a:gs>
                    <a:gs pos="100000">
                      <a:srgbClr val="FF9933"/>
                    </a:gs>
                  </a:gsLst>
                  <a:path path="rect">
                    <a:fillToRect l="50000" t="50000" r="50000" b="50000"/>
                  </a:path>
                </a:gradFill>
                <a:effectLst>
                  <a:outerShdw dist="35921" dir="2700000" algn="ctr" rotWithShape="0">
                    <a:srgbClr val="C0C0C0">
                      <a:alpha val="79999"/>
                    </a:srgbClr>
                  </a:outerShdw>
                </a:effectLst>
                <a:latin typeface="宋体" panose="02010600030101010101" pitchFamily="2" charset="-122"/>
              </a:rPr>
              <a:t>谢谢！</a:t>
            </a:r>
          </a:p>
        </p:txBody>
      </p:sp>
      <p:sp>
        <p:nvSpPr>
          <p:cNvPr id="68611" name="Rectangle 5">
            <a:extLst>
              <a:ext uri="{FF2B5EF4-FFF2-40B4-BE49-F238E27FC236}">
                <a16:creationId xmlns:a16="http://schemas.microsoft.com/office/drawing/2014/main" id="{2AA774BF-147A-4E93-9529-8CB74844CA3A}"/>
              </a:ext>
            </a:extLst>
          </p:cNvPr>
          <p:cNvSpPr>
            <a:spLocks noGrp="1" noChangeArrowheads="1"/>
          </p:cNvSpPr>
          <p:nvPr>
            <p:ph type="title"/>
          </p:nvPr>
        </p:nvSpPr>
        <p:spPr>
          <a:xfrm>
            <a:off x="611188" y="836613"/>
            <a:ext cx="7772400" cy="1143000"/>
          </a:xfrm>
        </p:spPr>
        <p:txBody>
          <a:bodyPr/>
          <a:lstStyle/>
          <a:p>
            <a:pPr algn="l" eaLnBrk="1" hangingPunct="1"/>
            <a:r>
              <a:rPr lang="zh-CN" altLang="en-US" b="1">
                <a:solidFill>
                  <a:srgbClr val="FF0000"/>
                </a:solidFill>
              </a:rPr>
              <a:t>欢迎讨论</a:t>
            </a:r>
            <a:r>
              <a:rPr lang="en-US" altLang="zh-CN" sz="4600" b="1">
                <a:solidFill>
                  <a:srgbClr val="FF0000"/>
                </a:solidFill>
                <a:ea typeface="楷体_GB2312" pitchFamily="49" charset="-122"/>
              </a:rPr>
              <a:t>……</a:t>
            </a:r>
          </a:p>
        </p:txBody>
      </p:sp>
    </p:spTree>
  </p:cSld>
  <p:clrMapOvr>
    <a:masterClrMapping/>
  </p:clrMapOvr>
  <p:transition spd="slow" advTm="5748"/>
</p:sld>
</file>

<file path=ppt/theme/theme1.xml><?xml version="1.0" encoding="utf-8"?>
<a:theme xmlns:a="http://schemas.openxmlformats.org/drawingml/2006/main" name="主题1">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E45FD93A-D851-4092-8313-A2F3C1A6975F}" vid="{8887F17A-4E7C-4909-8207-90CE29ECEE50}"/>
    </a:ext>
  </a:extLst>
</a:theme>
</file>

<file path=ppt/theme/theme2.xml><?xml version="1.0" encoding="utf-8"?>
<a:theme xmlns:a="http://schemas.openxmlformats.org/drawingml/2006/main" name="Office Theme">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385</TotalTime>
  <Words>6435</Words>
  <Application>Microsoft Office PowerPoint</Application>
  <PresentationFormat>全屏显示(4:3)</PresentationFormat>
  <Paragraphs>585</Paragraphs>
  <Slides>63</Slides>
  <Notes>60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63</vt:i4>
      </vt:variant>
    </vt:vector>
  </HeadingPairs>
  <TitlesOfParts>
    <vt:vector size="72" baseType="lpstr">
      <vt:lpstr>Google Sans Text</vt:lpstr>
      <vt:lpstr>宋体</vt:lpstr>
      <vt:lpstr>Arial</vt:lpstr>
      <vt:lpstr>Calibri</vt:lpstr>
      <vt:lpstr>Calibri Light</vt:lpstr>
      <vt:lpstr>Times New Roman</vt:lpstr>
      <vt:lpstr>Wingdings</vt:lpstr>
      <vt:lpstr>主题1</vt:lpstr>
      <vt:lpstr>Office Theme</vt:lpstr>
      <vt:lpstr>PowerPoint 演示文稿</vt:lpstr>
      <vt:lpstr>第2章  信息系统项目的立项与评价 </vt:lpstr>
      <vt:lpstr>2.1 CIO与信息系统项目</vt:lpstr>
      <vt:lpstr>2.1.1  CIO的概念及职责</vt:lpstr>
      <vt:lpstr>2.1.1  CIO的概念及职责</vt:lpstr>
      <vt:lpstr>2.1.2  CIO的角色与信息系统项目</vt:lpstr>
      <vt:lpstr>2.1.2  CIO的角色与信息系统项目</vt:lpstr>
      <vt:lpstr>2.2 信息系统项目的可行性研究</vt:lpstr>
      <vt:lpstr>2.2.1  可行性研究的内容与方法</vt:lpstr>
      <vt:lpstr>2.2.1  可行性研究的内容与方法</vt:lpstr>
      <vt:lpstr>2.2.1  可行性研究的内容与方法</vt:lpstr>
      <vt:lpstr>2.2.1  可行性研究的内容与方法</vt:lpstr>
      <vt:lpstr>2.2.1  可行性研究的内容与方法</vt:lpstr>
      <vt:lpstr>2.2.1  可行性研究的内容与方法</vt:lpstr>
      <vt:lpstr>十一五规划教材                                          《信息系统项目管理》讲义</vt:lpstr>
      <vt:lpstr>2.2.2  需求调研的内容与方法</vt:lpstr>
      <vt:lpstr>2.2.2  需求调研的内容与方法</vt:lpstr>
      <vt:lpstr>2.2.2  需求调研的内容与方法</vt:lpstr>
      <vt:lpstr>2.2.3  信息系统项目的建设方式</vt:lpstr>
      <vt:lpstr>2.2.3  信息系统项目的建设方式</vt:lpstr>
      <vt:lpstr>2.2.3  信息系统项目的建设方式</vt:lpstr>
      <vt:lpstr>2.2.3  信息系统项目的建设方式</vt:lpstr>
      <vt:lpstr>2.2.3  信息系统项目的建设方式</vt:lpstr>
      <vt:lpstr>2.2.4   可行性研究报告的撰写</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2.3 信息系统项目的招标与评价 </vt:lpstr>
      <vt:lpstr>2.4 信息系统项目的合同</vt:lpstr>
      <vt:lpstr>2.4.1合同的一般格式与主要内容 </vt:lpstr>
      <vt:lpstr>2.4.2  合同中的非价格条款</vt:lpstr>
      <vt:lpstr>2.4.3  项目章程的颁布和合同的管理</vt:lpstr>
      <vt:lpstr>2.4.3  项目章程的颁布和合同的管理</vt:lpstr>
      <vt:lpstr>PowerPoint 演示文稿</vt:lpstr>
      <vt:lpstr>十一五规划教材                                          《信息系统项目管理》讲义</vt:lpstr>
      <vt:lpstr>2.4.3  项目章程的颁布和合同的管理</vt:lpstr>
      <vt:lpstr>十一五规划教材                                          《信息系统项目管理》讲义</vt:lpstr>
      <vt:lpstr>2.4.3  项目章程的颁布和合同的管理</vt:lpstr>
      <vt:lpstr>2.4.3  项目章程的颁布和合同的管理</vt:lpstr>
      <vt:lpstr>2.4.3  项目章程的颁布和合同的管理</vt:lpstr>
      <vt:lpstr>2.4.4 案例：学院网站建设项目的项目章程</vt:lpstr>
      <vt:lpstr>2.4.4 案例：学院网站建设项目的项目章程</vt:lpstr>
      <vt:lpstr>2.4.4 案例：学院网站建设项目的项目章程</vt:lpstr>
      <vt:lpstr>2.4.4 案例：学院网站建设项目的项目章程</vt:lpstr>
      <vt:lpstr>2.4.4 案例：学院网站建设项目的项目章程</vt:lpstr>
      <vt:lpstr>欢迎讨论……</vt:lpstr>
    </vt:vector>
  </TitlesOfParts>
  <Company>RUC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十一五规划教材                                          《信息系统项目管理》讲义</dc:title>
  <dc:creator>Meiyun Zuo</dc:creator>
  <cp:lastModifiedBy>hui yang</cp:lastModifiedBy>
  <cp:revision>99</cp:revision>
  <dcterms:created xsi:type="dcterms:W3CDTF">2008-05-12T14:48:35Z</dcterms:created>
  <dcterms:modified xsi:type="dcterms:W3CDTF">2026-03-08T10:09:03Z</dcterms:modified>
</cp:coreProperties>
</file>